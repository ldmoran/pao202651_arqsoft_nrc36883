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8"/>
  </p:notesMasterIdLst>
  <p:sldIdLst>
    <p:sldId id="40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51" r:id="rId47"/>
    <p:sldId id="452" r:id="rId48"/>
    <p:sldId id="453" r:id="rId49"/>
    <p:sldId id="454" r:id="rId50"/>
    <p:sldId id="455" r:id="rId51"/>
    <p:sldId id="456" r:id="rId52"/>
    <p:sldId id="457" r:id="rId53"/>
    <p:sldId id="458" r:id="rId54"/>
    <p:sldId id="459" r:id="rId55"/>
    <p:sldId id="460" r:id="rId56"/>
    <p:sldId id="461" r:id="rId57"/>
    <p:sldId id="462" r:id="rId58"/>
    <p:sldId id="463" r:id="rId59"/>
    <p:sldId id="464" r:id="rId60"/>
    <p:sldId id="465" r:id="rId61"/>
    <p:sldId id="466" r:id="rId62"/>
    <p:sldId id="467" r:id="rId63"/>
    <p:sldId id="468" r:id="rId64"/>
    <p:sldId id="469" r:id="rId65"/>
    <p:sldId id="470" r:id="rId66"/>
    <p:sldId id="471" r:id="rId67"/>
    <p:sldId id="472" r:id="rId68"/>
    <p:sldId id="473" r:id="rId69"/>
    <p:sldId id="474" r:id="rId70"/>
    <p:sldId id="475" r:id="rId71"/>
    <p:sldId id="476" r:id="rId72"/>
    <p:sldId id="477" r:id="rId73"/>
    <p:sldId id="478" r:id="rId74"/>
    <p:sldId id="479" r:id="rId75"/>
    <p:sldId id="480" r:id="rId76"/>
    <p:sldId id="481" r:id="rId77"/>
    <p:sldId id="482" r:id="rId78"/>
    <p:sldId id="483" r:id="rId79"/>
    <p:sldId id="484" r:id="rId80"/>
    <p:sldId id="485" r:id="rId81"/>
    <p:sldId id="486" r:id="rId82"/>
    <p:sldId id="487" r:id="rId83"/>
    <p:sldId id="488" r:id="rId84"/>
    <p:sldId id="489" r:id="rId85"/>
    <p:sldId id="490" r:id="rId86"/>
    <p:sldId id="491" r:id="rId87"/>
  </p:sldIdLst>
  <p:sldSz cx="12192000" cy="6858000"/>
  <p:notesSz cx="6858000" cy="9144000"/>
  <p:embeddedFontLst>
    <p:embeddedFont>
      <p:font typeface="Calibri" panose="020F0502020204030204" pitchFamily="34" charset="0"/>
      <p:regular r:id="rId89"/>
      <p:bold r:id="rId90"/>
      <p:italic r:id="rId91"/>
      <p:boldItalic r:id="rId92"/>
    </p:embeddedFont>
    <p:embeddedFont>
      <p:font typeface="Cambria" panose="02040503050406030204" pitchFamily="18" charset="0"/>
      <p:regular r:id="rId93"/>
      <p:bold r:id="rId94"/>
      <p:italic r:id="rId95"/>
      <p:boldItalic r:id="rId96"/>
    </p:embeddedFont>
    <p:embeddedFont>
      <p:font typeface="Gill Sans" panose="020B0604020202020204" charset="0"/>
      <p:regular r:id="rId97"/>
      <p:bold r:id="rId9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1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font" Target="fonts/font2.fntdata"/><Relationship Id="rId95" Type="http://schemas.openxmlformats.org/officeDocument/2006/relationships/font" Target="fonts/font7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font" Target="fonts/font3.fntdata"/><Relationship Id="rId9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6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5.fntdata"/><Relationship Id="rId98" Type="http://schemas.openxmlformats.org/officeDocument/2006/relationships/font" Target="fonts/font10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945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3610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2130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0680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4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CONVERSIÓN UNIDADES SOAP .NET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  <a:r>
              <a:rPr lang="es-ES">
                <a:solidFill>
                  <a:schemeClr val="lt1"/>
                </a:solidFill>
              </a:rPr>
              <a:t> 	MIRANDA ALISON					MORÁN LENIN			         	VIVANCO GABRIEL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14/10/2026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94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.NET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916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Desarrollar e implementar un Web Service utilizando SOAP mediante .NET (CoreWCF) para realizar conversiones de unidades de longitud, masa y temperatura, consumido por clientes de consola, escritorio, web y móvil.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183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Proyecto del servidor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En Visual Studio se crea un proyecto ASP.NET Core vacío con .NET 8 llamado ‘WS_ConUni_DotNet_GR07’, dentro de una solución del mismo nombre. No lleva base de datos: credenciales, catálogo y tokens viven en memoria.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2011680" y="3547872"/>
            <a:ext cx="5120640" cy="3127248"/>
          </a:xfrm>
          <a:prstGeom prst="rect">
            <a:avLst/>
          </a:prstGeom>
          <a:solidFill>
            <a:srgbClr val="F2F6FC"/>
          </a:solidFill>
          <a:ln w="15875">
            <a:solidFill>
              <a:srgbClr val="4F81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[ Insertar captura ]</a:t>
            </a:r>
          </a:p>
          <a:p>
            <a:pPr algn="ctr"/>
            <a:r>
              <a:rPr lang="es-MX" sz="1200">
                <a:solidFill>
                  <a:srgbClr val="4F81BD"/>
                </a:solidFill>
                <a:latin typeface="Calibri"/>
              </a:rPr>
              <a:t>Visual Studio &gt; Archivo &gt; Nuevo &gt; Proyecto &gt; ASP.NET Core vacío (.NET 8)</a:t>
            </a:r>
            <a:endParaRPr sz="12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945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instalan los paquetes NuGet CoreWCF.Http y CoreWCF.Primitives (versión 1.9.1), que permiten publicar servicios SOAP con el modelo de WCF sobre ASP.NET Core.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El espacio de nombres raíz es ec.edu.monster. El proyecto de pruebas (xUnit) hace referencia al proyecto del servidor.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2011680" y="3547872"/>
            <a:ext cx="5120640" cy="3127248"/>
          </a:xfrm>
          <a:prstGeom prst="rect">
            <a:avLst/>
          </a:prstGeom>
          <a:solidFill>
            <a:srgbClr val="F2F6FC"/>
          </a:solidFill>
          <a:ln w="15875">
            <a:solidFill>
              <a:srgbClr val="4F81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[ Insertar captura ]</a:t>
            </a:r>
          </a:p>
          <a:p>
            <a:pPr algn="ctr"/>
            <a:r>
              <a:rPr lang="es-MX" sz="1200">
                <a:solidFill>
                  <a:srgbClr val="4F81BD"/>
                </a:solidFill>
                <a:latin typeface="Calibri"/>
              </a:rPr>
              <a:t>Administrar paquetes NuGet: CoreWCF.Http y CoreWCF.Primitives</a:t>
            </a:r>
            <a:endParaRPr sz="12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723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pl-PL" sz="1200">
                <a:latin typeface="Cambria"/>
                <a:ea typeface="Cambria"/>
                <a:cs typeface="Cambria"/>
                <a:sym typeface="Cambria"/>
              </a:rPr>
              <a:t>WS_ConUni_DotNet_GR07.csproj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Proyecto del servidor: .NET 8 y paquetes CoreWCF.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&lt;Project Sdk="Microsoft.NET.Sdk.Web"&gt;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&lt;PropertyGroup&gt;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&lt;TargetFramework&gt;net8.0&lt;/TargetFramework&gt;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&lt;Nullable&gt;enable&lt;/Nullable&gt;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&lt;ImplicitUsings&gt;enable&lt;/ImplicitUsings&gt;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&lt;RootNamespace&gt;ec.edu.monster&lt;/RootNamespace&gt;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&lt;AssemblyName&gt;WS_ConUni_DotNet_GR07&lt;/AssemblyName&gt;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&lt;/PropertyGroup&gt;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Include="CoreWCF.Http" Version="1.9.1"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Include="CoreWCF.Primitives" Version="1.9.1"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&lt;/Project&gt;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082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625" b="1">
                <a:latin typeface="Cambria"/>
                <a:ea typeface="Cambria"/>
                <a:cs typeface="Cambria"/>
                <a:sym typeface="Cambria"/>
              </a:rPr>
              <a:t>ESTRUCTURA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Las capas se organizan en carpetas: Controladores/WS (servicios SOAP), Controladores/ManejadoresWS, Seguridad, Servicios y Modelos/Utilidades. El patrón separa la exposición del servicio de la lógica de negocio.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1D14E9BC-3B3E-4C4A-8F68-39CC38A2D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52" y="1917700"/>
            <a:ext cx="2926095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7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929" b="1">
                <a:latin typeface="Cambria"/>
                <a:ea typeface="Cambria"/>
                <a:cs typeface="Cambria"/>
                <a:sym typeface="Cambria"/>
              </a:rPr>
              <a:t>1.2.2 	Creación de los servicios web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Cada servicio SOAP se declara con una interfaz [ServiceContract] y una clase que la implementa. El espacio de nombres http://WebServices.monster.edu.ec/ se fija en el contrato para que el WSDL y los clientes no dependan de las carpetas.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2011680" y="3547872"/>
            <a:ext cx="5120640" cy="3127248"/>
          </a:xfrm>
          <a:prstGeom prst="rect">
            <a:avLst/>
          </a:prstGeom>
          <a:solidFill>
            <a:srgbClr val="F2F6FC"/>
          </a:solidFill>
          <a:ln w="15875">
            <a:solidFill>
              <a:srgbClr val="4F81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[ Insertar captura ]</a:t>
            </a:r>
          </a:p>
          <a:p>
            <a:pPr algn="ctr"/>
            <a:r>
              <a:rPr lang="es-MX" sz="1200">
                <a:solidFill>
                  <a:srgbClr val="4F81BD"/>
                </a:solidFill>
                <a:latin typeface="Calibri"/>
              </a:rPr>
              <a:t>Nueva clase en Controladores/WS: interfaz con [ServiceContract] y clase del servicio</a:t>
            </a:r>
            <a:endParaRPr sz="12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576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WSLogin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Servicio de inicio de sesión (CU-01). Solo recibe el pedido y se lo pasa al manejador.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CoreWCF;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ec.edu.monster.Controladores.ManejadoresWS;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[ServiceContract(Name = "WSLogin", Namespace = Contrato.Namespace)]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interface IWSLogin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[OperationContract(Name = "login")]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RespuestaServicio Login(string usuario, string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WSLogin : IWSLogin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ManejadorLogin manejador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Login(string usuario, string clave)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manejador.Login(usuario,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Contrato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const string Namespace = "http://WebServices.monster.edu.ec/";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2578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WSCatalogo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Servicio del catálogo (CU-02 y CU-03): categorías y unidades de cada categoría.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CoreWCF;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ec.edu.monster.Controladores.ManejadoresWS;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[ServiceContract(Name = "WSCatalogo", Namespace = Contrato.Namespace)]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interface IWSCatalogo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[OperationContract(Name = "obtenerCategorias")]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RespuestaServicio ObtenerCategorias(string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[OperationContract(Name = "obtenerUnidades")]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RespuestaServicio ObtenerUnidades(string token, string 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WSCatalogo : IWSCatalogo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ManejadorCatalogo manejador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ObtenerCategorias(string token)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manejador.ObtenerCategorias(token);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ObtenerUnidades(string token, string categoria)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manejador.ObtenerUnidades(token, 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2399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WSLongitud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Servicio de conversión de longitud (CU-04). WSMasa y WSTemperatura son iguales, con su categoría.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CoreWCF;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ec.edu.monster.Controladores.ManejadoresWS;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[ServiceContract(Name = "WSLongitud", Namespace = Contrato.Namespace)]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interface IWSLongitud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[OperationContract(Name = "convertirLongitud")]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RespuestaServicio ConvertirLongitud(double valor, string unidadOrigen,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unidadDestino, string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WSLongitud : IWSLongitud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ManejadorConversion manejador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ConvertirLongitud(double valor, string unidadOrigen,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unidadDestino, string token)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manejador.Convertir("Longitud", valor, unidadOrigen, unidadDestino, 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045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1.2.3 	Autenticación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Las clases de la capa Seguridad validan las credenciales y administran los tokens: ServicioAutenticacion (usuario monster, clave monster9) y GestorTokens (GUID con vigencia de 30 minutos). Los manejadores validan siempre el token primero.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2011680" y="3547872"/>
            <a:ext cx="5120640" cy="3127248"/>
          </a:xfrm>
          <a:prstGeom prst="rect">
            <a:avLst/>
          </a:prstGeom>
          <a:solidFill>
            <a:srgbClr val="F2F6FC"/>
          </a:solidFill>
          <a:ln w="15875">
            <a:solidFill>
              <a:srgbClr val="4F81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[ Insertar captura ]</a:t>
            </a:r>
          </a:p>
          <a:p>
            <a:pPr algn="ctr"/>
            <a:r>
              <a:rPr lang="es-MX" sz="1200">
                <a:solidFill>
                  <a:srgbClr val="4F81BD"/>
                </a:solidFill>
                <a:latin typeface="Calibri"/>
              </a:rPr>
              <a:t>Nueva clase en la carpeta Seguridad</a:t>
            </a:r>
            <a:endParaRPr sz="12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067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GestorTokens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System.Collections.Concurrent;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System.Globalization;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ec.edu.monster.Seguridad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GestorTokens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const string VariableVigencia = "CONUNI_TOKEN_MINUTOS";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readonly ConcurrentDictionary&lt;string, long&gt; Activos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long VigenciaMs()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valor = Environment.GetEnvironmentVariable(VariableVigencia);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(double.TryParse(valor, NumberStyles.Float, CultureInfo.InvariantCulture, 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minutos) &amp;&amp; minutos &gt; 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(long)(minutos * 60_000d);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30L * 60_000L;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long Ahora() =&gt; DateTimeOffset.UtcNow.ToUnixTimeMilliseconds();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3776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GestorTokens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 GenerarToken()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token = Guid.NewGuid().ToString();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Activos[token] = Ahora() + VigenciaMs();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CodigoResultado? Validar(string?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(string.IsNullOrWhiteSpace(token))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CodigoResultado.TokenInvalido;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clave = token.Trim();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(!Activos.TryGetValue(clave, out var expira))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CodigoResultado.TokenInvalido;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(Ahora() &gt; expira)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Activos.TryRemove(clave, out _);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CodigoResultado.SesionExpirada;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5411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GestorTokens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RespuestaServicio? Verificar(string?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codigo = Validar(token);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(codigo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codigo == CodigoResultado.SesionExpirada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? RespuestaMapeador.Error(codigo.Value, "Sesión expirada")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: RespuestaMapeador.Error(codigo.Value, "Token inválido");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0177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ServicioAutenticacion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Autentica contra las credenciales de la aplicación y entrega el token.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ec.edu.monster.Seguridad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ServicioAutenticacion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const string Usuario = "monster";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const string Clave = "monster9";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Autenticar(string? usuario, string?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(string.IsNullOrWhiteSpace(usuario) || string.IsNullOrWhiteSpace(clave))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RespuestaMapeador.Error(CodigoResultado.DatosInconsistentes, "Usuario 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clave son obligatorios");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(Usuario == usuario.Trim() &amp;&amp; Clave ==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RespuestaMapeador.ExitoLogin(GestorTokens.GenerarToken());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RespuestaMapeador.Error(CodigoResultado.CredencialesIncorrectas, "Usuario 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clave incorrectos");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682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ManejadorLogin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del login: arma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ec.edu.monster.Seguridad;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ec.edu.monster.Controladores.ManejadoresWS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ManejadorLogin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Login(string? usuario, string?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ServicioAutenticacion.Autenticar(usuario,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RespuestaMapeador.Error(CodigoResultado.ErrorServidor, "Error interno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del servicio");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6054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ManejadorCatalogo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del catálogo: valida el token y devuelve categorías y unidades.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ec.edu.monster.Seguridad;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ec.edu.monster.Controladores.ManejadoresWS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ManejadorCatalogo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ObtenerCategorias(string?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errorToken = GestorTokens.Verificar(token);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(errorToken is not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errorToken;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RespuestaMapeador.ExitoLista(CatalogoUnidades.Categorias());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ObtenerUnidades(string? token, string? categoria)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errorToken = GestorTokens.Verificar(token);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(errorToken is not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errorToken;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8435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ManejadorCatalogo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del catálogo: valida el token y devuelve categorías y unidades.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conversor = CatalogoUnidades.BuscarCategoria(categoria);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(conversor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RespuestaMapeador.Error(CodigoResultado.DatosInconsistentes, "Categoría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no soportada");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RespuestaMapeador.ExitoLista(conversor.Unidades);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8778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System.Globalization;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ec.edu.monster.Modelos.Utilidades.Mapeadores;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ec.edu.monster.Seguridad;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ec.edu.monster.Controladores.ManejadoresWS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ManejadorConversion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RespuestaServicio Convertir(string categoria, double valor,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string? unidadOrigen, string? unidadDestino, 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// CU-05: validar token (CU-08 / CU-09 si falla)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errorToken = GestorTokens.Verificar(token);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(errorToken is not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errorToken;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// CU-06: validar datos (CU-10 / CU-11 si falla)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conversor = CatalogoUnidades.BuscarCategoria(categoria);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(conversor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RespuestaMapeador.Error(CodigoResultado.DatosInconsistentes,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"Categoría no soportada");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2107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(double.IsNaN(valor) || double.IsInfinity(valor))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RespuestaMapeador.Error(CodigoResultado.DatosInconsistentes, "El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valor debe ser numérico");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(string.IsNullOrWhiteSpace(unidadOrigen) ||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string.IsNullOrWhiteSpace(unidadDestino))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RespuestaMapeador.Error(CodigoResultado.DatosInconsistentes,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"Las unidades de origen y destino son obligatorias");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origen = Texto.Normalizar(unidadOrigen)!;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destino = Texto.Normalizar(unidadDestino)!;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catOrigen = CatalogoUnidades.CategoriaDeUnidad(origen);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(catOrigen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RespuestaMapeador.Error(CodigoResultado.UnidadNoSoportada, "Unidad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de origen no soportada");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catDestino = CatalogoUnidades.CategoriaDeUnidad(destino);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(catDestino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RespuestaMapeador.Error(CodigoResultado.UnidadNoSoportada, "Unidad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de destino no soportada");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(!ReferenceEquals(catOrigen, conversor) || !ReferenceEquals(catDestino,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conversor))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RespuestaMapeador.Error(CodigoResultado.DatosInconsistentes,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"Las unidades no pertenecen a la categoría " + conversor.Categoria);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0214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ManejadorConversion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// Calculo y CU-07: respuesta estructurada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resultado = Redondear(conversor.Convertir(valor, origen, destino));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RespuestaMapeador.ExitoConversion(resultado, origen,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RespuestaMapeador.Error(CodigoResultado.ErrorServidor, "Error interno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del servicio");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double Redondear(double v)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(v == 0.0)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0.0;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double.Parse(v.ToString("G12", CultureInfo.InvariantCulture),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CultureInfo.InvariantCulture);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5905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CodigoResultado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Códigos de resultado de la respuesta (OK-200, AUTH-001, UNIT-001...).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ec.edu.monster.Modelos.Utilidades.Enums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enum CodigoResultado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Ok200,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TokenInvalido,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SesionExpirada,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CredencialesIncorrectas,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UnidadNoSoportada,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DatosInconsistentes,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ErrorServidor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CodigoResultadoExtensiones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 Texto(this CodigoResultado codigo) =&gt; codigo switch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CodigoResultado.Ok200 =&gt; "OK-200",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CodigoResultado.TokenInvalido =&gt; "AUTH-001",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CodigoResultado.SesionExpirada =&gt; "AUTH-002",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CodigoResultado.CredencialesIncorrectas =&gt; "AUTH-003",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CodigoResultado.UnidadNoSoportada =&gt; "UNIT-001",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CodigoResultado.DatosInconsistentes =&gt; "DATA-001",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_ =&gt; "SRV-500"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3960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RespuestaServicio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Respuesta estructurada que devuelven todas las operaciones (CU-07).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System.Runtime.Serialization;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ec.edu.monster.Modelos.Utilidades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[DataContract(Name = "respuestaServicio", Namespace = "http://WebServices.monster.edu.ec/")]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RespuestaServicio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[DataMember(Name = "estado", Order = 1)]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Estado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[DataMember(Name = "codigo", Order = 2)]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Codigo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[DataMember(Name = "mensaje", Order = 3)]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Mensaje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[DataMember(Name = "resultado", Order = 4, EmitDefaultValue = false)]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double? Resultado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[DataMember(Name = "unidadOrigen", Order = 5, EmitDefaultValue = false)]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UnidadOrigen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[DataMember(Name = "unidadDestino", Order = 6, EmitDefaultValue = false)]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UnidadDestino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[DataMember(Name = "token", Order = 7, EmitDefaultValue = false)]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Token { get;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7914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RespuestaServicio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Respuesta estructurada que devuelven todas las operaciones (CU-07).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[DataMember(Name = "datos", Order = 8)]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List&lt;string&gt; Datos { get; set; }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bool EsExitosa() =&gt; EstadoRespuesta.Ok.Texto() == Estado;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0514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RespuestaMapeador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Único lugar donde se arma la respuesta: éxito y error.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ec.edu.monster.Modelos.Utilidades.Enums;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ec.edu.monster.Modelos.Utilidades.Mapeadores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RespuestaMapeador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Exito(string mensaje) =&gt; new()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Estado = EstadoRespuesta.Ok.Texto(),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 = CodigoResultado.Ok200.Texto(),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Mensaje = mensaje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ExitoLogin(string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Exito("Autenticación exitosa");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r.Token = token;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ExitoLista(IEnumerable&lt;string&gt; datos)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Exito("Consulta realizada correctamente");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r.Datos = datos.ToList();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0295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RespuestaMapeador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Único lugar donde se arma la respuesta: éxito y error.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ExitoConversion(double resultado, string unidadOrigen,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string unidadDestino)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Exito("Conversión realizada correctamente");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r.Resultado = resultado;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r.UnidadOrigen = unidadOrigen;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r.UnidadDestino = unidadDestino;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Error(CodigoResultado codigo, string mensaje) =&gt; new()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Estado = EstadoRespuesta.Error.Texto(),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Codigo = codigo.Texto(),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Mensaje = mensaje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8417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1.2.4 	Lógica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Ahora se completa la lógica: los conversores exponen el cálculo (factores y fórmulas) mediante la interfaz IConversor y el catálogo puede registrar cualquier categoría sin limitarse a una en concreto.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2011680" y="3547872"/>
            <a:ext cx="5120640" cy="3127248"/>
          </a:xfrm>
          <a:prstGeom prst="rect">
            <a:avLst/>
          </a:prstGeom>
          <a:solidFill>
            <a:srgbClr val="F2F6FC"/>
          </a:solidFill>
          <a:ln w="15875">
            <a:solidFill>
              <a:srgbClr val="4F81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[ Insertar captura ]</a:t>
            </a:r>
          </a:p>
          <a:p>
            <a:pPr algn="ctr"/>
            <a:r>
              <a:rPr lang="es-MX" sz="1200">
                <a:solidFill>
                  <a:srgbClr val="4F81BD"/>
                </a:solidFill>
                <a:latin typeface="Calibri"/>
              </a:rPr>
              <a:t>Servicios: interfaz IConversor, conversores y CatalogoUnidades</a:t>
            </a:r>
            <a:endParaRPr sz="12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7690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IConversor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Interfaz que implementa cada categoría de conversión.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System.Globalization;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System.Text;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interface IConversor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string Categoria { get;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IReadOnlyList&lt;string&gt; Unidades { get;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double Convertir(double valor, string origen, string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Texto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string? Normalizar(string? texto)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(texto is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descompuesto = texto.Trim().Normalize(NormalizationForm.FormD);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sb = new StringBuilder(descompuesto.Length);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foreach (var c in descompuesto)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(CharUnicodeInfo.GetUnicodeCategory(c) != UnicodeCategory.NonSpacingMark)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sb.Append(c);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5702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IConversor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Interfaz que implementa cada categoría de conversión.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sb.ToString().ToLowerInvariant();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9224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ConversorLongitud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Conversor de longitud: factores respecto al metro. ConversorMasa funciona igual (kilogramo).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ConversorLongitud : IConversor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readonly (string Unidad, double Metros)[] Factores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("centimetros", 0.01),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("metros", 1.0),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("pies", 0.3048),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("yardas", 0.9144),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("millas", 1609.344)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readonly Dictionary&lt;string, double&gt; Metros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Factores.ToDictionary(f =&gt; f.Unidad, f =&gt; f.Metros);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Categoria =&gt; "Longitud";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IReadOnlyList&lt;string&gt; Unidades { get; } = Factores.Select(f =&gt; f.Unidad).ToList();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double Convertir(double valor, string origen, string destino)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valor * Metros[origen] / Metros[destino];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7448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ConversorTemperatura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 de temperatura: fórmulas entre Celsius, Fahrenheit, Kelvin, Newton y Réaumur.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ConversorTemperatura : IConversor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Categoria =&gt; "Temperatura";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IReadOnlyList&lt;string&gt; Unidades { get; }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new List&lt;string&gt; { "celsius", "fahrenheit", "kelvin", "newton", "reaumur"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double Convertir(double valor, string origen, string destino)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DesdeCelsius(ACelsius(valor, origen),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double ACelsius(double v, string escala) =&gt; escala switch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"fahrenheit" =&gt; (v - 32.0) * 5.0 / 9.0,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"kelvin" =&gt; v - 273.15,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"newton" =&gt; v * 100.0 / 33.0,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"reaumur" =&gt; v * 5.0 / 4.0,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_ =&gt; v // celsius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double DesdeCelsius(double c, string escala) =&gt; escala switch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"fahrenheit" =&gt; c * 9.0 / 5.0 + 32.0,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"kelvin" =&gt; c + 273.15,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"newton" =&gt; c * 33.0 / 100.0,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"reaumur" =&gt; c * 4.0 / 5.0,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_ =&gt; c // celsius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457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CatalogoUnidades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Catálogo de categorías y unidades: registra los conversores.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CatalogoUnidades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static readonly List&lt;IConversor&gt; Conversores = new()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new ConversorLongitud(),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new ConversorMasa(),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new ConversorTemperatura()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void Registrar(IConversor conversor) =&gt; Conversores.Add(conversor);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IReadOnlyList&lt;string&gt; Categorias() =&gt; Conversores.Select(c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c.Categoria).ToList();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IConversor? BuscarCategoria(string? nombre)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n = Texto.Normalizar(nombre);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(string.IsNullOrEmpty(n))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Conversores.FirstOrDefault(c =&gt; Texto.Normalizar(c.Categoria) == 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IConversor? CategoriaDeUnidad(string? unidadNormalizada)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unidadNormalizada is null ? null : Conversores.FirstOrDefault(c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c.Unidades.Contains(unidadNormalizada));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4910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Arranque del servidor: registra los cinco servicios SOAP y publica el WSDL.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CoreWCF;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CoreWCF.Configuration;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CoreWCF.Description;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ec.edu.monster.Controladores.WS;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Servidor SOAP "Conversion de Unidades Monster" (GR07) - .NET 8 + CoreWCF.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Sin base de datos: credenciales, catalogo y tokens viven en memoria.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builder = WebApplication.CreateBuilder(args);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if (string.IsNullOrWhiteSpace(Environment.GetEnvironmentVariable("ASPNETCORE_URLS"))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&amp;&amp; !args.Any(a =&gt; a.StartsWith("--urls", StringComparison.OrdinalIgnoreCase)))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builder.WebHost.UseUrls("http://localhost:5080");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builder.Services.AddServiceModelServices();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builder.Services.AddServiceModelMetadata();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builder.Services.AddSingleton&lt;IServiceBehavior, UseRequestHeadersForMetadataAddressBehavior&gt;();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app = builder.Build();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app.UseServiceModel(sb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sb.AddService&lt;WSLogin&gt;();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sb.AddServiceEndpoint&lt;WSLogin, IWSLogin&gt;(new BasicHttpBinding(), "/WSLogin");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sb.AddService&lt;WSCatalogo&gt;();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sb.AddServiceEndpoint&lt;WSCatalogo, IWSCatalogo&gt;(new BasicHttpBinding(), "/WSCatalogo");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sb.AddService&lt;WSLongitud&gt;();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sb.AddServiceEndpoint&lt;WSLongitud, IWSLongitud&gt;(new BasicHttpBinding(), "/WSLongitud");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sb.AddService&lt;WSMasa&gt;();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sb.AddServiceEndpoint&lt;WSMasa, IWSMasa&gt;(new BasicHttpBinding(), "/WSMasa");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6339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Arranque del servidor: registra los cinco servicios SOAP y publica el WSDL.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sb.AddService&lt;WSTemperatura&gt;();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sb.AddServiceEndpoint&lt;WSTemperatura, IWSTemperatura&gt;(new BasicHttpBinding(),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"/WSTemperatura");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metadata = app.Services.GetRequiredService&lt;ServiceMetadataBehavior&gt;();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metadata.HttpGetEnabled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8391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149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1.2.5 	Ejecución en servidor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ejecuta con dotnet run (Kestrel escucha en http://localhost:5080) y se comprueba el WSDL en http://localhost:5080/WSLogin?wsdl. Incluye 21 pruebas automáticas, entre ellas una prueba SOAP real de extremo a extremo.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FDE1EDF3-682B-4B96-9231-2A865110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998920"/>
            <a:ext cx="5120640" cy="222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8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Resultado de dotnet test: se ejecutan las 21 pruebas del servidor (lógica, tokens y SOAP de extremo a extremo) y todas pasan.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7A7BE5B2-27A1-48FA-A4D4-0468C099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2909629"/>
            <a:ext cx="5207000" cy="187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7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5216" y="1965960"/>
            <a:ext cx="8586216" cy="2505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929" b="1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Para el cliente consola se usó Visual Studio y se creó un proyecto de Aplicación de consola (C#, .NET 10).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asigna el nombre ClienteConsola. No usa librerías externas: el cliente arma el mensaje SOAP con HttpClient.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2011680" y="4562855"/>
            <a:ext cx="5120640" cy="2112264"/>
          </a:xfrm>
          <a:prstGeom prst="rect">
            <a:avLst/>
          </a:prstGeom>
          <a:solidFill>
            <a:srgbClr val="F2F6FC"/>
          </a:solidFill>
          <a:ln w="15875">
            <a:solidFill>
              <a:srgbClr val="4F81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[ Insertar captura ]</a:t>
            </a:r>
          </a:p>
          <a:p>
            <a:pPr algn="ctr"/>
            <a:r>
              <a:rPr lang="es-MX" sz="1200">
                <a:solidFill>
                  <a:srgbClr val="4F81BD"/>
                </a:solidFill>
                <a:latin typeface="Calibri"/>
              </a:rPr>
              <a:t>Nuevo proyecto &gt; Aplicación de consola (C#) &gt; .NET 10</a:t>
            </a:r>
            <a:endParaRPr sz="12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3447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Una vez creado el proyecto se organizan las carpetas Modelos, Controladores y Vistas (patrón MVC). El proyecto ClienteConsola.Pruebas valida el cliente SOAP.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0CCEF19B-0707-488E-9FD5-8A08C01C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503" y="1917700"/>
            <a:ext cx="362309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41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SoapClient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System.Globalization;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System.Net.Http.Headers;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System.Security;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System.Text;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System.Xml;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System.Xml.Linq;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ec.edu.monster.ClienteConsola.Modelos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SoapClient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const string UrlPorDefecto = "http://localhost:5080/";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const string Ns = "http://WebServices.monster.edu.ec/";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HttpClient http;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UrlBase { get;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SoapClient(string? urlBase, HttpClient? cliente 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u = string.IsNullOrWhiteSpace(urlBase) ? UrlPorDefecto : urlBase.Trim();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UrlBase = u.EndsWith('/') ? u : u + "/";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http = cliente ?? new HttpClient { Timeout = TimeSpan.FromSeconds(15)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 UrlConfigurada()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p = Environment.GetEnvironmentVariable("CONUNI_URL");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string.IsNullOrWhiteSpace(p) ? UrlPorDefecto : 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3518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SoapClient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// ---------------- operaciones ----------------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Task&lt;RespuestaServicio&gt; Login(string usuario, string clave)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Llamar("WSLogin", "login", ("usuario", usuario), ("clave", clave));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Task&lt;RespuestaServicio&gt; ObtenerCategorias(string? token)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Llamar("WSCatalogo", "obtenerCategorias", ("token", 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Task&lt;RespuestaServicio&gt; ObtenerUnidades(string? token, string categoria)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Llamar("WSCatalogo", "obtenerUnidades", ("token", token), ("categoria", categoria));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Task&lt;RespuestaServicio&gt; Convertir(string categoria, double valor,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origen, string destino, string? 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(servicio, operacion) = (categoria ?? "").Trim().ToLowerInvariant() switch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"longitud" =&gt; ("WSLongitud", "convertirLongitud"),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"masa" =&gt; ("WSMasa", "convertirMasa"),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"temperatura" =&gt; ("WSTemperatura", "convertirTemperatura"),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_ =&gt; ("", "")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(servicio == "")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Task.FromResult(RespuestaServicio.ErrorLocal("DATA-001", "Categoría 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soportada"));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Llamar(servicio, operacion,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("valor", valor.ToString("R", CultureInfo.InvariantCulture)),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("unidadOrigen", origen), ("unidadDestino", destino), ("token", 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7425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SoapClient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// ---------------- SOAP ----------------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async Task&lt;RespuestaServicio&gt; Llamar(string servicio, string operacion, params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(string Nombre, string? Valor)[] parametros)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cuerpo = new StringBuilder();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foreach (var (nombre, valor) in parametros)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cuerpo.Append('&lt;').Append(nombre).Append('&gt;').Append(SecurityElement.Escape(va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lor ?? "")).Append("&lt;/").Append(nombre).Append('&gt;');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// El elemento de la operacion declara el espacio de nombres por defecto: los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parametros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// lo heredan, como espera el servidor.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sobre = "&lt;soapenv:Envelope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xmlns:soapenv=\"http://schemas.xmlsoap.org/soap/envelope/\"&gt;" 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$"&lt;soapenv:Header/&gt;&lt;soapenv:Body&gt;&lt;{operacion} xmlns=\"{Ns}\"&gt;{cuerpo}&lt;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/{operacion}&gt;&lt;/soapenv:Body&gt;&lt;/soapenv:Envelope&gt;";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using var peticion = new HttpRequestMessage(HttpMethod.Post, UrlBase + servicio)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Content = new StringContent(sobre, Encoding.UTF8, new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MediaTypeHeaderValue("text/xml"))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peticion.Headers.TryAddWithoutValidation("SOAPAction",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$"\"{Ns}{servicio}/{operacion}\"");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using var respuesta = await http.SendAsync(peticion);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xml = await respuesta.Content.ReadAsStringAsync();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Interpretar(xml, (int)respuesta.StatusCode, operacion);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18965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SoapClient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4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(HttpRequestException)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ErrorDeRed();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(TaskCanceledException)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ErrorDeRed();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RespuestaServicio ErrorDeRed()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RespuestaServicio.ErrorLocal(RespuestaServicio.CodRed,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$"No se pudo conectar con el servidor ({UrlBase}). Verifique que esté en ejecución.");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RespuestaServicio Interpretar(string xml, int estadoHttp,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operacion = "")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configuracion = new XmlReaderSettings { DtdProcessing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DtdProcessing.Prohibit, XmlResolver = null };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using var lector = XmlReader.Create(new StringReader(xml), configuracion);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doc = XDocument.Load(lector);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71344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SoapClient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5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fallo = doc.Descendants().FirstOrDefault(e =&gt; e.Name.LocalName == "Fault");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(fallo !=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var texto = fallo.Descendants().FirstOrDefault(e =&gt; e.Name.LocalName 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"faultstring")?.Value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    ?? fallo.Descendants().FirstOrDefault(e =&gt; e.Name.LocalName 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        "Text")?.Value;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RespuestaServicio.ErrorLocal("SRV-500", "Error del servidor" 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(texto == null ? "" : ": " + texto));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retorno = doc.Descendants().FirstOrDefault(e =&gt; e.Name.LocalName 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operacion + "Result")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  ?? doc.Descendants().FirstOrDefault(e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      e.Name.LocalName.EndsWith("Result"));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(retorno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return RespuestaServicio.ErrorLocal("SRV-500", $"Respuesta sin contenido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(HTTP {estadoHttp})");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r = new RespuestaServicio();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foreach (var e in retorno.Elements())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switch (e.Name.LocalName)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case "estado": r.Estado = e.Value;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case "codigo": r.Codigo = e.Value;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case "mensaje": r.Mensaje = e.Value;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case "resultado": r.Resultado = double.Parse(e.Value,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CultureInfo.InvariantCulture);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case "unidadOrigen": r.UnidadOrigen = e.Value;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case "unidadDestino": r.UnidadDestino = e.Value; break;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2407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SoapClient (modelo)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6 de 6.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case "token": r.Token = e.Value;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case "datos": r.Datos.AddRange(e.Elements().Select(x =&gt; x.Value));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catch (Exception)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RespuestaServicio.ErrorLocal("SRV-500", "No se pudo leer la respuesta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del servidor");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10024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ControladorSesion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Controlador de la sesión (CU-01).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ec.edu.monster.ClienteConsola.Modelos;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ec.edu.monster.ClienteConsola.Controladores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ControladorSesion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SoapClient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Sesion sesion;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ControladorSesion(SoapClient cliente, Sesion 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this.cliente =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this.sesion = sesion;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Url =&gt; cliente.UrlBase;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bool HaySesion =&gt; sesion.Activa;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IniciarSesion(string usuario, string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await cliente.Login(usuario,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(r.EsExitosa &amp;&amp; r.Token !=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sesion.Iniciar(r.Token);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sesion.Cerrar();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53126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ControladorSesion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Controlador de la sesión (CU-01).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void CerrarSesion() =&gt; sesion.Cerrar();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80500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ControladorConversiones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Controlador del catálogo y las conversiones.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System.Globalization;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ec.edu.monster.ClienteConsola.Modelos;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ec.edu.monster.ClienteConsola.Controladores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ControladorConversiones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SoapClient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Sesion sesion;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ControladorConversiones(SoapClient cliente, Sesion 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this.cliente =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this.sesion = sesion;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Categorias()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cliente.ObtenerCategorias(sesion.Token));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Unidades(string categoria)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cliente.ObtenerUnidades(sesion.Token, categoria));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Convertir(string categoria, double valor,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origen, string destino)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cliente.Convertir(categoria, valor, origen, destino, sesion.Token));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56470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ControladorConversiones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Controlador del catálogo y las conversiones.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RespuestaServicio Revisar(RespuestaServicio 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(r.RequiereNuevoLogin)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sesion.Cerrar();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string Formatear(double valor)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d = Math.Round((decimal)valor, 10, MidpointRounding.AwayFromZero);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d.ToString("0.##########", CultureInfo.InvariantCulture);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4493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InterfazConsola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 Ejecutar()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io.Linea();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io.Marco("CONVERSIÓN DE UNIDADES MONSTER", "Cliente de consola (.NET)", "Servidor: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" + sesion.Url);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seguir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while (seguir)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MostrarMenu();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var op = io.Leer("Opción: 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if (op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break; // fin de la entrada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switch (op.Trim())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"1":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await vistaSesion.IniciarSesion();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"2":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if (ExigirSesion())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await vistaConversion.VerCatalogo();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"3":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if (ExigirSesion())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    await vistaConversion.Convertir();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94896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InterfazConsola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"4":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vistaSesion.CerrarSesion();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case "0":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seguir =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default: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io.Linea("  Opción no válida.");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    break;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io.Linea("Hasta luego.");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void MostrarMenu()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io.Seccion("Menú  |  Sesión: " + (sesion.HaySesion ? "ACTIVA" : "no iniciada"));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(!sesion.HaySesion)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1. Iniciar sesión");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2. Ver catálogo (categorías y unidades)");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3. Convertir");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4. Cerrar sesión");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io.Linea("  0. Salir");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366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InterfazConsola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bool ExigirSesion()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(!sesion.HaySesion)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Debe iniciar sesión primero.");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0358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VistaConversion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 la conversión (CU-04).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 Convertir()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cats = await controlador.Categorias();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(!cats.EsExitosa)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io.Error(cats);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categoria = io.Elegir("Categoría", cats.Datos);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(categoria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un = await controlador.Unidades(categoria);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(!un.EsExitosa)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io.Error(un);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origen = io.Elegir("Unidad de origen", un.Datos);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(origen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destino = io.Elegir("Unidad de destino", un.Datos);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(destino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70878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VistaConversion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 la conversión (CU-04).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valor = io.LeerNumero("Valor a convertir: 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(valor ==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await controlador.Convertir(categoria, valor.Value, origen,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(r.EsExitosa &amp;&amp; r.Resultado !=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io.Marco("RESULTADO",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$"{ControladorConversiones.Formatear(valor.Value)} {r.UnidadOrigen}",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"=",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    $"{ControladorConversiones.Formatear(r.Resultado.Value)} {r.UnidadDestino}");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io.Linea("  " + r.Mensaje);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else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io.Error(r);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21628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Clase principal: arma las piezas del MVC.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System.Text;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ec.edu.monster.ClienteConsola.Controladores;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ec.edu.monster.ClienteConsola.Modelos;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ec.edu.monster.ClienteConsola.Vistas;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Cliente de consola de "Conversion de Unidades Monster". Aqui se arman las piezas del MVC: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modelo (SoapClient, Sesion), controladores y vistas.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URL del servidor: argumento 1, variable CONUNI_URL o http://localhost:5080/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Console.OutputEncoding = Encoding.UTF8;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Console.InputEncoding = Encoding.UTF8;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url = args.Length &gt; 0 ? args[0] : SoapClient.UrlConfigurada();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cliente = new SoapClient(url);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sesion = new Sesion();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controladorSesion = new ControladorSesion(cliente, sesion);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controladorConversiones = new ControladorConversiones(cliente, sesion);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io = new ConsolaIO(Console.In, Console.Out);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await new InterfazConsola(controladorSesion, new VistaSesion(controladorSesion, io),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new VistaConversion(controladorConversiones, io), io).Ejecutar();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66498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Se puede verificar que el cliente funciona de forma correcta: se levanta el servidor, se inicia sesión (usuario monster) y aparece el menú con la sesión activa.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449BBED9-BE59-4F6E-A6E5-45A977723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2192588"/>
            <a:ext cx="5207000" cy="376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843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Conversión de ejemplo: 1 milla a metros.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694CF3C8-1651-44BD-B798-342AA5047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178" y="1917700"/>
            <a:ext cx="4728645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4398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625" b="1">
                <a:latin typeface="Cambria"/>
                <a:ea typeface="Cambria"/>
                <a:cs typeface="Cambria"/>
                <a:sym typeface="Cambria"/>
              </a:rPr>
              <a:t>1.4 	CREACIÓN DEL PROYECTO – CLIENTE ESCRITORIO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Para el cliente de escritorio se creó una aplicación WPF (.NET 10) que aloja un BlazorWebView. La interfaz está en la biblioteca Razor compartida SistemaConversorUI.Shared.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Estructura: ClienteEscritorio (ventana WPF) y SistemaConversorUI.Shared (SoapClient, SesionCliente, Login.razor, Conversor.razor y estilos).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403305B2-2116-419C-8D5C-650AF6F0D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323" y="1917699"/>
            <a:ext cx="2839453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433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MainWindow.xaml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Ventana del cliente de escritorio: aloja el BlazorWebView.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&lt;Window x:Class="ClienteEscritorio.MainWindow"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xmlns="http://schemas.microsoft.com/winfx/2006/xaml/presentation"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xmlns:x="http://schemas.microsoft.com/winfx/2006/xaml"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xmlns:blazor="clr-namespace:Microsoft.AspNetCore.Components.WebView.Wpf;assembly=Micro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soft.AspNetCore.Components.WebView.Wpf"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xmlns:local="clr-namespace:ClienteEscritorio"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Title="Conversión de Unidades Monster" Height="760" Width="560" MinWidth="420"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MinHeight="600"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WindowStartupLocation="CenterScreen"&gt;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&lt;blazor:BlazorWebView x:Name="blazorWebView" HostPage="wwwroot\index.html"&gt;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&lt;blazor:BlazorWebView.RootComponents&gt;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&lt;blazor:RootComponent Selector="#app" ComponentType="{x:Type local:Main}"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&lt;/blazor:BlazorWebView.RootComponents&gt;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&lt;/blazor:BlazorWebView&gt;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&lt;/Window&gt;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57329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MainWindow.xaml.cs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Registra los servicios y entrega el proveedor al BlazorWebView.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System.Windows;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Microsoft.Extensions.DependencyInjection;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ClienteEscritorio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partial class MainWindow : Window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MainWindow()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InitializeComponent();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servicios = new ServiceCollection();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servicios.AddWpfBlazorWebView();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servicios.AgregarClienteMonster();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blazorWebView.Services = servicios.BuildServiceProvider();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7725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Guarda el token, llama al servicio SOAP y cierra la sesión local cuando el servidor lo rechaza.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ec.edu.monster.Cliente.Modelos;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Microsoft.Extensions.DependencyInjection;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ec.edu.monster.Cliente.Servicios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class SesionCliente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readonly HttpClient? http;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SoapClient cliente;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SesionCliente(string? urlServidor = null, HttpClient? http 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this.http = http;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UrlServidor = string.IsNullOrWhiteSpace(urlServidor) ? SoapClient.UrlConfigurada()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: urlServidor;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cliente = new SoapClient(UrlServidor, http);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 UrlServidor { get; private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string? Token { get; private set;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bool HaySesion =&gt; Token !=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void CambiarServidor(string url)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UrlServidor = url;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cliente = new SoapClient(url, http);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Token =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60211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Guarda el token, llama al servicio SOAP y cierra la sesión local cuando el servidor lo rechaza.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IniciarSesion(string usuario, string clave)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r = await cliente.Login(usuario,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Token = r.EsExitosa ? r.Token :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void CerrarSesion() =&gt; Token =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Categorias() =&gt; Revisar(await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cliente.ObtenerCategorias(Token));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Unidades(string categoria)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cliente.ObtenerUnidades(Token, categoria));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async Task&lt;RespuestaServicio&gt; Convertir(string categoria, double valor, string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origen, string destino)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Revisar(await cliente.Convertir(categoria, valor, origen, destino, Token));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private RespuestaServicio Revisar(RespuestaServicio 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if (r.RequiereNuevoLogin)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Token = null;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29753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Guarda el token, llama al servicio SOAP y cierra la sesión local cuando el servidor lo rechaza.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3.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RegistroServicios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IServiceCollection AgregarClienteMonster(this IServiceCollection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servicios, string? urlServidor = null)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servicios.AddScoped(_ =&gt; new SesionCliente(urlServidor));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5790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Login.razor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 inicio de sesión (CU-01):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@code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usuario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clave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servidor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mensaje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claseEstado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bool ocupado;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protected override void OnInitialized()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servidor = Sesion.UrlServidor;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(Sesion.HaySesion)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Navegacion.NavigateTo("conversor");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Teclado(KeyboardEventArgs 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(e.Key == "Enter")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await Ingresar();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Ingresar()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(ocupado)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18191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Login.razor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 inicio de sesión (CU-01):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(string.IsNullOrWhiteSpace(usuario) || string.IsNullOrWhiteSpace(clave))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Mostrar("Ingrese usuario y clave.",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ocupado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Mostrar("Verificando...", "info");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(!string.IsNullOrWhiteSpace(servidor) &amp;&amp; servidor.Trim() != Sesion.UrlServidor)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Sesion.CambiarServidor(servidor.Trim());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r = await Sesion.IniciarSesion(usuario, clave);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ocupado =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(r.EsExitosa)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Navegacion.NavigateTo("conversor");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Mostrar($"[{r.Codigo}] {r.Mensaje}",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void Mostrar(string texto, string clase)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mensaje = texto;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claseEstado = clase;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76714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4.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@code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List&lt;string&gt; categorias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List&lt;string&gt; unidades = new();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categoria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origen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destino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valorTexto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resultado = "Resultado";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mensaje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string claseEstado =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bool listo;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protected override async Task OnInitializedAsync()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(!Sesion.HaySesion)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Navegacion.NavigateTo("");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Mostrar("Cargando catálogo...", "info");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r = await Sesion.Categorias();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(!await Revisar(r))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categorias = r.Datos;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categoria = categorias.FirstOrDefault() ??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await CargarUnidades();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8284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4.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CambiarCategoria(ChangeEventArgs 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categoria = e.Value?.ToString() ??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await CargarUnidades();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CargarUnidades()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listo =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Mostrar($"Cargando unidades de {categoria}...", "info");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r = await Sesion.Unidades(categoria);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(!await Revisar(r))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unidades = r.Datos;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origen = unidades.FirstOrDefault() ?? "";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destino = unidades.Count &gt; 1 ? unidades[1] : origen;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resultado = "Resultado";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Mostrar("", 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listo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void Intercambiar() =&gt; (origen, destino) = (destino, origen);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Teclado(KeyboardEventArgs 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(e.Key == "Enter")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await Convertir();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13687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3 de 4.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async Task Convertir()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texto = valorTexto.Trim().Replace(',', '.');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(!double.TryParse(texto, NumberStyles.Float, CultureInfo.InvariantCulture, out var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valor)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|| double.IsNaN(valor) || double.IsInfinity(valor))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Mostrar("Ingrese un número válido (ejemplo: 12.5).",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listo = false;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Mostrar("Convirtiendo...", "info");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var r = await Sesion.Convertir(categoria, valor, origen, destino);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listo = true;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(r.EsExitosa &amp;&amp; r.Resultado != null)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resultado = $"{Formatear(valor)} {r.UnidadOrigen} = {Formatear(r.Resultado.Value)}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    {r.UnidadDestino}";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Mostrar(r.Mensaje ?? "", "exito");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(await Revisar(r))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Mostrar($"[{r.Codigo}] {r.Mensaje}",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11172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4 de 4.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Task&lt;bool&gt; Revisar(RespuestaServicio 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(r.RequiereNuevoLogin)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Navegacion.NavigateTo("");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Task.FromResult(false);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if (!r.EsExitosa)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Mostrar($"[{r.Codigo}] {r.Mensaje}", "error");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Task.FromResult(false);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return Task.FromResult(true);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void CerrarSesion()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Sesion.CerrarSesion();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Navegacion.NavigateTo("");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void Mostrar(string texto, string clase)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mensaje = texto;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claseEstado = clase;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private static string Formatear(double valor) =&gt;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Math.Round((decimal)valor, 10, MidpointRounding.AwayFromZero).ToString("0.##########",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CultureInfo.InvariantCulture);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39948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023D8672-5050-468B-B88F-5A1AE846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39" y="1917700"/>
            <a:ext cx="3387121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00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Vista conversión de unidades: 100 celsius = 212 fahrenheit.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75715077-BD3F-48BC-ACBE-3FE00ECB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39" y="1917700"/>
            <a:ext cx="3387121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535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625" b="1">
                <a:latin typeface="Cambria"/>
                <a:ea typeface="Cambria"/>
                <a:cs typeface="Cambria"/>
                <a:sym typeface="Cambria"/>
              </a:rPr>
              <a:t>1.5 	CREACIÓN DEL PROYECTO – CLIENTE WEB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Para el cliente web se creó una aplicación Blazor Server (.NET 10) que reutiliza la biblioteca compartida. El navegador nunca habla SOAP ni conoce el token.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Estructura: Program.cs (registro de servicios), Components (App, Routes) y wwwroot (web.css e imágenes del login).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ADABDA9E-B9F6-4D60-B7E9-540E2C01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142" y="1917700"/>
            <a:ext cx="4213616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958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 (web)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Arranque del cliente web: registra la sesión del cliente y las páginas compartidas. 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ClienteWeb.Components;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Cliente web de "Conversion de Unidades Monster" (Blazor Server). El navegador nunca habla SOAP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ni conoce el token: este servidor web llama al servicio SOAP y guarda el token en la sesion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(circuito) de cada usuario.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// URL del servicio SOAP: variable CONUNI_URL o http://localhost:5080/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builder = WebApplication.CreateBuilder(args);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if (string.IsNullOrWhiteSpace(Environment.GetEnvironmentVariable("ASPNETCORE_URLS"))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&amp;&amp; !args.Any(a =&gt; a.StartsWith("--urls", StringComparison.OrdinalIgnoreCase)))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builder.WebHost.UseUrls("http://localhost:5090");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builder.WebHost.UseStaticWebAssets(); // sirve _content/... de la libreria compartida 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cualquier entorno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builder.Services.AddRazorComponents()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.AddInteractiveServerComponents();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builder.Services.AgregarClienteMonster();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var app = builder.Build();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if (!app.Environment.IsDevelopment())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app.UseExceptionHandler("/Error", createScopeForErrors: true);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app.UseStatusCodePagesWithReExecute("/not-found", createScopeForStatusCodePages: true);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71332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Program (web)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Arranque del cliente web: registra la sesión del cliente y las páginas compartidas. 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app.UseAntiforgery();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app.MapStaticAssets();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app.MapRazorComponents&lt;App&gt;()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.AddInteractiveServerRenderMode()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.AddAdditionalAssemblies(typeof(SesionCliente).Assembly);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app.Run();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5940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App.razor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Documento base: estilos compartidos y fondo del login solo para la web.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599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&lt;!DOCTYPE html&gt;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&lt;html lang="es"&gt;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&lt;head&gt;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&lt;meta charset="utf-8"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&lt;meta name="viewport" content="width=device-width, initial-scale=1.0"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&lt;base href="/"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&lt;ResourcePreloader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&lt;link rel="stylesheet" href="@Assets["_content/SistemaConversorUI.Shared/css/monster.css"]"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&lt;link rel="stylesheet" href="@Assets["web.css"]"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&lt;ImportMap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&lt;HeadOutlet @rendermode="InteractiveServer"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&lt;/head&gt;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&lt;body class="con-fondo"&gt;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&lt;Routes @rendermode="InteractiveServer"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&lt;ReconnectModal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&lt;script src="@Assets["_framework/blazor.web.js"]"&gt;&lt;/script&gt;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&lt;/body&gt;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&lt;/html&gt;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6283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Vista login (navegador).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7D967928-A736-4097-B820-9E005AF2B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0" y="2740299"/>
            <a:ext cx="4889500" cy="274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324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Vista conversión de unidades (navegador).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2BEC113B-B162-40D4-BE36-2AAEE5A2D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099" y="1917700"/>
            <a:ext cx="3787202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444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MX" sz="1625" b="1">
                <a:latin typeface="Cambria"/>
                <a:ea typeface="Cambria"/>
                <a:cs typeface="Cambria"/>
                <a:sym typeface="Cambria"/>
              </a:rPr>
              <a:t>1.6 	CREACIÓN DEL PROYECTO – CLIENTE MÓVIL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Para el cliente móvil se creó una aplicación .NET MAUI Blazor Hybrid para Android (.NET 10) que reutiliza la interfaz compartida.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Estructura: MauiProgram, MainPage (BlazorWebView) y Platforms/Android (manifiesto y actividad principal).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78C18A5B-1EB1-4EED-99A9-AECE122EB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522" y="2146300"/>
            <a:ext cx="3586855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029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MauiProgram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Configura la aplicación y apunta al servidor (10.0.2.2 en el emulador).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600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ec.edu.monster.Cliente.Servicios;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using Microsoft.Extensions.Logging;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namespace ClienteMovil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public static class MauiProgram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const string UrlServidorEmulador = "http://10.0.2.2:5080/";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public static MauiApp CreateMauiApp()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var builder = MauiApp.CreateBuilder();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builder.UseMauiApp&lt;App&gt;();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builder.Services.AddMauiBlazorWebView();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builder.Services.AgregarClienteMonster(UrlServidorEmulador);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#if DEBUG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builder.Logging.AddDebug();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#endif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    return builder.Build();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}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88718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ClienteMovil.csproj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Proyecto MAUI para Android y referencia a la interfaz compartida.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1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600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&lt;Project Sdk="Microsoft.NET.Sdk.Razor"&gt;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&lt;PropertyGroup&gt;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&lt;TargetFrameworks&gt;net10.0-android&lt;/TargetFrameworks&gt;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&lt;OutputType&gt;Exe&lt;/OutputType&gt;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&lt;RootNamespace&gt;ClienteMovil&lt;/RootNamespace&gt;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&lt;UseMaui&gt;true&lt;/UseMaui&gt;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&lt;SingleProject&gt;true&lt;/SingleProject&gt;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&lt;ImplicitUsings&gt;enable&lt;/ImplicitUsings&gt;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&lt;Nullable&gt;enable&lt;/Nullable&gt;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&lt;EnableDefaultCssItems&gt;false&lt;/EnableDefaultCssItems&gt;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&lt;ApplicationTitle&gt;Conversión Monster&lt;/ApplicationTitle&gt;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&lt;ApplicationId&gt;ec.edu.monster.clientemovil&lt;/ApplicationId&gt;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&lt;ApplicationDisplayVersion&gt;1.0&lt;/ApplicationDisplayVersion&gt;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&lt;ApplicationVersion&gt;1&lt;/ApplicationVersion&gt;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&lt;SupportedOSPlatformVersion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Condition="$([MSBuild]::GetTargetPlatformIdentifier('$(TargetFramework)')) 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'android'"&gt;24.0&lt;/SupportedOSPlatformVersion&gt;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&lt;/PropertyGroup&gt;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&lt;MauiIcon Include="Resources\AppIcon\appicon.svg" Color="#1F3864"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&lt;MauiSplashScreen Include="Resources\Splash\splash.svg" Color="#1F3864" BaseSize="128,128"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52121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ClienteMovil.csproj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Proyecto MAUI para Android y referencia a la interfaz compartida.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Fragmento 2 de 2.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600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Include="Microsoft.Extensions.Logging.Debug" Version="10.0.13"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Include="Microsoft.Maui.Controls" Version="$(MauiVersion)"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&lt;PackageReference Include="Microsoft.AspNetCore.Components.WebView.Maui"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Version="$(MauiVersion)"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&lt;ProjectReference Include="..\..\04.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CLIESC\SistemaConversorUI.Shared\SistemaConversorUI.Shared.csproj"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&lt;/ItemGroup&gt;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MX" sz="900">
              <a:solidFill>
                <a:srgbClr val="4F81BD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&lt;/Project&gt;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22657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2514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AndroidManifest.xml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Permisos de red y HTTP sin cifrar para el servidor de práctica.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111500" y="1879600"/>
            <a:ext cx="6121400" cy="459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&lt;?xml version="1.0" encoding="utf-8"?&gt;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&lt;manifest xmlns:android="http://schemas.android.com/apk/res/android"&gt;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&lt;!-- usesCleartextTraffic: el servidor SOAP de desarrollo se consulta por http, sin TLS. --&gt;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&lt;application android:allowBackup="true" android:icon="@mipmap/appicon"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android:roundIcon="@mipmap/appicon_round" android:supportsRtl="true"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    android:usesCleartextTraffic="true"&gt;&lt;/application&gt;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&lt;uses-permission android:name="android.permission.ACCESS_NETWORK_STATE"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    &lt;uses-permission android:name="android.permission.INTERNET" /&gt;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900">
                <a:solidFill>
                  <a:srgbClr val="4F81BD"/>
                </a:solidFill>
                <a:latin typeface="Calibri"/>
              </a:rPr>
              <a:t>&lt;/manifest&gt;</a:t>
            </a:r>
            <a:endParaRPr sz="900">
              <a:solidFill>
                <a:srgbClr val="4F81B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05755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Vista login (emulador de Android).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B9C76755-4F80-418C-AC3B-F109322F6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914" y="1917701"/>
            <a:ext cx="2123573" cy="448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663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Vista conversión de unidades: 250 centímetros = 2.5 metros.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123">
            <a:extLst>
              <a:ext uri="{FF2B5EF4-FFF2-40B4-BE49-F238E27FC236}">
                <a16:creationId xmlns:a16="http://schemas.microsoft.com/office/drawing/2014/main" id="{C7D541FF-4B1A-48B5-9AD9-7F033A712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914" y="1917701"/>
            <a:ext cx="2123573" cy="448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981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La culminación de este proyecto evidencia la efectividad de una Arquitectura Orientada a Servicios (SOA) al integrar un servidor SOAP desarrollado en .NET (CoreWCF sobre ASP.NET Core) con cuatro clientes (consola, escritorio, web y móvil Android) que consumen el mismo contrato WSDL. La seguridad se resolvió con tokens de vigencia limitada, validados en cada operación, y la respuesta estructurada con códigos de error permitió que todos los clientes traten los fallos de forma uniforme, reutilizando una misma interfaz en escritorio, web y móvil.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42683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Integrar una base de datos (BDD) formal para reemplazar el manejo en memoria de credenciales y permitir el almacenamiento histórico de las conversiones de manera persistente y escalable.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Integrar protocolos de cifrado a nivel de mensaje (WS-Security) y el uso de HTTPS en entornos de producción para proteger la integridad del token de seguridad y los datos sensibles durante el tránsito en la red.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Agregar nuevas categorías (divisas, volumen, tiempo y área) implementando la interfaz IConversor, e incorporar pruebas y análisis estático automatizados para asegurar que las nuevas funcionalidades no rompan la compatibilidad con el contrato WSDL expuesto.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261891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13702</Words>
  <Application>Microsoft Office PowerPoint</Application>
  <PresentationFormat>Panorámica</PresentationFormat>
  <Paragraphs>2538</Paragraphs>
  <Slides>86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86</vt:i4>
      </vt:variant>
    </vt:vector>
  </HeadingPairs>
  <TitlesOfParts>
    <vt:vector size="92" baseType="lpstr">
      <vt:lpstr>Noto Sans Symbols</vt:lpstr>
      <vt:lpstr>Calibri</vt:lpstr>
      <vt:lpstr>Gill Sans</vt:lpstr>
      <vt:lpstr>Cambria</vt:lpstr>
      <vt:lpstr>Arial</vt:lpstr>
      <vt:lpstr>Dividendo</vt:lpstr>
      <vt:lpstr>MANUAL CONVERSIÓN UNIDADES SOAP .NET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CONVERSIÓN UNIDADES SOAP .NET</dc:title>
  <cp:lastModifiedBy>LENIN DAVID MORAN PALOMO</cp:lastModifiedBy>
  <cp:revision>1</cp:revision>
  <dcterms:modified xsi:type="dcterms:W3CDTF">2026-10-14T22:17:06Z</dcterms:modified>
</cp:coreProperties>
</file>