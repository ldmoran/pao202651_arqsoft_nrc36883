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56032"/>
          </a:xfrm>
          <a:prstGeom prst="rect">
            <a:avLst/>
          </a:prstGeom>
          <a:solidFill>
            <a:srgbClr val="1F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914400"/>
            <a:ext cx="3383280" cy="18149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840480"/>
            <a:ext cx="16459200" cy="64008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2500" b="1">
                <a:solidFill>
                  <a:srgbClr val="1F3864"/>
                </a:solidFill>
                <a:latin typeface="Arial"/>
              </a:rPr>
              <a:t>UNIVERSIDAD DE LAS FUERZAS ARMADAS – ESPE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6459200" cy="4572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900" b="0">
                <a:solidFill>
                  <a:srgbClr val="667790"/>
                </a:solidFill>
                <a:latin typeface="Arial"/>
              </a:rPr>
              <a:t>ARQUITECTURA DE SOFTWARE  |  NRC 36883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6459200" cy="9144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3100" b="1">
                <a:solidFill>
                  <a:srgbClr val="1F3864"/>
                </a:solidFill>
                <a:latin typeface="Arial"/>
              </a:rPr>
              <a:t>TI.1.3 · RESTful CON JAVA · SIN BASE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629400"/>
            <a:ext cx="16459200" cy="73152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2000" b="0">
                <a:solidFill>
                  <a:srgbClr val="252F3E"/>
                </a:solidFill>
                <a:latin typeface="Arial"/>
              </a:rPr>
              <a:t>Miranda Alison · Morán Lenin · Vivanco Gabriel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7406640"/>
            <a:ext cx="16459200" cy="4572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700" b="0">
                <a:solidFill>
                  <a:srgbClr val="252F3E"/>
                </a:solidFill>
                <a:latin typeface="Arial"/>
              </a:rPr>
              <a:t>Tutor: Ing. Eduardo Mauricio Campaña Ortega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281160"/>
            <a:ext cx="16459200" cy="36576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ctr"/>
            <a:r>
              <a:rPr sz="1400" b="0">
                <a:solidFill>
                  <a:srgbClr val="667790"/>
                </a:solidFill>
                <a:latin typeface="Arial"/>
              </a:rPr>
              <a:t>Grupo 7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TI.1.3: Conversión de Unidades Monster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RESTful con Java · sin base de datos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ESPE · Arquitectura de Software · NRC 36883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2/81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Objetivo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Publicar una API REST JSON en Payara 6.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Integrar cuatro clientes: consola, escritorio, web y Android.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Autenticar, consultar catálogo y convertir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persisten usuarios, tokens ni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3/81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Payara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web Jakarta EE para desplegar el WAR.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Puerto local HTTP predeterminado: 8080.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contexto de la aplicación REST es REST_ConUni_Java_GR07.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4/81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Proyecto Maven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módulo del servidor se empaqueta como archivo WAR.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JAX-RS expone recursos bajo /api/.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Java 21 y Jakarta REST forman el entorno de ejecución.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5/81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Estructura por paquetes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controladores.rest: recursos HTTP y proveedores.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controladores.manejadoresws: coordinación de operaciones.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seguridad: autenticación y tokens.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logica y modelos: catálogo, convertidores y respuestas.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6/81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Diseño de recursos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/api/auth/login para autenticación.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GET /api/catalogo/categorias y GET /api/catalogo/{categoria}/unidades.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/api/conversiones/{categoria} para convertir.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operaciones protegidas reciben Authorization: Bearer &lt;token&gt;.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7/81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LoginResource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Recibe credenciales JSON sin token previo.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Delega la autenticación al manejador.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Devuelve JSON estructurado con token al autenticarse.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8/81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Seguridad en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ServicioAutenticacion valida las credenciales de práctica.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GestorTokens crea y valida tokens aleatorios.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vigencia predeterminada es 30 minutos.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reinicio del proceso invalida tokens activos.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9/81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la entrada y delega en el servicio de autenticación.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Genera una respuesta única mediante RespuestaMapeador.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Credenciales incorrectas producen HTTP 401.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10/81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Catálogo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Requiere token Bearer.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Entrega categorías y unidades disponibles.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consulta base de datos: usa catálogo Java en memoria.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11/81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ManejadorCatalogo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el token antes de entregar datos.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Busca categorías y unidades en CatalogoUnidades.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Responde JSON común con arreglo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12/81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Conversión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Recibe categoría en la ruta y los valores en JSON.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token, valor numérico y unidades.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Llama al convertidor específico y devuelve resultado.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13/81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ManejadorConversion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Rechaza token ausente, inválido o expirado.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Confirma que las unidades pertenezcan a la categoría solicitada.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Mapea errores de datos/unidades a sus códigos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14/81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Contrato de solicitud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valor: número finito.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unidadOrigen: nombre de la unidad inicial.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unidadDestino: unidad final de la misma categoría.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nombres aceptan variantes normalizadas.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15/81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longitud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centímetros, metros, pies, yardas y millas.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usando factores respecto al metro.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Ejemplo: 1 milla = 1609.344 metros.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16/81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masa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gramos, kilogramos, onzas, libras y quintales.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usando factores relativos de masa.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cliente recibe el resultado calculado en el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17/81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Conversor de temperatura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Unidades: Celsius, Fahrenheit, Kelvin, Newton y Réaumur.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 fórmulas entre escalas.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Ejemplo: 100 °C = 212 °F.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18/81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CatalogoUnidades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Registra convertidores por categoría.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Resuelve categorías y unidades sin persistencia.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normalización evita diferencias por mayúsculas o tildes.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19/81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RespuestaServicio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estado y codigo identifican resultado.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mensaje describe la operación.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resultado/unidades se informan en conversiones.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se entrega en login; datos contiene listas.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20/81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RespuestaMapeador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Centraliza respuestas de éxito, login, listas, conversión y error.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Ejemplos: OK-200, AUTH-003, DATA-001, UNIT-001 y SRV-500.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Mantiene uniforme la estructura JSON.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21/81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JSON inválido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JsonInvalidoMapper captura ProcessingException.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Devuelve HTTP 400, código DATA-001 y JSON estructurado.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Prueba de regresión incluida en RestResourcesTest.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22/81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Estados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200: operación exitosa.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400: JSON o datos inválidos.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401: credenciales/token no válidos.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422: unidad no admitida; 500: error interno.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23/81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Ejemplo de autenticación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/api/auth/login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Content-Type: application/json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{"usuario":"monster","clave":"monster9"}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Respuesta: HTTP 200 + JSON con token.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24/81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Ejemplo de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POST /api/conversiones/Longitud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Authorization: Bearer &lt;token&gt;</a:t>
            </a:r>
          </a:p>
          <a:p>
            <a:pPr>
              <a:spcAft>
                <a:spcPts val="1200"/>
              </a:spcAft>
              <a:defRPr sz="1900">
                <a:solidFill>
                  <a:srgbClr val="252F3E"/>
                </a:solidFill>
                <a:latin typeface="Consolas"/>
              </a:defRPr>
            </a:pPr>
            <a:r>
              <a:t>{"valor":1,"unidadOrigen":"millas","unidadDestino":"metros"}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Respuesta: HTTP 200, resultado 1609.344.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25/81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Empaquetado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mvn clean test.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mvn clean package.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genera target/REST_ConUni_Java_GR07.war.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Despliegue en Payara 6.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26/81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Despliegue y 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Inicie domain1 en Payara.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Despliegue el WAR en Applications.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Base local: http://localhost:8080/REST_ConUni_Java_GR07/api/.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Pruebe login y recurso protegido.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27/81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Pruebas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9 pruebas de RestResourcesTest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Cubre recursos, autenticación, conversiones y errores.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Incluye JSON mal formado con respuesta 400 estructurada.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28/81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Sin persistencia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hay tablas SQL ni entidades de base de datos.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Credenciales, catálogo y tokens residen en memoria.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conversiones no se guardan.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apagar/reiniciar Payara se limpian tokens activos.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29/81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Vista de la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 único contrato REST es compartido por los cuatro clientes.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HTTP transporta JSON; no se generan artefactos WSDL.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cliente selecciona la dirección del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30/81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Proveedores JAX-RS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componentes anotados con @Provider se descubren en el despliegue.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JsonInvalidoMapper unifica el error de análisis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respuesta de error conserva el contrato común.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31/81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Prueba del JSON inválido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Enviar cuerpo mal formado al recurso REST.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servidor responde HTTP 400, código DATA-001.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devuelve la página HTML predeterminada de Payara.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32/81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Servidor REST · Errores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400 DATA-001: formato o datos incorrectos.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401 AUTH-001/AUTH-002: token inválido o expirado.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422 UNIT-001: unidad no admitida.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500 SRV-500: fallo no esperado.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33/81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Proyecto Maven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ClienteConsola es una aplicación Java de terminal.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Paquetes separados para modelo, controlador y vista.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 el mismo contrato REST que los demás clientes.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34/81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RestClient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 HTTP para enviar solicitudes al servidor.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Serializa y deserializa las respuestas JSON.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Convierte fallos de conexión en mensajes para el usuario.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35/81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Modelos de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RespuestaServicio representa el JSON común.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Sesion conserva el token Bearer.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almacena historial de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36/81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ControladorSesion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Solicita credenciales al servicio REST.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Guarda el token recibido al iniciar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Permite cerrar sesión y limpiar el estado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37/81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ControladorConversiones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Consulta categorías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Envía la conversión con valor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Presenta resultado o error funcional.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38/81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Interfaz por menú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menú muestra opciones según el estado de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vista separa login, catálogo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usuario navega con opciones de texto.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39/81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URL del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Argumento de ejecución del programa.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También se admite -Dconuni.url o CONUNI_URL.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Predeterminado: localhost en el puerto 8080.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se fija una IP de red en 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40/81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Inicio de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Escriba monster y monster9.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aplicación envía POST al recurso de login.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Una respuesta 200 inicia la sesión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41/81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Catálogo y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Elija Longitud, Masa o Temperatura.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Seleccione unidad de origen y destino.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Ingrese un valor y revise el resultado.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42/81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Pruebas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8 pruebas de RestClientTest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Validan solicitudes, respuesta JSON y manejo de errores.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compilación Maven del cliente termina correctamente.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43/81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Pruebas de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incorrecta: mensaje de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apagado: error explícito de conexión.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inválido: el cliente debe volver a autenticar.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44/81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Compile con mvn clean test.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Run desde NetBeans o ejecute el JAR/clases.</a:t>
            </a:r>
          </a:p>
          <a:p>
            <a:pPr>
              <a:spcAft>
                <a:spcPts val="12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Pase URL por argumento o variable de entorno si el servidor es remoto.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45/81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Resumen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Cliente desacoplado de la implementación del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Sesión Bearer mantenida en el proceso.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almacenamiento de conversiones.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46/81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Compilación y configuración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Maven ejecuta pruebas unitarias antes del uso.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NetBeans ejecuta el proyecto con el JDK configurado.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se cambia sin editar constantes del código.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47/81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consola · Escenarios de consola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Login válido seguido de consulta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errónea debe mostrar error de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apagado debe informar que no se pudo conectar.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48/81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Proyecto Swing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Aplicación Java de escritorio.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Vista Swing separada del cliente REST.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ejecuta desde NetBeans o Maven.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49/81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Controlador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 y conserva token.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Carga categorías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Envía conversiones al servidor.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50/81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LoginFrame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Formulario para usuario y clave.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se oculta al inicio tras la flecha.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flecha se dibuja como icono para asegurar su visibilidad.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51/81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Servidor plegable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pulsar la flecha se muestra el campo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personalizada se usa al iniciar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URL personalizada se usa el valor predeterminado.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52/81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Pantalla de conversión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Muestra catálogo y 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Permite ingresar valor y elegir origen/destino.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Presenta resultado o mensaje de error.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53/81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Sesión Bearer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conservado en el controlador de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Las peticiones protegidas incluyen Authorization.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Cerrar sesión elimina la sesión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54/81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Pruebas de escritorio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6 pruebas de RestClientTest pasan.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Compilación Maven limpia y pruebas completadas.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requieren acceso al servidor real para ejecutar.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55/81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Abra el proyecto ClienteEscritorio en NetBeans.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Revise el JDK del proyecto.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Ejecute el proyecto con el servidor Payara disponible.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56/81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escritorio · Verificación visual y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flecha inicia plegada y el campo no se muestra.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Al desplegarla aparece Servidor y la entrada de URL.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Verifique login, catálogo y cálculo 1 milla a metros.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57/81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Arquitectura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WAR con Jakarta Servlets y vistas HTML/CSS/JavaScript.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navegador conversa con Servlets.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Los Servlets consumen el servidor REST.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58/81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LoginServlet y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Valida la URL elegida y las credenciales.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Guarda token y servidor en HttpSession.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token no se entrega al JavaScript del navegador.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59/81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Campo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bloque &lt;details&gt; empieza plegado.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acepta HTTP/HTTPS con host válido.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Vacío utiliza la configuración de web.xml.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60/81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Catálogo y conversiones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CatalogoServlet consulta categorías/unidades.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ConvertirServlet envía la solicitud con Bearer token.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La URL seleccionada se reutiliza durante la sesión.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61/81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web · Pruebas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11 pruebas Maven pasan entre RestClient, Json y Servicios.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Incluyen validación de servidor de sesión y cliente HTTP.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requieren servicio real para los tests unitarios.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62/81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Proyecto Android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Aplicación nativa Java con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Activities para login y conversión.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Permiso de Internet para llamar a la API.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63/81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Entorno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Android Gradle Plugin 8.9.1.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Gradle 8.11.1 y JDK 17 para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SDK local configurado mediante local.properties (no se versiona).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64/81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RestClient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Llamadas HTTP y análisis de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MockWebServer 4.12.0 para pruebas locales.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 evita com.sun.net.httpserver, no disponible en tests Android.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65/81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LoginActivity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Autentica al usuario y guarda la sesión.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empieza plegado mediante etiqueta clicable.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Iconos vectoriales muestran los estados de flecha.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66/81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Dirección en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Emulador: 10.0.2.2 apunta al host.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Teléfono real: usar la URL de red del equipo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Introducir URL completa, incluido /api/.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67/81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Sesión y pantallas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conservado para solicitudes protegidas.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catálogo carga desde el servidor.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Conversión muestra resultado recibido por HTTP.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68/81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Pruebas móviles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RestClientTest usa MockWebServer.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 entorno actual no tiene Android SDK/local.properties.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Por eso la compilación Android queda pendiente de ejecutar en Android Studio.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69/81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Instalación en emulador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Sincronice Gradle.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Seleccione emulador y ejecute la app.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Compruebe login, catálogo y conversión.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70/81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Instalación en dispositivo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Active depuración USB y autorice el equipo.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Instale desde Android Studio o genere APK de depuración.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URL real del servidor; 10.0.2.2 no aplica.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71/81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Resumen del cliente móvil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Misma API y misma respuesta JSON.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necesita una base de datos local.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Configuración de servidor desde el login.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72/81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Verificación en emulador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Inicie el servidor Payara en el host.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Configure 10.0.2.2 y ejecute en el emulador.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Pruebe login, catálogo y conversión.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73/81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Cliente móvil Android · Verificación en teléfono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Use URL del equipo servidor en la misma red.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Compruebe conectividad antes de abrir la aplicación.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Campo Servidor inicia plegado.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74/81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Pruebas integradas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9 · Consola 8 · Escritorio 6 · Web 11.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34 pruebas ejecutadas con 0 fallos.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Móvil: MockWebServer incorporado; ejecución requiere Android SDK.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75/81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Pruebas funcionales manuales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Login: monster / monster9.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 milla → metros = 1609.344.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100 °C → °F = 212.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Clave incorrecta y servidor apagado muestran errores explícitos.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76/81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Prueba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Servidor y clientes en una red que permita comunicación.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Abrir el puerto 8080 en firewall privado si se requiere.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Probar primero desde el navegador del teléfono.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guardar la IP en el repositorio.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77/81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Seguridad y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Token Bearer en recursos protegidos.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Sesiones y credenciales en memoria (alcance académico).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No desplegar credenciales de práctica en producción.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Usar HTTPS y persistencia segura en una evolución futura.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78/81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79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API REST única para cuatro tipos de cliente.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Estados HTTP y errores estructurados.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Arquitectura modular y pruebas automatizadas.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Sin BDD, según alcance de TI.1.3.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79/81</a:t>
            </a:r>
          </a:p>
        </p:txBody>
      </p:sp>
    </p:spTree>
  </p:cSld>
  <p:clrMapOvr>
    <a:masterClrMapping/>
  </p:clrMapOvr>
</p:sld>
</file>

<file path=ppt/slides/slide80.xml><?xml version="1.0" encoding="utf-8"?>
<ns0:sld xmlns:a="http://schemas.openxmlformats.org/drawingml/2006/main" xmlns:ns0="http://schemas.openxmlformats.org/presentationml/2006/main">
  <ns0:cSld>
    <ns0:bg>
      <ns0:bgPr>
        <a:solidFill>
          <a:srgbClr val="FFFFFF"/>
        </a:solidFill>
        <a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3" name="Rectangle 2"/>
          <ns0:cNvSpPr/>
          <ns0:nvPr/>
        </ns0:nvSpPr>
        <ns0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4" name="TextBox 3"/>
          <ns0:cNvSpPr txBox="1"/>
          <ns0:nvPr/>
        </ns0:nvSpPr>
        <ns0:spPr>
          <a:xfrm>
            <a:off x="731520" y="384048"/>
            <a:ext cx="15910559" cy="685800"/>
          </a:xfrm>
          <a:prstGeom prst="rect">
            <a:avLst/>
          </a:prstGeom>
          <a:noFill/>
        </ns0:spPr>
        <ns0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Diagramas UML de TI.1.3</a:t>
            </a:r>
          </a:p>
        </ns0:txBody>
      </ns0:sp>
      <ns0:sp>
        <ns0:nvSpPr>
          <ns0:cNvPr id="5" name="TextBox 4"/>
          <ns0:cNvSpPr txBox="1"/>
          <ns0:nvPr/>
        </ns0:nvSpPr>
        <ns0:spPr>
          <a:xfrm>
            <a:off x="16550640" y="475488"/>
            <a:ext cx="914400" cy="320040"/>
          </a:xfrm>
          <a:prstGeom prst="rect">
            <a:avLst/>
          </a:prstGeom>
          <a:noFill/>
        </ns0:spPr>
        <ns0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80</a:t>
            </a:r>
          </a:p>
        </ns0:txBody>
      </ns0:sp>
      <ns0:sp>
        <ns0:nvSpPr>
          <ns0:cNvPr id="6" name="Rounded Rectangle 5"/>
          <ns0:cNvSpPr/>
          <ns0:nvPr/>
        </ns0:nvSpPr>
        <ns0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Elaborados en PowerDesigner: cinco modelos .oom y cinco PNG.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Casos de uso, actividad, secuencia, clases y arquitectura.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Modelos editables: 01. UML/03. DIAGRAMAS.</a:t>
            </a:r>
          </a:p>
        </ns0:txBody>
      </ns0:sp>
      <ns0:sp>
        <ns0:nvSpPr>
          <ns0:cNvPr id="7" name="Rectangle 6"/>
          <ns0:cNvSpPr/>
          <ns0:nvPr/>
        </ns0:nvSpPr>
        <ns0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822960" y="9802368"/>
            <a:ext cx="16002000" cy="292608"/>
          </a:xfrm>
          <a:prstGeom prst="rect">
            <a:avLst/>
          </a:prstGeom>
          <a:noFill/>
        </ns0:spPr>
        <ns0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6459200" y="9802368"/>
            <a:ext cx="1005840" cy="292608"/>
          </a:xfrm>
          <a:prstGeom prst="rect">
            <a:avLst/>
          </a:prstGeom>
          <a:noFill/>
        </ns0:spPr>
        <ns0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80/81</a:t>
            </a:r>
          </a:p>
        </ns0:txBody>
      </ns0:sp>
    </ns0:spTree>
  </ns0:cSld>
  <ns0:clrMapOvr>
    <a:masterClrMapping/>
  </ns0:clrMapOvr>
</ns0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0287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8086832" cy="146304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5910559" cy="68580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3000" b="1">
                <a:solidFill>
                  <a:srgbClr val="1F3864"/>
                </a:solidFill>
                <a:latin typeface="Arial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0" y="475488"/>
            <a:ext cx="914400" cy="320040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500" b="1">
                <a:solidFill>
                  <a:srgbClr val="667790"/>
                </a:solidFill>
                <a:latin typeface="Arial"/>
              </a:rPr>
              <a:t>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6916400" cy="8092440"/>
          </a:xfrm>
          <a:prstGeom prst="roundRect">
            <a:avLst/>
          </a:prstGeom>
          <a:solidFill>
            <a:srgbClr val="F1F6FD"/>
          </a:solidFill>
          <a:ln>
            <a:solidFill>
              <a:srgbClr val="CF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320040" bIns="228600">
            <a:normAutofit/>
          </a:bodyPr>
          <a:lstStyle/>
          <a:p>
            <a:pPr algn="ctr"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TI.1.3 · RESTful en Java sin BDD.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Grupo 7 · Miranda Alison · Morán Lenin · Vivanco Gabriel.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Tutor: Ing. Eduardo Mauricio Campaña Ortega.</a:t>
            </a:r>
          </a:p>
          <a:p>
            <a:pPr>
              <a:spcAft>
                <a:spcPts val="1900"/>
              </a:spcAft>
              <a:defRPr sz="2200">
                <a:solidFill>
                  <a:srgbClr val="252F3E"/>
                </a:solidFill>
                <a:latin typeface="Arial"/>
              </a:defRPr>
            </a:pPr>
            <a:r>
              <a:t>•  Gracias.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9738360"/>
            <a:ext cx="16916400" cy="13716"/>
          </a:xfrm>
          <a:prstGeom prst="rect">
            <a:avLst/>
          </a:prstGeom>
          <a:solidFill>
            <a:srgbClr val="2D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9802368"/>
            <a:ext cx="1600200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l"/>
            <a:r>
              <a:rPr sz="1100" b="0">
                <a:solidFill>
                  <a:srgbClr val="667790"/>
                </a:solidFill>
                <a:latin typeface="Arial"/>
              </a:rPr>
              <a:t>TI.1.3 · RESTful Java sin BDD · Grupo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0" y="9802368"/>
            <a:ext cx="1005840" cy="292608"/>
          </a:xfrm>
          <a:prstGeom prst="rect">
            <a:avLst/>
          </a:prstGeom>
          <a:noFill/>
        </p:spPr>
        <p:txBody>
          <a:bodyPr wrap="square" lIns="73152" rIns="73152">
            <a:normAutofit/>
          </a:bodyPr>
          <a:lstStyle/>
          <a:p>
            <a:pPr algn="r"/>
            <a:r>
              <a:rPr sz="1100" b="0">
                <a:solidFill>
                  <a:srgbClr val="667790"/>
                </a:solidFill>
                <a:latin typeface="Arial"/>
              </a:rPr>
              <a:t>81/81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