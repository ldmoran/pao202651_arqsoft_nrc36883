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x="18288000" cy="10287000"/>
  <p:notesSz cx="6858000" cy="9144000"/>
  <p:embeddedFontLst>
    <p:embeddedFont>
      <p:font typeface="Gill Sans Light" charset="1" panose="020B0302020104020203"/>
      <p:regular r:id="rId87"/>
    </p:embeddedFont>
    <p:embeddedFont>
      <p:font typeface="Gill Sans Bold" charset="1" panose="020B0802020104020203"/>
      <p:regular r:id="rId88"/>
    </p:embeddedFont>
    <p:embeddedFont>
      <p:font typeface="Cambria Bold" charset="1" panose="02040803050406030204"/>
      <p:regular r:id="rId89"/>
    </p:embeddedFont>
    <p:embeddedFont>
      <p:font typeface="Cambria" charset="1" panose="02040503050406030204"/>
      <p:regular r:id="rId90"/>
    </p:embeddedFont>
    <p:embeddedFont>
      <p:font typeface="Calibri (MS)" charset="1" panose="020F0502020204030204"/>
      <p:regular r:id="rId9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font" Target="fonts/font87.fntdata"/><Relationship Id="rId88" Type="http://schemas.openxmlformats.org/officeDocument/2006/relationships/font" Target="fonts/font88.fntdata"/><Relationship Id="rId89" Type="http://schemas.openxmlformats.org/officeDocument/2006/relationships/font" Target="fonts/font89.fntdata"/><Relationship Id="rId90" Type="http://schemas.openxmlformats.org/officeDocument/2006/relationships/font" Target="fonts/font90.fntdata"/><Relationship Id="rId91" Type="http://schemas.openxmlformats.org/officeDocument/2006/relationships/font" Target="fonts/font9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9798" y="4628645"/>
            <a:ext cx="16894302" cy="4957201"/>
            <a:chOff x="0" y="0"/>
            <a:chExt cx="22525736" cy="6609601"/>
          </a:xfrm>
        </p:grpSpPr>
        <p:sp>
          <p:nvSpPr>
            <p:cNvPr name="Freeform 9" id="9"/>
            <p:cNvSpPr/>
            <p:nvPr/>
          </p:nvSpPr>
          <p:spPr>
            <a:xfrm flipH="false" flipV="false" rot="0">
              <a:off x="0" y="0"/>
              <a:ext cx="22525737" cy="6609588"/>
            </a:xfrm>
            <a:custGeom>
              <a:avLst/>
              <a:gdLst/>
              <a:ahLst/>
              <a:cxnLst/>
              <a:rect r="r" b="b" t="t" l="l"/>
              <a:pathLst>
                <a:path h="6609588" w="22525737">
                  <a:moveTo>
                    <a:pt x="0" y="0"/>
                  </a:moveTo>
                  <a:lnTo>
                    <a:pt x="22525737" y="0"/>
                  </a:lnTo>
                  <a:lnTo>
                    <a:pt x="22525737" y="6609588"/>
                  </a:lnTo>
                  <a:lnTo>
                    <a:pt x="0" y="6609588"/>
                  </a:lnTo>
                  <a:close/>
                </a:path>
              </a:pathLst>
            </a:custGeom>
            <a:solidFill>
              <a:srgbClr val="1A3260"/>
            </a:solidFill>
          </p:spPr>
          <p:txBody>
            <a:bodyPr/>
            <a:p/>
          </p:txBody>
        </p:sp>
      </p:grpSp>
      <p:grpSp>
        <p:nvGrpSpPr>
          <p:cNvPr name="Group 10" id="10"/>
          <p:cNvGrpSpPr/>
          <p:nvPr/>
        </p:nvGrpSpPr>
        <p:grpSpPr>
          <a:xfrm rot="0">
            <a:off x="898836" y="4737849"/>
            <a:ext cx="16490328" cy="2367610"/>
            <a:chOff x="0" y="0"/>
            <a:chExt cx="21987104" cy="3156814"/>
          </a:xfrm>
        </p:grpSpPr>
        <p:sp>
          <p:nvSpPr>
            <p:cNvPr name="Freeform 11" id="11"/>
            <p:cNvSpPr/>
            <p:nvPr/>
          </p:nvSpPr>
          <p:spPr>
            <a:xfrm flipH="false" flipV="false" rot="0">
              <a:off x="0" y="0"/>
              <a:ext cx="21987098" cy="3156818"/>
            </a:xfrm>
            <a:custGeom>
              <a:avLst/>
              <a:gdLst/>
              <a:ahLst/>
              <a:cxnLst/>
              <a:rect r="r" b="b" t="t" l="l"/>
              <a:pathLst>
                <a:path h="3156818" w="21987098">
                  <a:moveTo>
                    <a:pt x="0" y="0"/>
                  </a:moveTo>
                  <a:lnTo>
                    <a:pt x="21987098" y="0"/>
                  </a:lnTo>
                  <a:lnTo>
                    <a:pt x="21987098" y="3156818"/>
                  </a:lnTo>
                  <a:lnTo>
                    <a:pt x="0" y="3156818"/>
                  </a:lnTo>
                  <a:close/>
                </a:path>
              </a:pathLst>
            </a:custGeom>
            <a:blipFill>
              <a:blip r:embed="rId2">
                <a:alphaModFix amt="0"/>
              </a:blip>
              <a:stretch>
                <a:fillRect l="0" t="-85712" r="0" b="-85712"/>
              </a:stretch>
            </a:blipFill>
          </p:spPr>
          <p:txBody>
            <a:bodyPr/>
            <a:p/>
          </p:txBody>
        </p:sp>
        <p:sp>
          <p:nvSpPr>
            <p:cNvPr name="TextBox 12" id="12"/>
            <p:cNvSpPr txBox="true"/>
            <p:nvPr/>
          </p:nvSpPr>
          <p:spPr>
            <a:xfrm>
              <a:off x="0" y="-104775"/>
              <a:ext cx="21987104" cy="3261589"/>
            </a:xfrm>
            <a:prstGeom prst="rect">
              <a:avLst/>
            </a:prstGeom>
          </p:spPr>
          <p:txBody>
            <a:bodyPr anchor="b" rtlCol="false" tIns="0" lIns="0" bIns="0" rIns="0"/>
            <a:lstStyle/>
            <a:p>
              <a:pPr algn="ctr">
                <a:lnSpc>
                  <a:spcPts val="6480"/>
                </a:lnSpc>
              </a:pPr>
              <a:r>
                <a:rPr lang="en-US" sz="5400">
                  <a:solidFill>
                    <a:srgbClr val="FFFFFF"/>
                  </a:solidFill>
                  <a:latin typeface="Gill Sans Light"/>
                  <a:ea typeface="Gill Sans Light"/>
                  <a:cs typeface="Gill Sans Light"/>
                  <a:sym typeface="Gill Sans Light"/>
                </a:rPr>
                <a:t>MANUAL</a:t>
              </a:r>
            </a:p>
            <a:p>
              <a:pPr algn="ctr">
                <a:lnSpc>
                  <a:spcPts val="6480"/>
                </a:lnSpc>
              </a:pPr>
              <a:r>
                <a:rPr lang="en-US" sz="5400">
                  <a:solidFill>
                    <a:srgbClr val="FFFFFF"/>
                  </a:solidFill>
                  <a:latin typeface="Gill Sans Light"/>
                  <a:ea typeface="Gill Sans Light"/>
                  <a:cs typeface="Gill Sans Light"/>
                  <a:sym typeface="Gill Sans Light"/>
                </a:rPr>
                <a:t>CONVERSIÓN UNIDADES REST JAVA</a:t>
              </a:r>
            </a:p>
          </p:txBody>
        </p:sp>
      </p:grpSp>
      <p:sp>
        <p:nvSpPr>
          <p:cNvPr name="TextBox 13" id="13"/>
          <p:cNvSpPr txBox="true"/>
          <p:nvPr/>
        </p:nvSpPr>
        <p:spPr>
          <a:xfrm rot="0">
            <a:off x="990267" y="6856076"/>
            <a:ext cx="6209443" cy="1857375"/>
          </a:xfrm>
          <a:prstGeom prst="rect">
            <a:avLst/>
          </a:prstGeom>
        </p:spPr>
        <p:txBody>
          <a:bodyPr anchor="t" rtlCol="false" tIns="0" lIns="0" bIns="0" rIns="0">
            <a:spAutoFit/>
          </a:bodyPr>
          <a:lstStyle/>
          <a:p>
            <a:pPr algn="l">
              <a:lnSpc>
                <a:spcPts val="2879"/>
              </a:lnSpc>
            </a:pPr>
          </a:p>
          <a:p>
            <a:pPr algn="l">
              <a:lnSpc>
                <a:spcPts val="2879"/>
              </a:lnSpc>
            </a:pPr>
            <a:r>
              <a:rPr lang="en-US" sz="2400" b="true">
                <a:solidFill>
                  <a:srgbClr val="FFFFFF"/>
                </a:solidFill>
                <a:latin typeface="Gill Sans Bold"/>
                <a:ea typeface="Gill Sans Bold"/>
                <a:cs typeface="Gill Sans Bold"/>
                <a:sym typeface="Gill Sans Bold"/>
              </a:rPr>
              <a:t>INTEGRANTES:</a:t>
            </a:r>
            <a:r>
              <a:rPr lang="en-US" sz="2400">
                <a:solidFill>
                  <a:srgbClr val="FFFFFF"/>
                </a:solidFill>
                <a:latin typeface="Gill Sans Light"/>
                <a:ea typeface="Gill Sans Light"/>
                <a:cs typeface="Gill Sans Light"/>
                <a:sym typeface="Gill Sans Light"/>
              </a:rPr>
              <a:t> 	</a:t>
            </a:r>
          </a:p>
          <a:p>
            <a:pPr algn="l" marL="518160" indent="-259080" lvl="1">
              <a:lnSpc>
                <a:spcPts val="2879"/>
              </a:lnSpc>
              <a:buFont typeface="Arial"/>
              <a:buChar char="•"/>
            </a:pPr>
            <a:r>
              <a:rPr lang="en-US" sz="2400">
                <a:solidFill>
                  <a:srgbClr val="FFFFFF"/>
                </a:solidFill>
                <a:latin typeface="Gill Sans Light"/>
                <a:ea typeface="Gill Sans Light"/>
                <a:cs typeface="Gill Sans Light"/>
                <a:sym typeface="Gill Sans Light"/>
              </a:rPr>
              <a:t>MIRANDA ALISON					</a:t>
            </a:r>
          </a:p>
          <a:p>
            <a:pPr algn="l" marL="518160" indent="-259080" lvl="1">
              <a:lnSpc>
                <a:spcPts val="2879"/>
              </a:lnSpc>
              <a:buFont typeface="Arial"/>
              <a:buChar char="•"/>
            </a:pPr>
            <a:r>
              <a:rPr lang="en-US" sz="2400">
                <a:solidFill>
                  <a:srgbClr val="FFFFFF"/>
                </a:solidFill>
                <a:latin typeface="Gill Sans Light"/>
                <a:ea typeface="Gill Sans Light"/>
                <a:cs typeface="Gill Sans Light"/>
                <a:sym typeface="Gill Sans Light"/>
              </a:rPr>
              <a:t>MORÁN LENIN			         	</a:t>
            </a:r>
          </a:p>
          <a:p>
            <a:pPr algn="l" marL="518160" indent="-259080" lvl="1">
              <a:lnSpc>
                <a:spcPts val="2879"/>
              </a:lnSpc>
              <a:buFont typeface="Arial"/>
              <a:buChar char="•"/>
            </a:pPr>
            <a:r>
              <a:rPr lang="en-US" sz="2400">
                <a:solidFill>
                  <a:srgbClr val="FFFFFF"/>
                </a:solidFill>
                <a:latin typeface="Gill Sans Light"/>
                <a:ea typeface="Gill Sans Light"/>
                <a:cs typeface="Gill Sans Light"/>
                <a:sym typeface="Gill Sans Light"/>
              </a:rPr>
              <a:t>VIVANCO GABRIEL</a:t>
            </a:r>
          </a:p>
        </p:txBody>
      </p:sp>
      <p:grpSp>
        <p:nvGrpSpPr>
          <p:cNvPr name="Group 14" id="14"/>
          <p:cNvGrpSpPr/>
          <p:nvPr/>
        </p:nvGrpSpPr>
        <p:grpSpPr>
          <a:xfrm rot="0">
            <a:off x="479393" y="1074449"/>
            <a:ext cx="17471250" cy="3290888"/>
            <a:chOff x="0" y="0"/>
            <a:chExt cx="23295000" cy="4387850"/>
          </a:xfrm>
        </p:grpSpPr>
        <p:sp>
          <p:nvSpPr>
            <p:cNvPr name="Freeform 15" id="15" descr="Resultado de imagen para espe"/>
            <p:cNvSpPr/>
            <p:nvPr/>
          </p:nvSpPr>
          <p:spPr>
            <a:xfrm flipH="false" flipV="false" rot="0">
              <a:off x="0" y="0"/>
              <a:ext cx="23294975" cy="4387850"/>
            </a:xfrm>
            <a:custGeom>
              <a:avLst/>
              <a:gdLst/>
              <a:ahLst/>
              <a:cxnLst/>
              <a:rect r="r" b="b" t="t" l="l"/>
              <a:pathLst>
                <a:path h="4387850" w="23294975">
                  <a:moveTo>
                    <a:pt x="0" y="0"/>
                  </a:moveTo>
                  <a:lnTo>
                    <a:pt x="23294975" y="0"/>
                  </a:lnTo>
                  <a:lnTo>
                    <a:pt x="23294975" y="4387850"/>
                  </a:lnTo>
                  <a:lnTo>
                    <a:pt x="0" y="4387850"/>
                  </a:lnTo>
                  <a:lnTo>
                    <a:pt x="0" y="0"/>
                  </a:lnTo>
                  <a:close/>
                </a:path>
              </a:pathLst>
            </a:custGeom>
            <a:blipFill>
              <a:blip r:embed="rId3"/>
              <a:stretch>
                <a:fillRect l="0" t="0" r="-4644" b="0"/>
              </a:stretch>
            </a:blipFill>
          </p:spPr>
          <p:txBody>
            <a:bodyPr/>
            <a:p/>
          </p:txBody>
        </p:sp>
      </p:grpSp>
      <p:sp>
        <p:nvSpPr>
          <p:cNvPr name="TextBox 16" id="16"/>
          <p:cNvSpPr txBox="true"/>
          <p:nvPr/>
        </p:nvSpPr>
        <p:spPr>
          <a:xfrm rot="0">
            <a:off x="13647020" y="7950775"/>
            <a:ext cx="6209443" cy="771525"/>
          </a:xfrm>
          <a:prstGeom prst="rect">
            <a:avLst/>
          </a:prstGeom>
        </p:spPr>
        <p:txBody>
          <a:bodyPr anchor="t" rtlCol="false" tIns="0" lIns="0" bIns="0" rIns="0">
            <a:spAutoFit/>
          </a:bodyPr>
          <a:lstStyle/>
          <a:p>
            <a:pPr algn="l">
              <a:lnSpc>
                <a:spcPts val="2879"/>
              </a:lnSpc>
            </a:pPr>
            <a:r>
              <a:rPr lang="en-US" b="true" sz="2400">
                <a:solidFill>
                  <a:srgbClr val="FFFFFF"/>
                </a:solidFill>
                <a:latin typeface="Gill Sans Bold"/>
                <a:ea typeface="Gill Sans Bold"/>
                <a:cs typeface="Gill Sans Bold"/>
                <a:sym typeface="Gill Sans Bold"/>
              </a:rPr>
              <a:t>FECHA:  29/10/2026</a:t>
            </a:r>
          </a:p>
          <a:p>
            <a:pPr algn="l">
              <a:lnSpc>
                <a:spcPts val="2879"/>
              </a:lnSpc>
            </a:pPr>
            <a:r>
              <a:rPr lang="en-US" b="true" sz="2400">
                <a:solidFill>
                  <a:srgbClr val="FFFFFF"/>
                </a:solidFill>
                <a:latin typeface="Gill Sans Bold"/>
                <a:ea typeface="Gill Sans Bold"/>
                <a:cs typeface="Gill Sans Bold"/>
                <a:sym typeface="Gill Sans Bold"/>
              </a:rPr>
              <a:t>ING: </a:t>
            </a:r>
            <a:r>
              <a:rPr lang="en-US" sz="2400">
                <a:solidFill>
                  <a:srgbClr val="FFFFFF"/>
                </a:solidFill>
                <a:latin typeface="Gill Sans Light"/>
                <a:ea typeface="Gill Sans Light"/>
                <a:cs typeface="Gill Sans Light"/>
                <a:sym typeface="Gill Sans Light"/>
              </a:rPr>
              <a:t>CAMPAÑA MAURICIO</a:t>
            </a:r>
          </a:p>
        </p:txBody>
      </p:sp>
      <p:sp>
        <p:nvSpPr>
          <p:cNvPr name="TextBox 17" id="17"/>
          <p:cNvSpPr txBox="true"/>
          <p:nvPr/>
        </p:nvSpPr>
        <p:spPr>
          <a:xfrm rot="0">
            <a:off x="17817941" y="9690097"/>
            <a:ext cx="378638" cy="575443"/>
          </a:xfrm>
          <a:prstGeom prst="rect">
            <a:avLst/>
          </a:prstGeom>
        </p:spPr>
        <p:txBody>
          <a:bodyPr anchor="t" rtlCol="false" tIns="0" lIns="0" bIns="0" rIns="0">
            <a:spAutoFit/>
          </a:bodyPr>
          <a:lstStyle/>
          <a:p>
            <a:pPr algn="l">
              <a:lnSpc>
                <a:spcPts val="3600"/>
              </a:lnSpc>
            </a:pPr>
            <a:r>
              <a:rPr lang="en-US" sz="3000">
                <a:solidFill>
                  <a:srgbClr val="000000"/>
                </a:solidFill>
                <a:latin typeface="Gill Sans Light"/>
                <a:ea typeface="Gill Sans Light"/>
                <a:cs typeface="Gill Sans Light"/>
                <a:sym typeface="Gill Sans Light"/>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0" y="921610"/>
            <a:ext cx="18288000" cy="9365390"/>
            <a:chOff x="0" y="0"/>
            <a:chExt cx="24384000" cy="12487186"/>
          </a:xfrm>
        </p:grpSpPr>
        <p:sp>
          <p:nvSpPr>
            <p:cNvPr name="Freeform 11" id="11"/>
            <p:cNvSpPr/>
            <p:nvPr/>
          </p:nvSpPr>
          <p:spPr>
            <a:xfrm flipH="false" flipV="false" rot="0">
              <a:off x="0" y="0"/>
              <a:ext cx="24384000" cy="12487148"/>
            </a:xfrm>
            <a:custGeom>
              <a:avLst/>
              <a:gdLst/>
              <a:ahLst/>
              <a:cxnLst/>
              <a:rect r="r" b="b" t="t" l="l"/>
              <a:pathLst>
                <a:path h="12487148" w="24384000">
                  <a:moveTo>
                    <a:pt x="0" y="0"/>
                  </a:moveTo>
                  <a:lnTo>
                    <a:pt x="24384000" y="0"/>
                  </a:lnTo>
                  <a:lnTo>
                    <a:pt x="24384000" y="12487148"/>
                  </a:lnTo>
                  <a:lnTo>
                    <a:pt x="0" y="12487148"/>
                  </a:lnTo>
                  <a:close/>
                </a:path>
              </a:pathLst>
            </a:custGeom>
            <a:solidFill>
              <a:srgbClr val="FFFFFF"/>
            </a:solidFill>
          </p:spPr>
          <p:txBody>
            <a:bodyPr/>
            <a:p/>
          </p:txBody>
        </p:sp>
      </p:grpSp>
      <p:grpSp>
        <p:nvGrpSpPr>
          <p:cNvPr name="Group 12" id="12"/>
          <p:cNvGrpSpPr/>
          <p:nvPr/>
        </p:nvGrpSpPr>
        <p:grpSpPr>
          <a:xfrm rot="0">
            <a:off x="663569" y="921610"/>
            <a:ext cx="5561219" cy="8417662"/>
            <a:chOff x="0" y="0"/>
            <a:chExt cx="7414958" cy="11223549"/>
          </a:xfrm>
        </p:grpSpPr>
        <p:sp>
          <p:nvSpPr>
            <p:cNvPr name="Freeform 13" id="13"/>
            <p:cNvSpPr/>
            <p:nvPr/>
          </p:nvSpPr>
          <p:spPr>
            <a:xfrm flipH="false" flipV="false" rot="0">
              <a:off x="0" y="0"/>
              <a:ext cx="7414895" cy="11223498"/>
            </a:xfrm>
            <a:custGeom>
              <a:avLst/>
              <a:gdLst/>
              <a:ahLst/>
              <a:cxnLst/>
              <a:rect r="r" b="b" t="t" l="l"/>
              <a:pathLst>
                <a:path h="11223498" w="7414895">
                  <a:moveTo>
                    <a:pt x="0" y="0"/>
                  </a:moveTo>
                  <a:lnTo>
                    <a:pt x="7414895" y="0"/>
                  </a:lnTo>
                  <a:lnTo>
                    <a:pt x="7414895" y="11223498"/>
                  </a:lnTo>
                  <a:lnTo>
                    <a:pt x="0" y="11223498"/>
                  </a:lnTo>
                  <a:close/>
                </a:path>
              </a:pathLst>
            </a:custGeom>
            <a:solidFill>
              <a:srgbClr val="1A3260"/>
            </a:solidFill>
          </p:spPr>
          <p:txBody>
            <a:bodyPr/>
            <a:p/>
          </p:txBody>
        </p:sp>
      </p:grpSp>
      <p:grpSp>
        <p:nvGrpSpPr>
          <p:cNvPr name="Group 14" id="14"/>
          <p:cNvGrpSpPr/>
          <p:nvPr/>
        </p:nvGrpSpPr>
        <p:grpSpPr>
          <a:xfrm rot="0">
            <a:off x="894521" y="1052008"/>
            <a:ext cx="5084588" cy="8136379"/>
            <a:chOff x="0" y="0"/>
            <a:chExt cx="6779451" cy="10848505"/>
          </a:xfrm>
        </p:grpSpPr>
        <p:sp>
          <p:nvSpPr>
            <p:cNvPr name="Freeform 15" id="15"/>
            <p:cNvSpPr/>
            <p:nvPr/>
          </p:nvSpPr>
          <p:spPr>
            <a:xfrm flipH="false" flipV="false" rot="0">
              <a:off x="0" y="0"/>
              <a:ext cx="6779452" cy="10848510"/>
            </a:xfrm>
            <a:custGeom>
              <a:avLst/>
              <a:gdLst/>
              <a:ahLst/>
              <a:cxnLst/>
              <a:rect r="r" b="b" t="t" l="l"/>
              <a:pathLst>
                <a:path h="10848510" w="6779452">
                  <a:moveTo>
                    <a:pt x="0" y="0"/>
                  </a:moveTo>
                  <a:lnTo>
                    <a:pt x="6779452" y="0"/>
                  </a:lnTo>
                  <a:lnTo>
                    <a:pt x="6779452" y="10848510"/>
                  </a:lnTo>
                  <a:lnTo>
                    <a:pt x="0" y="10848510"/>
                  </a:lnTo>
                  <a:close/>
                </a:path>
              </a:pathLst>
            </a:custGeom>
            <a:blipFill>
              <a:blip r:embed="rId2">
                <a:alphaModFix amt="0"/>
              </a:blip>
              <a:stretch>
                <a:fillRect l="-155311" t="0" r="-155311" b="0"/>
              </a:stretch>
            </a:blipFill>
          </p:spPr>
          <p:txBody>
            <a:bodyPr/>
            <a:p/>
          </p:txBody>
        </p:sp>
        <p:sp>
          <p:nvSpPr>
            <p:cNvPr name="TextBox 16" id="16"/>
            <p:cNvSpPr txBox="true"/>
            <p:nvPr/>
          </p:nvSpPr>
          <p:spPr>
            <a:xfrm>
              <a:off x="0" y="-28575"/>
              <a:ext cx="6779451" cy="10877080"/>
            </a:xfrm>
            <a:prstGeom prst="rect">
              <a:avLst/>
            </a:prstGeom>
          </p:spPr>
          <p:txBody>
            <a:bodyPr anchor="ctr" rtlCol="false" tIns="0" lIns="0" bIns="0" rIns="0"/>
            <a:lstStyle/>
            <a:p>
              <a:pPr algn="l" marL="488632" indent="-244316" lvl="1">
                <a:lnSpc>
                  <a:spcPts val="2916"/>
                </a:lnSpc>
                <a:buFont typeface="Arial"/>
                <a:buChar char="•"/>
              </a:pPr>
              <a:r>
                <a:rPr lang="en-US" sz="2700">
                  <a:solidFill>
                    <a:srgbClr val="FFFFFF"/>
                  </a:solidFill>
                  <a:latin typeface="Gill Sans Light"/>
                  <a:ea typeface="Gill Sans Light"/>
                  <a:cs typeface="Gill Sans Light"/>
                  <a:sym typeface="Gill Sans Light"/>
                </a:rPr>
                <a:t>DESARROLLO</a:t>
              </a:r>
            </a:p>
            <a:p>
              <a:pPr algn="l" marL="899309" indent="-299770" lvl="2">
                <a:lnSpc>
                  <a:spcPts val="2592"/>
                </a:lnSpc>
                <a:buFont typeface="Arial"/>
                <a:buChar char="⚬"/>
              </a:pPr>
              <a:r>
                <a:rPr lang="en-US" sz="2400">
                  <a:solidFill>
                    <a:srgbClr val="FFFFFF"/>
                  </a:solidFill>
                  <a:latin typeface="Gill Sans Light"/>
                  <a:ea typeface="Gill Sans Light"/>
                  <a:cs typeface="Gill Sans Light"/>
                  <a:sym typeface="Gill Sans Light"/>
                </a:rPr>
                <a:t>OBJETIVO</a:t>
              </a:r>
            </a:p>
            <a:p>
              <a:pPr algn="l" marL="899309" indent="-299770" lvl="2">
                <a:lnSpc>
                  <a:spcPts val="2592"/>
                </a:lnSpc>
                <a:buFont typeface="Arial"/>
                <a:buChar char="⚬"/>
              </a:pPr>
              <a:r>
                <a:rPr lang="en-US" sz="2400">
                  <a:solidFill>
                    <a:srgbClr val="FFFFFF"/>
                  </a:solidFill>
                  <a:latin typeface="Gill Sans Light"/>
                  <a:ea typeface="Gill Sans Light"/>
                  <a:cs typeface="Gill Sans Light"/>
                  <a:sym typeface="Gill Sans Light"/>
                </a:rPr>
                <a:t>CREACIÓN DEL SERVIDOR REST EN JAVA</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CONSOLA</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ESCRITORIO</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WEB</a:t>
              </a:r>
            </a:p>
            <a:p>
              <a:pPr algn="l" marL="953601" indent="-317867" lvl="2">
                <a:lnSpc>
                  <a:spcPts val="2916"/>
                </a:lnSpc>
                <a:buFont typeface="Arial"/>
                <a:buChar char="⚬"/>
              </a:pPr>
              <a:r>
                <a:rPr lang="en-US" sz="2700">
                  <a:solidFill>
                    <a:srgbClr val="FFFFFF"/>
                  </a:solidFill>
                  <a:latin typeface="Gill Sans Light"/>
                  <a:ea typeface="Gill Sans Light"/>
                  <a:cs typeface="Gill Sans Light"/>
                  <a:sym typeface="Gill Sans Light"/>
                </a:rPr>
                <a:t>CREACIÓN DEL PROYECTO – CLIENTE MÓVIL</a:t>
              </a:r>
            </a:p>
            <a:p>
              <a:pPr algn="l" marL="488632" indent="-244316" lvl="1">
                <a:lnSpc>
                  <a:spcPts val="2916"/>
                </a:lnSpc>
                <a:buFont typeface="Arial"/>
                <a:buChar char="•"/>
              </a:pPr>
              <a:r>
                <a:rPr lang="en-US" sz="2700">
                  <a:solidFill>
                    <a:srgbClr val="FFFFFF"/>
                  </a:solidFill>
                  <a:latin typeface="Gill Sans Light"/>
                  <a:ea typeface="Gill Sans Light"/>
                  <a:cs typeface="Gill Sans Light"/>
                  <a:sym typeface="Gill Sans Light"/>
                </a:rPr>
                <a:t>CONCLUSIONES</a:t>
              </a:r>
            </a:p>
            <a:p>
              <a:pPr algn="l" marL="488632" indent="-244316" lvl="1">
                <a:lnSpc>
                  <a:spcPts val="2916"/>
                </a:lnSpc>
                <a:buFont typeface="Arial"/>
                <a:buChar char="•"/>
              </a:pPr>
              <a:r>
                <a:rPr lang="en-US" sz="2700">
                  <a:solidFill>
                    <a:srgbClr val="FFFFFF"/>
                  </a:solidFill>
                  <a:latin typeface="Gill Sans Light"/>
                  <a:ea typeface="Gill Sans Light"/>
                  <a:cs typeface="Gill Sans Light"/>
                  <a:sym typeface="Gill Sans Light"/>
                </a:rPr>
                <a:t>RECOMENDACIONES</a:t>
              </a:r>
            </a:p>
          </p:txBody>
        </p:sp>
      </p:grpSp>
      <p:grpSp>
        <p:nvGrpSpPr>
          <p:cNvPr name="Group 17" id="17"/>
          <p:cNvGrpSpPr/>
          <p:nvPr/>
        </p:nvGrpSpPr>
        <p:grpSpPr>
          <a:xfrm rot="0">
            <a:off x="7187279" y="2903363"/>
            <a:ext cx="9734731" cy="4511211"/>
            <a:chOff x="0" y="0"/>
            <a:chExt cx="12979641" cy="6014949"/>
          </a:xfrm>
        </p:grpSpPr>
        <p:sp>
          <p:nvSpPr>
            <p:cNvPr name="Freeform 18" id="18" descr="Resultado de imagen para AGENDA PNG"/>
            <p:cNvSpPr/>
            <p:nvPr/>
          </p:nvSpPr>
          <p:spPr>
            <a:xfrm flipH="false" flipV="false" rot="0">
              <a:off x="0" y="0"/>
              <a:ext cx="12979654" cy="6014974"/>
            </a:xfrm>
            <a:custGeom>
              <a:avLst/>
              <a:gdLst/>
              <a:ahLst/>
              <a:cxnLst/>
              <a:rect r="r" b="b" t="t" l="l"/>
              <a:pathLst>
                <a:path h="6014974" w="12979654">
                  <a:moveTo>
                    <a:pt x="0" y="0"/>
                  </a:moveTo>
                  <a:lnTo>
                    <a:pt x="12979654" y="0"/>
                  </a:lnTo>
                  <a:lnTo>
                    <a:pt x="12979654" y="6014974"/>
                  </a:lnTo>
                  <a:lnTo>
                    <a:pt x="0" y="6014974"/>
                  </a:lnTo>
                  <a:lnTo>
                    <a:pt x="0" y="0"/>
                  </a:lnTo>
                  <a:close/>
                </a:path>
              </a:pathLst>
            </a:custGeom>
            <a:blipFill>
              <a:blip r:embed="rId3"/>
              <a:stretch>
                <a:fillRect l="0" t="0" r="0" b="0"/>
              </a:stretch>
            </a:blipFill>
          </p:spPr>
          <p:txBody>
            <a:bodyPr/>
            <a:p/>
          </p:txBody>
        </p:sp>
      </p:grpSp>
      <p:sp>
        <p:nvSpPr>
          <p:cNvPr name="TextBox 19" id="19"/>
          <p:cNvSpPr txBox="true"/>
          <p:nvPr/>
        </p:nvSpPr>
        <p:spPr>
          <a:xfrm rot="0">
            <a:off x="17817941" y="9690097"/>
            <a:ext cx="378638" cy="575443"/>
          </a:xfrm>
          <a:prstGeom prst="rect">
            <a:avLst/>
          </a:prstGeom>
        </p:spPr>
        <p:txBody>
          <a:bodyPr anchor="t" rtlCol="false" tIns="0" lIns="0" bIns="0" rIns="0">
            <a:spAutoFit/>
          </a:bodyPr>
          <a:lstStyle/>
          <a:p>
            <a:pPr algn="l">
              <a:lnSpc>
                <a:spcPts val="3600"/>
              </a:lnSpc>
            </a:pPr>
            <a:r>
              <a:rPr lang="en-US" sz="3000">
                <a:solidFill>
                  <a:srgbClr val="000000"/>
                </a:solidFill>
                <a:latin typeface="Gill Sans Light"/>
                <a:ea typeface="Gill Sans Light"/>
                <a:cs typeface="Gill Sans Light"/>
                <a:sym typeface="Gill Sans Light"/>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871785" y="3270742"/>
            <a:ext cx="12883953" cy="5517452"/>
            <a:chOff x="0" y="0"/>
            <a:chExt cx="17178604" cy="7356602"/>
          </a:xfrm>
        </p:grpSpPr>
        <p:sp>
          <p:nvSpPr>
            <p:cNvPr name="Freeform 14" id="14"/>
            <p:cNvSpPr/>
            <p:nvPr/>
          </p:nvSpPr>
          <p:spPr>
            <a:xfrm flipH="false" flipV="false" rot="0">
              <a:off x="0" y="0"/>
              <a:ext cx="17178599" cy="7356600"/>
            </a:xfrm>
            <a:custGeom>
              <a:avLst/>
              <a:gdLst/>
              <a:ahLst/>
              <a:cxnLst/>
              <a:rect r="r" b="b" t="t" l="l"/>
              <a:pathLst>
                <a:path h="7356600" w="17178599">
                  <a:moveTo>
                    <a:pt x="0" y="0"/>
                  </a:moveTo>
                  <a:lnTo>
                    <a:pt x="17178599" y="0"/>
                  </a:lnTo>
                  <a:lnTo>
                    <a:pt x="17178599" y="7356600"/>
                  </a:lnTo>
                  <a:lnTo>
                    <a:pt x="0" y="7356600"/>
                  </a:lnTo>
                  <a:close/>
                </a:path>
              </a:pathLst>
            </a:custGeom>
            <a:blipFill>
              <a:blip r:embed="rId2">
                <a:alphaModFix amt="0"/>
              </a:blip>
              <a:stretch>
                <a:fillRect l="-4944" t="0" r="-4945" b="0"/>
              </a:stretch>
            </a:blipFill>
          </p:spPr>
          <p:txBody>
            <a:bodyPr/>
            <a:p/>
          </p:txBody>
        </p:sp>
        <p:sp>
          <p:nvSpPr>
            <p:cNvPr name="TextBox 15" id="15"/>
            <p:cNvSpPr txBox="true"/>
            <p:nvPr/>
          </p:nvSpPr>
          <p:spPr>
            <a:xfrm>
              <a:off x="0" y="-38100"/>
              <a:ext cx="17178604" cy="7394702"/>
            </a:xfrm>
            <a:prstGeom prst="rect">
              <a:avLst/>
            </a:prstGeom>
          </p:spPr>
          <p:txBody>
            <a:bodyPr anchor="ctr" rtlCol="false" tIns="0" lIns="0" bIns="0" rIns="0"/>
            <a:lstStyle/>
            <a:p>
              <a:pPr algn="just" marL="488632" indent="-244316" lvl="1">
                <a:lnSpc>
                  <a:spcPts val="3466"/>
                </a:lnSpc>
                <a:buFont typeface="Arial"/>
                <a:buChar char="•"/>
              </a:pPr>
              <a:r>
                <a:rPr lang="en-US" b="true" sz="2700">
                  <a:solidFill>
                    <a:srgbClr val="3D3D3D"/>
                  </a:solidFill>
                  <a:latin typeface="Cambria Bold"/>
                  <a:ea typeface="Cambria Bold"/>
                  <a:cs typeface="Cambria Bold"/>
                  <a:sym typeface="Cambria Bold"/>
                </a:rPr>
                <a:t>1.1	OBJETIVO</a:t>
              </a:r>
            </a:p>
            <a:p>
              <a:pPr algn="just" marL="488632" indent="-244316" lvl="1">
                <a:lnSpc>
                  <a:spcPts val="3466"/>
                </a:lnSpc>
              </a:pPr>
            </a:p>
            <a:p>
              <a:pPr algn="just" marL="673798" indent="-336899" lvl="1">
                <a:lnSpc>
                  <a:spcPts val="3466"/>
                </a:lnSpc>
                <a:buFont typeface="Arial"/>
                <a:buChar char="•"/>
              </a:pPr>
              <a:r>
                <a:rPr lang="en-US" sz="2700">
                  <a:solidFill>
                    <a:srgbClr val="3D3D3D"/>
                  </a:solidFill>
                  <a:latin typeface="Cambria"/>
                  <a:ea typeface="Cambria"/>
                  <a:cs typeface="Cambria"/>
                  <a:sym typeface="Cambria"/>
                </a:rPr>
                <a:t>Desarrollar e implementar un Web Service utilizando REST mediante JAVA para realizar conversiones de unidades de longitud, masa y temperatura, consumido por clientes de consola, escritorio, web y móvil.</a:t>
              </a:r>
            </a:p>
          </p:txBody>
        </p:sp>
      </p:grpSp>
      <p:grpSp>
        <p:nvGrpSpPr>
          <p:cNvPr name="Group 16" id="16"/>
          <p:cNvGrpSpPr/>
          <p:nvPr/>
        </p:nvGrpSpPr>
        <p:grpSpPr>
          <a:xfrm rot="0">
            <a:off x="14058881" y="-16669"/>
            <a:ext cx="4245788" cy="10320338"/>
            <a:chOff x="0" y="0"/>
            <a:chExt cx="5661050" cy="13760450"/>
          </a:xfrm>
        </p:grpSpPr>
        <p:sp>
          <p:nvSpPr>
            <p:cNvPr name="Freeform 17" id="17"/>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8" id="18"/>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MÓVIL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2924980" y="4889896"/>
            <a:ext cx="8785003" cy="4886333"/>
          </a:xfrm>
          <a:custGeom>
            <a:avLst/>
            <a:gdLst/>
            <a:ahLst/>
            <a:cxnLst/>
            <a:rect r="r" b="b" t="t" l="l"/>
            <a:pathLst>
              <a:path h="4886333" w="8785003">
                <a:moveTo>
                  <a:pt x="0" y="0"/>
                </a:moveTo>
                <a:lnTo>
                  <a:pt x="8785003" y="0"/>
                </a:lnTo>
                <a:lnTo>
                  <a:pt x="8785003" y="4886333"/>
                </a:lnTo>
                <a:lnTo>
                  <a:pt x="0" y="4886333"/>
                </a:lnTo>
                <a:lnTo>
                  <a:pt x="0" y="0"/>
                </a:lnTo>
                <a:close/>
              </a:path>
            </a:pathLst>
          </a:custGeom>
          <a:blipFill>
            <a:blip r:embed="rId3"/>
            <a:stretch>
              <a:fillRect l="0" t="0" r="0" b="0"/>
            </a:stretch>
          </a:blipFill>
        </p:spPr>
        <p:txBody>
          <a:bodyPr/>
          <a:p/>
        </p:txBody>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1.2.1 	Servidor Payara</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En primer lugar, en NetBeans, en la sección de Servicios se crea un servidor, específicamente Payara.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3309418" y="3898649"/>
            <a:ext cx="8016127" cy="6186359"/>
          </a:xfrm>
          <a:custGeom>
            <a:avLst/>
            <a:gdLst/>
            <a:ahLst/>
            <a:cxnLst/>
            <a:rect r="r" b="b" t="t" l="l"/>
            <a:pathLst>
              <a:path h="6186359" w="8016127">
                <a:moveTo>
                  <a:pt x="0" y="0"/>
                </a:moveTo>
                <a:lnTo>
                  <a:pt x="8016127" y="0"/>
                </a:lnTo>
                <a:lnTo>
                  <a:pt x="8016127" y="6186358"/>
                </a:lnTo>
                <a:lnTo>
                  <a:pt x="0" y="6186358"/>
                </a:lnTo>
                <a:lnTo>
                  <a:pt x="0" y="0"/>
                </a:lnTo>
                <a:close/>
              </a:path>
            </a:pathLst>
          </a:custGeom>
          <a:blipFill>
            <a:blip r:embed="rId3"/>
            <a:stretch>
              <a:fillRect l="-48452" t="-19986" r="-47908" b="-14071"/>
            </a:stretch>
          </a:blipFill>
        </p:spPr>
        <p:txBody>
          <a:bodyPr/>
          <a:p/>
        </p:txBody>
      </p:sp>
      <p:sp>
        <p:nvSpPr>
          <p:cNvPr name="TextBox 17" id="17"/>
          <p:cNvSpPr txBox="true"/>
          <p:nvPr/>
        </p:nvSpPr>
        <p:spPr>
          <a:xfrm rot="0">
            <a:off x="969245" y="2956541"/>
            <a:ext cx="12696473" cy="1167422"/>
          </a:xfrm>
          <a:prstGeom prst="rect">
            <a:avLst/>
          </a:prstGeom>
        </p:spPr>
        <p:txBody>
          <a:bodyPr anchor="t" rtlCol="false" tIns="0" lIns="0" bIns="0" rIns="0">
            <a:spAutoFit/>
          </a:bodyPr>
          <a:lstStyle/>
          <a:p>
            <a:pPr algn="just" marL="488632" indent="-244316" lvl="1">
              <a:lnSpc>
                <a:spcPts val="3466"/>
              </a:lnSpc>
              <a:buFont typeface="Arial"/>
              <a:buChar char="•"/>
            </a:pPr>
            <a:r>
              <a:rPr lang="en-US" sz="2700">
                <a:solidFill>
                  <a:srgbClr val="3D3D3D"/>
                </a:solidFill>
                <a:latin typeface="Cambria"/>
                <a:ea typeface="Cambria"/>
                <a:cs typeface="Cambria"/>
                <a:sym typeface="Cambria"/>
              </a:rPr>
              <a:t>Se selecciona la versión de Payara 6 (6.2025.11), se aceptan los términos de condiciones y se selecciona un directorio donde instalar el servidor.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2907035" y="4401368"/>
            <a:ext cx="9649248" cy="5757499"/>
          </a:xfrm>
          <a:custGeom>
            <a:avLst/>
            <a:gdLst/>
            <a:ahLst/>
            <a:cxnLst/>
            <a:rect r="r" b="b" t="t" l="l"/>
            <a:pathLst>
              <a:path h="5757499" w="9649248">
                <a:moveTo>
                  <a:pt x="0" y="0"/>
                </a:moveTo>
                <a:lnTo>
                  <a:pt x="9649249" y="0"/>
                </a:lnTo>
                <a:lnTo>
                  <a:pt x="9649249" y="5757499"/>
                </a:lnTo>
                <a:lnTo>
                  <a:pt x="0" y="5757499"/>
                </a:lnTo>
                <a:lnTo>
                  <a:pt x="0" y="0"/>
                </a:lnTo>
                <a:close/>
              </a:path>
            </a:pathLst>
          </a:custGeom>
          <a:blipFill>
            <a:blip r:embed="rId3"/>
            <a:stretch>
              <a:fillRect l="0" t="0" r="0" b="0"/>
            </a:stretch>
          </a:blipFill>
        </p:spPr>
        <p:txBody>
          <a:bodyPr/>
          <a:p/>
        </p:txBody>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488632" indent="-244316" lvl="1">
              <a:lnSpc>
                <a:spcPts val="3466"/>
              </a:lnSpc>
              <a:buFont typeface="Arial"/>
              <a:buChar char="•"/>
            </a:pPr>
            <a:r>
              <a:rPr lang="en-US" sz="2700">
                <a:solidFill>
                  <a:srgbClr val="3D3D3D"/>
                </a:solidFill>
                <a:latin typeface="Cambria"/>
                <a:ea typeface="Cambria"/>
                <a:cs typeface="Cambria"/>
                <a:sym typeface="Cambria"/>
              </a:rPr>
              <a:t>Para terminar la configuración del servidor se configura un nombre de dominio, un host (en nuestro caso, localhost) y los puertos (8080 HTTP y 4848 administración). Payara 6 requiere JDK 21, por lo que se agrega esa plataforma en NetBeans.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181051" y="4609866"/>
            <a:ext cx="7025924" cy="5130278"/>
          </a:xfrm>
          <a:custGeom>
            <a:avLst/>
            <a:gdLst/>
            <a:ahLst/>
            <a:cxnLst/>
            <a:rect r="r" b="b" t="t" l="l"/>
            <a:pathLst>
              <a:path h="5130278" w="7025924">
                <a:moveTo>
                  <a:pt x="0" y="0"/>
                </a:moveTo>
                <a:lnTo>
                  <a:pt x="7025923" y="0"/>
                </a:lnTo>
                <a:lnTo>
                  <a:pt x="7025923" y="5130278"/>
                </a:lnTo>
                <a:lnTo>
                  <a:pt x="0" y="5130278"/>
                </a:lnTo>
                <a:lnTo>
                  <a:pt x="0" y="0"/>
                </a:lnTo>
                <a:close/>
              </a:path>
            </a:pathLst>
          </a:custGeom>
          <a:blipFill>
            <a:blip r:embed="rId3"/>
            <a:stretch>
              <a:fillRect l="0" t="0" r="0" b="0"/>
            </a:stretch>
          </a:blipFill>
        </p:spPr>
        <p:txBody>
          <a:bodyPr/>
          <a:p/>
        </p:txBody>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1.2.2 	Creación del Proyecto</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Una vez creado el servidor, se crea un proyecto Java with Maven, tipo Web Application.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3447288" y="4700288"/>
            <a:ext cx="8985429" cy="5376942"/>
          </a:xfrm>
          <a:custGeom>
            <a:avLst/>
            <a:gdLst/>
            <a:ahLst/>
            <a:cxnLst/>
            <a:rect r="r" b="b" t="t" l="l"/>
            <a:pathLst>
              <a:path h="5376942" w="8985429">
                <a:moveTo>
                  <a:pt x="0" y="0"/>
                </a:moveTo>
                <a:lnTo>
                  <a:pt x="8985429" y="0"/>
                </a:lnTo>
                <a:lnTo>
                  <a:pt x="8985429" y="5376942"/>
                </a:lnTo>
                <a:lnTo>
                  <a:pt x="0" y="5376942"/>
                </a:lnTo>
                <a:lnTo>
                  <a:pt x="0" y="0"/>
                </a:lnTo>
                <a:close/>
              </a:path>
            </a:pathLst>
          </a:custGeom>
          <a:blipFill>
            <a:blip r:embed="rId3"/>
            <a:stretch>
              <a:fillRect l="0" t="0" r="0" b="-6735"/>
            </a:stretch>
          </a:blipFill>
        </p:spPr>
        <p:txBody>
          <a:bodyPr/>
          <a:p/>
        </p:txBody>
      </p:sp>
      <p:sp>
        <p:nvSpPr>
          <p:cNvPr name="TextBox 17" id="17"/>
          <p:cNvSpPr txBox="true"/>
          <p:nvPr/>
        </p:nvSpPr>
        <p:spPr>
          <a:xfrm rot="0">
            <a:off x="969245" y="2956541"/>
            <a:ext cx="12696473" cy="2182406"/>
          </a:xfrm>
          <a:prstGeom prst="rect">
            <a:avLst/>
          </a:prstGeom>
        </p:spPr>
        <p:txBody>
          <a:bodyPr anchor="t" rtlCol="false" tIns="0" lIns="0" bIns="0" rIns="0">
            <a:spAutoFit/>
          </a:bodyPr>
          <a:lstStyle/>
          <a:p>
            <a:pPr algn="just" marL="488632" indent="-244316" lvl="1">
              <a:lnSpc>
                <a:spcPts val="3466"/>
              </a:lnSpc>
              <a:buFont typeface="Arial"/>
              <a:buChar char="•"/>
            </a:pPr>
            <a:r>
              <a:rPr lang="en-US" sz="2700">
                <a:solidFill>
                  <a:srgbClr val="3D3D3D"/>
                </a:solidFill>
                <a:latin typeface="Cambria"/>
                <a:ea typeface="Cambria"/>
                <a:cs typeface="Cambria"/>
                <a:sym typeface="Cambria"/>
              </a:rPr>
              <a:t>Se aplica el nombre del proyecto como ‘REST_ConUni_Java_GR07’, y se configura el grupo como ‘ec.edu.monster’.</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Se selecciona nuestro Servidor Payara creado y Jakarta EE 10 como conjunto de desarrollo de aplicaciones Java.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5850356" y="2705557"/>
            <a:ext cx="3655782" cy="7747026"/>
          </a:xfrm>
          <a:custGeom>
            <a:avLst/>
            <a:gdLst/>
            <a:ahLst/>
            <a:cxnLst/>
            <a:rect r="r" b="b" t="t" l="l"/>
            <a:pathLst>
              <a:path h="7747026" w="3655782">
                <a:moveTo>
                  <a:pt x="0" y="0"/>
                </a:moveTo>
                <a:lnTo>
                  <a:pt x="3655783" y="0"/>
                </a:lnTo>
                <a:lnTo>
                  <a:pt x="3655783" y="7747027"/>
                </a:lnTo>
                <a:lnTo>
                  <a:pt x="0" y="7747027"/>
                </a:lnTo>
                <a:lnTo>
                  <a:pt x="0" y="0"/>
                </a:lnTo>
                <a:close/>
              </a:path>
            </a:pathLst>
          </a:custGeom>
          <a:blipFill>
            <a:blip r:embed="rId3"/>
            <a:stretch>
              <a:fillRect l="0" t="0" r="-90101" b="0"/>
            </a:stretch>
          </a:blipFill>
        </p:spPr>
        <p:txBody>
          <a:bodyPr/>
          <a:p/>
        </p:txBody>
      </p:sp>
      <p:sp>
        <p:nvSpPr>
          <p:cNvPr name="Freeform 17" id="17"/>
          <p:cNvSpPr/>
          <p:nvPr/>
        </p:nvSpPr>
        <p:spPr>
          <a:xfrm flipH="false" flipV="false" rot="0">
            <a:off x="9506139" y="2705557"/>
            <a:ext cx="4201935" cy="5589269"/>
          </a:xfrm>
          <a:custGeom>
            <a:avLst/>
            <a:gdLst/>
            <a:ahLst/>
            <a:cxnLst/>
            <a:rect r="r" b="b" t="t" l="l"/>
            <a:pathLst>
              <a:path h="5589269" w="4201935">
                <a:moveTo>
                  <a:pt x="0" y="0"/>
                </a:moveTo>
                <a:lnTo>
                  <a:pt x="4201935" y="0"/>
                </a:lnTo>
                <a:lnTo>
                  <a:pt x="4201935" y="5589269"/>
                </a:lnTo>
                <a:lnTo>
                  <a:pt x="0" y="5589269"/>
                </a:lnTo>
                <a:lnTo>
                  <a:pt x="0" y="0"/>
                </a:lnTo>
                <a:close/>
              </a:path>
            </a:pathLst>
          </a:custGeom>
          <a:blipFill>
            <a:blip r:embed="rId4"/>
            <a:stretch>
              <a:fillRect l="0" t="0" r="-50875" b="0"/>
            </a:stretch>
          </a:blipFill>
        </p:spPr>
        <p:txBody>
          <a:bodyPr/>
          <a:p/>
        </p:txBody>
      </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ESTRUCTURA</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Aplicando capas de servicio (SOA) junto a otras capas se configuran los paquetes principales: controladores (recursos REST y manejadores), modelos, seguridad y servicios. El patrón MVC se aplica en los clientes.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286340" y="5731513"/>
            <a:ext cx="6861438" cy="4555487"/>
          </a:xfrm>
          <a:custGeom>
            <a:avLst/>
            <a:gdLst/>
            <a:ahLst/>
            <a:cxnLst/>
            <a:rect r="r" b="b" t="t" l="l"/>
            <a:pathLst>
              <a:path h="4555487" w="6861438">
                <a:moveTo>
                  <a:pt x="0" y="0"/>
                </a:moveTo>
                <a:lnTo>
                  <a:pt x="6861437" y="0"/>
                </a:lnTo>
                <a:lnTo>
                  <a:pt x="6861437" y="4555487"/>
                </a:lnTo>
                <a:lnTo>
                  <a:pt x="0" y="4555487"/>
                </a:lnTo>
                <a:lnTo>
                  <a:pt x="0" y="0"/>
                </a:lnTo>
                <a:close/>
              </a:path>
            </a:pathLst>
          </a:custGeom>
          <a:blipFill>
            <a:blip r:embed="rId3"/>
            <a:stretch>
              <a:fillRect l="0" t="0" r="0" b="0"/>
            </a:stretch>
          </a:blipFill>
        </p:spPr>
        <p:txBody>
          <a:bodyPr/>
          <a:p/>
        </p:txBody>
      </p:sp>
      <p:sp>
        <p:nvSpPr>
          <p:cNvPr name="TextBox 17" id="17"/>
          <p:cNvSpPr txBox="true"/>
          <p:nvPr/>
        </p:nvSpPr>
        <p:spPr>
          <a:xfrm rot="0">
            <a:off x="969245" y="2956541"/>
            <a:ext cx="12696473" cy="3197390"/>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1.2.3 	Creación de los recursos REST</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Dentro del paquete controladores.rest se crea un recurso Jakarta REST por cada función: LoginResource, CatalogoResource y ConversionResource, más RestApplication (@ApplicationPath "/api").</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Cada recurso usa JSON y el token viaja en el encabezado Authorization: Bearer.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LoginResource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Recurso de inicio de sesión (CU-01): POST /api/auth/login. Solo recibe el pedido y lo pasa al manejador.</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2245693" y="4268916"/>
            <a:ext cx="11385507" cy="5739288"/>
            <a:chOff x="0" y="0"/>
            <a:chExt cx="12278360" cy="6189364"/>
          </a:xfrm>
        </p:grpSpPr>
        <p:sp>
          <p:nvSpPr>
            <p:cNvPr name="Freeform 18" id="18"/>
            <p:cNvSpPr/>
            <p:nvPr/>
          </p:nvSpPr>
          <p:spPr>
            <a:xfrm flipH="false" flipV="false" rot="0">
              <a:off x="0" y="0"/>
              <a:ext cx="12278360" cy="6189364"/>
            </a:xfrm>
            <a:custGeom>
              <a:avLst/>
              <a:gdLst/>
              <a:ahLst/>
              <a:cxnLst/>
              <a:rect r="r" b="b" t="t" l="l"/>
              <a:pathLst>
                <a:path h="6189364" w="12278360">
                  <a:moveTo>
                    <a:pt x="0" y="0"/>
                  </a:moveTo>
                  <a:lnTo>
                    <a:pt x="12278360" y="0"/>
                  </a:lnTo>
                  <a:lnTo>
                    <a:pt x="12278360" y="6189364"/>
                  </a:lnTo>
                  <a:lnTo>
                    <a:pt x="0" y="6189364"/>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57150"/>
              <a:ext cx="12278360" cy="6246514"/>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ec.edu.monster.controladores.rest;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ec.edu.monster.controladores.manejadoresws.ManejadorLogin;</a:t>
              </a:r>
            </a:p>
            <a:p>
              <a:pPr algn="l">
                <a:lnSpc>
                  <a:spcPts val="1800"/>
                </a:lnSpc>
              </a:pPr>
              <a:r>
                <a:rPr lang="en-US" sz="1500">
                  <a:solidFill>
                    <a:srgbClr val="4F81BD"/>
                  </a:solidFill>
                  <a:latin typeface="Calibri (MS)"/>
                  <a:ea typeface="Calibri (MS)"/>
                  <a:cs typeface="Calibri (MS)"/>
                  <a:sym typeface="Calibri (MS)"/>
                </a:rPr>
                <a:t>import ec.edu.monster.modelos.utilidades.RespuestaServicio;</a:t>
              </a:r>
            </a:p>
            <a:p>
              <a:pPr algn="l">
                <a:lnSpc>
                  <a:spcPts val="1800"/>
                </a:lnSpc>
              </a:pPr>
              <a:r>
                <a:rPr lang="en-US" sz="1500">
                  <a:solidFill>
                    <a:srgbClr val="4F81BD"/>
                  </a:solidFill>
                  <a:latin typeface="Calibri (MS)"/>
                  <a:ea typeface="Calibri (MS)"/>
                  <a:cs typeface="Calibri (MS)"/>
                  <a:sym typeface="Calibri (MS)"/>
                </a:rPr>
                <a:t>import ec.edu.monster.modelos.utilidades.enums.CodigoResultado;</a:t>
              </a:r>
            </a:p>
            <a:p>
              <a:pPr algn="l">
                <a:lnSpc>
                  <a:spcPts val="1800"/>
                </a:lnSpc>
              </a:pPr>
              <a:r>
                <a:rPr lang="en-US" sz="1500">
                  <a:solidFill>
                    <a:srgbClr val="4F81BD"/>
                  </a:solidFill>
                  <a:latin typeface="Calibri (MS)"/>
                  <a:ea typeface="Calibri (MS)"/>
                  <a:cs typeface="Calibri (MS)"/>
                  <a:sym typeface="Calibri (MS)"/>
                </a:rPr>
                <a:t>import ec.edu.monster.modelos.utilidades.mapeadores.RespuestaMapeador;</a:t>
              </a:r>
            </a:p>
            <a:p>
              <a:pPr algn="l">
                <a:lnSpc>
                  <a:spcPts val="1800"/>
                </a:lnSpc>
              </a:pPr>
              <a:r>
                <a:rPr lang="en-US" sz="1500">
                  <a:solidFill>
                    <a:srgbClr val="4F81BD"/>
                  </a:solidFill>
                  <a:latin typeface="Calibri (MS)"/>
                  <a:ea typeface="Calibri (MS)"/>
                  <a:cs typeface="Calibri (MS)"/>
                  <a:sym typeface="Calibri (MS)"/>
                </a:rPr>
                <a:t>import jakarta.ws.rs.Consumes;</a:t>
              </a:r>
            </a:p>
            <a:p>
              <a:pPr algn="l">
                <a:lnSpc>
                  <a:spcPts val="1800"/>
                </a:lnSpc>
              </a:pPr>
              <a:r>
                <a:rPr lang="en-US" sz="1500">
                  <a:solidFill>
                    <a:srgbClr val="4F81BD"/>
                  </a:solidFill>
                  <a:latin typeface="Calibri (MS)"/>
                  <a:ea typeface="Calibri (MS)"/>
                  <a:cs typeface="Calibri (MS)"/>
                  <a:sym typeface="Calibri (MS)"/>
                </a:rPr>
                <a:t>import jakarta.ws.rs.POST;</a:t>
              </a:r>
            </a:p>
            <a:p>
              <a:pPr algn="l">
                <a:lnSpc>
                  <a:spcPts val="1800"/>
                </a:lnSpc>
              </a:pPr>
              <a:r>
                <a:rPr lang="en-US" sz="1500">
                  <a:solidFill>
                    <a:srgbClr val="4F81BD"/>
                  </a:solidFill>
                  <a:latin typeface="Calibri (MS)"/>
                  <a:ea typeface="Calibri (MS)"/>
                  <a:cs typeface="Calibri (MS)"/>
                  <a:sym typeface="Calibri (MS)"/>
                </a:rPr>
                <a:t>import jakarta.ws.rs.Path;</a:t>
              </a:r>
            </a:p>
            <a:p>
              <a:pPr algn="l">
                <a:lnSpc>
                  <a:spcPts val="1800"/>
                </a:lnSpc>
              </a:pPr>
              <a:r>
                <a:rPr lang="en-US" sz="1500">
                  <a:solidFill>
                    <a:srgbClr val="4F81BD"/>
                  </a:solidFill>
                  <a:latin typeface="Calibri (MS)"/>
                  <a:ea typeface="Calibri (MS)"/>
                  <a:cs typeface="Calibri (MS)"/>
                  <a:sym typeface="Calibri (MS)"/>
                </a:rPr>
                <a:t>import jakarta.ws.rs.Produces;</a:t>
              </a:r>
            </a:p>
            <a:p>
              <a:pPr algn="l">
                <a:lnSpc>
                  <a:spcPts val="1800"/>
                </a:lnSpc>
              </a:pPr>
              <a:r>
                <a:rPr lang="en-US" sz="1500">
                  <a:solidFill>
                    <a:srgbClr val="4F81BD"/>
                  </a:solidFill>
                  <a:latin typeface="Calibri (MS)"/>
                  <a:ea typeface="Calibri (MS)"/>
                  <a:cs typeface="Calibri (MS)"/>
                  <a:sym typeface="Calibri (MS)"/>
                </a:rPr>
                <a:t>import jakarta.ws.rs.core.MediaType;</a:t>
              </a:r>
            </a:p>
            <a:p>
              <a:pPr algn="l">
                <a:lnSpc>
                  <a:spcPts val="1800"/>
                </a:lnSpc>
              </a:pPr>
              <a:r>
                <a:rPr lang="en-US" sz="1500">
                  <a:solidFill>
                    <a:srgbClr val="4F81BD"/>
                  </a:solidFill>
                  <a:latin typeface="Calibri (MS)"/>
                  <a:ea typeface="Calibri (MS)"/>
                  <a:cs typeface="Calibri (MS)"/>
                  <a:sym typeface="Calibri (MS)"/>
                </a:rPr>
                <a:t>import jakarta.ws.rs.core.Response;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@Path("auth")</a:t>
              </a:r>
            </a:p>
            <a:p>
              <a:pPr algn="l">
                <a:lnSpc>
                  <a:spcPts val="1800"/>
                </a:lnSpc>
              </a:pPr>
              <a:r>
                <a:rPr lang="en-US" sz="1500">
                  <a:solidFill>
                    <a:srgbClr val="4F81BD"/>
                  </a:solidFill>
                  <a:latin typeface="Calibri (MS)"/>
                  <a:ea typeface="Calibri (MS)"/>
                  <a:cs typeface="Calibri (MS)"/>
                  <a:sym typeface="Calibri (MS)"/>
                </a:rPr>
                <a:t>@Consumes(MediaType.APPLICATION_JSON)</a:t>
              </a:r>
            </a:p>
            <a:p>
              <a:pPr algn="l">
                <a:lnSpc>
                  <a:spcPts val="1800"/>
                </a:lnSpc>
              </a:pPr>
              <a:r>
                <a:rPr lang="en-US" sz="1500">
                  <a:solidFill>
                    <a:srgbClr val="4F81BD"/>
                  </a:solidFill>
                  <a:latin typeface="Calibri (MS)"/>
                  <a:ea typeface="Calibri (MS)"/>
                  <a:cs typeface="Calibri (MS)"/>
                  <a:sym typeface="Calibri (MS)"/>
                </a:rPr>
                <a:t>@Produces(MediaType.APPLICATION_JSON)</a:t>
              </a:r>
            </a:p>
            <a:p>
              <a:pPr algn="l">
                <a:lnSpc>
                  <a:spcPts val="1800"/>
                </a:lnSpc>
              </a:pPr>
              <a:r>
                <a:rPr lang="en-US" sz="1500">
                  <a:solidFill>
                    <a:srgbClr val="4F81BD"/>
                  </a:solidFill>
                  <a:latin typeface="Calibri (MS)"/>
                  <a:ea typeface="Calibri (MS)"/>
                  <a:cs typeface="Calibri (MS)"/>
                  <a:sym typeface="Calibri (MS)"/>
                </a:rPr>
                <a:t>public class LoginResource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ManejadorLogin manejador = new ManejadorLogin();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@POST</a:t>
              </a:r>
            </a:p>
            <a:p>
              <a:pPr algn="l">
                <a:lnSpc>
                  <a:spcPts val="1800"/>
                </a:lnSpc>
              </a:pPr>
              <a:r>
                <a:rPr lang="en-US" sz="1500">
                  <a:solidFill>
                    <a:srgbClr val="4F81BD"/>
                  </a:solidFill>
                  <a:latin typeface="Calibri (MS)"/>
                  <a:ea typeface="Calibri (MS)"/>
                  <a:cs typeface="Calibri (MS)"/>
                  <a:sym typeface="Calibri (MS)"/>
                </a:rPr>
                <a:t>    @Path("login")</a:t>
              </a:r>
            </a:p>
            <a:p>
              <a:pPr algn="l">
                <a:lnSpc>
                  <a:spcPts val="1800"/>
                </a:lnSpc>
              </a:pPr>
              <a:r>
                <a:rPr lang="en-US" sz="1500">
                  <a:solidFill>
                    <a:srgbClr val="4F81BD"/>
                  </a:solidFill>
                  <a:latin typeface="Calibri (MS)"/>
                  <a:ea typeface="Calibri (MS)"/>
                  <a:cs typeface="Calibri (MS)"/>
                  <a:sym typeface="Calibri (MS)"/>
                </a:rPr>
                <a:t>    public Response login(SolicitudLogin solicitud) {</a:t>
              </a:r>
            </a:p>
            <a:p>
              <a:pPr algn="l">
                <a:lnSpc>
                  <a:spcPts val="1800"/>
                </a:lnSpc>
              </a:pPr>
              <a:r>
                <a:rPr lang="en-US" sz="1500">
                  <a:solidFill>
                    <a:srgbClr val="4F81BD"/>
                  </a:solidFill>
                  <a:latin typeface="Calibri (MS)"/>
                  <a:ea typeface="Calibri (MS)"/>
                  <a:cs typeface="Calibri (MS)"/>
                  <a:sym typeface="Calibri (MS)"/>
                </a:rPr>
                <a:t>        if (solicitud == null) {</a:t>
              </a:r>
            </a:p>
            <a:p>
              <a:pPr algn="l">
                <a:lnSpc>
                  <a:spcPts val="1800"/>
                </a:lnSpc>
              </a:pPr>
              <a:r>
                <a:rPr lang="en-US" sz="1500">
                  <a:solidFill>
                    <a:srgbClr val="4F81BD"/>
                  </a:solidFill>
                  <a:latin typeface="Calibri (MS)"/>
                  <a:ea typeface="Calibri (MS)"/>
                  <a:cs typeface="Calibri (MS)"/>
                  <a:sym typeface="Calibri (MS)"/>
                </a:rPr>
                <a:t>            RespuestaServicio error = RespuestaMapeador.error(</a:t>
              </a:r>
            </a:p>
            <a:p>
              <a:pPr algn="l">
                <a:lnSpc>
                  <a:spcPts val="1800"/>
                </a:lnSpc>
              </a:pPr>
              <a:r>
                <a:rPr lang="en-US" sz="1500">
                  <a:solidFill>
                    <a:srgbClr val="4F81BD"/>
                  </a:solidFill>
                  <a:latin typeface="Calibri (MS)"/>
                  <a:ea typeface="Calibri (MS)"/>
                  <a:cs typeface="Calibri (MS)"/>
                  <a:sym typeface="Calibri (MS)"/>
                </a:rPr>
                <a:t>                    CodigoResultado.DATOS_INCONSISTENTES, "Usuario y clave son obligatorios");</a:t>
              </a:r>
            </a:p>
            <a:p>
              <a:pPr algn="l">
                <a:lnSpc>
                  <a:spcPts val="1800"/>
                </a:lnSpc>
              </a:pPr>
              <a:r>
                <a:rPr lang="en-US" sz="1500">
                  <a:solidFill>
                    <a:srgbClr val="4F81BD"/>
                  </a:solidFill>
                  <a:latin typeface="Calibri (MS)"/>
                  <a:ea typeface="Calibri (MS)"/>
                  <a:cs typeface="Calibri (MS)"/>
                  <a:sym typeface="Calibri (MS)"/>
                </a:rPr>
                <a:t>            return RespuestaHttp.desde(error);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RespuestaHttp.desde(manejador.login(solicitud.getUsuario(), solicitud.getClave()));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CatalogoResource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Recurso del catálogo (CU-02 y CU-03): GET /api/catalogo/...: categorías y unidades de cada categoría.</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1992196" y="4196489"/>
            <a:ext cx="11779954" cy="5637218"/>
            <a:chOff x="0" y="0"/>
            <a:chExt cx="15706606" cy="7516291"/>
          </a:xfrm>
        </p:grpSpPr>
        <p:sp>
          <p:nvSpPr>
            <p:cNvPr name="Freeform 18" id="18"/>
            <p:cNvSpPr/>
            <p:nvPr/>
          </p:nvSpPr>
          <p:spPr>
            <a:xfrm flipH="false" flipV="false" rot="0">
              <a:off x="0" y="0"/>
              <a:ext cx="15706606" cy="7516291"/>
            </a:xfrm>
            <a:custGeom>
              <a:avLst/>
              <a:gdLst/>
              <a:ahLst/>
              <a:cxnLst/>
              <a:rect r="r" b="b" t="t" l="l"/>
              <a:pathLst>
                <a:path h="7516291" w="15706606">
                  <a:moveTo>
                    <a:pt x="0" y="0"/>
                  </a:moveTo>
                  <a:lnTo>
                    <a:pt x="15706606" y="0"/>
                  </a:lnTo>
                  <a:lnTo>
                    <a:pt x="15706606" y="7516291"/>
                  </a:lnTo>
                  <a:lnTo>
                    <a:pt x="0" y="7516291"/>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5706606" cy="7554391"/>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ec.edu.monster.controladores.rest;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ec.edu.monster.controladores.manejadoresws.ManejadorCatalogo;</a:t>
              </a:r>
            </a:p>
            <a:p>
              <a:pPr algn="l">
                <a:lnSpc>
                  <a:spcPts val="1800"/>
                </a:lnSpc>
              </a:pPr>
              <a:r>
                <a:rPr lang="en-US" sz="1500">
                  <a:solidFill>
                    <a:srgbClr val="4F81BD"/>
                  </a:solidFill>
                  <a:latin typeface="Calibri (MS)"/>
                  <a:ea typeface="Calibri (MS)"/>
                  <a:cs typeface="Calibri (MS)"/>
                  <a:sym typeface="Calibri (MS)"/>
                </a:rPr>
                <a:t>import jakarta.ws.rs.GET;</a:t>
              </a:r>
            </a:p>
            <a:p>
              <a:pPr algn="l">
                <a:lnSpc>
                  <a:spcPts val="1800"/>
                </a:lnSpc>
              </a:pPr>
              <a:r>
                <a:rPr lang="en-US" sz="1500">
                  <a:solidFill>
                    <a:srgbClr val="4F81BD"/>
                  </a:solidFill>
                  <a:latin typeface="Calibri (MS)"/>
                  <a:ea typeface="Calibri (MS)"/>
                  <a:cs typeface="Calibri (MS)"/>
                  <a:sym typeface="Calibri (MS)"/>
                </a:rPr>
                <a:t>import jakarta.ws.rs.HeaderParam;</a:t>
              </a:r>
            </a:p>
            <a:p>
              <a:pPr algn="l">
                <a:lnSpc>
                  <a:spcPts val="1800"/>
                </a:lnSpc>
              </a:pPr>
              <a:r>
                <a:rPr lang="en-US" sz="1500">
                  <a:solidFill>
                    <a:srgbClr val="4F81BD"/>
                  </a:solidFill>
                  <a:latin typeface="Calibri (MS)"/>
                  <a:ea typeface="Calibri (MS)"/>
                  <a:cs typeface="Calibri (MS)"/>
                  <a:sym typeface="Calibri (MS)"/>
                </a:rPr>
                <a:t>import jakarta.ws.rs.Path;</a:t>
              </a:r>
            </a:p>
            <a:p>
              <a:pPr algn="l">
                <a:lnSpc>
                  <a:spcPts val="1800"/>
                </a:lnSpc>
              </a:pPr>
              <a:r>
                <a:rPr lang="en-US" sz="1500">
                  <a:solidFill>
                    <a:srgbClr val="4F81BD"/>
                  </a:solidFill>
                  <a:latin typeface="Calibri (MS)"/>
                  <a:ea typeface="Calibri (MS)"/>
                  <a:cs typeface="Calibri (MS)"/>
                  <a:sym typeface="Calibri (MS)"/>
                </a:rPr>
                <a:t>import jakarta.ws.rs.PathParam;</a:t>
              </a:r>
            </a:p>
            <a:p>
              <a:pPr algn="l">
                <a:lnSpc>
                  <a:spcPts val="1800"/>
                </a:lnSpc>
              </a:pPr>
              <a:r>
                <a:rPr lang="en-US" sz="1500">
                  <a:solidFill>
                    <a:srgbClr val="4F81BD"/>
                  </a:solidFill>
                  <a:latin typeface="Calibri (MS)"/>
                  <a:ea typeface="Calibri (MS)"/>
                  <a:cs typeface="Calibri (MS)"/>
                  <a:sym typeface="Calibri (MS)"/>
                </a:rPr>
                <a:t>import jakarta.ws.rs.Produces;</a:t>
              </a:r>
            </a:p>
            <a:p>
              <a:pPr algn="l">
                <a:lnSpc>
                  <a:spcPts val="1800"/>
                </a:lnSpc>
              </a:pPr>
              <a:r>
                <a:rPr lang="en-US" sz="1500">
                  <a:solidFill>
                    <a:srgbClr val="4F81BD"/>
                  </a:solidFill>
                  <a:latin typeface="Calibri (MS)"/>
                  <a:ea typeface="Calibri (MS)"/>
                  <a:cs typeface="Calibri (MS)"/>
                  <a:sym typeface="Calibri (MS)"/>
                </a:rPr>
                <a:t>import jakarta.ws.rs.core.MediaType;</a:t>
              </a:r>
            </a:p>
            <a:p>
              <a:pPr algn="l">
                <a:lnSpc>
                  <a:spcPts val="1800"/>
                </a:lnSpc>
              </a:pPr>
              <a:r>
                <a:rPr lang="en-US" sz="1500">
                  <a:solidFill>
                    <a:srgbClr val="4F81BD"/>
                  </a:solidFill>
                  <a:latin typeface="Calibri (MS)"/>
                  <a:ea typeface="Calibri (MS)"/>
                  <a:cs typeface="Calibri (MS)"/>
                  <a:sym typeface="Calibri (MS)"/>
                </a:rPr>
                <a:t>import jakarta.ws.rs.core.Response;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@Path("catalogo")</a:t>
              </a:r>
            </a:p>
            <a:p>
              <a:pPr algn="l">
                <a:lnSpc>
                  <a:spcPts val="1800"/>
                </a:lnSpc>
              </a:pPr>
              <a:r>
                <a:rPr lang="en-US" sz="1500">
                  <a:solidFill>
                    <a:srgbClr val="4F81BD"/>
                  </a:solidFill>
                  <a:latin typeface="Calibri (MS)"/>
                  <a:ea typeface="Calibri (MS)"/>
                  <a:cs typeface="Calibri (MS)"/>
                  <a:sym typeface="Calibri (MS)"/>
                </a:rPr>
                <a:t>@Produces(MediaType.APPLICATION_JSON)</a:t>
              </a:r>
            </a:p>
            <a:p>
              <a:pPr algn="l">
                <a:lnSpc>
                  <a:spcPts val="1800"/>
                </a:lnSpc>
              </a:pPr>
              <a:r>
                <a:rPr lang="en-US" sz="1500">
                  <a:solidFill>
                    <a:srgbClr val="4F81BD"/>
                  </a:solidFill>
                  <a:latin typeface="Calibri (MS)"/>
                  <a:ea typeface="Calibri (MS)"/>
                  <a:cs typeface="Calibri (MS)"/>
                  <a:sym typeface="Calibri (MS)"/>
                </a:rPr>
                <a:t>public class CatalogoResource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ManejadorCatalogo manejador = new ManejadorCatalogo();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@GET</a:t>
              </a:r>
            </a:p>
            <a:p>
              <a:pPr algn="l">
                <a:lnSpc>
                  <a:spcPts val="1800"/>
                </a:lnSpc>
              </a:pPr>
              <a:r>
                <a:rPr lang="en-US" sz="1500">
                  <a:solidFill>
                    <a:srgbClr val="4F81BD"/>
                  </a:solidFill>
                  <a:latin typeface="Calibri (MS)"/>
                  <a:ea typeface="Calibri (MS)"/>
                  <a:cs typeface="Calibri (MS)"/>
                  <a:sym typeface="Calibri (MS)"/>
                </a:rPr>
                <a:t>    @Path("categorias")</a:t>
              </a:r>
            </a:p>
            <a:p>
              <a:pPr algn="l">
                <a:lnSpc>
                  <a:spcPts val="1800"/>
                </a:lnSpc>
              </a:pPr>
              <a:r>
                <a:rPr lang="en-US" sz="1500">
                  <a:solidFill>
                    <a:srgbClr val="4F81BD"/>
                  </a:solidFill>
                  <a:latin typeface="Calibri (MS)"/>
                  <a:ea typeface="Calibri (MS)"/>
                  <a:cs typeface="Calibri (MS)"/>
                  <a:sym typeface="Calibri (MS)"/>
                </a:rPr>
                <a:t>    public Response obtenerCategorias(@HeaderParam("Authorization") String authorization) {</a:t>
              </a:r>
            </a:p>
            <a:p>
              <a:pPr algn="l">
                <a:lnSpc>
                  <a:spcPts val="1800"/>
                </a:lnSpc>
              </a:pPr>
              <a:r>
                <a:rPr lang="en-US" sz="1500">
                  <a:solidFill>
                    <a:srgbClr val="4F81BD"/>
                  </a:solidFill>
                  <a:latin typeface="Calibri (MS)"/>
                  <a:ea typeface="Calibri (MS)"/>
                  <a:cs typeface="Calibri (MS)"/>
                  <a:sym typeface="Calibri (MS)"/>
                </a:rPr>
                <a:t>        return RespuestaHttp.desde(manejador.obtenerCategorias(AutorizacionHttp.extraerToken(authorization)));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@GET</a:t>
              </a:r>
            </a:p>
            <a:p>
              <a:pPr algn="l">
                <a:lnSpc>
                  <a:spcPts val="1800"/>
                </a:lnSpc>
              </a:pPr>
              <a:r>
                <a:rPr lang="en-US" sz="1500">
                  <a:solidFill>
                    <a:srgbClr val="4F81BD"/>
                  </a:solidFill>
                  <a:latin typeface="Calibri (MS)"/>
                  <a:ea typeface="Calibri (MS)"/>
                  <a:cs typeface="Calibri (MS)"/>
                  <a:sym typeface="Calibri (MS)"/>
                </a:rPr>
                <a:t>    @Path("{categoria}/unidades")</a:t>
              </a:r>
            </a:p>
            <a:p>
              <a:pPr algn="l">
                <a:lnSpc>
                  <a:spcPts val="1800"/>
                </a:lnSpc>
              </a:pPr>
              <a:r>
                <a:rPr lang="en-US" sz="1500">
                  <a:solidFill>
                    <a:srgbClr val="4F81BD"/>
                  </a:solidFill>
                  <a:latin typeface="Calibri (MS)"/>
                  <a:ea typeface="Calibri (MS)"/>
                  <a:cs typeface="Calibri (MS)"/>
                  <a:sym typeface="Calibri (MS)"/>
                </a:rPr>
                <a:t>    public Response obtenerUnidades(</a:t>
              </a:r>
            </a:p>
            <a:p>
              <a:pPr algn="l">
                <a:lnSpc>
                  <a:spcPts val="1800"/>
                </a:lnSpc>
              </a:pPr>
              <a:r>
                <a:rPr lang="en-US" sz="1500">
                  <a:solidFill>
                    <a:srgbClr val="4F81BD"/>
                  </a:solidFill>
                  <a:latin typeface="Calibri (MS)"/>
                  <a:ea typeface="Calibri (MS)"/>
                  <a:cs typeface="Calibri (MS)"/>
                  <a:sym typeface="Calibri (MS)"/>
                </a:rPr>
                <a:t>            @PathParam("categoria") String categoria,</a:t>
              </a:r>
            </a:p>
            <a:p>
              <a:pPr algn="l">
                <a:lnSpc>
                  <a:spcPts val="1800"/>
                </a:lnSpc>
              </a:pPr>
              <a:r>
                <a:rPr lang="en-US" sz="1500">
                  <a:solidFill>
                    <a:srgbClr val="4F81BD"/>
                  </a:solidFill>
                  <a:latin typeface="Calibri (MS)"/>
                  <a:ea typeface="Calibri (MS)"/>
                  <a:cs typeface="Calibri (MS)"/>
                  <a:sym typeface="Calibri (MS)"/>
                </a:rPr>
                <a:t>            @HeaderParam("Authorization") String authorization) {</a:t>
              </a:r>
            </a:p>
            <a:p>
              <a:pPr algn="l">
                <a:lnSpc>
                  <a:spcPts val="1800"/>
                </a:lnSpc>
              </a:pPr>
              <a:r>
                <a:rPr lang="en-US" sz="1500">
                  <a:solidFill>
                    <a:srgbClr val="4F81BD"/>
                  </a:solidFill>
                  <a:latin typeface="Calibri (MS)"/>
                  <a:ea typeface="Calibri (MS)"/>
                  <a:cs typeface="Calibri (MS)"/>
                  <a:sym typeface="Calibri (MS)"/>
                </a:rPr>
                <a:t>        return RespuestaHttp.desde(</a:t>
              </a:r>
            </a:p>
            <a:p>
              <a:pPr algn="l">
                <a:lnSpc>
                  <a:spcPts val="1800"/>
                </a:lnSpc>
              </a:pPr>
              <a:r>
                <a:rPr lang="en-US" sz="1500">
                  <a:solidFill>
                    <a:srgbClr val="4F81BD"/>
                  </a:solidFill>
                  <a:latin typeface="Calibri (MS)"/>
                  <a:ea typeface="Calibri (MS)"/>
                  <a:cs typeface="Calibri (MS)"/>
                  <a:sym typeface="Calibri (MS)"/>
                </a:rPr>
                <a:t>                manejador.obtenerUnidades(AutorizacionHttp.extraerToken(authorization),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ConversionResource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Recurso de conversión (CU-04): POST /api/conversiones/{categoria} para Longitud, Masa y Temperatura.</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871785" y="4540520"/>
            <a:ext cx="12129914" cy="5465237"/>
            <a:chOff x="0" y="0"/>
            <a:chExt cx="12278360" cy="5532120"/>
          </a:xfrm>
        </p:grpSpPr>
        <p:sp>
          <p:nvSpPr>
            <p:cNvPr name="Freeform 18" id="18"/>
            <p:cNvSpPr/>
            <p:nvPr/>
          </p:nvSpPr>
          <p:spPr>
            <a:xfrm flipH="false" flipV="false" rot="0">
              <a:off x="0" y="0"/>
              <a:ext cx="12278360" cy="5532120"/>
            </a:xfrm>
            <a:custGeom>
              <a:avLst/>
              <a:gdLst/>
              <a:ahLst/>
              <a:cxnLst/>
              <a:rect r="r" b="b" t="t" l="l"/>
              <a:pathLst>
                <a:path h="5532120" w="12278360">
                  <a:moveTo>
                    <a:pt x="0" y="0"/>
                  </a:moveTo>
                  <a:lnTo>
                    <a:pt x="12278360" y="0"/>
                  </a:lnTo>
                  <a:lnTo>
                    <a:pt x="12278360" y="5532120"/>
                  </a:lnTo>
                  <a:lnTo>
                    <a:pt x="0" y="553212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47625"/>
              <a:ext cx="12278360" cy="5579745"/>
            </a:xfrm>
            <a:prstGeom prst="rect">
              <a:avLst/>
            </a:prstGeom>
          </p:spPr>
          <p:txBody>
            <a:bodyPr anchor="t" rtlCol="false" tIns="50800" lIns="50800" bIns="50800" rIns="50800"/>
            <a:lstStyle/>
            <a:p>
              <a:pPr algn="l">
                <a:lnSpc>
                  <a:spcPts val="1492"/>
                </a:lnSpc>
              </a:pPr>
              <a:r>
                <a:rPr lang="en-US" sz="1243">
                  <a:solidFill>
                    <a:srgbClr val="4F81BD"/>
                  </a:solidFill>
                  <a:latin typeface="Calibri (MS)"/>
                  <a:ea typeface="Calibri (MS)"/>
                  <a:cs typeface="Calibri (MS)"/>
                  <a:sym typeface="Calibri (MS)"/>
                </a:rPr>
                <a:t>package ec.edu.monster.controladores.rest;</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import ec.edu.monster.controladores.manejadoresws.ManejadorConversion;</a:t>
              </a:r>
            </a:p>
            <a:p>
              <a:pPr algn="l">
                <a:lnSpc>
                  <a:spcPts val="1492"/>
                </a:lnSpc>
              </a:pPr>
              <a:r>
                <a:rPr lang="en-US" sz="1243">
                  <a:solidFill>
                    <a:srgbClr val="4F81BD"/>
                  </a:solidFill>
                  <a:latin typeface="Calibri (MS)"/>
                  <a:ea typeface="Calibri (MS)"/>
                  <a:cs typeface="Calibri (MS)"/>
                  <a:sym typeface="Calibri (MS)"/>
                </a:rPr>
                <a:t>import ec.edu.monster.modelos.utilidades.RespuestaServicio;</a:t>
              </a:r>
            </a:p>
            <a:p>
              <a:pPr algn="l">
                <a:lnSpc>
                  <a:spcPts val="1492"/>
                </a:lnSpc>
              </a:pPr>
              <a:r>
                <a:rPr lang="en-US" sz="1243">
                  <a:solidFill>
                    <a:srgbClr val="4F81BD"/>
                  </a:solidFill>
                  <a:latin typeface="Calibri (MS)"/>
                  <a:ea typeface="Calibri (MS)"/>
                  <a:cs typeface="Calibri (MS)"/>
                  <a:sym typeface="Calibri (MS)"/>
                </a:rPr>
                <a:t>import ec.edu.monster.modelos.utilidades.enums.CodigoResultado;</a:t>
              </a:r>
            </a:p>
            <a:p>
              <a:pPr algn="l">
                <a:lnSpc>
                  <a:spcPts val="1492"/>
                </a:lnSpc>
              </a:pPr>
              <a:r>
                <a:rPr lang="en-US" sz="1243">
                  <a:solidFill>
                    <a:srgbClr val="4F81BD"/>
                  </a:solidFill>
                  <a:latin typeface="Calibri (MS)"/>
                  <a:ea typeface="Calibri (MS)"/>
                  <a:cs typeface="Calibri (MS)"/>
                  <a:sym typeface="Calibri (MS)"/>
                </a:rPr>
                <a:t>import ec.edu.monster.modelos.utilidades.mapeadores.RespuestaMapeador;</a:t>
              </a:r>
            </a:p>
            <a:p>
              <a:pPr algn="l">
                <a:lnSpc>
                  <a:spcPts val="1492"/>
                </a:lnSpc>
              </a:pPr>
              <a:r>
                <a:rPr lang="en-US" sz="1243">
                  <a:solidFill>
                    <a:srgbClr val="4F81BD"/>
                  </a:solidFill>
                  <a:latin typeface="Calibri (MS)"/>
                  <a:ea typeface="Calibri (MS)"/>
                  <a:cs typeface="Calibri (MS)"/>
                  <a:sym typeface="Calibri (MS)"/>
                </a:rPr>
                <a:t>import jakarta.ws.rs.Consumes;</a:t>
              </a:r>
            </a:p>
            <a:p>
              <a:pPr algn="l">
                <a:lnSpc>
                  <a:spcPts val="1492"/>
                </a:lnSpc>
              </a:pPr>
              <a:r>
                <a:rPr lang="en-US" sz="1243">
                  <a:solidFill>
                    <a:srgbClr val="4F81BD"/>
                  </a:solidFill>
                  <a:latin typeface="Calibri (MS)"/>
                  <a:ea typeface="Calibri (MS)"/>
                  <a:cs typeface="Calibri (MS)"/>
                  <a:sym typeface="Calibri (MS)"/>
                </a:rPr>
                <a:t>import jakarta.ws.rs.HeaderParam;</a:t>
              </a:r>
            </a:p>
            <a:p>
              <a:pPr algn="l">
                <a:lnSpc>
                  <a:spcPts val="1492"/>
                </a:lnSpc>
              </a:pPr>
              <a:r>
                <a:rPr lang="en-US" sz="1243">
                  <a:solidFill>
                    <a:srgbClr val="4F81BD"/>
                  </a:solidFill>
                  <a:latin typeface="Calibri (MS)"/>
                  <a:ea typeface="Calibri (MS)"/>
                  <a:cs typeface="Calibri (MS)"/>
                  <a:sym typeface="Calibri (MS)"/>
                </a:rPr>
                <a:t>import jakarta.ws.rs.POST;</a:t>
              </a:r>
            </a:p>
            <a:p>
              <a:pPr algn="l">
                <a:lnSpc>
                  <a:spcPts val="1492"/>
                </a:lnSpc>
              </a:pPr>
              <a:r>
                <a:rPr lang="en-US" sz="1243">
                  <a:solidFill>
                    <a:srgbClr val="4F81BD"/>
                  </a:solidFill>
                  <a:latin typeface="Calibri (MS)"/>
                  <a:ea typeface="Calibri (MS)"/>
                  <a:cs typeface="Calibri (MS)"/>
                  <a:sym typeface="Calibri (MS)"/>
                </a:rPr>
                <a:t>import jakarta.ws.rs.Path;</a:t>
              </a:r>
            </a:p>
            <a:p>
              <a:pPr algn="l">
                <a:lnSpc>
                  <a:spcPts val="1492"/>
                </a:lnSpc>
              </a:pPr>
              <a:r>
                <a:rPr lang="en-US" sz="1243">
                  <a:solidFill>
                    <a:srgbClr val="4F81BD"/>
                  </a:solidFill>
                  <a:latin typeface="Calibri (MS)"/>
                  <a:ea typeface="Calibri (MS)"/>
                  <a:cs typeface="Calibri (MS)"/>
                  <a:sym typeface="Calibri (MS)"/>
                </a:rPr>
                <a:t>import jakarta.ws.rs.PathParam;</a:t>
              </a:r>
            </a:p>
            <a:p>
              <a:pPr algn="l">
                <a:lnSpc>
                  <a:spcPts val="1492"/>
                </a:lnSpc>
              </a:pPr>
              <a:r>
                <a:rPr lang="en-US" sz="1243">
                  <a:solidFill>
                    <a:srgbClr val="4F81BD"/>
                  </a:solidFill>
                  <a:latin typeface="Calibri (MS)"/>
                  <a:ea typeface="Calibri (MS)"/>
                  <a:cs typeface="Calibri (MS)"/>
                  <a:sym typeface="Calibri (MS)"/>
                </a:rPr>
                <a:t>import jakarta.ws.rs.Produces;</a:t>
              </a:r>
            </a:p>
            <a:p>
              <a:pPr algn="l">
                <a:lnSpc>
                  <a:spcPts val="1492"/>
                </a:lnSpc>
              </a:pPr>
              <a:r>
                <a:rPr lang="en-US" sz="1243">
                  <a:solidFill>
                    <a:srgbClr val="4F81BD"/>
                  </a:solidFill>
                  <a:latin typeface="Calibri (MS)"/>
                  <a:ea typeface="Calibri (MS)"/>
                  <a:cs typeface="Calibri (MS)"/>
                  <a:sym typeface="Calibri (MS)"/>
                </a:rPr>
                <a:t>import jakarta.ws.rs.core.MediaType;</a:t>
              </a:r>
            </a:p>
            <a:p>
              <a:pPr algn="l">
                <a:lnSpc>
                  <a:spcPts val="1492"/>
                </a:lnSpc>
              </a:pPr>
              <a:r>
                <a:rPr lang="en-US" sz="1243">
                  <a:solidFill>
                    <a:srgbClr val="4F81BD"/>
                  </a:solidFill>
                  <a:latin typeface="Calibri (MS)"/>
                  <a:ea typeface="Calibri (MS)"/>
                  <a:cs typeface="Calibri (MS)"/>
                  <a:sym typeface="Calibri (MS)"/>
                </a:rPr>
                <a:t>import jakarta.ws.rs.core.Response;</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@Path("conversiones")</a:t>
              </a:r>
            </a:p>
            <a:p>
              <a:pPr algn="l">
                <a:lnSpc>
                  <a:spcPts val="1492"/>
                </a:lnSpc>
              </a:pPr>
              <a:r>
                <a:rPr lang="en-US" sz="1243">
                  <a:solidFill>
                    <a:srgbClr val="4F81BD"/>
                  </a:solidFill>
                  <a:latin typeface="Calibri (MS)"/>
                  <a:ea typeface="Calibri (MS)"/>
                  <a:cs typeface="Calibri (MS)"/>
                  <a:sym typeface="Calibri (MS)"/>
                </a:rPr>
                <a:t>@Consumes(MediaType.APPLICATION_JSON)</a:t>
              </a:r>
            </a:p>
            <a:p>
              <a:pPr algn="l">
                <a:lnSpc>
                  <a:spcPts val="1492"/>
                </a:lnSpc>
              </a:pPr>
              <a:r>
                <a:rPr lang="en-US" sz="1243">
                  <a:solidFill>
                    <a:srgbClr val="4F81BD"/>
                  </a:solidFill>
                  <a:latin typeface="Calibri (MS)"/>
                  <a:ea typeface="Calibri (MS)"/>
                  <a:cs typeface="Calibri (MS)"/>
                  <a:sym typeface="Calibri (MS)"/>
                </a:rPr>
                <a:t>@Produces(MediaType.APPLICATION_JSON)</a:t>
              </a:r>
            </a:p>
            <a:p>
              <a:pPr algn="l">
                <a:lnSpc>
                  <a:spcPts val="1492"/>
                </a:lnSpc>
              </a:pPr>
              <a:r>
                <a:rPr lang="en-US" sz="1243">
                  <a:solidFill>
                    <a:srgbClr val="4F81BD"/>
                  </a:solidFill>
                  <a:latin typeface="Calibri (MS)"/>
                  <a:ea typeface="Calibri (MS)"/>
                  <a:cs typeface="Calibri (MS)"/>
                  <a:sym typeface="Calibri (MS)"/>
                </a:rPr>
                <a:t>public class ConversionResource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private final ManejadorConversion manejador = new ManejadorConversion();</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@POST</a:t>
              </a:r>
            </a:p>
            <a:p>
              <a:pPr algn="l">
                <a:lnSpc>
                  <a:spcPts val="1492"/>
                </a:lnSpc>
              </a:pPr>
              <a:r>
                <a:rPr lang="en-US" sz="1243">
                  <a:solidFill>
                    <a:srgbClr val="4F81BD"/>
                  </a:solidFill>
                  <a:latin typeface="Calibri (MS)"/>
                  <a:ea typeface="Calibri (MS)"/>
                  <a:cs typeface="Calibri (MS)"/>
                  <a:sym typeface="Calibri (MS)"/>
                </a:rPr>
                <a:t>    @Path("{categoria}")</a:t>
              </a:r>
            </a:p>
            <a:p>
              <a:pPr algn="l">
                <a:lnSpc>
                  <a:spcPts val="1492"/>
                </a:lnSpc>
              </a:pPr>
              <a:r>
                <a:rPr lang="en-US" sz="1243">
                  <a:solidFill>
                    <a:srgbClr val="4F81BD"/>
                  </a:solidFill>
                  <a:latin typeface="Calibri (MS)"/>
                  <a:ea typeface="Calibri (MS)"/>
                  <a:cs typeface="Calibri (MS)"/>
                  <a:sym typeface="Calibri (MS)"/>
                </a:rPr>
                <a:t>    public Response convertir(</a:t>
              </a:r>
            </a:p>
            <a:p>
              <a:pPr algn="l">
                <a:lnSpc>
                  <a:spcPts val="1492"/>
                </a:lnSpc>
              </a:pPr>
              <a:r>
                <a:rPr lang="en-US" sz="1243">
                  <a:solidFill>
                    <a:srgbClr val="4F81BD"/>
                  </a:solidFill>
                  <a:latin typeface="Calibri (MS)"/>
                  <a:ea typeface="Calibri (MS)"/>
                  <a:cs typeface="Calibri (MS)"/>
                  <a:sym typeface="Calibri (MS)"/>
                </a:rPr>
                <a:t>            @PathParam("categoria") String categoria,</a:t>
              </a:r>
            </a:p>
            <a:p>
              <a:pPr algn="l">
                <a:lnSpc>
                  <a:spcPts val="1492"/>
                </a:lnSpc>
              </a:pPr>
              <a:r>
                <a:rPr lang="en-US" sz="1243">
                  <a:solidFill>
                    <a:srgbClr val="4F81BD"/>
                  </a:solidFill>
                  <a:latin typeface="Calibri (MS)"/>
                  <a:ea typeface="Calibri (MS)"/>
                  <a:cs typeface="Calibri (MS)"/>
                  <a:sym typeface="Calibri (MS)"/>
                </a:rPr>
                <a:t>            SolicitudConversion solicitud,</a:t>
              </a:r>
            </a:p>
            <a:p>
              <a:pPr algn="l">
                <a:lnSpc>
                  <a:spcPts val="1492"/>
                </a:lnSpc>
              </a:pPr>
              <a:r>
                <a:rPr lang="en-US" sz="1243">
                  <a:solidFill>
                    <a:srgbClr val="4F81BD"/>
                  </a:solidFill>
                  <a:latin typeface="Calibri (MS)"/>
                  <a:ea typeface="Calibri (MS)"/>
                  <a:cs typeface="Calibri (MS)"/>
                  <a:sym typeface="Calibri (MS)"/>
                </a:rPr>
                <a:t>            @HeaderParam("Authorization") String authorization) {</a:t>
              </a:r>
            </a:p>
            <a:p>
              <a:pPr algn="l">
                <a:lnSpc>
                  <a:spcPts val="1492"/>
                </a:lnSpc>
              </a:pPr>
              <a:r>
                <a:rPr lang="en-US" sz="1243">
                  <a:solidFill>
                    <a:srgbClr val="4F81BD"/>
                  </a:solidFill>
                  <a:latin typeface="Calibri (MS)"/>
                  <a:ea typeface="Calibri (MS)"/>
                  <a:cs typeface="Calibri (MS)"/>
                  <a:sym typeface="Calibri (MS)"/>
                </a:rPr>
                <a:t>        if (solicitud == null || solicitud.getValor() == null) {</a:t>
              </a:r>
            </a:p>
            <a:p>
              <a:pPr algn="l">
                <a:lnSpc>
                  <a:spcPts val="1492"/>
                </a:lnSpc>
              </a:pPr>
              <a:r>
                <a:rPr lang="en-US" sz="1243">
                  <a:solidFill>
                    <a:srgbClr val="4F81BD"/>
                  </a:solidFill>
                  <a:latin typeface="Calibri (MS)"/>
                  <a:ea typeface="Calibri (MS)"/>
                  <a:cs typeface="Calibri (MS)"/>
                  <a:sym typeface="Calibri (MS)"/>
                </a:rPr>
                <a:t>            RespuestaServicio error = RespuestaMapeador.error(</a:t>
              </a:r>
            </a:p>
            <a:p>
              <a:pPr algn="l">
                <a:lnSpc>
                  <a:spcPts val="1492"/>
                </a:lnSpc>
              </a:pPr>
              <a:r>
                <a:rPr lang="en-US" sz="1243">
                  <a:solidFill>
                    <a:srgbClr val="4F81BD"/>
                  </a:solidFill>
                  <a:latin typeface="Calibri (MS)"/>
                  <a:ea typeface="Calibri (MS)"/>
                  <a:cs typeface="Calibri (MS)"/>
                  <a:sym typeface="Calibri (MS)"/>
                </a:rPr>
                <a:t>                    CodigoResultado.DATOS_INCONSISTENTES, "El valor es obligatorio y debe ser numérico");</a:t>
              </a:r>
            </a:p>
            <a:p>
              <a:pPr algn="l">
                <a:lnSpc>
                  <a:spcPts val="1492"/>
                </a:lnSpc>
              </a:pPr>
              <a:r>
                <a:rPr lang="en-US" sz="1243">
                  <a:solidFill>
                    <a:srgbClr val="4F81BD"/>
                  </a:solidFill>
                  <a:latin typeface="Calibri (MS)"/>
                  <a:ea typeface="Calibri (MS)"/>
                  <a:cs typeface="Calibri (MS)"/>
                  <a:sym typeface="Calibri (MS)"/>
                </a:rPr>
                <a:t>            return RespuestaHttp.desde(error);</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return RespuestaHttp.desde(manejador.convertir(</a:t>
              </a:r>
            </a:p>
            <a:p>
              <a:pPr algn="l">
                <a:lnSpc>
                  <a:spcPts val="1492"/>
                </a:lnSpc>
              </a:pPr>
              <a:r>
                <a:rPr lang="en-US" sz="1243">
                  <a:solidFill>
                    <a:srgbClr val="4F81BD"/>
                  </a:solidFill>
                  <a:latin typeface="Calibri (MS)"/>
                  <a:ea typeface="Calibri (MS)"/>
                  <a:cs typeface="Calibri (MS)"/>
                  <a:sym typeface="Calibri (MS)"/>
                </a:rPr>
                <a:t>                categoria,</a:t>
              </a:r>
            </a:p>
            <a:p>
              <a:pPr algn="l">
                <a:lnSpc>
                  <a:spcPts val="1492"/>
                </a:lnSpc>
              </a:pPr>
              <a:r>
                <a:rPr lang="en-US" sz="1243">
                  <a:solidFill>
                    <a:srgbClr val="4F81BD"/>
                  </a:solidFill>
                  <a:latin typeface="Calibri (MS)"/>
                  <a:ea typeface="Calibri (MS)"/>
                  <a:cs typeface="Calibri (MS)"/>
                  <a:sym typeface="Calibri (MS)"/>
                </a:rPr>
                <a:t>                solicitud.getValor(),</a:t>
              </a:r>
            </a:p>
            <a:p>
              <a:pPr algn="l">
                <a:lnSpc>
                  <a:spcPts val="1492"/>
                </a:lnSpc>
              </a:pPr>
              <a:r>
                <a:rPr lang="en-US" sz="1243">
                  <a:solidFill>
                    <a:srgbClr val="4F81BD"/>
                  </a:solidFill>
                  <a:latin typeface="Calibri (MS)"/>
                  <a:ea typeface="Calibri (MS)"/>
                  <a:cs typeface="Calibri (MS)"/>
                  <a:sym typeface="Calibri (MS)"/>
                </a:rPr>
                <a:t>                solicitud.getUnidadOrigen(),</a:t>
              </a:r>
            </a:p>
            <a:p>
              <a:pPr algn="l">
                <a:lnSpc>
                  <a:spcPts val="1492"/>
                </a:lnSpc>
              </a:pPr>
              <a:r>
                <a:rPr lang="en-US" sz="1243">
                  <a:solidFill>
                    <a:srgbClr val="4F81BD"/>
                  </a:solidFill>
                  <a:latin typeface="Calibri (MS)"/>
                  <a:ea typeface="Calibri (MS)"/>
                  <a:cs typeface="Calibri (MS)"/>
                  <a:sym typeface="Calibri (MS)"/>
                </a:rPr>
                <a:t>                solicitud.getUnidadDestino(),</a:t>
              </a:r>
            </a:p>
            <a:p>
              <a:pPr algn="l">
                <a:lnSpc>
                  <a:spcPts val="1492"/>
                </a:lnSpc>
              </a:pPr>
              <a:r>
                <a:rPr lang="en-US" sz="1243">
                  <a:solidFill>
                    <a:srgbClr val="4F81BD"/>
                  </a:solidFill>
                  <a:latin typeface="Calibri (MS)"/>
                  <a:ea typeface="Calibri (MS)"/>
                  <a:cs typeface="Calibri (MS)"/>
                  <a:sym typeface="Calibri (MS)"/>
                </a:rPr>
                <a:t>                AutorizacionHttp.extraerToken(authorization)));</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6224778" y="3542365"/>
            <a:ext cx="7355420" cy="5592326"/>
          </a:xfrm>
          <a:custGeom>
            <a:avLst/>
            <a:gdLst/>
            <a:ahLst/>
            <a:cxnLst/>
            <a:rect r="r" b="b" t="t" l="l"/>
            <a:pathLst>
              <a:path h="5592326" w="7355420">
                <a:moveTo>
                  <a:pt x="0" y="0"/>
                </a:moveTo>
                <a:lnTo>
                  <a:pt x="7355420" y="0"/>
                </a:lnTo>
                <a:lnTo>
                  <a:pt x="7355420" y="5592325"/>
                </a:lnTo>
                <a:lnTo>
                  <a:pt x="0" y="5592325"/>
                </a:lnTo>
                <a:lnTo>
                  <a:pt x="0" y="0"/>
                </a:lnTo>
                <a:close/>
              </a:path>
            </a:pathLst>
          </a:custGeom>
          <a:blipFill>
            <a:blip r:embed="rId3"/>
            <a:stretch>
              <a:fillRect l="0" t="-11081" r="-60694" b="0"/>
            </a:stretch>
          </a:blipFill>
        </p:spPr>
        <p:txBody>
          <a:bodyPr/>
          <a:p/>
        </p:txBody>
      </p:sp>
      <p:sp>
        <p:nvSpPr>
          <p:cNvPr name="TextBox 17" id="17"/>
          <p:cNvSpPr txBox="true"/>
          <p:nvPr/>
        </p:nvSpPr>
        <p:spPr>
          <a:xfrm rot="0">
            <a:off x="669798" y="3014933"/>
            <a:ext cx="5164998" cy="6609089"/>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1.2.4 	Autenticación</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Las clases de la capa seguridad validan las credenciales y administran los tokens: ServicioAutenticacion (usuario monster, clave monster9 en memoria) y GestorTokens (UUID con vigencia de 30 minutos).</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Los manejadores (controladores.manejadoresws) orquestan el login, el catálogo y las conversiones validando siempre el token primero.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ServicioAutenticacion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Autentica contra las credenciales de la aplicación y entrega el token.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ec.edu.monster.seguridad;</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ec.edu.monster.modelos.utilidades.RespuestaServicio;</a:t>
              </a:r>
            </a:p>
            <a:p>
              <a:pPr algn="l">
                <a:lnSpc>
                  <a:spcPts val="1800"/>
                </a:lnSpc>
              </a:pPr>
              <a:r>
                <a:rPr lang="en-US" sz="1500">
                  <a:solidFill>
                    <a:srgbClr val="4F81BD"/>
                  </a:solidFill>
                  <a:latin typeface="Calibri (MS)"/>
                  <a:ea typeface="Calibri (MS)"/>
                  <a:cs typeface="Calibri (MS)"/>
                  <a:sym typeface="Calibri (MS)"/>
                </a:rPr>
                <a:t>import ec.edu.monster.modelos.utilidades.enums.CodigoResultado;</a:t>
              </a:r>
            </a:p>
            <a:p>
              <a:pPr algn="l">
                <a:lnSpc>
                  <a:spcPts val="1800"/>
                </a:lnSpc>
              </a:pPr>
              <a:r>
                <a:rPr lang="en-US" sz="1500">
                  <a:solidFill>
                    <a:srgbClr val="4F81BD"/>
                  </a:solidFill>
                  <a:latin typeface="Calibri (MS)"/>
                  <a:ea typeface="Calibri (MS)"/>
                  <a:cs typeface="Calibri (MS)"/>
                  <a:sym typeface="Calibri (MS)"/>
                </a:rPr>
                <a:t>import ec.edu.monster.modelos.utilidades.mapeadores.RespuestaMapeador;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CU-01: Autenticarse. Un unico usuario, con credenciales en memoria. */</a:t>
              </a:r>
            </a:p>
            <a:p>
              <a:pPr algn="l">
                <a:lnSpc>
                  <a:spcPts val="1800"/>
                </a:lnSpc>
              </a:pPr>
              <a:r>
                <a:rPr lang="en-US" sz="1500">
                  <a:solidFill>
                    <a:srgbClr val="4F81BD"/>
                  </a:solidFill>
                  <a:latin typeface="Calibri (MS)"/>
                  <a:ea typeface="Calibri (MS)"/>
                  <a:cs typeface="Calibri (MS)"/>
                  <a:sym typeface="Calibri (MS)"/>
                </a:rPr>
                <a:t>public final class ServicioAutenticacion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String USUARIO = "monster";</a:t>
              </a:r>
            </a:p>
            <a:p>
              <a:pPr algn="l">
                <a:lnSpc>
                  <a:spcPts val="1800"/>
                </a:lnSpc>
              </a:pPr>
              <a:r>
                <a:rPr lang="en-US" sz="1500">
                  <a:solidFill>
                    <a:srgbClr val="4F81BD"/>
                  </a:solidFill>
                  <a:latin typeface="Calibri (MS)"/>
                  <a:ea typeface="Calibri (MS)"/>
                  <a:cs typeface="Calibri (MS)"/>
                  <a:sym typeface="Calibri (MS)"/>
                </a:rPr>
                <a:t>    private static final String CLAVE = "monster9";</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ServicioAutenticacion()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RespuestaServicio autenticar(String usuario, String clave) {</a:t>
              </a:r>
            </a:p>
            <a:p>
              <a:pPr algn="l">
                <a:lnSpc>
                  <a:spcPts val="1800"/>
                </a:lnSpc>
              </a:pPr>
              <a:r>
                <a:rPr lang="en-US" sz="1500">
                  <a:solidFill>
                    <a:srgbClr val="4F81BD"/>
                  </a:solidFill>
                  <a:latin typeface="Calibri (MS)"/>
                  <a:ea typeface="Calibri (MS)"/>
                  <a:cs typeface="Calibri (MS)"/>
                  <a:sym typeface="Calibri (MS)"/>
                </a:rPr>
                <a:t>        if (usuario == null || usuario.isBlank() || clave == null || clave.isBlank()) {</a:t>
              </a:r>
            </a:p>
            <a:p>
              <a:pPr algn="l">
                <a:lnSpc>
                  <a:spcPts val="1800"/>
                </a:lnSpc>
              </a:pPr>
              <a:r>
                <a:rPr lang="en-US" sz="1500">
                  <a:solidFill>
                    <a:srgbClr val="4F81BD"/>
                  </a:solidFill>
                  <a:latin typeface="Calibri (MS)"/>
                  <a:ea typeface="Calibri (MS)"/>
                  <a:cs typeface="Calibri (MS)"/>
                  <a:sym typeface="Calibri (MS)"/>
                </a:rPr>
                <a:t>            return RespuestaMapeador.error(CodigoResultado.DATOS_INCONSISTENTES, "Usuario y clave son obligatorios");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if (USUARIO.equals(usuario.trim()) &amp;&amp; CLAVE.equals(clave)) {</a:t>
              </a:r>
            </a:p>
            <a:p>
              <a:pPr algn="l">
                <a:lnSpc>
                  <a:spcPts val="1800"/>
                </a:lnSpc>
              </a:pPr>
              <a:r>
                <a:rPr lang="en-US" sz="1500">
                  <a:solidFill>
                    <a:srgbClr val="4F81BD"/>
                  </a:solidFill>
                  <a:latin typeface="Calibri (MS)"/>
                  <a:ea typeface="Calibri (MS)"/>
                  <a:cs typeface="Calibri (MS)"/>
                  <a:sym typeface="Calibri (MS)"/>
                </a:rPr>
                <a:t>            return RespuestaMapeador.exitoLogin(GestorTokens.generarToken());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RespuestaMapeador.error(CodigoResultado.CREDENCIALES_INCORRECTAS, "Usuario o clave incorrectos");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GestorTokens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Tokens activos en memoria: generar, validar y detectar la expiración (AUTH-001 / AUTH-002).</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654"/>
                </a:lnSpc>
              </a:pPr>
              <a:r>
                <a:rPr lang="en-US" sz="1378">
                  <a:solidFill>
                    <a:srgbClr val="4F81BD"/>
                  </a:solidFill>
                  <a:latin typeface="Calibri (MS)"/>
                  <a:ea typeface="Calibri (MS)"/>
                  <a:cs typeface="Calibri (MS)"/>
                  <a:sym typeface="Calibri (MS)"/>
                </a:rPr>
                <a:t>package ec.edu.monster.seguridad;</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import ec.edu.monster.modelos.utilidades.RespuestaServicio;</a:t>
              </a:r>
            </a:p>
            <a:p>
              <a:pPr algn="l">
                <a:lnSpc>
                  <a:spcPts val="1654"/>
                </a:lnSpc>
              </a:pPr>
              <a:r>
                <a:rPr lang="en-US" sz="1378">
                  <a:solidFill>
                    <a:srgbClr val="4F81BD"/>
                  </a:solidFill>
                  <a:latin typeface="Calibri (MS)"/>
                  <a:ea typeface="Calibri (MS)"/>
                  <a:cs typeface="Calibri (MS)"/>
                  <a:sym typeface="Calibri (MS)"/>
                </a:rPr>
                <a:t>import ec.edu.monster.modelos.utilidades.enums.CodigoResultado;</a:t>
              </a:r>
            </a:p>
            <a:p>
              <a:pPr algn="l">
                <a:lnSpc>
                  <a:spcPts val="1654"/>
                </a:lnSpc>
              </a:pPr>
              <a:r>
                <a:rPr lang="en-US" sz="1378">
                  <a:solidFill>
                    <a:srgbClr val="4F81BD"/>
                  </a:solidFill>
                  <a:latin typeface="Calibri (MS)"/>
                  <a:ea typeface="Calibri (MS)"/>
                  <a:cs typeface="Calibri (MS)"/>
                  <a:sym typeface="Calibri (MS)"/>
                </a:rPr>
                <a:t>import ec.edu.monster.modelos.utilidades.mapeadores.RespuestaMapeador;</a:t>
              </a:r>
            </a:p>
            <a:p>
              <a:pPr algn="l">
                <a:lnSpc>
                  <a:spcPts val="1654"/>
                </a:lnSpc>
              </a:pPr>
              <a:r>
                <a:rPr lang="en-US" sz="1378">
                  <a:solidFill>
                    <a:srgbClr val="4F81BD"/>
                  </a:solidFill>
                  <a:latin typeface="Calibri (MS)"/>
                  <a:ea typeface="Calibri (MS)"/>
                  <a:cs typeface="Calibri (MS)"/>
                  <a:sym typeface="Calibri (MS)"/>
                </a:rPr>
                <a:t>import java.util.Map;</a:t>
              </a:r>
            </a:p>
            <a:p>
              <a:pPr algn="l">
                <a:lnSpc>
                  <a:spcPts val="1654"/>
                </a:lnSpc>
              </a:pPr>
              <a:r>
                <a:rPr lang="en-US" sz="1378">
                  <a:solidFill>
                    <a:srgbClr val="4F81BD"/>
                  </a:solidFill>
                  <a:latin typeface="Calibri (MS)"/>
                  <a:ea typeface="Calibri (MS)"/>
                  <a:cs typeface="Calibri (MS)"/>
                  <a:sym typeface="Calibri (MS)"/>
                </a:rPr>
                <a:t>import java.util.UUID;</a:t>
              </a:r>
            </a:p>
            <a:p>
              <a:pPr algn="l">
                <a:lnSpc>
                  <a:spcPts val="1654"/>
                </a:lnSpc>
              </a:pPr>
              <a:r>
                <a:rPr lang="en-US" sz="1378">
                  <a:solidFill>
                    <a:srgbClr val="4F81BD"/>
                  </a:solidFill>
                  <a:latin typeface="Calibri (MS)"/>
                  <a:ea typeface="Calibri (MS)"/>
                  <a:cs typeface="Calibri (MS)"/>
                  <a:sym typeface="Calibri (MS)"/>
                </a:rPr>
                <a:t>import java.util.concurrent.ConcurrentHashMap;</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a:t>
              </a:r>
            </a:p>
            <a:p>
              <a:pPr algn="l">
                <a:lnSpc>
                  <a:spcPts val="1654"/>
                </a:lnSpc>
              </a:pPr>
              <a:r>
                <a:rPr lang="en-US" sz="1378">
                  <a:solidFill>
                    <a:srgbClr val="4F81BD"/>
                  </a:solidFill>
                  <a:latin typeface="Calibri (MS)"/>
                  <a:ea typeface="Calibri (MS)"/>
                  <a:cs typeface="Calibri (MS)"/>
                  <a:sym typeface="Calibri (MS)"/>
                </a:rPr>
                <a:t> * Tokens activos en memoria (sin base de datos). Cubre CU-05 (validar token),</a:t>
              </a:r>
            </a:p>
            <a:p>
              <a:pPr algn="l">
                <a:lnSpc>
                  <a:spcPts val="1654"/>
                </a:lnSpc>
              </a:pPr>
              <a:r>
                <a:rPr lang="en-US" sz="1378">
                  <a:solidFill>
                    <a:srgbClr val="4F81BD"/>
                  </a:solidFill>
                  <a:latin typeface="Calibri (MS)"/>
                  <a:ea typeface="Calibri (MS)"/>
                  <a:cs typeface="Calibri (MS)"/>
                  <a:sym typeface="Calibri (MS)"/>
                </a:rPr>
                <a:t> * CU-08 (token invalido) y CU-09 (sesion expirada).</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 La vigencia por defecto es de 30 minutos y se puede cambiar con la propiedad</a:t>
              </a:r>
            </a:p>
            <a:p>
              <a:pPr algn="l">
                <a:lnSpc>
                  <a:spcPts val="1654"/>
                </a:lnSpc>
              </a:pPr>
              <a:r>
                <a:rPr lang="en-US" sz="1378">
                  <a:solidFill>
                    <a:srgbClr val="4F81BD"/>
                  </a:solidFill>
                  <a:latin typeface="Calibri (MS)"/>
                  <a:ea typeface="Calibri (MS)"/>
                  <a:cs typeface="Calibri (MS)"/>
                  <a:sym typeface="Calibri (MS)"/>
                </a:rPr>
                <a:t> * del sistema "conuni.token.minutos" (acepta decimales, por ejemplo 0.01).</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public final class GestorTokens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private static final Map&lt;String, Long&gt; ACTIVOS = new ConcurrentHashMap&lt;&gt;();</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private GestorTokens()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private static long vigenciaMs() {</a:t>
              </a:r>
            </a:p>
            <a:p>
              <a:pPr algn="l">
                <a:lnSpc>
                  <a:spcPts val="1654"/>
                </a:lnSpc>
              </a:pPr>
              <a:r>
                <a:rPr lang="en-US" sz="1378">
                  <a:solidFill>
                    <a:srgbClr val="4F81BD"/>
                  </a:solidFill>
                  <a:latin typeface="Calibri (MS)"/>
                  <a:ea typeface="Calibri (MS)"/>
                  <a:cs typeface="Calibri (MS)"/>
                  <a:sym typeface="Calibri (MS)"/>
                </a:rPr>
                <a:t>        String valor = System.getProperty("conuni.token.minutos", "30");</a:t>
              </a:r>
            </a:p>
            <a:p>
              <a:pPr algn="l">
                <a:lnSpc>
                  <a:spcPts val="1654"/>
                </a:lnSpc>
              </a:pPr>
              <a:r>
                <a:rPr lang="en-US" sz="1378">
                  <a:solidFill>
                    <a:srgbClr val="4F81BD"/>
                  </a:solidFill>
                  <a:latin typeface="Calibri (MS)"/>
                  <a:ea typeface="Calibri (MS)"/>
                  <a:cs typeface="Calibri (MS)"/>
                  <a:sym typeface="Calibri (MS)"/>
                </a:rPr>
                <a:t>        try {</a:t>
              </a:r>
            </a:p>
            <a:p>
              <a:pPr algn="l">
                <a:lnSpc>
                  <a:spcPts val="1654"/>
                </a:lnSpc>
              </a:pPr>
              <a:r>
                <a:rPr lang="en-US" sz="1378">
                  <a:solidFill>
                    <a:srgbClr val="4F81BD"/>
                  </a:solidFill>
                  <a:latin typeface="Calibri (MS)"/>
                  <a:ea typeface="Calibri (MS)"/>
                  <a:cs typeface="Calibri (MS)"/>
                  <a:sym typeface="Calibri (MS)"/>
                </a:rPr>
                <a:t>            return (long) (Double.parseDouble(valor) * 60_000L);</a:t>
              </a:r>
            </a:p>
            <a:p>
              <a:pPr algn="l">
                <a:lnSpc>
                  <a:spcPts val="1654"/>
                </a:lnSpc>
              </a:pPr>
              <a:r>
                <a:rPr lang="en-US" sz="1378">
                  <a:solidFill>
                    <a:srgbClr val="4F81BD"/>
                  </a:solidFill>
                  <a:latin typeface="Calibri (MS)"/>
                  <a:ea typeface="Calibri (MS)"/>
                  <a:cs typeface="Calibri (MS)"/>
                  <a:sym typeface="Calibri (MS)"/>
                </a:rPr>
                <a:t>        } catch (NumberFormatException e) {</a:t>
              </a:r>
            </a:p>
            <a:p>
              <a:pPr algn="l">
                <a:lnSpc>
                  <a:spcPts val="1654"/>
                </a:lnSpc>
              </a:pPr>
              <a:r>
                <a:rPr lang="en-US" sz="1378">
                  <a:solidFill>
                    <a:srgbClr val="4F81BD"/>
                  </a:solidFill>
                  <a:latin typeface="Calibri (MS)"/>
                  <a:ea typeface="Calibri (MS)"/>
                  <a:cs typeface="Calibri (MS)"/>
                  <a:sym typeface="Calibri (MS)"/>
                </a:rPr>
                <a:t>            return 30L * 60_000L;</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 Genera un token unico y lo guarda con su fecha de expiracion. */</a:t>
              </a:r>
            </a:p>
            <a:p>
              <a:pPr algn="l">
                <a:lnSpc>
                  <a:spcPts val="1654"/>
                </a:lnSpc>
              </a:pPr>
              <a:r>
                <a:rPr lang="en-US" sz="1378">
                  <a:solidFill>
                    <a:srgbClr val="4F81BD"/>
                  </a:solidFill>
                  <a:latin typeface="Calibri (MS)"/>
                  <a:ea typeface="Calibri (MS)"/>
                  <a:cs typeface="Calibri (MS)"/>
                  <a:sym typeface="Calibri (MS)"/>
                </a:rPr>
                <a:t>    public static String generarToken() {</a:t>
              </a:r>
            </a:p>
            <a:p>
              <a:pPr algn="l">
                <a:lnSpc>
                  <a:spcPts val="1654"/>
                </a:lnSpc>
              </a:pPr>
              <a:r>
                <a:rPr lang="en-US" sz="1378">
                  <a:solidFill>
                    <a:srgbClr val="4F81BD"/>
                  </a:solidFill>
                  <a:latin typeface="Calibri (MS)"/>
                  <a:ea typeface="Calibri (MS)"/>
                  <a:cs typeface="Calibri (MS)"/>
                  <a:sym typeface="Calibri (MS)"/>
                </a:rPr>
                <a:t>        String token = UUID.randomUUID().toString();</a:t>
              </a:r>
            </a:p>
            <a:p>
              <a:pPr algn="l">
                <a:lnSpc>
                  <a:spcPts val="1654"/>
                </a:lnSpc>
              </a:pPr>
              <a:r>
                <a:rPr lang="en-US" sz="1378">
                  <a:solidFill>
                    <a:srgbClr val="4F81BD"/>
                  </a:solidFill>
                  <a:latin typeface="Calibri (MS)"/>
                  <a:ea typeface="Calibri (MS)"/>
                  <a:cs typeface="Calibri (MS)"/>
                  <a:sym typeface="Calibri (MS)"/>
                </a:rPr>
                <a:t>        ACTIVOS.put(token, System.currentTimeMillis() + vigenciaMs());</a:t>
              </a:r>
            </a:p>
            <a:p>
              <a:pPr algn="l">
                <a:lnSpc>
                  <a:spcPts val="1654"/>
                </a:lnSpc>
              </a:pPr>
              <a:r>
                <a:rPr lang="en-US" sz="1378">
                  <a:solidFill>
                    <a:srgbClr val="4F81BD"/>
                  </a:solidFill>
                  <a:latin typeface="Calibri (MS)"/>
                  <a:ea typeface="Calibri (MS)"/>
                  <a:cs typeface="Calibri (MS)"/>
                  <a:sym typeface="Calibri (MS)"/>
                </a:rPr>
                <a:t>        return token;</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GestorTokens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Tokens activos en memoria: generar, validar y detectar la expiración (AUTH-001 / AUTH-002).</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473190"/>
            <a:chOff x="0" y="0"/>
            <a:chExt cx="12278360" cy="8630920"/>
          </a:xfrm>
        </p:grpSpPr>
        <p:sp>
          <p:nvSpPr>
            <p:cNvPr name="Freeform 18" id="18"/>
            <p:cNvSpPr/>
            <p:nvPr/>
          </p:nvSpPr>
          <p:spPr>
            <a:xfrm flipH="false" flipV="false" rot="0">
              <a:off x="0" y="0"/>
              <a:ext cx="12278360" cy="8630920"/>
            </a:xfrm>
            <a:custGeom>
              <a:avLst/>
              <a:gdLst/>
              <a:ahLst/>
              <a:cxnLst/>
              <a:rect r="r" b="b" t="t" l="l"/>
              <a:pathLst>
                <a:path h="8630920" w="12278360">
                  <a:moveTo>
                    <a:pt x="0" y="0"/>
                  </a:moveTo>
                  <a:lnTo>
                    <a:pt x="12278360" y="0"/>
                  </a:lnTo>
                  <a:lnTo>
                    <a:pt x="12278360" y="8630920"/>
                  </a:lnTo>
                  <a:lnTo>
                    <a:pt x="0" y="863092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669020"/>
            </a:xfrm>
            <a:prstGeom prst="rect">
              <a:avLst/>
            </a:prstGeom>
          </p:spPr>
          <p:txBody>
            <a:bodyPr anchor="t" rtlCol="false" tIns="50800" lIns="50800" bIns="50800" rIns="50800"/>
            <a:lstStyle/>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 Valida un token.</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 @return null si es valido; TOKEN_INVALIDO (AUTH-001) si es nulo,</a:t>
              </a:r>
            </a:p>
            <a:p>
              <a:pPr algn="l">
                <a:lnSpc>
                  <a:spcPts val="1654"/>
                </a:lnSpc>
              </a:pPr>
              <a:r>
                <a:rPr lang="en-US" sz="1378">
                  <a:solidFill>
                    <a:srgbClr val="4F81BD"/>
                  </a:solidFill>
                  <a:latin typeface="Calibri (MS)"/>
                  <a:ea typeface="Calibri (MS)"/>
                  <a:cs typeface="Calibri (MS)"/>
                  <a:sym typeface="Calibri (MS)"/>
                </a:rPr>
                <a:t>     *         inexistente o alterado; SESION_EXPIRADA (AUTH-002) si existio</a:t>
              </a:r>
            </a:p>
            <a:p>
              <a:pPr algn="l">
                <a:lnSpc>
                  <a:spcPts val="1654"/>
                </a:lnSpc>
              </a:pPr>
              <a:r>
                <a:rPr lang="en-US" sz="1378">
                  <a:solidFill>
                    <a:srgbClr val="4F81BD"/>
                  </a:solidFill>
                  <a:latin typeface="Calibri (MS)"/>
                  <a:ea typeface="Calibri (MS)"/>
                  <a:cs typeface="Calibri (MS)"/>
                  <a:sym typeface="Calibri (MS)"/>
                </a:rPr>
                <a:t>     *         pero ya expiro (y lo elimina).</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public static CodigoResultado validar(String token) {</a:t>
              </a:r>
            </a:p>
            <a:p>
              <a:pPr algn="l">
                <a:lnSpc>
                  <a:spcPts val="1654"/>
                </a:lnSpc>
              </a:pPr>
              <a:r>
                <a:rPr lang="en-US" sz="1378">
                  <a:solidFill>
                    <a:srgbClr val="4F81BD"/>
                  </a:solidFill>
                  <a:latin typeface="Calibri (MS)"/>
                  <a:ea typeface="Calibri (MS)"/>
                  <a:cs typeface="Calibri (MS)"/>
                  <a:sym typeface="Calibri (MS)"/>
                </a:rPr>
                <a:t>        if (token == null || token.isBlank()) {</a:t>
              </a:r>
            </a:p>
            <a:p>
              <a:pPr algn="l">
                <a:lnSpc>
                  <a:spcPts val="1654"/>
                </a:lnSpc>
              </a:pPr>
              <a:r>
                <a:rPr lang="en-US" sz="1378">
                  <a:solidFill>
                    <a:srgbClr val="4F81BD"/>
                  </a:solidFill>
                  <a:latin typeface="Calibri (MS)"/>
                  <a:ea typeface="Calibri (MS)"/>
                  <a:cs typeface="Calibri (MS)"/>
                  <a:sym typeface="Calibri (MS)"/>
                </a:rPr>
                <a:t>            return CodigoResultado.TOKEN_INVALIDO;</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Long expira = ACTIVOS.get(token.trim());</a:t>
              </a:r>
            </a:p>
            <a:p>
              <a:pPr algn="l">
                <a:lnSpc>
                  <a:spcPts val="1654"/>
                </a:lnSpc>
              </a:pPr>
              <a:r>
                <a:rPr lang="en-US" sz="1378">
                  <a:solidFill>
                    <a:srgbClr val="4F81BD"/>
                  </a:solidFill>
                  <a:latin typeface="Calibri (MS)"/>
                  <a:ea typeface="Calibri (MS)"/>
                  <a:cs typeface="Calibri (MS)"/>
                  <a:sym typeface="Calibri (MS)"/>
                </a:rPr>
                <a:t>        if (expira == null) {</a:t>
              </a:r>
            </a:p>
            <a:p>
              <a:pPr algn="l">
                <a:lnSpc>
                  <a:spcPts val="1654"/>
                </a:lnSpc>
              </a:pPr>
              <a:r>
                <a:rPr lang="en-US" sz="1378">
                  <a:solidFill>
                    <a:srgbClr val="4F81BD"/>
                  </a:solidFill>
                  <a:latin typeface="Calibri (MS)"/>
                  <a:ea typeface="Calibri (MS)"/>
                  <a:cs typeface="Calibri (MS)"/>
                  <a:sym typeface="Calibri (MS)"/>
                </a:rPr>
                <a:t>            return CodigoResultado.TOKEN_INVALIDO;</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if (System.currentTimeMillis() &gt; expira) {</a:t>
              </a:r>
            </a:p>
            <a:p>
              <a:pPr algn="l">
                <a:lnSpc>
                  <a:spcPts val="1654"/>
                </a:lnSpc>
              </a:pPr>
              <a:r>
                <a:rPr lang="en-US" sz="1378">
                  <a:solidFill>
                    <a:srgbClr val="4F81BD"/>
                  </a:solidFill>
                  <a:latin typeface="Calibri (MS)"/>
                  <a:ea typeface="Calibri (MS)"/>
                  <a:cs typeface="Calibri (MS)"/>
                  <a:sym typeface="Calibri (MS)"/>
                </a:rPr>
                <a:t>            ACTIVOS.remove(token.trim());</a:t>
              </a:r>
            </a:p>
            <a:p>
              <a:pPr algn="l">
                <a:lnSpc>
                  <a:spcPts val="1654"/>
                </a:lnSpc>
              </a:pPr>
              <a:r>
                <a:rPr lang="en-US" sz="1378">
                  <a:solidFill>
                    <a:srgbClr val="4F81BD"/>
                  </a:solidFill>
                  <a:latin typeface="Calibri (MS)"/>
                  <a:ea typeface="Calibri (MS)"/>
                  <a:cs typeface="Calibri (MS)"/>
                  <a:sym typeface="Calibri (MS)"/>
                </a:rPr>
                <a:t>            return CodigoResultado.SESION_EXPIRADA;</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return null;</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 Respuesta de error para un token que no sirve, o null si el token es valido. */</a:t>
              </a:r>
            </a:p>
            <a:p>
              <a:pPr algn="l">
                <a:lnSpc>
                  <a:spcPts val="1654"/>
                </a:lnSpc>
              </a:pPr>
              <a:r>
                <a:rPr lang="en-US" sz="1378">
                  <a:solidFill>
                    <a:srgbClr val="4F81BD"/>
                  </a:solidFill>
                  <a:latin typeface="Calibri (MS)"/>
                  <a:ea typeface="Calibri (MS)"/>
                  <a:cs typeface="Calibri (MS)"/>
                  <a:sym typeface="Calibri (MS)"/>
                </a:rPr>
                <a:t>    public static RespuestaServicio verificar(String token) {</a:t>
              </a:r>
            </a:p>
            <a:p>
              <a:pPr algn="l">
                <a:lnSpc>
                  <a:spcPts val="1654"/>
                </a:lnSpc>
              </a:pPr>
              <a:r>
                <a:rPr lang="en-US" sz="1378">
                  <a:solidFill>
                    <a:srgbClr val="4F81BD"/>
                  </a:solidFill>
                  <a:latin typeface="Calibri (MS)"/>
                  <a:ea typeface="Calibri (MS)"/>
                  <a:cs typeface="Calibri (MS)"/>
                  <a:sym typeface="Calibri (MS)"/>
                </a:rPr>
                <a:t>        CodigoResultado codigo = validar(token);</a:t>
              </a:r>
            </a:p>
            <a:p>
              <a:pPr algn="l">
                <a:lnSpc>
                  <a:spcPts val="1654"/>
                </a:lnSpc>
              </a:pPr>
              <a:r>
                <a:rPr lang="en-US" sz="1378">
                  <a:solidFill>
                    <a:srgbClr val="4F81BD"/>
                  </a:solidFill>
                  <a:latin typeface="Calibri (MS)"/>
                  <a:ea typeface="Calibri (MS)"/>
                  <a:cs typeface="Calibri (MS)"/>
                  <a:sym typeface="Calibri (MS)"/>
                </a:rPr>
                <a:t>        if (codigo == null) {</a:t>
              </a:r>
            </a:p>
            <a:p>
              <a:pPr algn="l">
                <a:lnSpc>
                  <a:spcPts val="1654"/>
                </a:lnSpc>
              </a:pPr>
              <a:r>
                <a:rPr lang="en-US" sz="1378">
                  <a:solidFill>
                    <a:srgbClr val="4F81BD"/>
                  </a:solidFill>
                  <a:latin typeface="Calibri (MS)"/>
                  <a:ea typeface="Calibri (MS)"/>
                  <a:cs typeface="Calibri (MS)"/>
                  <a:sym typeface="Calibri (MS)"/>
                </a:rPr>
                <a:t>            return null;</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if (codigo == CodigoResultado.SESION_EXPIRADA) {</a:t>
              </a:r>
            </a:p>
            <a:p>
              <a:pPr algn="l">
                <a:lnSpc>
                  <a:spcPts val="1654"/>
                </a:lnSpc>
              </a:pPr>
              <a:r>
                <a:rPr lang="en-US" sz="1378">
                  <a:solidFill>
                    <a:srgbClr val="4F81BD"/>
                  </a:solidFill>
                  <a:latin typeface="Calibri (MS)"/>
                  <a:ea typeface="Calibri (MS)"/>
                  <a:cs typeface="Calibri (MS)"/>
                  <a:sym typeface="Calibri (MS)"/>
                </a:rPr>
                <a:t>            return RespuestaMapeador.error(codigo, "Sesión expirada");</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return RespuestaMapeador.error(codigo, "Token inválido");</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ManejadorLogin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 del login: arma la respuesta estructurada.</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ec.edu.monster.controladores.manejadoresws;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ec.edu.monster.modelos.utilidades.RespuestaServicio;</a:t>
              </a:r>
            </a:p>
            <a:p>
              <a:pPr algn="l">
                <a:lnSpc>
                  <a:spcPts val="1800"/>
                </a:lnSpc>
              </a:pPr>
              <a:r>
                <a:rPr lang="en-US" sz="1500">
                  <a:solidFill>
                    <a:srgbClr val="4F81BD"/>
                  </a:solidFill>
                  <a:latin typeface="Calibri (MS)"/>
                  <a:ea typeface="Calibri (MS)"/>
                  <a:cs typeface="Calibri (MS)"/>
                  <a:sym typeface="Calibri (MS)"/>
                </a:rPr>
                <a:t>import ec.edu.monster.modelos.utilidades.enums.CodigoResultado;</a:t>
              </a:r>
            </a:p>
            <a:p>
              <a:pPr algn="l">
                <a:lnSpc>
                  <a:spcPts val="1800"/>
                </a:lnSpc>
              </a:pPr>
              <a:r>
                <a:rPr lang="en-US" sz="1500">
                  <a:solidFill>
                    <a:srgbClr val="4F81BD"/>
                  </a:solidFill>
                  <a:latin typeface="Calibri (MS)"/>
                  <a:ea typeface="Calibri (MS)"/>
                  <a:cs typeface="Calibri (MS)"/>
                  <a:sym typeface="Calibri (MS)"/>
                </a:rPr>
                <a:t>import ec.edu.monster.modelos.utilidades.mapeadores.RespuestaMapeador;</a:t>
              </a:r>
            </a:p>
            <a:p>
              <a:pPr algn="l">
                <a:lnSpc>
                  <a:spcPts val="1800"/>
                </a:lnSpc>
              </a:pPr>
              <a:r>
                <a:rPr lang="en-US" sz="1500">
                  <a:solidFill>
                    <a:srgbClr val="4F81BD"/>
                  </a:solidFill>
                  <a:latin typeface="Calibri (MS)"/>
                  <a:ea typeface="Calibri (MS)"/>
                  <a:cs typeface="Calibri (MS)"/>
                  <a:sym typeface="Calibri (MS)"/>
                </a:rPr>
                <a:t>import ec.edu.monster.seguridad.ServicioAutenticacion;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Maneja el pedido de login (CU-01) que recibe el recurso REST de autenticación. */</a:t>
              </a:r>
            </a:p>
            <a:p>
              <a:pPr algn="l">
                <a:lnSpc>
                  <a:spcPts val="1800"/>
                </a:lnSpc>
              </a:pPr>
              <a:r>
                <a:rPr lang="en-US" sz="1500">
                  <a:solidFill>
                    <a:srgbClr val="4F81BD"/>
                  </a:solidFill>
                  <a:latin typeface="Calibri (MS)"/>
                  <a:ea typeface="Calibri (MS)"/>
                  <a:cs typeface="Calibri (MS)"/>
                  <a:sym typeface="Calibri (MS)"/>
                </a:rPr>
                <a:t>public class ManejadorLogin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login(String usuario, String clave) {</a:t>
              </a:r>
            </a:p>
            <a:p>
              <a:pPr algn="l">
                <a:lnSpc>
                  <a:spcPts val="1800"/>
                </a:lnSpc>
              </a:pPr>
              <a:r>
                <a:rPr lang="en-US" sz="1500">
                  <a:solidFill>
                    <a:srgbClr val="4F81BD"/>
                  </a:solidFill>
                  <a:latin typeface="Calibri (MS)"/>
                  <a:ea typeface="Calibri (MS)"/>
                  <a:cs typeface="Calibri (MS)"/>
                  <a:sym typeface="Calibri (MS)"/>
                </a:rPr>
                <a:t>        try {</a:t>
              </a:r>
            </a:p>
            <a:p>
              <a:pPr algn="l">
                <a:lnSpc>
                  <a:spcPts val="1800"/>
                </a:lnSpc>
              </a:pPr>
              <a:r>
                <a:rPr lang="en-US" sz="1500">
                  <a:solidFill>
                    <a:srgbClr val="4F81BD"/>
                  </a:solidFill>
                  <a:latin typeface="Calibri (MS)"/>
                  <a:ea typeface="Calibri (MS)"/>
                  <a:cs typeface="Calibri (MS)"/>
                  <a:sym typeface="Calibri (MS)"/>
                </a:rPr>
                <a:t>            return ServicioAutenticacion.autenticar(usuario, clave);</a:t>
              </a:r>
            </a:p>
            <a:p>
              <a:pPr algn="l">
                <a:lnSpc>
                  <a:spcPts val="1800"/>
                </a:lnSpc>
              </a:pPr>
              <a:r>
                <a:rPr lang="en-US" sz="1500">
                  <a:solidFill>
                    <a:srgbClr val="4F81BD"/>
                  </a:solidFill>
                  <a:latin typeface="Calibri (MS)"/>
                  <a:ea typeface="Calibri (MS)"/>
                  <a:cs typeface="Calibri (MS)"/>
                  <a:sym typeface="Calibri (MS)"/>
                </a:rPr>
                <a:t>        } catch (RuntimeException e) {</a:t>
              </a:r>
            </a:p>
            <a:p>
              <a:pPr algn="l">
                <a:lnSpc>
                  <a:spcPts val="1800"/>
                </a:lnSpc>
              </a:pPr>
              <a:r>
                <a:rPr lang="en-US" sz="1500">
                  <a:solidFill>
                    <a:srgbClr val="4F81BD"/>
                  </a:solidFill>
                  <a:latin typeface="Calibri (MS)"/>
                  <a:ea typeface="Calibri (MS)"/>
                  <a:cs typeface="Calibri (MS)"/>
                  <a:sym typeface="Calibri (MS)"/>
                </a:rPr>
                <a:t>            return RespuestaMapeador.error(CodigoResultado.ERROR_SERVIDOR, "Error interno del servicio");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 de conversiones: valida token, categoría y unidades, y llama al conversor.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700"/>
                </a:lnSpc>
              </a:pPr>
              <a:r>
                <a:rPr lang="en-US" sz="1416">
                  <a:solidFill>
                    <a:srgbClr val="4F81BD"/>
                  </a:solidFill>
                  <a:latin typeface="Calibri (MS)"/>
                  <a:ea typeface="Calibri (MS)"/>
                  <a:cs typeface="Calibri (MS)"/>
                  <a:sym typeface="Calibri (MS)"/>
                </a:rPr>
                <a:t>package ec.edu.monster.controladores.manejadoresws;</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import ec.edu.monster.modelos.utilidades.RespuestaServicio;</a:t>
              </a:r>
            </a:p>
            <a:p>
              <a:pPr algn="l">
                <a:lnSpc>
                  <a:spcPts val="1700"/>
                </a:lnSpc>
              </a:pPr>
              <a:r>
                <a:rPr lang="en-US" sz="1416">
                  <a:solidFill>
                    <a:srgbClr val="4F81BD"/>
                  </a:solidFill>
                  <a:latin typeface="Calibri (MS)"/>
                  <a:ea typeface="Calibri (MS)"/>
                  <a:cs typeface="Calibri (MS)"/>
                  <a:sym typeface="Calibri (MS)"/>
                </a:rPr>
                <a:t>import ec.edu.monster.modelos.utilidades.enums.CodigoResultado;</a:t>
              </a:r>
            </a:p>
            <a:p>
              <a:pPr algn="l">
                <a:lnSpc>
                  <a:spcPts val="1700"/>
                </a:lnSpc>
              </a:pPr>
              <a:r>
                <a:rPr lang="en-US" sz="1416">
                  <a:solidFill>
                    <a:srgbClr val="4F81BD"/>
                  </a:solidFill>
                  <a:latin typeface="Calibri (MS)"/>
                  <a:ea typeface="Calibri (MS)"/>
                  <a:cs typeface="Calibri (MS)"/>
                  <a:sym typeface="Calibri (MS)"/>
                </a:rPr>
                <a:t>import ec.edu.monster.modelos.utilidades.mapeadores.RespuestaMapeador;</a:t>
              </a:r>
            </a:p>
            <a:p>
              <a:pPr algn="l">
                <a:lnSpc>
                  <a:spcPts val="1700"/>
                </a:lnSpc>
              </a:pPr>
              <a:r>
                <a:rPr lang="en-US" sz="1416">
                  <a:solidFill>
                    <a:srgbClr val="4F81BD"/>
                  </a:solidFill>
                  <a:latin typeface="Calibri (MS)"/>
                  <a:ea typeface="Calibri (MS)"/>
                  <a:cs typeface="Calibri (MS)"/>
                  <a:sym typeface="Calibri (MS)"/>
                </a:rPr>
                <a:t>import ec.edu.monster.seguridad.GestorTokens;</a:t>
              </a:r>
            </a:p>
            <a:p>
              <a:pPr algn="l">
                <a:lnSpc>
                  <a:spcPts val="1700"/>
                </a:lnSpc>
              </a:pPr>
              <a:r>
                <a:rPr lang="en-US" sz="1416">
                  <a:solidFill>
                    <a:srgbClr val="4F81BD"/>
                  </a:solidFill>
                  <a:latin typeface="Calibri (MS)"/>
                  <a:ea typeface="Calibri (MS)"/>
                  <a:cs typeface="Calibri (MS)"/>
                  <a:sym typeface="Calibri (MS)"/>
                </a:rPr>
                <a:t>import ec.edu.monster.servicios.CatalogoUnidades;</a:t>
              </a:r>
            </a:p>
            <a:p>
              <a:pPr algn="l">
                <a:lnSpc>
                  <a:spcPts val="1700"/>
                </a:lnSpc>
              </a:pPr>
              <a:r>
                <a:rPr lang="en-US" sz="1416">
                  <a:solidFill>
                    <a:srgbClr val="4F81BD"/>
                  </a:solidFill>
                  <a:latin typeface="Calibri (MS)"/>
                  <a:ea typeface="Calibri (MS)"/>
                  <a:cs typeface="Calibri (MS)"/>
                  <a:sym typeface="Calibri (MS)"/>
                </a:rPr>
                <a:t>import ec.edu.monster.servicios.Conversor;</a:t>
              </a:r>
            </a:p>
            <a:p>
              <a:pPr algn="l">
                <a:lnSpc>
                  <a:spcPts val="1700"/>
                </a:lnSpc>
              </a:pPr>
              <a:r>
                <a:rPr lang="en-US" sz="1416">
                  <a:solidFill>
                    <a:srgbClr val="4F81BD"/>
                  </a:solidFill>
                  <a:latin typeface="Calibri (MS)"/>
                  <a:ea typeface="Calibri (MS)"/>
                  <a:cs typeface="Calibri (MS)"/>
                  <a:sym typeface="Calibri (MS)"/>
                </a:rPr>
                <a:t>import java.math.BigDecimal;</a:t>
              </a:r>
            </a:p>
            <a:p>
              <a:pPr algn="l">
                <a:lnSpc>
                  <a:spcPts val="1700"/>
                </a:lnSpc>
              </a:pPr>
              <a:r>
                <a:rPr lang="en-US" sz="1416">
                  <a:solidFill>
                    <a:srgbClr val="4F81BD"/>
                  </a:solidFill>
                  <a:latin typeface="Calibri (MS)"/>
                  <a:ea typeface="Calibri (MS)"/>
                  <a:cs typeface="Calibri (MS)"/>
                  <a:sym typeface="Calibri (MS)"/>
                </a:rPr>
                <a:t>import java.math.MathContext;</a:t>
              </a:r>
            </a:p>
            <a:p>
              <a:pPr algn="l">
                <a:lnSpc>
                  <a:spcPts val="1700"/>
                </a:lnSpc>
              </a:pPr>
              <a:r>
                <a:rPr lang="en-US" sz="1416">
                  <a:solidFill>
                    <a:srgbClr val="4F81BD"/>
                  </a:solidFill>
                  <a:latin typeface="Calibri (MS)"/>
                  <a:ea typeface="Calibri (MS)"/>
                  <a:cs typeface="Calibri (MS)"/>
                  <a:sym typeface="Calibri (MS)"/>
                </a:rPr>
                <a:t>import java.util.Optional;</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a:t>
              </a:r>
            </a:p>
            <a:p>
              <a:pPr algn="l">
                <a:lnSpc>
                  <a:spcPts val="1700"/>
                </a:lnSpc>
              </a:pPr>
              <a:r>
                <a:rPr lang="en-US" sz="1416">
                  <a:solidFill>
                    <a:srgbClr val="4F81BD"/>
                  </a:solidFill>
                  <a:latin typeface="Calibri (MS)"/>
                  <a:ea typeface="Calibri (MS)"/>
                  <a:cs typeface="Calibri (MS)"/>
                  <a:sym typeface="Calibri (MS)"/>
                </a:rPr>
                <a:t> * Maneja las solicitudes de conversión REST (CU-04). Aplica CU-05 (validar token),</a:t>
              </a:r>
            </a:p>
            <a:p>
              <a:pPr algn="l">
                <a:lnSpc>
                  <a:spcPts val="1700"/>
                </a:lnSpc>
              </a:pPr>
              <a:r>
                <a:rPr lang="en-US" sz="1416">
                  <a:solidFill>
                    <a:srgbClr val="4F81BD"/>
                  </a:solidFill>
                  <a:latin typeface="Calibri (MS)"/>
                  <a:ea typeface="Calibri (MS)"/>
                  <a:cs typeface="Calibri (MS)"/>
                  <a:sym typeface="Calibri (MS)"/>
                </a:rPr>
                <a:t> * CU-06 (validar datos) y CU-07</a:t>
              </a:r>
            </a:p>
            <a:p>
              <a:pPr algn="l">
                <a:lnSpc>
                  <a:spcPts val="1700"/>
                </a:lnSpc>
              </a:pPr>
              <a:r>
                <a:rPr lang="en-US" sz="1416">
                  <a:solidFill>
                    <a:srgbClr val="4F81BD"/>
                  </a:solidFill>
                  <a:latin typeface="Calibri (MS)"/>
                  <a:ea typeface="Calibri (MS)"/>
                  <a:cs typeface="Calibri (MS)"/>
                  <a:sym typeface="Calibri (MS)"/>
                </a:rPr>
                <a:t> * (respuesta estructurada), y los errores CU-08 a CU-11.</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public class ManejadorConversion {</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 CU-04: realizar conversion dentro de una categoria. */</a:t>
              </a:r>
            </a:p>
            <a:p>
              <a:pPr algn="l">
                <a:lnSpc>
                  <a:spcPts val="1700"/>
                </a:lnSpc>
              </a:pPr>
              <a:r>
                <a:rPr lang="en-US" sz="1416">
                  <a:solidFill>
                    <a:srgbClr val="4F81BD"/>
                  </a:solidFill>
                  <a:latin typeface="Calibri (MS)"/>
                  <a:ea typeface="Calibri (MS)"/>
                  <a:cs typeface="Calibri (MS)"/>
                  <a:sym typeface="Calibri (MS)"/>
                </a:rPr>
                <a:t>    public RespuestaServicio convertir(String categoria, double valor,</a:t>
              </a:r>
            </a:p>
            <a:p>
              <a:pPr algn="l">
                <a:lnSpc>
                  <a:spcPts val="1700"/>
                </a:lnSpc>
              </a:pPr>
              <a:r>
                <a:rPr lang="en-US" sz="1416">
                  <a:solidFill>
                    <a:srgbClr val="4F81BD"/>
                  </a:solidFill>
                  <a:latin typeface="Calibri (MS)"/>
                  <a:ea typeface="Calibri (MS)"/>
                  <a:cs typeface="Calibri (MS)"/>
                  <a:sym typeface="Calibri (MS)"/>
                </a:rPr>
                <a:t>            String unidadOrigen, String unidadDestino, String token) {</a:t>
              </a:r>
            </a:p>
            <a:p>
              <a:pPr algn="l">
                <a:lnSpc>
                  <a:spcPts val="1700"/>
                </a:lnSpc>
              </a:pPr>
              <a:r>
                <a:rPr lang="en-US" sz="1416">
                  <a:solidFill>
                    <a:srgbClr val="4F81BD"/>
                  </a:solidFill>
                  <a:latin typeface="Calibri (MS)"/>
                  <a:ea typeface="Calibri (MS)"/>
                  <a:cs typeface="Calibri (MS)"/>
                  <a:sym typeface="Calibri (MS)"/>
                </a:rPr>
                <a:t>        try {</a:t>
              </a:r>
            </a:p>
            <a:p>
              <a:pPr algn="l">
                <a:lnSpc>
                  <a:spcPts val="1700"/>
                </a:lnSpc>
              </a:pPr>
              <a:r>
                <a:rPr lang="en-US" sz="1416">
                  <a:solidFill>
                    <a:srgbClr val="4F81BD"/>
                  </a:solidFill>
                  <a:latin typeface="Calibri (MS)"/>
                  <a:ea typeface="Calibri (MS)"/>
                  <a:cs typeface="Calibri (MS)"/>
                  <a:sym typeface="Calibri (MS)"/>
                </a:rPr>
                <a:t>            // CU-05: validar token (CU-08 / CU-09 si falla)</a:t>
              </a:r>
            </a:p>
            <a:p>
              <a:pPr algn="l">
                <a:lnSpc>
                  <a:spcPts val="1700"/>
                </a:lnSpc>
              </a:pPr>
              <a:r>
                <a:rPr lang="en-US" sz="1416">
                  <a:solidFill>
                    <a:srgbClr val="4F81BD"/>
                  </a:solidFill>
                  <a:latin typeface="Calibri (MS)"/>
                  <a:ea typeface="Calibri (MS)"/>
                  <a:cs typeface="Calibri (MS)"/>
                  <a:sym typeface="Calibri (MS)"/>
                </a:rPr>
                <a:t>            RespuestaServicio errorToken = GestorTokens.verificar(token);</a:t>
              </a:r>
            </a:p>
            <a:p>
              <a:pPr algn="l">
                <a:lnSpc>
                  <a:spcPts val="1700"/>
                </a:lnSpc>
              </a:pPr>
              <a:r>
                <a:rPr lang="en-US" sz="1416">
                  <a:solidFill>
                    <a:srgbClr val="4F81BD"/>
                  </a:solidFill>
                  <a:latin typeface="Calibri (MS)"/>
                  <a:ea typeface="Calibri (MS)"/>
                  <a:cs typeface="Calibri (MS)"/>
                  <a:sym typeface="Calibri (MS)"/>
                </a:rPr>
                <a:t>            if (errorToken != null) {</a:t>
              </a:r>
            </a:p>
            <a:p>
              <a:pPr algn="l">
                <a:lnSpc>
                  <a:spcPts val="1700"/>
                </a:lnSpc>
              </a:pPr>
              <a:r>
                <a:rPr lang="en-US" sz="1416">
                  <a:solidFill>
                    <a:srgbClr val="4F81BD"/>
                  </a:solidFill>
                  <a:latin typeface="Calibri (MS)"/>
                  <a:ea typeface="Calibri (MS)"/>
                  <a:cs typeface="Calibri (MS)"/>
                  <a:sym typeface="Calibri (MS)"/>
                </a:rPr>
                <a:t>                return errorToken;</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 CU-06: validar datos (CU-10 / CU-11 si falla)</a:t>
              </a:r>
            </a:p>
            <a:p>
              <a:pPr algn="l">
                <a:lnSpc>
                  <a:spcPts val="1700"/>
                </a:lnSpc>
              </a:pPr>
              <a:r>
                <a:rPr lang="en-US" sz="1416">
                  <a:solidFill>
                    <a:srgbClr val="4F81BD"/>
                  </a:solidFill>
                  <a:latin typeface="Calibri (MS)"/>
                  <a:ea typeface="Calibri (MS)"/>
                  <a:cs typeface="Calibri (MS)"/>
                  <a:sym typeface="Calibri (MS)"/>
                </a:rPr>
                <a:t>            Optional&lt;Conversor&gt; cat = CatalogoUnidades.buscarCategoria(categoria);</a:t>
              </a:r>
            </a:p>
            <a:p>
              <a:pPr algn="l">
                <a:lnSpc>
                  <a:spcPts val="1700"/>
                </a:lnSpc>
              </a:pPr>
              <a:r>
                <a:rPr lang="en-US" sz="1416">
                  <a:solidFill>
                    <a:srgbClr val="4F81BD"/>
                  </a:solidFill>
                  <a:latin typeface="Calibri (MS)"/>
                  <a:ea typeface="Calibri (MS)"/>
                  <a:cs typeface="Calibri (MS)"/>
                  <a:sym typeface="Calibri (MS)"/>
                </a:rPr>
                <a:t>            if (cat.isEmpty()) {</a:t>
              </a:r>
            </a:p>
            <a:p>
              <a:pPr algn="l">
                <a:lnSpc>
                  <a:spcPts val="1700"/>
                </a:lnSpc>
              </a:pPr>
              <a:r>
                <a:rPr lang="en-US" sz="1416">
                  <a:solidFill>
                    <a:srgbClr val="4F81BD"/>
                  </a:solidFill>
                  <a:latin typeface="Calibri (MS)"/>
                  <a:ea typeface="Calibri (MS)"/>
                  <a:cs typeface="Calibri (MS)"/>
                  <a:sym typeface="Calibri (MS)"/>
                </a:rPr>
                <a:t>                return RespuestaMapeador.error(CodigoResultado.DATOS_INCONSISTENTES, "Categoría no soportada");</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if (Double.isNaN(valor) || Double.isInfinite(valor)) {</a:t>
              </a:r>
            </a:p>
            <a:p>
              <a:pPr algn="l">
                <a:lnSpc>
                  <a:spcPts val="1700"/>
                </a:lnSpc>
              </a:pPr>
              <a:r>
                <a:rPr lang="en-US" sz="1416">
                  <a:solidFill>
                    <a:srgbClr val="4F81BD"/>
                  </a:solidFill>
                  <a:latin typeface="Calibri (MS)"/>
                  <a:ea typeface="Calibri (MS)"/>
                  <a:cs typeface="Calibri (MS)"/>
                  <a:sym typeface="Calibri (MS)"/>
                </a:rPr>
                <a:t>                return RespuestaMapeador.error(CodigoResultado.DATOS_INCONSISTENTES, "El valor debe ser numérico");</a:t>
              </a:r>
            </a:p>
            <a:p>
              <a:pPr algn="l">
                <a:lnSpc>
                  <a:spcPts val="1700"/>
                </a:lnSpc>
              </a:pPr>
              <a:r>
                <a:rPr lang="en-US" sz="1416">
                  <a:solidFill>
                    <a:srgbClr val="4F81BD"/>
                  </a:solidFill>
                  <a:latin typeface="Calibri (MS)"/>
                  <a:ea typeface="Calibri (MS)"/>
                  <a:cs typeface="Calibri (MS)"/>
                  <a:sym typeface="Calibri (MS)"/>
                </a:rPr>
                <a:t>            }</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Manejador de conversiones: valida token, categoría y unidades, y llama al conversor.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1700"/>
                </a:lnSpc>
              </a:pPr>
              <a:r>
                <a:rPr lang="en-US" sz="1416">
                  <a:solidFill>
                    <a:srgbClr val="4F81BD"/>
                  </a:solidFill>
                  <a:latin typeface="Calibri (MS)"/>
                  <a:ea typeface="Calibri (MS)"/>
                  <a:cs typeface="Calibri (MS)"/>
                  <a:sym typeface="Calibri (MS)"/>
                </a:rPr>
                <a:t>            if (unidadOrigen == null || unidadOrigen.isBlank() || unidadDestino == null || unidadDestino.isBlank()) {</a:t>
              </a:r>
            </a:p>
            <a:p>
              <a:pPr algn="l">
                <a:lnSpc>
                  <a:spcPts val="1700"/>
                </a:lnSpc>
              </a:pPr>
              <a:r>
                <a:rPr lang="en-US" sz="1416">
                  <a:solidFill>
                    <a:srgbClr val="4F81BD"/>
                  </a:solidFill>
                  <a:latin typeface="Calibri (MS)"/>
                  <a:ea typeface="Calibri (MS)"/>
                  <a:cs typeface="Calibri (MS)"/>
                  <a:sym typeface="Calibri (MS)"/>
                </a:rPr>
                <a:t>                return RespuestaMapeador.error(CodigoResultado.DATOS_INCONSISTENTES,</a:t>
              </a:r>
            </a:p>
            <a:p>
              <a:pPr algn="l">
                <a:lnSpc>
                  <a:spcPts val="1700"/>
                </a:lnSpc>
              </a:pPr>
              <a:r>
                <a:rPr lang="en-US" sz="1416">
                  <a:solidFill>
                    <a:srgbClr val="4F81BD"/>
                  </a:solidFill>
                  <a:latin typeface="Calibri (MS)"/>
                  <a:ea typeface="Calibri (MS)"/>
                  <a:cs typeface="Calibri (MS)"/>
                  <a:sym typeface="Calibri (MS)"/>
                </a:rPr>
                <a:t>                        "Las unidades de origen y destino son obligatorias");</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String origen = Conversor.normalizar(unidadOrigen);</a:t>
              </a:r>
            </a:p>
            <a:p>
              <a:pPr algn="l">
                <a:lnSpc>
                  <a:spcPts val="1700"/>
                </a:lnSpc>
              </a:pPr>
              <a:r>
                <a:rPr lang="en-US" sz="1416">
                  <a:solidFill>
                    <a:srgbClr val="4F81BD"/>
                  </a:solidFill>
                  <a:latin typeface="Calibri (MS)"/>
                  <a:ea typeface="Calibri (MS)"/>
                  <a:cs typeface="Calibri (MS)"/>
                  <a:sym typeface="Calibri (MS)"/>
                </a:rPr>
                <a:t>            String destino = Conversor.normalizar(unidadDestino);</a:t>
              </a:r>
            </a:p>
            <a:p>
              <a:pPr algn="l">
                <a:lnSpc>
                  <a:spcPts val="1700"/>
                </a:lnSpc>
              </a:pPr>
              <a:r>
                <a:rPr lang="en-US" sz="1416">
                  <a:solidFill>
                    <a:srgbClr val="4F81BD"/>
                  </a:solidFill>
                  <a:latin typeface="Calibri (MS)"/>
                  <a:ea typeface="Calibri (MS)"/>
                  <a:cs typeface="Calibri (MS)"/>
                  <a:sym typeface="Calibri (MS)"/>
                </a:rPr>
                <a:t>            Optional&lt;Conversor&gt; catOrigen = CatalogoUnidades.categoriaDeUnidad(origen);</a:t>
              </a:r>
            </a:p>
            <a:p>
              <a:pPr algn="l">
                <a:lnSpc>
                  <a:spcPts val="1700"/>
                </a:lnSpc>
              </a:pPr>
              <a:r>
                <a:rPr lang="en-US" sz="1416">
                  <a:solidFill>
                    <a:srgbClr val="4F81BD"/>
                  </a:solidFill>
                  <a:latin typeface="Calibri (MS)"/>
                  <a:ea typeface="Calibri (MS)"/>
                  <a:cs typeface="Calibri (MS)"/>
                  <a:sym typeface="Calibri (MS)"/>
                </a:rPr>
                <a:t>            if (catOrigen.isEmpty()) {</a:t>
              </a:r>
            </a:p>
            <a:p>
              <a:pPr algn="l">
                <a:lnSpc>
                  <a:spcPts val="1700"/>
                </a:lnSpc>
              </a:pPr>
              <a:r>
                <a:rPr lang="en-US" sz="1416">
                  <a:solidFill>
                    <a:srgbClr val="4F81BD"/>
                  </a:solidFill>
                  <a:latin typeface="Calibri (MS)"/>
                  <a:ea typeface="Calibri (MS)"/>
                  <a:cs typeface="Calibri (MS)"/>
                  <a:sym typeface="Calibri (MS)"/>
                </a:rPr>
                <a:t>                return RespuestaMapeador.error(CodigoResultado.UNIDAD_NO_SOPORTADA, "Unidad de origen no soportada");</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Optional&lt;Conversor&gt; catDestino = CatalogoUnidades.categoriaDeUnidad(destino);</a:t>
              </a:r>
            </a:p>
            <a:p>
              <a:pPr algn="l">
                <a:lnSpc>
                  <a:spcPts val="1700"/>
                </a:lnSpc>
              </a:pPr>
              <a:r>
                <a:rPr lang="en-US" sz="1416">
                  <a:solidFill>
                    <a:srgbClr val="4F81BD"/>
                  </a:solidFill>
                  <a:latin typeface="Calibri (MS)"/>
                  <a:ea typeface="Calibri (MS)"/>
                  <a:cs typeface="Calibri (MS)"/>
                  <a:sym typeface="Calibri (MS)"/>
                </a:rPr>
                <a:t>            if (catDestino.isEmpty()) {</a:t>
              </a:r>
            </a:p>
            <a:p>
              <a:pPr algn="l">
                <a:lnSpc>
                  <a:spcPts val="1700"/>
                </a:lnSpc>
              </a:pPr>
              <a:r>
                <a:rPr lang="en-US" sz="1416">
                  <a:solidFill>
                    <a:srgbClr val="4F81BD"/>
                  </a:solidFill>
                  <a:latin typeface="Calibri (MS)"/>
                  <a:ea typeface="Calibri (MS)"/>
                  <a:cs typeface="Calibri (MS)"/>
                  <a:sym typeface="Calibri (MS)"/>
                </a:rPr>
                <a:t>                return RespuestaMapeador.error(CodigoResultado.UNIDAD_NO_SOPORTADA, "Unidad de destino no soportada");</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Conversor conversor = cat.get();</a:t>
              </a:r>
            </a:p>
            <a:p>
              <a:pPr algn="l">
                <a:lnSpc>
                  <a:spcPts val="1700"/>
                </a:lnSpc>
              </a:pPr>
              <a:r>
                <a:rPr lang="en-US" sz="1416">
                  <a:solidFill>
                    <a:srgbClr val="4F81BD"/>
                  </a:solidFill>
                  <a:latin typeface="Calibri (MS)"/>
                  <a:ea typeface="Calibri (MS)"/>
                  <a:cs typeface="Calibri (MS)"/>
                  <a:sym typeface="Calibri (MS)"/>
                </a:rPr>
                <a:t>            if (catOrigen.get() != conversor || catDestino.get() != conversor) {</a:t>
              </a:r>
            </a:p>
            <a:p>
              <a:pPr algn="l">
                <a:lnSpc>
                  <a:spcPts val="1700"/>
                </a:lnSpc>
              </a:pPr>
              <a:r>
                <a:rPr lang="en-US" sz="1416">
                  <a:solidFill>
                    <a:srgbClr val="4F81BD"/>
                  </a:solidFill>
                  <a:latin typeface="Calibri (MS)"/>
                  <a:ea typeface="Calibri (MS)"/>
                  <a:cs typeface="Calibri (MS)"/>
                  <a:sym typeface="Calibri (MS)"/>
                </a:rPr>
                <a:t>                return RespuestaMapeador.error(CodigoResultado.DATOS_INCONSISTENTES,</a:t>
              </a:r>
            </a:p>
            <a:p>
              <a:pPr algn="l">
                <a:lnSpc>
                  <a:spcPts val="1700"/>
                </a:lnSpc>
              </a:pPr>
              <a:r>
                <a:rPr lang="en-US" sz="1416">
                  <a:solidFill>
                    <a:srgbClr val="4F81BD"/>
                  </a:solidFill>
                  <a:latin typeface="Calibri (MS)"/>
                  <a:ea typeface="Calibri (MS)"/>
                  <a:cs typeface="Calibri (MS)"/>
                  <a:sym typeface="Calibri (MS)"/>
                </a:rPr>
                <a:t>                        "Las unidades no pertenecen a la categoría " + conversor.categoria());</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 Calculo y CU-07: respuesta estructurada</a:t>
              </a:r>
            </a:p>
            <a:p>
              <a:pPr algn="l">
                <a:lnSpc>
                  <a:spcPts val="1700"/>
                </a:lnSpc>
              </a:pPr>
              <a:r>
                <a:rPr lang="en-US" sz="1416">
                  <a:solidFill>
                    <a:srgbClr val="4F81BD"/>
                  </a:solidFill>
                  <a:latin typeface="Calibri (MS)"/>
                  <a:ea typeface="Calibri (MS)"/>
                  <a:cs typeface="Calibri (MS)"/>
                  <a:sym typeface="Calibri (MS)"/>
                </a:rPr>
                <a:t>            double resultado = redondear(conversor.convertir(valor, origen, destino));</a:t>
              </a:r>
            </a:p>
            <a:p>
              <a:pPr algn="l">
                <a:lnSpc>
                  <a:spcPts val="1700"/>
                </a:lnSpc>
              </a:pPr>
              <a:r>
                <a:rPr lang="en-US" sz="1416">
                  <a:solidFill>
                    <a:srgbClr val="4F81BD"/>
                  </a:solidFill>
                  <a:latin typeface="Calibri (MS)"/>
                  <a:ea typeface="Calibri (MS)"/>
                  <a:cs typeface="Calibri (MS)"/>
                  <a:sym typeface="Calibri (MS)"/>
                </a:rPr>
                <a:t>            return RespuestaMapeador.exitoConversion(resultado, origen, destino);</a:t>
              </a:r>
            </a:p>
            <a:p>
              <a:pPr algn="l">
                <a:lnSpc>
                  <a:spcPts val="1700"/>
                </a:lnSpc>
              </a:pPr>
              <a:r>
                <a:rPr lang="en-US" sz="1416">
                  <a:solidFill>
                    <a:srgbClr val="4F81BD"/>
                  </a:solidFill>
                  <a:latin typeface="Calibri (MS)"/>
                  <a:ea typeface="Calibri (MS)"/>
                  <a:cs typeface="Calibri (MS)"/>
                  <a:sym typeface="Calibri (MS)"/>
                </a:rPr>
                <a:t>        } catch (RuntimeException e) {</a:t>
              </a:r>
            </a:p>
            <a:p>
              <a:pPr algn="l">
                <a:lnSpc>
                  <a:spcPts val="1700"/>
                </a:lnSpc>
              </a:pPr>
              <a:r>
                <a:rPr lang="en-US" sz="1416">
                  <a:solidFill>
                    <a:srgbClr val="4F81BD"/>
                  </a:solidFill>
                  <a:latin typeface="Calibri (MS)"/>
                  <a:ea typeface="Calibri (MS)"/>
                  <a:cs typeface="Calibri (MS)"/>
                  <a:sym typeface="Calibri (MS)"/>
                </a:rPr>
                <a:t>            return RespuestaMapeador.error(CodigoResultado.ERROR_SERVIDOR, "Error interno del servicio");</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 Evita ruido de coma flotante (0.30000000000000004): 12 cifras significativas. */</a:t>
              </a:r>
            </a:p>
            <a:p>
              <a:pPr algn="l">
                <a:lnSpc>
                  <a:spcPts val="1700"/>
                </a:lnSpc>
              </a:pPr>
              <a:r>
                <a:rPr lang="en-US" sz="1416">
                  <a:solidFill>
                    <a:srgbClr val="4F81BD"/>
                  </a:solidFill>
                  <a:latin typeface="Calibri (MS)"/>
                  <a:ea typeface="Calibri (MS)"/>
                  <a:cs typeface="Calibri (MS)"/>
                  <a:sym typeface="Calibri (MS)"/>
                </a:rPr>
                <a:t>    static double redondear(double v) {</a:t>
              </a:r>
            </a:p>
            <a:p>
              <a:pPr algn="l">
                <a:lnSpc>
                  <a:spcPts val="1700"/>
                </a:lnSpc>
              </a:pPr>
              <a:r>
                <a:rPr lang="en-US" sz="1416">
                  <a:solidFill>
                    <a:srgbClr val="4F81BD"/>
                  </a:solidFill>
                  <a:latin typeface="Calibri (MS)"/>
                  <a:ea typeface="Calibri (MS)"/>
                  <a:cs typeface="Calibri (MS)"/>
                  <a:sym typeface="Calibri (MS)"/>
                </a:rPr>
                <a:t>        if (v == 0.0) {</a:t>
              </a:r>
            </a:p>
            <a:p>
              <a:pPr algn="l">
                <a:lnSpc>
                  <a:spcPts val="1700"/>
                </a:lnSpc>
              </a:pPr>
              <a:r>
                <a:rPr lang="en-US" sz="1416">
                  <a:solidFill>
                    <a:srgbClr val="4F81BD"/>
                  </a:solidFill>
                  <a:latin typeface="Calibri (MS)"/>
                  <a:ea typeface="Calibri (MS)"/>
                  <a:cs typeface="Calibri (MS)"/>
                  <a:sym typeface="Calibri (MS)"/>
                </a:rPr>
                <a:t>            return 0.0;</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return new BigDecimal(v).round(new MathContext(12)).doubleValue();</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CodigoResultado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Códigos de resultado de todas las operaciones.</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ec.edu.monster.modelos.utilidades.enums;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Codigos de resultado que devuelve el servicio (ver diccionario de datos). */</a:t>
              </a:r>
            </a:p>
            <a:p>
              <a:pPr algn="l">
                <a:lnSpc>
                  <a:spcPts val="1800"/>
                </a:lnSpc>
              </a:pPr>
              <a:r>
                <a:rPr lang="en-US" sz="1500">
                  <a:solidFill>
                    <a:srgbClr val="4F81BD"/>
                  </a:solidFill>
                  <a:latin typeface="Calibri (MS)"/>
                  <a:ea typeface="Calibri (MS)"/>
                  <a:cs typeface="Calibri (MS)"/>
                  <a:sym typeface="Calibri (MS)"/>
                </a:rPr>
                <a:t>public enum CodigoResultado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OK_200("OK-200"),</a:t>
              </a:r>
            </a:p>
            <a:p>
              <a:pPr algn="l">
                <a:lnSpc>
                  <a:spcPts val="1800"/>
                </a:lnSpc>
              </a:pPr>
              <a:r>
                <a:rPr lang="en-US" sz="1500">
                  <a:solidFill>
                    <a:srgbClr val="4F81BD"/>
                  </a:solidFill>
                  <a:latin typeface="Calibri (MS)"/>
                  <a:ea typeface="Calibri (MS)"/>
                  <a:cs typeface="Calibri (MS)"/>
                  <a:sym typeface="Calibri (MS)"/>
                </a:rPr>
                <a:t>    TOKEN_INVALIDO("AUTH-001"),</a:t>
              </a:r>
            </a:p>
            <a:p>
              <a:pPr algn="l">
                <a:lnSpc>
                  <a:spcPts val="1800"/>
                </a:lnSpc>
              </a:pPr>
              <a:r>
                <a:rPr lang="en-US" sz="1500">
                  <a:solidFill>
                    <a:srgbClr val="4F81BD"/>
                  </a:solidFill>
                  <a:latin typeface="Calibri (MS)"/>
                  <a:ea typeface="Calibri (MS)"/>
                  <a:cs typeface="Calibri (MS)"/>
                  <a:sym typeface="Calibri (MS)"/>
                </a:rPr>
                <a:t>    SESION_EXPIRADA("AUTH-002"),</a:t>
              </a:r>
            </a:p>
            <a:p>
              <a:pPr algn="l">
                <a:lnSpc>
                  <a:spcPts val="1800"/>
                </a:lnSpc>
              </a:pPr>
              <a:r>
                <a:rPr lang="en-US" sz="1500">
                  <a:solidFill>
                    <a:srgbClr val="4F81BD"/>
                  </a:solidFill>
                  <a:latin typeface="Calibri (MS)"/>
                  <a:ea typeface="Calibri (MS)"/>
                  <a:cs typeface="Calibri (MS)"/>
                  <a:sym typeface="Calibri (MS)"/>
                </a:rPr>
                <a:t>    CREDENCIALES_INCORRECTAS("AUTH-003"),</a:t>
              </a:r>
            </a:p>
            <a:p>
              <a:pPr algn="l">
                <a:lnSpc>
                  <a:spcPts val="1800"/>
                </a:lnSpc>
              </a:pPr>
              <a:r>
                <a:rPr lang="en-US" sz="1500">
                  <a:solidFill>
                    <a:srgbClr val="4F81BD"/>
                  </a:solidFill>
                  <a:latin typeface="Calibri (MS)"/>
                  <a:ea typeface="Calibri (MS)"/>
                  <a:cs typeface="Calibri (MS)"/>
                  <a:sym typeface="Calibri (MS)"/>
                </a:rPr>
                <a:t>    UNIDAD_NO_SOPORTADA("UNIT-001"),</a:t>
              </a:r>
            </a:p>
            <a:p>
              <a:pPr algn="l">
                <a:lnSpc>
                  <a:spcPts val="1800"/>
                </a:lnSpc>
              </a:pPr>
              <a:r>
                <a:rPr lang="en-US" sz="1500">
                  <a:solidFill>
                    <a:srgbClr val="4F81BD"/>
                  </a:solidFill>
                  <a:latin typeface="Calibri (MS)"/>
                  <a:ea typeface="Calibri (MS)"/>
                  <a:cs typeface="Calibri (MS)"/>
                  <a:sym typeface="Calibri (MS)"/>
                </a:rPr>
                <a:t>    DATOS_INCONSISTENTES("DATA-001"),</a:t>
              </a:r>
            </a:p>
            <a:p>
              <a:pPr algn="l">
                <a:lnSpc>
                  <a:spcPts val="1800"/>
                </a:lnSpc>
              </a:pPr>
              <a:r>
                <a:rPr lang="en-US" sz="1500">
                  <a:solidFill>
                    <a:srgbClr val="4F81BD"/>
                  </a:solidFill>
                  <a:latin typeface="Calibri (MS)"/>
                  <a:ea typeface="Calibri (MS)"/>
                  <a:cs typeface="Calibri (MS)"/>
                  <a:sym typeface="Calibri (MS)"/>
                </a:rPr>
                <a:t>    ERROR_SERVIDOR("SRV-500");</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String codigo;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CodigoResultado(String codigo) {</a:t>
              </a:r>
            </a:p>
            <a:p>
              <a:pPr algn="l">
                <a:lnSpc>
                  <a:spcPts val="1800"/>
                </a:lnSpc>
              </a:pPr>
              <a:r>
                <a:rPr lang="en-US" sz="1500">
                  <a:solidFill>
                    <a:srgbClr val="4F81BD"/>
                  </a:solidFill>
                  <a:latin typeface="Calibri (MS)"/>
                  <a:ea typeface="Calibri (MS)"/>
                  <a:cs typeface="Calibri (MS)"/>
                  <a:sym typeface="Calibri (MS)"/>
                </a:rPr>
                <a:t>        this.codigo = codigo;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Texto que viaja en la respuesta REST, por ejemplo "AUTH-001". */</a:t>
              </a:r>
            </a:p>
            <a:p>
              <a:pPr algn="l">
                <a:lnSpc>
                  <a:spcPts val="1800"/>
                </a:lnSpc>
              </a:pPr>
              <a:r>
                <a:rPr lang="en-US" sz="1500">
                  <a:solidFill>
                    <a:srgbClr val="4F81BD"/>
                  </a:solidFill>
                  <a:latin typeface="Calibri (MS)"/>
                  <a:ea typeface="Calibri (MS)"/>
                  <a:cs typeface="Calibri (MS)"/>
                  <a:sym typeface="Calibri (MS)"/>
                </a:rPr>
                <a:t>    public String getCodigo() {</a:t>
              </a:r>
            </a:p>
            <a:p>
              <a:pPr algn="l">
                <a:lnSpc>
                  <a:spcPts val="1800"/>
                </a:lnSpc>
              </a:pPr>
              <a:r>
                <a:rPr lang="en-US" sz="1500">
                  <a:solidFill>
                    <a:srgbClr val="4F81BD"/>
                  </a:solidFill>
                  <a:latin typeface="Calibri (MS)"/>
                  <a:ea typeface="Calibri (MS)"/>
                  <a:cs typeface="Calibri (MS)"/>
                  <a:sym typeface="Calibri (MS)"/>
                </a:rPr>
                <a:t>        return codigo;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RespuestaMapeador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Único lugar donde se arma la respuesta (éxito, login, lista, conversión y error).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ec.edu.monster.modelos.utilidades.mapeadores;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ec.edu.monster.modelos.utilidades.RespuestaServicio;</a:t>
              </a:r>
            </a:p>
            <a:p>
              <a:pPr algn="l">
                <a:lnSpc>
                  <a:spcPts val="1800"/>
                </a:lnSpc>
              </a:pPr>
              <a:r>
                <a:rPr lang="en-US" sz="1500">
                  <a:solidFill>
                    <a:srgbClr val="4F81BD"/>
                  </a:solidFill>
                  <a:latin typeface="Calibri (MS)"/>
                  <a:ea typeface="Calibri (MS)"/>
                  <a:cs typeface="Calibri (MS)"/>
                  <a:sym typeface="Calibri (MS)"/>
                </a:rPr>
                <a:t>import ec.edu.monster.modelos.utilidades.enums.CodigoResultado;</a:t>
              </a:r>
            </a:p>
            <a:p>
              <a:pPr algn="l">
                <a:lnSpc>
                  <a:spcPts val="1800"/>
                </a:lnSpc>
              </a:pPr>
              <a:r>
                <a:rPr lang="en-US" sz="1500">
                  <a:solidFill>
                    <a:srgbClr val="4F81BD"/>
                  </a:solidFill>
                  <a:latin typeface="Calibri (MS)"/>
                  <a:ea typeface="Calibri (MS)"/>
                  <a:cs typeface="Calibri (MS)"/>
                  <a:sym typeface="Calibri (MS)"/>
                </a:rPr>
                <a:t>import ec.edu.monster.modelos.utilidades.enums.EstadoRespuesta;</a:t>
              </a:r>
            </a:p>
            <a:p>
              <a:pPr algn="l">
                <a:lnSpc>
                  <a:spcPts val="1800"/>
                </a:lnSpc>
              </a:pPr>
              <a:r>
                <a:rPr lang="en-US" sz="1500">
                  <a:solidFill>
                    <a:srgbClr val="4F81BD"/>
                  </a:solidFill>
                  <a:latin typeface="Calibri (MS)"/>
                  <a:ea typeface="Calibri (MS)"/>
                  <a:cs typeface="Calibri (MS)"/>
                  <a:sym typeface="Calibri (MS)"/>
                </a:rPr>
                <a:t>import java.util.List;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Convierte los resultados de la logica (tokens, listas, valores convertidos y</a:t>
              </a:r>
            </a:p>
            <a:p>
              <a:pPr algn="l">
                <a:lnSpc>
                  <a:spcPts val="1800"/>
                </a:lnSpc>
              </a:pPr>
              <a:r>
                <a:rPr lang="en-US" sz="1500">
                  <a:solidFill>
                    <a:srgbClr val="4F81BD"/>
                  </a:solidFill>
                  <a:latin typeface="Calibri (MS)"/>
                  <a:ea typeface="Calibri (MS)"/>
                  <a:cs typeface="Calibri (MS)"/>
                  <a:sym typeface="Calibri (MS)"/>
                </a:rPr>
                <a:t> * errores) en la respuesta estructurada {@link RespuestaServicio} (CU-07).</a:t>
              </a:r>
            </a:p>
            <a:p>
              <a:pPr algn="l">
                <a:lnSpc>
                  <a:spcPts val="1800"/>
                </a:lnSpc>
              </a:pPr>
              <a:r>
                <a:rPr lang="en-US" sz="1500">
                  <a:solidFill>
                    <a:srgbClr val="4F81BD"/>
                  </a:solidFill>
                  <a:latin typeface="Calibri (MS)"/>
                  <a:ea typeface="Calibri (MS)"/>
                  <a:cs typeface="Calibri (MS)"/>
                  <a:sym typeface="Calibri (MS)"/>
                </a:rPr>
                <a:t> * Es el unico lugar donde se arma la respuesta, para que todas las operaciones</a:t>
              </a:r>
            </a:p>
            <a:p>
              <a:pPr algn="l">
                <a:lnSpc>
                  <a:spcPts val="1800"/>
                </a:lnSpc>
              </a:pPr>
              <a:r>
                <a:rPr lang="en-US" sz="1500">
                  <a:solidFill>
                    <a:srgbClr val="4F81BD"/>
                  </a:solidFill>
                  <a:latin typeface="Calibri (MS)"/>
                  <a:ea typeface="Calibri (MS)"/>
                  <a:cs typeface="Calibri (MS)"/>
                  <a:sym typeface="Calibri (MS)"/>
                </a:rPr>
                <a:t> * respondan con el mismo formato.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RespuestaMapeador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RespuestaMapeador()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Respuesta correcta con un mensaje. */</a:t>
              </a:r>
            </a:p>
            <a:p>
              <a:pPr algn="l">
                <a:lnSpc>
                  <a:spcPts val="1800"/>
                </a:lnSpc>
              </a:pPr>
              <a:r>
                <a:rPr lang="en-US" sz="1500">
                  <a:solidFill>
                    <a:srgbClr val="4F81BD"/>
                  </a:solidFill>
                  <a:latin typeface="Calibri (MS)"/>
                  <a:ea typeface="Calibri (MS)"/>
                  <a:cs typeface="Calibri (MS)"/>
                  <a:sym typeface="Calibri (MS)"/>
                </a:rPr>
                <a:t>    public static RespuestaServicio exito(String mensaje) {</a:t>
              </a:r>
            </a:p>
            <a:p>
              <a:pPr algn="l">
                <a:lnSpc>
                  <a:spcPts val="1800"/>
                </a:lnSpc>
              </a:pPr>
              <a:r>
                <a:rPr lang="en-US" sz="1500">
                  <a:solidFill>
                    <a:srgbClr val="4F81BD"/>
                  </a:solidFill>
                  <a:latin typeface="Calibri (MS)"/>
                  <a:ea typeface="Calibri (MS)"/>
                  <a:cs typeface="Calibri (MS)"/>
                  <a:sym typeface="Calibri (MS)"/>
                </a:rPr>
                <a:t>        RespuestaServicio r = new RespuestaServicio();</a:t>
              </a:r>
            </a:p>
            <a:p>
              <a:pPr algn="l">
                <a:lnSpc>
                  <a:spcPts val="1800"/>
                </a:lnSpc>
              </a:pPr>
              <a:r>
                <a:rPr lang="en-US" sz="1500">
                  <a:solidFill>
                    <a:srgbClr val="4F81BD"/>
                  </a:solidFill>
                  <a:latin typeface="Calibri (MS)"/>
                  <a:ea typeface="Calibri (MS)"/>
                  <a:cs typeface="Calibri (MS)"/>
                  <a:sym typeface="Calibri (MS)"/>
                </a:rPr>
                <a:t>        r.setEstado(EstadoRespuesta.OK.getTexto());</a:t>
              </a:r>
            </a:p>
            <a:p>
              <a:pPr algn="l">
                <a:lnSpc>
                  <a:spcPts val="1800"/>
                </a:lnSpc>
              </a:pPr>
              <a:r>
                <a:rPr lang="en-US" sz="1500">
                  <a:solidFill>
                    <a:srgbClr val="4F81BD"/>
                  </a:solidFill>
                  <a:latin typeface="Calibri (MS)"/>
                  <a:ea typeface="Calibri (MS)"/>
                  <a:cs typeface="Calibri (MS)"/>
                  <a:sym typeface="Calibri (MS)"/>
                </a:rPr>
                <a:t>        r.setCodigo(CodigoResultado.OK_200.getCodigo());</a:t>
              </a:r>
            </a:p>
            <a:p>
              <a:pPr algn="l">
                <a:lnSpc>
                  <a:spcPts val="1800"/>
                </a:lnSpc>
              </a:pPr>
              <a:r>
                <a:rPr lang="en-US" sz="1500">
                  <a:solidFill>
                    <a:srgbClr val="4F81BD"/>
                  </a:solidFill>
                  <a:latin typeface="Calibri (MS)"/>
                  <a:ea typeface="Calibri (MS)"/>
                  <a:cs typeface="Calibri (MS)"/>
                  <a:sym typeface="Calibri (MS)"/>
                </a:rPr>
                <a:t>        r.setMensaje(mensaje);</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Login correcto: lleva el token de la sesion. */</a:t>
              </a:r>
            </a:p>
            <a:p>
              <a:pPr algn="l">
                <a:lnSpc>
                  <a:spcPts val="1800"/>
                </a:lnSpc>
              </a:pPr>
              <a:r>
                <a:rPr lang="en-US" sz="1500">
                  <a:solidFill>
                    <a:srgbClr val="4F81BD"/>
                  </a:solidFill>
                  <a:latin typeface="Calibri (MS)"/>
                  <a:ea typeface="Calibri (MS)"/>
                  <a:cs typeface="Calibri (MS)"/>
                  <a:sym typeface="Calibri (MS)"/>
                </a:rPr>
                <a:t>    public static RespuestaServicio exitoLogin(String token) {</a:t>
              </a:r>
            </a:p>
            <a:p>
              <a:pPr algn="l">
                <a:lnSpc>
                  <a:spcPts val="1800"/>
                </a:lnSpc>
              </a:pPr>
              <a:r>
                <a:rPr lang="en-US" sz="1500">
                  <a:solidFill>
                    <a:srgbClr val="4F81BD"/>
                  </a:solidFill>
                  <a:latin typeface="Calibri (MS)"/>
                  <a:ea typeface="Calibri (MS)"/>
                  <a:cs typeface="Calibri (MS)"/>
                  <a:sym typeface="Calibri (MS)"/>
                </a:rPr>
                <a:t>        RespuestaServicio r = exito("Autenticación exitosa");</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RespuestaMapeador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Único lugar donde se arma la respuesta (éxito, login, lista, conversión y error).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149090"/>
            <a:chOff x="0" y="0"/>
            <a:chExt cx="12278360" cy="5532120"/>
          </a:xfrm>
        </p:grpSpPr>
        <p:sp>
          <p:nvSpPr>
            <p:cNvPr name="Freeform 18" id="18"/>
            <p:cNvSpPr/>
            <p:nvPr/>
          </p:nvSpPr>
          <p:spPr>
            <a:xfrm flipH="false" flipV="false" rot="0">
              <a:off x="0" y="0"/>
              <a:ext cx="12278360" cy="5532120"/>
            </a:xfrm>
            <a:custGeom>
              <a:avLst/>
              <a:gdLst/>
              <a:ahLst/>
              <a:cxnLst/>
              <a:rect r="r" b="b" t="t" l="l"/>
              <a:pathLst>
                <a:path h="5532120" w="12278360">
                  <a:moveTo>
                    <a:pt x="0" y="0"/>
                  </a:moveTo>
                  <a:lnTo>
                    <a:pt x="12278360" y="0"/>
                  </a:lnTo>
                  <a:lnTo>
                    <a:pt x="12278360" y="5532120"/>
                  </a:lnTo>
                  <a:lnTo>
                    <a:pt x="0" y="553212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557022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r.setToken(token);</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Consulta del catalogo: lleva la lista de categorias o de unidades. */</a:t>
              </a:r>
            </a:p>
            <a:p>
              <a:pPr algn="l">
                <a:lnSpc>
                  <a:spcPts val="1800"/>
                </a:lnSpc>
              </a:pPr>
              <a:r>
                <a:rPr lang="en-US" sz="1500">
                  <a:solidFill>
                    <a:srgbClr val="4F81BD"/>
                  </a:solidFill>
                  <a:latin typeface="Calibri (MS)"/>
                  <a:ea typeface="Calibri (MS)"/>
                  <a:cs typeface="Calibri (MS)"/>
                  <a:sym typeface="Calibri (MS)"/>
                </a:rPr>
                <a:t>    public static RespuestaServicio exitoLista(List&lt;String&gt; datos) {</a:t>
              </a:r>
            </a:p>
            <a:p>
              <a:pPr algn="l">
                <a:lnSpc>
                  <a:spcPts val="1800"/>
                </a:lnSpc>
              </a:pPr>
              <a:r>
                <a:rPr lang="en-US" sz="1500">
                  <a:solidFill>
                    <a:srgbClr val="4F81BD"/>
                  </a:solidFill>
                  <a:latin typeface="Calibri (MS)"/>
                  <a:ea typeface="Calibri (MS)"/>
                  <a:cs typeface="Calibri (MS)"/>
                  <a:sym typeface="Calibri (MS)"/>
                </a:rPr>
                <a:t>        RespuestaServicio r = exito("Consulta realizada correctamente");</a:t>
              </a:r>
            </a:p>
            <a:p>
              <a:pPr algn="l">
                <a:lnSpc>
                  <a:spcPts val="1800"/>
                </a:lnSpc>
              </a:pPr>
              <a:r>
                <a:rPr lang="en-US" sz="1500">
                  <a:solidFill>
                    <a:srgbClr val="4F81BD"/>
                  </a:solidFill>
                  <a:latin typeface="Calibri (MS)"/>
                  <a:ea typeface="Calibri (MS)"/>
                  <a:cs typeface="Calibri (MS)"/>
                  <a:sym typeface="Calibri (MS)"/>
                </a:rPr>
                <a:t>        r.setDatos(datos);</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Conversion correcta: lleva el resultado y las unidades usadas. */</a:t>
              </a:r>
            </a:p>
            <a:p>
              <a:pPr algn="l">
                <a:lnSpc>
                  <a:spcPts val="1800"/>
                </a:lnSpc>
              </a:pPr>
              <a:r>
                <a:rPr lang="en-US" sz="1500">
                  <a:solidFill>
                    <a:srgbClr val="4F81BD"/>
                  </a:solidFill>
                  <a:latin typeface="Calibri (MS)"/>
                  <a:ea typeface="Calibri (MS)"/>
                  <a:cs typeface="Calibri (MS)"/>
                  <a:sym typeface="Calibri (MS)"/>
                </a:rPr>
                <a:t>    public static RespuestaServicio exitoConversion(double resultado, String unidadOrigen, String unidadDestino) {</a:t>
              </a:r>
            </a:p>
            <a:p>
              <a:pPr algn="l">
                <a:lnSpc>
                  <a:spcPts val="1800"/>
                </a:lnSpc>
              </a:pPr>
              <a:r>
                <a:rPr lang="en-US" sz="1500">
                  <a:solidFill>
                    <a:srgbClr val="4F81BD"/>
                  </a:solidFill>
                  <a:latin typeface="Calibri (MS)"/>
                  <a:ea typeface="Calibri (MS)"/>
                  <a:cs typeface="Calibri (MS)"/>
                  <a:sym typeface="Calibri (MS)"/>
                </a:rPr>
                <a:t>        RespuestaServicio r = exito("Conversión realizada correctamente");</a:t>
              </a:r>
            </a:p>
            <a:p>
              <a:pPr algn="l">
                <a:lnSpc>
                  <a:spcPts val="1800"/>
                </a:lnSpc>
              </a:pPr>
              <a:r>
                <a:rPr lang="en-US" sz="1500">
                  <a:solidFill>
                    <a:srgbClr val="4F81BD"/>
                  </a:solidFill>
                  <a:latin typeface="Calibri (MS)"/>
                  <a:ea typeface="Calibri (MS)"/>
                  <a:cs typeface="Calibri (MS)"/>
                  <a:sym typeface="Calibri (MS)"/>
                </a:rPr>
                <a:t>        r.setResultado(resultado);</a:t>
              </a:r>
            </a:p>
            <a:p>
              <a:pPr algn="l">
                <a:lnSpc>
                  <a:spcPts val="1800"/>
                </a:lnSpc>
              </a:pPr>
              <a:r>
                <a:rPr lang="en-US" sz="1500">
                  <a:solidFill>
                    <a:srgbClr val="4F81BD"/>
                  </a:solidFill>
                  <a:latin typeface="Calibri (MS)"/>
                  <a:ea typeface="Calibri (MS)"/>
                  <a:cs typeface="Calibri (MS)"/>
                  <a:sym typeface="Calibri (MS)"/>
                </a:rPr>
                <a:t>        r.setUnidadOrigen(unidadOrigen);</a:t>
              </a:r>
            </a:p>
            <a:p>
              <a:pPr algn="l">
                <a:lnSpc>
                  <a:spcPts val="1800"/>
                </a:lnSpc>
              </a:pPr>
              <a:r>
                <a:rPr lang="en-US" sz="1500">
                  <a:solidFill>
                    <a:srgbClr val="4F81BD"/>
                  </a:solidFill>
                  <a:latin typeface="Calibri (MS)"/>
                  <a:ea typeface="Calibri (MS)"/>
                  <a:cs typeface="Calibri (MS)"/>
                  <a:sym typeface="Calibri (MS)"/>
                </a:rPr>
                <a:t>        r.setUnidadDestino(unidadDestino);</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Respuesta de error con su codigo y mensaje; el resultado queda nulo. */</a:t>
              </a:r>
            </a:p>
            <a:p>
              <a:pPr algn="l">
                <a:lnSpc>
                  <a:spcPts val="1800"/>
                </a:lnSpc>
              </a:pPr>
              <a:r>
                <a:rPr lang="en-US" sz="1500">
                  <a:solidFill>
                    <a:srgbClr val="4F81BD"/>
                  </a:solidFill>
                  <a:latin typeface="Calibri (MS)"/>
                  <a:ea typeface="Calibri (MS)"/>
                  <a:cs typeface="Calibri (MS)"/>
                  <a:sym typeface="Calibri (MS)"/>
                </a:rPr>
                <a:t>    public static RespuestaServicio error(CodigoResultado codigo, String mensaje) {</a:t>
              </a:r>
            </a:p>
            <a:p>
              <a:pPr algn="l">
                <a:lnSpc>
                  <a:spcPts val="1800"/>
                </a:lnSpc>
              </a:pPr>
              <a:r>
                <a:rPr lang="en-US" sz="1500">
                  <a:solidFill>
                    <a:srgbClr val="4F81BD"/>
                  </a:solidFill>
                  <a:latin typeface="Calibri (MS)"/>
                  <a:ea typeface="Calibri (MS)"/>
                  <a:cs typeface="Calibri (MS)"/>
                  <a:sym typeface="Calibri (MS)"/>
                </a:rPr>
                <a:t>        RespuestaServicio r = new RespuestaServicio();</a:t>
              </a:r>
            </a:p>
            <a:p>
              <a:pPr algn="l">
                <a:lnSpc>
                  <a:spcPts val="1800"/>
                </a:lnSpc>
              </a:pPr>
              <a:r>
                <a:rPr lang="en-US" sz="1500">
                  <a:solidFill>
                    <a:srgbClr val="4F81BD"/>
                  </a:solidFill>
                  <a:latin typeface="Calibri (MS)"/>
                  <a:ea typeface="Calibri (MS)"/>
                  <a:cs typeface="Calibri (MS)"/>
                  <a:sym typeface="Calibri (MS)"/>
                </a:rPr>
                <a:t>        r.setEstado(EstadoRespuesta.ERROR.getTexto());</a:t>
              </a:r>
            </a:p>
            <a:p>
              <a:pPr algn="l">
                <a:lnSpc>
                  <a:spcPts val="1800"/>
                </a:lnSpc>
              </a:pPr>
              <a:r>
                <a:rPr lang="en-US" sz="1500">
                  <a:solidFill>
                    <a:srgbClr val="4F81BD"/>
                  </a:solidFill>
                  <a:latin typeface="Calibri (MS)"/>
                  <a:ea typeface="Calibri (MS)"/>
                  <a:cs typeface="Calibri (MS)"/>
                  <a:sym typeface="Calibri (MS)"/>
                </a:rPr>
                <a:t>        r.setCodigo(codigo.getCodigo());</a:t>
              </a:r>
            </a:p>
            <a:p>
              <a:pPr algn="l">
                <a:lnSpc>
                  <a:spcPts val="1800"/>
                </a:lnSpc>
              </a:pPr>
              <a:r>
                <a:rPr lang="en-US" sz="1500">
                  <a:solidFill>
                    <a:srgbClr val="4F81BD"/>
                  </a:solidFill>
                  <a:latin typeface="Calibri (MS)"/>
                  <a:ea typeface="Calibri (MS)"/>
                  <a:cs typeface="Calibri (MS)"/>
                  <a:sym typeface="Calibri (MS)"/>
                </a:rPr>
                <a:t>        r.setMensaje(mensaje);</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512970" y="5763086"/>
            <a:ext cx="5609022" cy="3916358"/>
          </a:xfrm>
          <a:custGeom>
            <a:avLst/>
            <a:gdLst/>
            <a:ahLst/>
            <a:cxnLst/>
            <a:rect r="r" b="b" t="t" l="l"/>
            <a:pathLst>
              <a:path h="3916358" w="5609022">
                <a:moveTo>
                  <a:pt x="0" y="0"/>
                </a:moveTo>
                <a:lnTo>
                  <a:pt x="5609022" y="0"/>
                </a:lnTo>
                <a:lnTo>
                  <a:pt x="5609022" y="3916358"/>
                </a:lnTo>
                <a:lnTo>
                  <a:pt x="0" y="3916358"/>
                </a:lnTo>
                <a:lnTo>
                  <a:pt x="0" y="0"/>
                </a:lnTo>
                <a:close/>
              </a:path>
            </a:pathLst>
          </a:custGeom>
          <a:blipFill>
            <a:blip r:embed="rId3"/>
            <a:stretch>
              <a:fillRect l="0" t="0" r="0" b="0"/>
            </a:stretch>
          </a:blipFill>
        </p:spPr>
        <p:txBody>
          <a:bodyPr/>
          <a:p/>
        </p:txBody>
      </p:sp>
      <p:sp>
        <p:nvSpPr>
          <p:cNvPr name="TextBox 17" id="17"/>
          <p:cNvSpPr txBox="true"/>
          <p:nvPr/>
        </p:nvSpPr>
        <p:spPr>
          <a:xfrm rot="0">
            <a:off x="969245" y="2956541"/>
            <a:ext cx="12696473" cy="3197390"/>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1.2.5 	Lógica</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Ahora se procede a completar el resto de la lógica, donde los conversores exponen la lógica (utilizando factores de conversión y fórmulas) aplicando una interfaz Conversor, con el fin de que el catálogo pueda registrar cualquier categoría sin limitarse a una en concreto.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 que implementa cada categoría de conversión.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613910"/>
            <a:chOff x="0" y="0"/>
            <a:chExt cx="12278360" cy="6151880"/>
          </a:xfrm>
        </p:grpSpPr>
        <p:sp>
          <p:nvSpPr>
            <p:cNvPr name="Freeform 18" id="18"/>
            <p:cNvSpPr/>
            <p:nvPr/>
          </p:nvSpPr>
          <p:spPr>
            <a:xfrm flipH="false" flipV="false" rot="0">
              <a:off x="0" y="0"/>
              <a:ext cx="12278360" cy="6151880"/>
            </a:xfrm>
            <a:custGeom>
              <a:avLst/>
              <a:gdLst/>
              <a:ahLst/>
              <a:cxnLst/>
              <a:rect r="r" b="b" t="t" l="l"/>
              <a:pathLst>
                <a:path h="6151880" w="12278360">
                  <a:moveTo>
                    <a:pt x="0" y="0"/>
                  </a:moveTo>
                  <a:lnTo>
                    <a:pt x="12278360" y="0"/>
                  </a:lnTo>
                  <a:lnTo>
                    <a:pt x="12278360" y="6151880"/>
                  </a:lnTo>
                  <a:lnTo>
                    <a:pt x="0" y="615188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61899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java.text.Normalizer;</a:t>
              </a:r>
            </a:p>
            <a:p>
              <a:pPr algn="l">
                <a:lnSpc>
                  <a:spcPts val="1800"/>
                </a:lnSpc>
              </a:pPr>
              <a:r>
                <a:rPr lang="en-US" sz="1500">
                  <a:solidFill>
                    <a:srgbClr val="4F81BD"/>
                  </a:solidFill>
                  <a:latin typeface="Calibri (MS)"/>
                  <a:ea typeface="Calibri (MS)"/>
                  <a:cs typeface="Calibri (MS)"/>
                  <a:sym typeface="Calibri (MS)"/>
                </a:rPr>
                <a:t>import java.util.List;</a:t>
              </a:r>
            </a:p>
            <a:p>
              <a:pPr algn="l">
                <a:lnSpc>
                  <a:spcPts val="1800"/>
                </a:lnSpc>
              </a:pPr>
              <a:r>
                <a:rPr lang="en-US" sz="1500">
                  <a:solidFill>
                    <a:srgbClr val="4F81BD"/>
                  </a:solidFill>
                  <a:latin typeface="Calibri (MS)"/>
                  <a:ea typeface="Calibri (MS)"/>
                  <a:cs typeface="Calibri (MS)"/>
                  <a:sym typeface="Calibri (MS)"/>
                </a:rPr>
                <a:t>import java.util.Locale;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Contrato de un conversor de unidades. Cada categoria (longitud, masa,</a:t>
              </a:r>
            </a:p>
            <a:p>
              <a:pPr algn="l">
                <a:lnSpc>
                  <a:spcPts val="1800"/>
                </a:lnSpc>
              </a:pPr>
              <a:r>
                <a:rPr lang="en-US" sz="1500">
                  <a:solidFill>
                    <a:srgbClr val="4F81BD"/>
                  </a:solidFill>
                  <a:latin typeface="Calibri (MS)"/>
                  <a:ea typeface="Calibri (MS)"/>
                  <a:cs typeface="Calibri (MS)"/>
                  <a:sym typeface="Calibri (MS)"/>
                </a:rPr>
                <a:t> * temperatura, y en el futuro divisas) implementa esta interfaz y se registra</a:t>
              </a:r>
            </a:p>
            <a:p>
              <a:pPr algn="l">
                <a:lnSpc>
                  <a:spcPts val="1800"/>
                </a:lnSpc>
              </a:pPr>
              <a:r>
                <a:rPr lang="en-US" sz="1500">
                  <a:solidFill>
                    <a:srgbClr val="4F81BD"/>
                  </a:solidFill>
                  <a:latin typeface="Calibri (MS)"/>
                  <a:ea typeface="Calibri (MS)"/>
                  <a:cs typeface="Calibri (MS)"/>
                  <a:sym typeface="Calibri (MS)"/>
                </a:rPr>
                <a:t> * en {@link CatalogoUnidades}; el resto del sistema no cambia.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interface Conversor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Nombre de la categoria, por ejemplo "Longitud". */</a:t>
              </a:r>
            </a:p>
            <a:p>
              <a:pPr algn="l">
                <a:lnSpc>
                  <a:spcPts val="1800"/>
                </a:lnSpc>
              </a:pPr>
              <a:r>
                <a:rPr lang="en-US" sz="1500">
                  <a:solidFill>
                    <a:srgbClr val="4F81BD"/>
                  </a:solidFill>
                  <a:latin typeface="Calibri (MS)"/>
                  <a:ea typeface="Calibri (MS)"/>
                  <a:cs typeface="Calibri (MS)"/>
                  <a:sym typeface="Calibri (MS)"/>
                </a:rPr>
                <a:t>    String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Unidades soportadas, en minusculas y sin tildes. */</a:t>
              </a:r>
            </a:p>
            <a:p>
              <a:pPr algn="l">
                <a:lnSpc>
                  <a:spcPts val="1800"/>
                </a:lnSpc>
              </a:pPr>
              <a:r>
                <a:rPr lang="en-US" sz="1500">
                  <a:solidFill>
                    <a:srgbClr val="4F81BD"/>
                  </a:solidFill>
                  <a:latin typeface="Calibri (MS)"/>
                  <a:ea typeface="Calibri (MS)"/>
                  <a:cs typeface="Calibri (MS)"/>
                  <a:sym typeface="Calibri (MS)"/>
                </a:rPr>
                <a:t>    List&lt;String&gt; unidades();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Convierte un valor. Las unidades ya fueron validadas contra</a:t>
              </a:r>
            </a:p>
            <a:p>
              <a:pPr algn="l">
                <a:lnSpc>
                  <a:spcPts val="1800"/>
                </a:lnSpc>
              </a:pPr>
              <a:r>
                <a:rPr lang="en-US" sz="1500">
                  <a:solidFill>
                    <a:srgbClr val="4F81BD"/>
                  </a:solidFill>
                  <a:latin typeface="Calibri (MS)"/>
                  <a:ea typeface="Calibri (MS)"/>
                  <a:cs typeface="Calibri (MS)"/>
                  <a:sym typeface="Calibri (MS)"/>
                </a:rPr>
                <a:t>     * {@link #unidades()} y vienen normalizadas.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double convertir(double valor, String origen, String destino);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Pasa a minusculas, sin tildes y sin espacios sobrantes. */</a:t>
              </a:r>
            </a:p>
            <a:p>
              <a:pPr algn="l">
                <a:lnSpc>
                  <a:spcPts val="1800"/>
                </a:lnSpc>
              </a:pPr>
              <a:r>
                <a:rPr lang="en-US" sz="1500">
                  <a:solidFill>
                    <a:srgbClr val="4F81BD"/>
                  </a:solidFill>
                  <a:latin typeface="Calibri (MS)"/>
                  <a:ea typeface="Calibri (MS)"/>
                  <a:cs typeface="Calibri (MS)"/>
                  <a:sym typeface="Calibri (MS)"/>
                </a:rPr>
                <a:t>    static String normalizar(String texto) {</a:t>
              </a:r>
            </a:p>
            <a:p>
              <a:pPr algn="l">
                <a:lnSpc>
                  <a:spcPts val="1800"/>
                </a:lnSpc>
              </a:pPr>
              <a:r>
                <a:rPr lang="en-US" sz="1500">
                  <a:solidFill>
                    <a:srgbClr val="4F81BD"/>
                  </a:solidFill>
                  <a:latin typeface="Calibri (MS)"/>
                  <a:ea typeface="Calibri (MS)"/>
                  <a:cs typeface="Calibri (MS)"/>
                  <a:sym typeface="Calibri (MS)"/>
                </a:rPr>
                <a:t>        if (texto == null) {</a:t>
              </a:r>
            </a:p>
            <a:p>
              <a:pPr algn="l">
                <a:lnSpc>
                  <a:spcPts val="1800"/>
                </a:lnSpc>
              </a:pPr>
              <a:r>
                <a:rPr lang="en-US" sz="1500">
                  <a:solidFill>
                    <a:srgbClr val="4F81BD"/>
                  </a:solidFill>
                  <a:latin typeface="Calibri (MS)"/>
                  <a:ea typeface="Calibri (MS)"/>
                  <a:cs typeface="Calibri (MS)"/>
                  <a:sym typeface="Calibri (MS)"/>
                </a:rPr>
                <a:t>            return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s = Normalizer.normalize(texto.trim(), Normalizer.Form.NFD);</a:t>
              </a:r>
            </a:p>
            <a:p>
              <a:pPr algn="l">
                <a:lnSpc>
                  <a:spcPts val="1800"/>
                </a:lnSpc>
              </a:pPr>
              <a:r>
                <a:rPr lang="en-US" sz="1500">
                  <a:solidFill>
                    <a:srgbClr val="4F81BD"/>
                  </a:solidFill>
                  <a:latin typeface="Calibri (MS)"/>
                  <a:ea typeface="Calibri (MS)"/>
                  <a:cs typeface="Calibri (MS)"/>
                  <a:sym typeface="Calibri (MS)"/>
                </a:rPr>
                <a:t>        return s.replaceAll("\\p{M}", "").toLowerCase(Locale.ROOT);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ConversorLongitud</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longitud: factores respecto al metro.</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610"/>
                </a:lnSpc>
              </a:pPr>
              <a:r>
                <a:rPr lang="en-US" sz="1342">
                  <a:solidFill>
                    <a:srgbClr val="4F81BD"/>
                  </a:solidFill>
                  <a:latin typeface="Calibri (MS)"/>
                  <a:ea typeface="Calibri (MS)"/>
                  <a:cs typeface="Calibri (MS)"/>
                  <a:sym typeface="Calibri (MS)"/>
                </a:rPr>
                <a:t>package ec.edu.monster.servicios;</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import java.util.LinkedHashMap;</a:t>
              </a:r>
            </a:p>
            <a:p>
              <a:pPr algn="l">
                <a:lnSpc>
                  <a:spcPts val="1610"/>
                </a:lnSpc>
              </a:pPr>
              <a:r>
                <a:rPr lang="en-US" sz="1342">
                  <a:solidFill>
                    <a:srgbClr val="4F81BD"/>
                  </a:solidFill>
                  <a:latin typeface="Calibri (MS)"/>
                  <a:ea typeface="Calibri (MS)"/>
                  <a:cs typeface="Calibri (MS)"/>
                  <a:sym typeface="Calibri (MS)"/>
                </a:rPr>
                <a:t>import java.util.List;</a:t>
              </a:r>
            </a:p>
            <a:p>
              <a:pPr algn="l">
                <a:lnSpc>
                  <a:spcPts val="1610"/>
                </a:lnSpc>
              </a:pPr>
              <a:r>
                <a:rPr lang="en-US" sz="1342">
                  <a:solidFill>
                    <a:srgbClr val="4F81BD"/>
                  </a:solidFill>
                  <a:latin typeface="Calibri (MS)"/>
                  <a:ea typeface="Calibri (MS)"/>
                  <a:cs typeface="Calibri (MS)"/>
                  <a:sym typeface="Calibri (MS)"/>
                </a:rPr>
                <a:t>import java.util.Map;</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a:t>
              </a:r>
            </a:p>
            <a:p>
              <a:pPr algn="l">
                <a:lnSpc>
                  <a:spcPts val="1610"/>
                </a:lnSpc>
              </a:pPr>
              <a:r>
                <a:rPr lang="en-US" sz="1342">
                  <a:solidFill>
                    <a:srgbClr val="4F81BD"/>
                  </a:solidFill>
                  <a:latin typeface="Calibri (MS)"/>
                  <a:ea typeface="Calibri (MS)"/>
                  <a:cs typeface="Calibri (MS)"/>
                  <a:sym typeface="Calibri (MS)"/>
                </a:rPr>
                <a:t> * Longitud: conversion lineal con unidad base metro.</a:t>
              </a:r>
            </a:p>
            <a:p>
              <a:pPr algn="l">
                <a:lnSpc>
                  <a:spcPts val="1610"/>
                </a:lnSpc>
              </a:pPr>
              <a:r>
                <a:rPr lang="en-US" sz="1342">
                  <a:solidFill>
                    <a:srgbClr val="4F81BD"/>
                  </a:solidFill>
                  <a:latin typeface="Calibri (MS)"/>
                  <a:ea typeface="Calibri (MS)"/>
                  <a:cs typeface="Calibri (MS)"/>
                  <a:sym typeface="Calibri (MS)"/>
                </a:rPr>
                <a:t> * resultado = valor x factorOrigen / factorDestino</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public class ConversorLongitud implements Conversor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 Factores en metros. */</a:t>
              </a:r>
            </a:p>
            <a:p>
              <a:pPr algn="l">
                <a:lnSpc>
                  <a:spcPts val="1610"/>
                </a:lnSpc>
              </a:pPr>
              <a:r>
                <a:rPr lang="en-US" sz="1342">
                  <a:solidFill>
                    <a:srgbClr val="4F81BD"/>
                  </a:solidFill>
                  <a:latin typeface="Calibri (MS)"/>
                  <a:ea typeface="Calibri (MS)"/>
                  <a:cs typeface="Calibri (MS)"/>
                  <a:sym typeface="Calibri (MS)"/>
                </a:rPr>
                <a:t>    private static final Map&lt;String, Double&gt; METROS = new LinkedHashMap&lt;&gt;();</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static {</a:t>
              </a:r>
            </a:p>
            <a:p>
              <a:pPr algn="l">
                <a:lnSpc>
                  <a:spcPts val="1610"/>
                </a:lnSpc>
              </a:pPr>
              <a:r>
                <a:rPr lang="en-US" sz="1342">
                  <a:solidFill>
                    <a:srgbClr val="4F81BD"/>
                  </a:solidFill>
                  <a:latin typeface="Calibri (MS)"/>
                  <a:ea typeface="Calibri (MS)"/>
                  <a:cs typeface="Calibri (MS)"/>
                  <a:sym typeface="Calibri (MS)"/>
                </a:rPr>
                <a:t>        METROS.put("centimetros", 0.01);</a:t>
              </a:r>
            </a:p>
            <a:p>
              <a:pPr algn="l">
                <a:lnSpc>
                  <a:spcPts val="1610"/>
                </a:lnSpc>
              </a:pPr>
              <a:r>
                <a:rPr lang="en-US" sz="1342">
                  <a:solidFill>
                    <a:srgbClr val="4F81BD"/>
                  </a:solidFill>
                  <a:latin typeface="Calibri (MS)"/>
                  <a:ea typeface="Calibri (MS)"/>
                  <a:cs typeface="Calibri (MS)"/>
                  <a:sym typeface="Calibri (MS)"/>
                </a:rPr>
                <a:t>        METROS.put("metros", 1.0);</a:t>
              </a:r>
            </a:p>
            <a:p>
              <a:pPr algn="l">
                <a:lnSpc>
                  <a:spcPts val="1610"/>
                </a:lnSpc>
              </a:pPr>
              <a:r>
                <a:rPr lang="en-US" sz="1342">
                  <a:solidFill>
                    <a:srgbClr val="4F81BD"/>
                  </a:solidFill>
                  <a:latin typeface="Calibri (MS)"/>
                  <a:ea typeface="Calibri (MS)"/>
                  <a:cs typeface="Calibri (MS)"/>
                  <a:sym typeface="Calibri (MS)"/>
                </a:rPr>
                <a:t>        METROS.put("pies", 0.3048);</a:t>
              </a:r>
            </a:p>
            <a:p>
              <a:pPr algn="l">
                <a:lnSpc>
                  <a:spcPts val="1610"/>
                </a:lnSpc>
              </a:pPr>
              <a:r>
                <a:rPr lang="en-US" sz="1342">
                  <a:solidFill>
                    <a:srgbClr val="4F81BD"/>
                  </a:solidFill>
                  <a:latin typeface="Calibri (MS)"/>
                  <a:ea typeface="Calibri (MS)"/>
                  <a:cs typeface="Calibri (MS)"/>
                  <a:sym typeface="Calibri (MS)"/>
                </a:rPr>
                <a:t>        METROS.put("yardas", 0.9144);</a:t>
              </a:r>
            </a:p>
            <a:p>
              <a:pPr algn="l">
                <a:lnSpc>
                  <a:spcPts val="1610"/>
                </a:lnSpc>
              </a:pPr>
              <a:r>
                <a:rPr lang="en-US" sz="1342">
                  <a:solidFill>
                    <a:srgbClr val="4F81BD"/>
                  </a:solidFill>
                  <a:latin typeface="Calibri (MS)"/>
                  <a:ea typeface="Calibri (MS)"/>
                  <a:cs typeface="Calibri (MS)"/>
                  <a:sym typeface="Calibri (MS)"/>
                </a:rPr>
                <a:t>        METROS.put("millas", 1609.344);</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@Override</a:t>
              </a:r>
            </a:p>
            <a:p>
              <a:pPr algn="l">
                <a:lnSpc>
                  <a:spcPts val="1610"/>
                </a:lnSpc>
              </a:pPr>
              <a:r>
                <a:rPr lang="en-US" sz="1342">
                  <a:solidFill>
                    <a:srgbClr val="4F81BD"/>
                  </a:solidFill>
                  <a:latin typeface="Calibri (MS)"/>
                  <a:ea typeface="Calibri (MS)"/>
                  <a:cs typeface="Calibri (MS)"/>
                  <a:sym typeface="Calibri (MS)"/>
                </a:rPr>
                <a:t>    public String categoria() {</a:t>
              </a:r>
            </a:p>
            <a:p>
              <a:pPr algn="l">
                <a:lnSpc>
                  <a:spcPts val="1610"/>
                </a:lnSpc>
              </a:pPr>
              <a:r>
                <a:rPr lang="en-US" sz="1342">
                  <a:solidFill>
                    <a:srgbClr val="4F81BD"/>
                  </a:solidFill>
                  <a:latin typeface="Calibri (MS)"/>
                  <a:ea typeface="Calibri (MS)"/>
                  <a:cs typeface="Calibri (MS)"/>
                  <a:sym typeface="Calibri (MS)"/>
                </a:rPr>
                <a:t>        return "Longitud";</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@Override</a:t>
              </a:r>
            </a:p>
            <a:p>
              <a:pPr algn="l">
                <a:lnSpc>
                  <a:spcPts val="1610"/>
                </a:lnSpc>
              </a:pPr>
              <a:r>
                <a:rPr lang="en-US" sz="1342">
                  <a:solidFill>
                    <a:srgbClr val="4F81BD"/>
                  </a:solidFill>
                  <a:latin typeface="Calibri (MS)"/>
                  <a:ea typeface="Calibri (MS)"/>
                  <a:cs typeface="Calibri (MS)"/>
                  <a:sym typeface="Calibri (MS)"/>
                </a:rPr>
                <a:t>    public List&lt;String&gt; unidades() {</a:t>
              </a:r>
            </a:p>
            <a:p>
              <a:pPr algn="l">
                <a:lnSpc>
                  <a:spcPts val="1610"/>
                </a:lnSpc>
              </a:pPr>
              <a:r>
                <a:rPr lang="en-US" sz="1342">
                  <a:solidFill>
                    <a:srgbClr val="4F81BD"/>
                  </a:solidFill>
                  <a:latin typeface="Calibri (MS)"/>
                  <a:ea typeface="Calibri (MS)"/>
                  <a:cs typeface="Calibri (MS)"/>
                  <a:sym typeface="Calibri (MS)"/>
                </a:rPr>
                <a:t>        return List.copyOf(METROS.keySet());</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@Override</a:t>
              </a:r>
            </a:p>
            <a:p>
              <a:pPr algn="l">
                <a:lnSpc>
                  <a:spcPts val="1610"/>
                </a:lnSpc>
              </a:pPr>
              <a:r>
                <a:rPr lang="en-US" sz="1342">
                  <a:solidFill>
                    <a:srgbClr val="4F81BD"/>
                  </a:solidFill>
                  <a:latin typeface="Calibri (MS)"/>
                  <a:ea typeface="Calibri (MS)"/>
                  <a:cs typeface="Calibri (MS)"/>
                  <a:sym typeface="Calibri (MS)"/>
                </a:rPr>
                <a:t>    public double convertir(double valor, String origen, String destino) {</a:t>
              </a:r>
            </a:p>
            <a:p>
              <a:pPr algn="l">
                <a:lnSpc>
                  <a:spcPts val="1610"/>
                </a:lnSpc>
              </a:pPr>
              <a:r>
                <a:rPr lang="en-US" sz="1342">
                  <a:solidFill>
                    <a:srgbClr val="4F81BD"/>
                  </a:solidFill>
                  <a:latin typeface="Calibri (MS)"/>
                  <a:ea typeface="Calibri (MS)"/>
                  <a:cs typeface="Calibri (MS)"/>
                  <a:sym typeface="Calibri (MS)"/>
                </a:rPr>
                <a:t>        return valor * METROS.get(origen) / METROS.get(destino);</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ConversorMasa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masa: factores respecto al kilogramo.</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610"/>
                </a:lnSpc>
              </a:pPr>
              <a:r>
                <a:rPr lang="en-US" sz="1342">
                  <a:solidFill>
                    <a:srgbClr val="4F81BD"/>
                  </a:solidFill>
                  <a:latin typeface="Calibri (MS)"/>
                  <a:ea typeface="Calibri (MS)"/>
                  <a:cs typeface="Calibri (MS)"/>
                  <a:sym typeface="Calibri (MS)"/>
                </a:rPr>
                <a:t>package ec.edu.monster.servicios;</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import java.util.LinkedHashMap;</a:t>
              </a:r>
            </a:p>
            <a:p>
              <a:pPr algn="l">
                <a:lnSpc>
                  <a:spcPts val="1610"/>
                </a:lnSpc>
              </a:pPr>
              <a:r>
                <a:rPr lang="en-US" sz="1342">
                  <a:solidFill>
                    <a:srgbClr val="4F81BD"/>
                  </a:solidFill>
                  <a:latin typeface="Calibri (MS)"/>
                  <a:ea typeface="Calibri (MS)"/>
                  <a:cs typeface="Calibri (MS)"/>
                  <a:sym typeface="Calibri (MS)"/>
                </a:rPr>
                <a:t>import java.util.List;</a:t>
              </a:r>
            </a:p>
            <a:p>
              <a:pPr algn="l">
                <a:lnSpc>
                  <a:spcPts val="1610"/>
                </a:lnSpc>
              </a:pPr>
              <a:r>
                <a:rPr lang="en-US" sz="1342">
                  <a:solidFill>
                    <a:srgbClr val="4F81BD"/>
                  </a:solidFill>
                  <a:latin typeface="Calibri (MS)"/>
                  <a:ea typeface="Calibri (MS)"/>
                  <a:cs typeface="Calibri (MS)"/>
                  <a:sym typeface="Calibri (MS)"/>
                </a:rPr>
                <a:t>import java.util.Map;</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a:t>
              </a:r>
            </a:p>
            <a:p>
              <a:pPr algn="l">
                <a:lnSpc>
                  <a:spcPts val="1610"/>
                </a:lnSpc>
              </a:pPr>
              <a:r>
                <a:rPr lang="en-US" sz="1342">
                  <a:solidFill>
                    <a:srgbClr val="4F81BD"/>
                  </a:solidFill>
                  <a:latin typeface="Calibri (MS)"/>
                  <a:ea typeface="Calibri (MS)"/>
                  <a:cs typeface="Calibri (MS)"/>
                  <a:sym typeface="Calibri (MS)"/>
                </a:rPr>
                <a:t> * Masa: conversion lineal con unidad base kilogramo.</a:t>
              </a:r>
            </a:p>
            <a:p>
              <a:pPr algn="l">
                <a:lnSpc>
                  <a:spcPts val="1610"/>
                </a:lnSpc>
              </a:pPr>
              <a:r>
                <a:rPr lang="en-US" sz="1342">
                  <a:solidFill>
                    <a:srgbClr val="4F81BD"/>
                  </a:solidFill>
                  <a:latin typeface="Calibri (MS)"/>
                  <a:ea typeface="Calibri (MS)"/>
                  <a:cs typeface="Calibri (MS)"/>
                  <a:sym typeface="Calibri (MS)"/>
                </a:rPr>
                <a:t> * resultado = valor x factorOrigen / factorDestino</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public class ConversorMasa implements Conversor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 Factores en kilogramos (el quintal equivale a 100 libras). */</a:t>
              </a:r>
            </a:p>
            <a:p>
              <a:pPr algn="l">
                <a:lnSpc>
                  <a:spcPts val="1610"/>
                </a:lnSpc>
              </a:pPr>
              <a:r>
                <a:rPr lang="en-US" sz="1342">
                  <a:solidFill>
                    <a:srgbClr val="4F81BD"/>
                  </a:solidFill>
                  <a:latin typeface="Calibri (MS)"/>
                  <a:ea typeface="Calibri (MS)"/>
                  <a:cs typeface="Calibri (MS)"/>
                  <a:sym typeface="Calibri (MS)"/>
                </a:rPr>
                <a:t>    private static final Map&lt;String, Double&gt; KILOS = new LinkedHashMap&lt;&gt;();</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static {</a:t>
              </a:r>
            </a:p>
            <a:p>
              <a:pPr algn="l">
                <a:lnSpc>
                  <a:spcPts val="1610"/>
                </a:lnSpc>
              </a:pPr>
              <a:r>
                <a:rPr lang="en-US" sz="1342">
                  <a:solidFill>
                    <a:srgbClr val="4F81BD"/>
                  </a:solidFill>
                  <a:latin typeface="Calibri (MS)"/>
                  <a:ea typeface="Calibri (MS)"/>
                  <a:cs typeface="Calibri (MS)"/>
                  <a:sym typeface="Calibri (MS)"/>
                </a:rPr>
                <a:t>        KILOS.put("gramos", 0.001);</a:t>
              </a:r>
            </a:p>
            <a:p>
              <a:pPr algn="l">
                <a:lnSpc>
                  <a:spcPts val="1610"/>
                </a:lnSpc>
              </a:pPr>
              <a:r>
                <a:rPr lang="en-US" sz="1342">
                  <a:solidFill>
                    <a:srgbClr val="4F81BD"/>
                  </a:solidFill>
                  <a:latin typeface="Calibri (MS)"/>
                  <a:ea typeface="Calibri (MS)"/>
                  <a:cs typeface="Calibri (MS)"/>
                  <a:sym typeface="Calibri (MS)"/>
                </a:rPr>
                <a:t>        KILOS.put("kilogramos", 1.0);</a:t>
              </a:r>
            </a:p>
            <a:p>
              <a:pPr algn="l">
                <a:lnSpc>
                  <a:spcPts val="1610"/>
                </a:lnSpc>
              </a:pPr>
              <a:r>
                <a:rPr lang="en-US" sz="1342">
                  <a:solidFill>
                    <a:srgbClr val="4F81BD"/>
                  </a:solidFill>
                  <a:latin typeface="Calibri (MS)"/>
                  <a:ea typeface="Calibri (MS)"/>
                  <a:cs typeface="Calibri (MS)"/>
                  <a:sym typeface="Calibri (MS)"/>
                </a:rPr>
                <a:t>        KILOS.put("onzas", 0.028349523125);</a:t>
              </a:r>
            </a:p>
            <a:p>
              <a:pPr algn="l">
                <a:lnSpc>
                  <a:spcPts val="1610"/>
                </a:lnSpc>
              </a:pPr>
              <a:r>
                <a:rPr lang="en-US" sz="1342">
                  <a:solidFill>
                    <a:srgbClr val="4F81BD"/>
                  </a:solidFill>
                  <a:latin typeface="Calibri (MS)"/>
                  <a:ea typeface="Calibri (MS)"/>
                  <a:cs typeface="Calibri (MS)"/>
                  <a:sym typeface="Calibri (MS)"/>
                </a:rPr>
                <a:t>        KILOS.put("libras", 0.45359237);</a:t>
              </a:r>
            </a:p>
            <a:p>
              <a:pPr algn="l">
                <a:lnSpc>
                  <a:spcPts val="1610"/>
                </a:lnSpc>
              </a:pPr>
              <a:r>
                <a:rPr lang="en-US" sz="1342">
                  <a:solidFill>
                    <a:srgbClr val="4F81BD"/>
                  </a:solidFill>
                  <a:latin typeface="Calibri (MS)"/>
                  <a:ea typeface="Calibri (MS)"/>
                  <a:cs typeface="Calibri (MS)"/>
                  <a:sym typeface="Calibri (MS)"/>
                </a:rPr>
                <a:t>        KILOS.put("quintales", 45.359237);</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@Override</a:t>
              </a:r>
            </a:p>
            <a:p>
              <a:pPr algn="l">
                <a:lnSpc>
                  <a:spcPts val="1610"/>
                </a:lnSpc>
              </a:pPr>
              <a:r>
                <a:rPr lang="en-US" sz="1342">
                  <a:solidFill>
                    <a:srgbClr val="4F81BD"/>
                  </a:solidFill>
                  <a:latin typeface="Calibri (MS)"/>
                  <a:ea typeface="Calibri (MS)"/>
                  <a:cs typeface="Calibri (MS)"/>
                  <a:sym typeface="Calibri (MS)"/>
                </a:rPr>
                <a:t>    public String categoria() {</a:t>
              </a:r>
            </a:p>
            <a:p>
              <a:pPr algn="l">
                <a:lnSpc>
                  <a:spcPts val="1610"/>
                </a:lnSpc>
              </a:pPr>
              <a:r>
                <a:rPr lang="en-US" sz="1342">
                  <a:solidFill>
                    <a:srgbClr val="4F81BD"/>
                  </a:solidFill>
                  <a:latin typeface="Calibri (MS)"/>
                  <a:ea typeface="Calibri (MS)"/>
                  <a:cs typeface="Calibri (MS)"/>
                  <a:sym typeface="Calibri (MS)"/>
                </a:rPr>
                <a:t>        return "Masa";</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@Override</a:t>
              </a:r>
            </a:p>
            <a:p>
              <a:pPr algn="l">
                <a:lnSpc>
                  <a:spcPts val="1610"/>
                </a:lnSpc>
              </a:pPr>
              <a:r>
                <a:rPr lang="en-US" sz="1342">
                  <a:solidFill>
                    <a:srgbClr val="4F81BD"/>
                  </a:solidFill>
                  <a:latin typeface="Calibri (MS)"/>
                  <a:ea typeface="Calibri (MS)"/>
                  <a:cs typeface="Calibri (MS)"/>
                  <a:sym typeface="Calibri (MS)"/>
                </a:rPr>
                <a:t>    public List&lt;String&gt; unidades() {</a:t>
              </a:r>
            </a:p>
            <a:p>
              <a:pPr algn="l">
                <a:lnSpc>
                  <a:spcPts val="1610"/>
                </a:lnSpc>
              </a:pPr>
              <a:r>
                <a:rPr lang="en-US" sz="1342">
                  <a:solidFill>
                    <a:srgbClr val="4F81BD"/>
                  </a:solidFill>
                  <a:latin typeface="Calibri (MS)"/>
                  <a:ea typeface="Calibri (MS)"/>
                  <a:cs typeface="Calibri (MS)"/>
                  <a:sym typeface="Calibri (MS)"/>
                </a:rPr>
                <a:t>        return List.copyOf(KILOS.keySet());</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    @Override</a:t>
              </a:r>
            </a:p>
            <a:p>
              <a:pPr algn="l">
                <a:lnSpc>
                  <a:spcPts val="1610"/>
                </a:lnSpc>
              </a:pPr>
              <a:r>
                <a:rPr lang="en-US" sz="1342">
                  <a:solidFill>
                    <a:srgbClr val="4F81BD"/>
                  </a:solidFill>
                  <a:latin typeface="Calibri (MS)"/>
                  <a:ea typeface="Calibri (MS)"/>
                  <a:cs typeface="Calibri (MS)"/>
                  <a:sym typeface="Calibri (MS)"/>
                </a:rPr>
                <a:t>    public double convertir(double valor, String origen, String destino) {</a:t>
              </a:r>
            </a:p>
            <a:p>
              <a:pPr algn="l">
                <a:lnSpc>
                  <a:spcPts val="1610"/>
                </a:lnSpc>
              </a:pPr>
              <a:r>
                <a:rPr lang="en-US" sz="1342">
                  <a:solidFill>
                    <a:srgbClr val="4F81BD"/>
                  </a:solidFill>
                  <a:latin typeface="Calibri (MS)"/>
                  <a:ea typeface="Calibri (MS)"/>
                  <a:cs typeface="Calibri (MS)"/>
                  <a:sym typeface="Calibri (MS)"/>
                </a:rPr>
                <a:t>        return valor * KILOS.get(origen) / KILOS.get(destino);</a:t>
              </a:r>
            </a:p>
            <a:p>
              <a:pPr algn="l">
                <a:lnSpc>
                  <a:spcPts val="1610"/>
                </a:lnSpc>
              </a:pPr>
              <a:r>
                <a:rPr lang="en-US" sz="1342">
                  <a:solidFill>
                    <a:srgbClr val="4F81BD"/>
                  </a:solidFill>
                  <a:latin typeface="Calibri (MS)"/>
                  <a:ea typeface="Calibri (MS)"/>
                  <a:cs typeface="Calibri (MS)"/>
                  <a:sym typeface="Calibri (MS)"/>
                </a:rPr>
                <a:t>    }</a:t>
              </a:r>
            </a:p>
            <a:p>
              <a:pPr algn="l">
                <a:lnSpc>
                  <a:spcPts val="1610"/>
                </a:lnSpc>
              </a:pPr>
              <a:r>
                <a:rPr lang="en-US" sz="1342">
                  <a:solidFill>
                    <a:srgbClr val="4F81BD"/>
                  </a:solidFill>
                  <a:latin typeface="Calibri (MS)"/>
                  <a:ea typeface="Calibri (MS)"/>
                  <a:cs typeface="Calibri (MS)"/>
                  <a:sym typeface="Calibri (MS)"/>
                </a:rPr>
                <a:t>}</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ConversorTemperatura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temperatura: fórmulas entre Celsius, Fahrenheit, Kelvin, Newton y Réaumur.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java.util.List;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Temperatura: no es lineal. Se pasa primero a celsius y luego a la escala de</a:t>
              </a:r>
            </a:p>
            <a:p>
              <a:pPr algn="l">
                <a:lnSpc>
                  <a:spcPts val="1800"/>
                </a:lnSpc>
              </a:pPr>
              <a:r>
                <a:rPr lang="en-US" sz="1500">
                  <a:solidFill>
                    <a:srgbClr val="4F81BD"/>
                  </a:solidFill>
                  <a:latin typeface="Calibri (MS)"/>
                  <a:ea typeface="Calibri (MS)"/>
                  <a:cs typeface="Calibri (MS)"/>
                  <a:sym typeface="Calibri (MS)"/>
                </a:rPr>
                <a:t> * destino.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A celsius: C = (F - 32) x 5/9; C = K - 273,15; C = N x 100/33; C = Re x 5/4.</a:t>
              </a:r>
            </a:p>
            <a:p>
              <a:pPr algn="l">
                <a:lnSpc>
                  <a:spcPts val="1800"/>
                </a:lnSpc>
              </a:pPr>
              <a:r>
                <a:rPr lang="en-US" sz="1500">
                  <a:solidFill>
                    <a:srgbClr val="4F81BD"/>
                  </a:solidFill>
                  <a:latin typeface="Calibri (MS)"/>
                  <a:ea typeface="Calibri (MS)"/>
                  <a:cs typeface="Calibri (MS)"/>
                  <a:sym typeface="Calibri (MS)"/>
                </a:rPr>
                <a:t> * Desde celsius: F = C x 9/5 + 32; K = C + 273,15; N = C x 33/100; Re = C x 4/5.</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ConversorTemperatura implements Conversor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List&lt;String&gt; UNIDADES =</a:t>
              </a:r>
            </a:p>
            <a:p>
              <a:pPr algn="l">
                <a:lnSpc>
                  <a:spcPts val="1800"/>
                </a:lnSpc>
              </a:pPr>
              <a:r>
                <a:rPr lang="en-US" sz="1500">
                  <a:solidFill>
                    <a:srgbClr val="4F81BD"/>
                  </a:solidFill>
                  <a:latin typeface="Calibri (MS)"/>
                  <a:ea typeface="Calibri (MS)"/>
                  <a:cs typeface="Calibri (MS)"/>
                  <a:sym typeface="Calibri (MS)"/>
                </a:rPr>
                <a:t>            List.of("celsius", "fahrenheit", "kelvin", "newton", "reaumur");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String categoria() {</a:t>
              </a:r>
            </a:p>
            <a:p>
              <a:pPr algn="l">
                <a:lnSpc>
                  <a:spcPts val="1800"/>
                </a:lnSpc>
              </a:pPr>
              <a:r>
                <a:rPr lang="en-US" sz="1500">
                  <a:solidFill>
                    <a:srgbClr val="4F81BD"/>
                  </a:solidFill>
                  <a:latin typeface="Calibri (MS)"/>
                  <a:ea typeface="Calibri (MS)"/>
                  <a:cs typeface="Calibri (MS)"/>
                  <a:sym typeface="Calibri (MS)"/>
                </a:rPr>
                <a:t>        return "Temperatura";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List&lt;String&gt; unidades() {</a:t>
              </a:r>
            </a:p>
            <a:p>
              <a:pPr algn="l">
                <a:lnSpc>
                  <a:spcPts val="1800"/>
                </a:lnSpc>
              </a:pPr>
              <a:r>
                <a:rPr lang="en-US" sz="1500">
                  <a:solidFill>
                    <a:srgbClr val="4F81BD"/>
                  </a:solidFill>
                  <a:latin typeface="Calibri (MS)"/>
                  <a:ea typeface="Calibri (MS)"/>
                  <a:cs typeface="Calibri (MS)"/>
                  <a:sym typeface="Calibri (MS)"/>
                </a:rPr>
                <a:t>        return UNIDADES;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@Override</a:t>
              </a:r>
            </a:p>
            <a:p>
              <a:pPr algn="l">
                <a:lnSpc>
                  <a:spcPts val="1800"/>
                </a:lnSpc>
              </a:pPr>
              <a:r>
                <a:rPr lang="en-US" sz="1500">
                  <a:solidFill>
                    <a:srgbClr val="4F81BD"/>
                  </a:solidFill>
                  <a:latin typeface="Calibri (MS)"/>
                  <a:ea typeface="Calibri (MS)"/>
                  <a:cs typeface="Calibri (MS)"/>
                  <a:sym typeface="Calibri (MS)"/>
                </a:rPr>
                <a:t>    public double convertir(double valor, String origen, String destino) {</a:t>
              </a:r>
            </a:p>
            <a:p>
              <a:pPr algn="l">
                <a:lnSpc>
                  <a:spcPts val="1800"/>
                </a:lnSpc>
              </a:pPr>
              <a:r>
                <a:rPr lang="en-US" sz="1500">
                  <a:solidFill>
                    <a:srgbClr val="4F81BD"/>
                  </a:solidFill>
                  <a:latin typeface="Calibri (MS)"/>
                  <a:ea typeface="Calibri (MS)"/>
                  <a:cs typeface="Calibri (MS)"/>
                  <a:sym typeface="Calibri (MS)"/>
                </a:rPr>
                <a:t>        double celsius = aCelsius(valor, origen);</a:t>
              </a:r>
            </a:p>
            <a:p>
              <a:pPr algn="l">
                <a:lnSpc>
                  <a:spcPts val="1800"/>
                </a:lnSpc>
              </a:pPr>
              <a:r>
                <a:rPr lang="en-US" sz="1500">
                  <a:solidFill>
                    <a:srgbClr val="4F81BD"/>
                  </a:solidFill>
                  <a:latin typeface="Calibri (MS)"/>
                  <a:ea typeface="Calibri (MS)"/>
                  <a:cs typeface="Calibri (MS)"/>
                  <a:sym typeface="Calibri (MS)"/>
                </a:rPr>
                <a:t>        return desdeCelsius(celsius, destino);</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ConversorTemperatura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Conversor de temperatura: fórmulas entre Celsius, Fahrenheit, Kelvin, Newton y Réaumur.</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double aCelsius(double v, String escala) {</a:t>
              </a:r>
            </a:p>
            <a:p>
              <a:pPr algn="l">
                <a:lnSpc>
                  <a:spcPts val="1800"/>
                </a:lnSpc>
              </a:pPr>
              <a:r>
                <a:rPr lang="en-US" sz="1500">
                  <a:solidFill>
                    <a:srgbClr val="4F81BD"/>
                  </a:solidFill>
                  <a:latin typeface="Calibri (MS)"/>
                  <a:ea typeface="Calibri (MS)"/>
                  <a:cs typeface="Calibri (MS)"/>
                  <a:sym typeface="Calibri (MS)"/>
                </a:rPr>
                <a:t>        switch (escala) {</a:t>
              </a:r>
            </a:p>
            <a:p>
              <a:pPr algn="l">
                <a:lnSpc>
                  <a:spcPts val="1800"/>
                </a:lnSpc>
              </a:pPr>
              <a:r>
                <a:rPr lang="en-US" sz="1500">
                  <a:solidFill>
                    <a:srgbClr val="4F81BD"/>
                  </a:solidFill>
                  <a:latin typeface="Calibri (MS)"/>
                  <a:ea typeface="Calibri (MS)"/>
                  <a:cs typeface="Calibri (MS)"/>
                  <a:sym typeface="Calibri (MS)"/>
                </a:rPr>
                <a:t>            case "fahrenheit":</a:t>
              </a:r>
            </a:p>
            <a:p>
              <a:pPr algn="l">
                <a:lnSpc>
                  <a:spcPts val="1800"/>
                </a:lnSpc>
              </a:pPr>
              <a:r>
                <a:rPr lang="en-US" sz="1500">
                  <a:solidFill>
                    <a:srgbClr val="4F81BD"/>
                  </a:solidFill>
                  <a:latin typeface="Calibri (MS)"/>
                  <a:ea typeface="Calibri (MS)"/>
                  <a:cs typeface="Calibri (MS)"/>
                  <a:sym typeface="Calibri (MS)"/>
                </a:rPr>
                <a:t>                return (v - 32.0) * 5.0 / 9.0;</a:t>
              </a:r>
            </a:p>
            <a:p>
              <a:pPr algn="l">
                <a:lnSpc>
                  <a:spcPts val="1800"/>
                </a:lnSpc>
              </a:pPr>
              <a:r>
                <a:rPr lang="en-US" sz="1500">
                  <a:solidFill>
                    <a:srgbClr val="4F81BD"/>
                  </a:solidFill>
                  <a:latin typeface="Calibri (MS)"/>
                  <a:ea typeface="Calibri (MS)"/>
                  <a:cs typeface="Calibri (MS)"/>
                  <a:sym typeface="Calibri (MS)"/>
                </a:rPr>
                <a:t>            case "kelvin":</a:t>
              </a:r>
            </a:p>
            <a:p>
              <a:pPr algn="l">
                <a:lnSpc>
                  <a:spcPts val="1800"/>
                </a:lnSpc>
              </a:pPr>
              <a:r>
                <a:rPr lang="en-US" sz="1500">
                  <a:solidFill>
                    <a:srgbClr val="4F81BD"/>
                  </a:solidFill>
                  <a:latin typeface="Calibri (MS)"/>
                  <a:ea typeface="Calibri (MS)"/>
                  <a:cs typeface="Calibri (MS)"/>
                  <a:sym typeface="Calibri (MS)"/>
                </a:rPr>
                <a:t>                return v - 273.15;</a:t>
              </a:r>
            </a:p>
            <a:p>
              <a:pPr algn="l">
                <a:lnSpc>
                  <a:spcPts val="1800"/>
                </a:lnSpc>
              </a:pPr>
              <a:r>
                <a:rPr lang="en-US" sz="1500">
                  <a:solidFill>
                    <a:srgbClr val="4F81BD"/>
                  </a:solidFill>
                  <a:latin typeface="Calibri (MS)"/>
                  <a:ea typeface="Calibri (MS)"/>
                  <a:cs typeface="Calibri (MS)"/>
                  <a:sym typeface="Calibri (MS)"/>
                </a:rPr>
                <a:t>            case "newton":</a:t>
              </a:r>
            </a:p>
            <a:p>
              <a:pPr algn="l">
                <a:lnSpc>
                  <a:spcPts val="1800"/>
                </a:lnSpc>
              </a:pPr>
              <a:r>
                <a:rPr lang="en-US" sz="1500">
                  <a:solidFill>
                    <a:srgbClr val="4F81BD"/>
                  </a:solidFill>
                  <a:latin typeface="Calibri (MS)"/>
                  <a:ea typeface="Calibri (MS)"/>
                  <a:cs typeface="Calibri (MS)"/>
                  <a:sym typeface="Calibri (MS)"/>
                </a:rPr>
                <a:t>                return v * 100.0 / 33.0;</a:t>
              </a:r>
            </a:p>
            <a:p>
              <a:pPr algn="l">
                <a:lnSpc>
                  <a:spcPts val="1800"/>
                </a:lnSpc>
              </a:pPr>
              <a:r>
                <a:rPr lang="en-US" sz="1500">
                  <a:solidFill>
                    <a:srgbClr val="4F81BD"/>
                  </a:solidFill>
                  <a:latin typeface="Calibri (MS)"/>
                  <a:ea typeface="Calibri (MS)"/>
                  <a:cs typeface="Calibri (MS)"/>
                  <a:sym typeface="Calibri (MS)"/>
                </a:rPr>
                <a:t>            case "reaumur":</a:t>
              </a:r>
            </a:p>
            <a:p>
              <a:pPr algn="l">
                <a:lnSpc>
                  <a:spcPts val="1800"/>
                </a:lnSpc>
              </a:pPr>
              <a:r>
                <a:rPr lang="en-US" sz="1500">
                  <a:solidFill>
                    <a:srgbClr val="4F81BD"/>
                  </a:solidFill>
                  <a:latin typeface="Calibri (MS)"/>
                  <a:ea typeface="Calibri (MS)"/>
                  <a:cs typeface="Calibri (MS)"/>
                  <a:sym typeface="Calibri (MS)"/>
                </a:rPr>
                <a:t>                return v * 5.0 / 4.0;</a:t>
              </a:r>
            </a:p>
            <a:p>
              <a:pPr algn="l">
                <a:lnSpc>
                  <a:spcPts val="1800"/>
                </a:lnSpc>
              </a:pPr>
              <a:r>
                <a:rPr lang="en-US" sz="1500">
                  <a:solidFill>
                    <a:srgbClr val="4F81BD"/>
                  </a:solidFill>
                  <a:latin typeface="Calibri (MS)"/>
                  <a:ea typeface="Calibri (MS)"/>
                  <a:cs typeface="Calibri (MS)"/>
                  <a:sym typeface="Calibri (MS)"/>
                </a:rPr>
                <a:t>            default:</a:t>
              </a:r>
            </a:p>
            <a:p>
              <a:pPr algn="l">
                <a:lnSpc>
                  <a:spcPts val="1800"/>
                </a:lnSpc>
              </a:pPr>
              <a:r>
                <a:rPr lang="en-US" sz="1500">
                  <a:solidFill>
                    <a:srgbClr val="4F81BD"/>
                  </a:solidFill>
                  <a:latin typeface="Calibri (MS)"/>
                  <a:ea typeface="Calibri (MS)"/>
                  <a:cs typeface="Calibri (MS)"/>
                  <a:sym typeface="Calibri (MS)"/>
                </a:rPr>
                <a:t>                return v;</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double desdeCelsius(double c, String escala) {</a:t>
              </a:r>
            </a:p>
            <a:p>
              <a:pPr algn="l">
                <a:lnSpc>
                  <a:spcPts val="1800"/>
                </a:lnSpc>
              </a:pPr>
              <a:r>
                <a:rPr lang="en-US" sz="1500">
                  <a:solidFill>
                    <a:srgbClr val="4F81BD"/>
                  </a:solidFill>
                  <a:latin typeface="Calibri (MS)"/>
                  <a:ea typeface="Calibri (MS)"/>
                  <a:cs typeface="Calibri (MS)"/>
                  <a:sym typeface="Calibri (MS)"/>
                </a:rPr>
                <a:t>        switch (escala) {</a:t>
              </a:r>
            </a:p>
            <a:p>
              <a:pPr algn="l">
                <a:lnSpc>
                  <a:spcPts val="1800"/>
                </a:lnSpc>
              </a:pPr>
              <a:r>
                <a:rPr lang="en-US" sz="1500">
                  <a:solidFill>
                    <a:srgbClr val="4F81BD"/>
                  </a:solidFill>
                  <a:latin typeface="Calibri (MS)"/>
                  <a:ea typeface="Calibri (MS)"/>
                  <a:cs typeface="Calibri (MS)"/>
                  <a:sym typeface="Calibri (MS)"/>
                </a:rPr>
                <a:t>            case "fahrenheit":</a:t>
              </a:r>
            </a:p>
            <a:p>
              <a:pPr algn="l">
                <a:lnSpc>
                  <a:spcPts val="1800"/>
                </a:lnSpc>
              </a:pPr>
              <a:r>
                <a:rPr lang="en-US" sz="1500">
                  <a:solidFill>
                    <a:srgbClr val="4F81BD"/>
                  </a:solidFill>
                  <a:latin typeface="Calibri (MS)"/>
                  <a:ea typeface="Calibri (MS)"/>
                  <a:cs typeface="Calibri (MS)"/>
                  <a:sym typeface="Calibri (MS)"/>
                </a:rPr>
                <a:t>                return c * 9.0 / 5.0 + 32.0;</a:t>
              </a:r>
            </a:p>
            <a:p>
              <a:pPr algn="l">
                <a:lnSpc>
                  <a:spcPts val="1800"/>
                </a:lnSpc>
              </a:pPr>
              <a:r>
                <a:rPr lang="en-US" sz="1500">
                  <a:solidFill>
                    <a:srgbClr val="4F81BD"/>
                  </a:solidFill>
                  <a:latin typeface="Calibri (MS)"/>
                  <a:ea typeface="Calibri (MS)"/>
                  <a:cs typeface="Calibri (MS)"/>
                  <a:sym typeface="Calibri (MS)"/>
                </a:rPr>
                <a:t>            case "kelvin":</a:t>
              </a:r>
            </a:p>
            <a:p>
              <a:pPr algn="l">
                <a:lnSpc>
                  <a:spcPts val="1800"/>
                </a:lnSpc>
              </a:pPr>
              <a:r>
                <a:rPr lang="en-US" sz="1500">
                  <a:solidFill>
                    <a:srgbClr val="4F81BD"/>
                  </a:solidFill>
                  <a:latin typeface="Calibri (MS)"/>
                  <a:ea typeface="Calibri (MS)"/>
                  <a:cs typeface="Calibri (MS)"/>
                  <a:sym typeface="Calibri (MS)"/>
                </a:rPr>
                <a:t>                return c + 273.15;</a:t>
              </a:r>
            </a:p>
            <a:p>
              <a:pPr algn="l">
                <a:lnSpc>
                  <a:spcPts val="1800"/>
                </a:lnSpc>
              </a:pPr>
              <a:r>
                <a:rPr lang="en-US" sz="1500">
                  <a:solidFill>
                    <a:srgbClr val="4F81BD"/>
                  </a:solidFill>
                  <a:latin typeface="Calibri (MS)"/>
                  <a:ea typeface="Calibri (MS)"/>
                  <a:cs typeface="Calibri (MS)"/>
                  <a:sym typeface="Calibri (MS)"/>
                </a:rPr>
                <a:t>            case "newton":</a:t>
              </a:r>
            </a:p>
            <a:p>
              <a:pPr algn="l">
                <a:lnSpc>
                  <a:spcPts val="1800"/>
                </a:lnSpc>
              </a:pPr>
              <a:r>
                <a:rPr lang="en-US" sz="1500">
                  <a:solidFill>
                    <a:srgbClr val="4F81BD"/>
                  </a:solidFill>
                  <a:latin typeface="Calibri (MS)"/>
                  <a:ea typeface="Calibri (MS)"/>
                  <a:cs typeface="Calibri (MS)"/>
                  <a:sym typeface="Calibri (MS)"/>
                </a:rPr>
                <a:t>                return c * 33.0 / 100.0;</a:t>
              </a:r>
            </a:p>
            <a:p>
              <a:pPr algn="l">
                <a:lnSpc>
                  <a:spcPts val="1800"/>
                </a:lnSpc>
              </a:pPr>
              <a:r>
                <a:rPr lang="en-US" sz="1500">
                  <a:solidFill>
                    <a:srgbClr val="4F81BD"/>
                  </a:solidFill>
                  <a:latin typeface="Calibri (MS)"/>
                  <a:ea typeface="Calibri (MS)"/>
                  <a:cs typeface="Calibri (MS)"/>
                  <a:sym typeface="Calibri (MS)"/>
                </a:rPr>
                <a:t>            case "reaumur":</a:t>
              </a:r>
            </a:p>
            <a:p>
              <a:pPr algn="l">
                <a:lnSpc>
                  <a:spcPts val="1800"/>
                </a:lnSpc>
              </a:pPr>
              <a:r>
                <a:rPr lang="en-US" sz="1500">
                  <a:solidFill>
                    <a:srgbClr val="4F81BD"/>
                  </a:solidFill>
                  <a:latin typeface="Calibri (MS)"/>
                  <a:ea typeface="Calibri (MS)"/>
                  <a:cs typeface="Calibri (MS)"/>
                  <a:sym typeface="Calibri (MS)"/>
                </a:rPr>
                <a:t>                return c * 4.0 / 5.0;</a:t>
              </a:r>
            </a:p>
            <a:p>
              <a:pPr algn="l">
                <a:lnSpc>
                  <a:spcPts val="1800"/>
                </a:lnSpc>
              </a:pPr>
              <a:r>
                <a:rPr lang="en-US" sz="1500">
                  <a:solidFill>
                    <a:srgbClr val="4F81BD"/>
                  </a:solidFill>
                  <a:latin typeface="Calibri (MS)"/>
                  <a:ea typeface="Calibri (MS)"/>
                  <a:cs typeface="Calibri (MS)"/>
                  <a:sym typeface="Calibri (MS)"/>
                </a:rPr>
                <a:t>            default:</a:t>
              </a:r>
            </a:p>
            <a:p>
              <a:pPr algn="l">
                <a:lnSpc>
                  <a:spcPts val="1800"/>
                </a:lnSpc>
              </a:pPr>
              <a:r>
                <a:rPr lang="en-US" sz="1500">
                  <a:solidFill>
                    <a:srgbClr val="4F81BD"/>
                  </a:solidFill>
                  <a:latin typeface="Calibri (MS)"/>
                  <a:ea typeface="Calibri (MS)"/>
                  <a:cs typeface="Calibri (MS)"/>
                  <a:sym typeface="Calibri (MS)"/>
                </a:rPr>
                <a:t>                return c;</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CatalogoUnidades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Catálogo: registra los conversores y busca categorías y 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ec.edu.monster.servicios;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java.util.ArrayList;</a:t>
              </a:r>
            </a:p>
            <a:p>
              <a:pPr algn="l">
                <a:lnSpc>
                  <a:spcPts val="1800"/>
                </a:lnSpc>
              </a:pPr>
              <a:r>
                <a:rPr lang="en-US" sz="1500">
                  <a:solidFill>
                    <a:srgbClr val="4F81BD"/>
                  </a:solidFill>
                  <a:latin typeface="Calibri (MS)"/>
                  <a:ea typeface="Calibri (MS)"/>
                  <a:cs typeface="Calibri (MS)"/>
                  <a:sym typeface="Calibri (MS)"/>
                </a:rPr>
                <a:t>import java.util.List;</a:t>
              </a:r>
            </a:p>
            <a:p>
              <a:pPr algn="l">
                <a:lnSpc>
                  <a:spcPts val="1800"/>
                </a:lnSpc>
              </a:pPr>
              <a:r>
                <a:rPr lang="en-US" sz="1500">
                  <a:solidFill>
                    <a:srgbClr val="4F81BD"/>
                  </a:solidFill>
                  <a:latin typeface="Calibri (MS)"/>
                  <a:ea typeface="Calibri (MS)"/>
                  <a:cs typeface="Calibri (MS)"/>
                  <a:sym typeface="Calibri (MS)"/>
                </a:rPr>
                <a:t>import java.util.Optional;</a:t>
              </a:r>
            </a:p>
            <a:p>
              <a:pPr algn="l">
                <a:lnSpc>
                  <a:spcPts val="1800"/>
                </a:lnSpc>
              </a:pPr>
              <a:r>
                <a:rPr lang="en-US" sz="1500">
                  <a:solidFill>
                    <a:srgbClr val="4F81BD"/>
                  </a:solidFill>
                  <a:latin typeface="Calibri (MS)"/>
                  <a:ea typeface="Calibri (MS)"/>
                  <a:cs typeface="Calibri (MS)"/>
                  <a:sym typeface="Calibri (MS)"/>
                </a:rPr>
                <a:t>import java.util.concurrent.CopyOnWriteArrayList;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Catalogo en memoria de categorias y unidades (CU-02 y CU-03). Para agregar una</a:t>
              </a:r>
            </a:p>
            <a:p>
              <a:pPr algn="l">
                <a:lnSpc>
                  <a:spcPts val="1800"/>
                </a:lnSpc>
              </a:pPr>
              <a:r>
                <a:rPr lang="en-US" sz="1500">
                  <a:solidFill>
                    <a:srgbClr val="4F81BD"/>
                  </a:solidFill>
                  <a:latin typeface="Calibri (MS)"/>
                  <a:ea typeface="Calibri (MS)"/>
                  <a:cs typeface="Calibri (MS)"/>
                  <a:sym typeface="Calibri (MS)"/>
                </a:rPr>
                <a:t> * categoria nueva (por ejemplo divisas) basta con implementar {@link Conversor}</a:t>
              </a:r>
            </a:p>
            <a:p>
              <a:pPr algn="l">
                <a:lnSpc>
                  <a:spcPts val="1800"/>
                </a:lnSpc>
              </a:pPr>
              <a:r>
                <a:rPr lang="en-US" sz="1500">
                  <a:solidFill>
                    <a:srgbClr val="4F81BD"/>
                  </a:solidFill>
                  <a:latin typeface="Calibri (MS)"/>
                  <a:ea typeface="Calibri (MS)"/>
                  <a:cs typeface="Calibri (MS)"/>
                  <a:sym typeface="Calibri (MS)"/>
                </a:rPr>
                <a:t> * y registrarla aqui; el login, la validacion y la respuesta estructurada no</a:t>
              </a:r>
            </a:p>
            <a:p>
              <a:pPr algn="l">
                <a:lnSpc>
                  <a:spcPts val="1800"/>
                </a:lnSpc>
              </a:pPr>
              <a:r>
                <a:rPr lang="en-US" sz="1500">
                  <a:solidFill>
                    <a:srgbClr val="4F81BD"/>
                  </a:solidFill>
                  <a:latin typeface="Calibri (MS)"/>
                  <a:ea typeface="Calibri (MS)"/>
                  <a:cs typeface="Calibri (MS)"/>
                  <a:sym typeface="Calibri (MS)"/>
                </a:rPr>
                <a:t> * cambian.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CatalogoUnidades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final List&lt;Conversor&gt; CONVERSORES = new CopyOnWriteArrayList&lt;&gt;();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static {</a:t>
              </a:r>
            </a:p>
            <a:p>
              <a:pPr algn="l">
                <a:lnSpc>
                  <a:spcPts val="1800"/>
                </a:lnSpc>
              </a:pPr>
              <a:r>
                <a:rPr lang="en-US" sz="1500">
                  <a:solidFill>
                    <a:srgbClr val="4F81BD"/>
                  </a:solidFill>
                  <a:latin typeface="Calibri (MS)"/>
                  <a:ea typeface="Calibri (MS)"/>
                  <a:cs typeface="Calibri (MS)"/>
                  <a:sym typeface="Calibri (MS)"/>
                </a:rPr>
                <a:t>        registrar(new ConversorLongitud());</a:t>
              </a:r>
            </a:p>
            <a:p>
              <a:pPr algn="l">
                <a:lnSpc>
                  <a:spcPts val="1800"/>
                </a:lnSpc>
              </a:pPr>
              <a:r>
                <a:rPr lang="en-US" sz="1500">
                  <a:solidFill>
                    <a:srgbClr val="4F81BD"/>
                  </a:solidFill>
                  <a:latin typeface="Calibri (MS)"/>
                  <a:ea typeface="Calibri (MS)"/>
                  <a:cs typeface="Calibri (MS)"/>
                  <a:sym typeface="Calibri (MS)"/>
                </a:rPr>
                <a:t>        registrar(new ConversorMasa());</a:t>
              </a:r>
            </a:p>
            <a:p>
              <a:pPr algn="l">
                <a:lnSpc>
                  <a:spcPts val="1800"/>
                </a:lnSpc>
              </a:pPr>
              <a:r>
                <a:rPr lang="en-US" sz="1500">
                  <a:solidFill>
                    <a:srgbClr val="4F81BD"/>
                  </a:solidFill>
                  <a:latin typeface="Calibri (MS)"/>
                  <a:ea typeface="Calibri (MS)"/>
                  <a:cs typeface="Calibri (MS)"/>
                  <a:sym typeface="Calibri (MS)"/>
                </a:rPr>
                <a:t>        registrar(new ConversorTemperatura());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CatalogoUnidades()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void registrar(Conversor conversor) {</a:t>
              </a:r>
            </a:p>
            <a:p>
              <a:pPr algn="l">
                <a:lnSpc>
                  <a:spcPts val="1800"/>
                </a:lnSpc>
              </a:pPr>
              <a:r>
                <a:rPr lang="en-US" sz="1500">
                  <a:solidFill>
                    <a:srgbClr val="4F81BD"/>
                  </a:solidFill>
                  <a:latin typeface="Calibri (MS)"/>
                  <a:ea typeface="Calibri (MS)"/>
                  <a:cs typeface="Calibri (MS)"/>
                  <a:sym typeface="Calibri (MS)"/>
                </a:rPr>
                <a:t>        CONVERSORES.add(conversor);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Nombres de las categorias disponibles. */</a:t>
              </a:r>
            </a:p>
            <a:p>
              <a:pPr algn="l">
                <a:lnSpc>
                  <a:spcPts val="1800"/>
                </a:lnSpc>
              </a:pPr>
              <a:r>
                <a:rPr lang="en-US" sz="1500">
                  <a:solidFill>
                    <a:srgbClr val="4F81BD"/>
                  </a:solidFill>
                  <a:latin typeface="Calibri (MS)"/>
                  <a:ea typeface="Calibri (MS)"/>
                  <a:cs typeface="Calibri (MS)"/>
                  <a:sym typeface="Calibri (MS)"/>
                </a:rPr>
                <a:t>    public static List&lt;String&gt; categorias() {</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CatalogoUnidades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Catálogo: registra los conversores y busca categorías y unidades.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List&lt;String&gt; r = new ArrayList&lt;&gt;();</a:t>
              </a:r>
            </a:p>
            <a:p>
              <a:pPr algn="l">
                <a:lnSpc>
                  <a:spcPts val="1800"/>
                </a:lnSpc>
              </a:pPr>
              <a:r>
                <a:rPr lang="en-US" sz="1500">
                  <a:solidFill>
                    <a:srgbClr val="4F81BD"/>
                  </a:solidFill>
                  <a:latin typeface="Calibri (MS)"/>
                  <a:ea typeface="Calibri (MS)"/>
                  <a:cs typeface="Calibri (MS)"/>
                  <a:sym typeface="Calibri (MS)"/>
                </a:rPr>
                <a:t>        for (Conversor c : CONVERSORES) {</a:t>
              </a:r>
            </a:p>
            <a:p>
              <a:pPr algn="l">
                <a:lnSpc>
                  <a:spcPts val="1800"/>
                </a:lnSpc>
              </a:pPr>
              <a:r>
                <a:rPr lang="en-US" sz="1500">
                  <a:solidFill>
                    <a:srgbClr val="4F81BD"/>
                  </a:solidFill>
                  <a:latin typeface="Calibri (MS)"/>
                  <a:ea typeface="Calibri (MS)"/>
                  <a:cs typeface="Calibri (MS)"/>
                  <a:sym typeface="Calibri (MS)"/>
                </a:rPr>
                <a:t>            r.add(c.categoria());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Busca una categoria por nombre (sin distinguir mayusculas ni tildes). */</a:t>
              </a:r>
            </a:p>
            <a:p>
              <a:pPr algn="l">
                <a:lnSpc>
                  <a:spcPts val="1800"/>
                </a:lnSpc>
              </a:pPr>
              <a:r>
                <a:rPr lang="en-US" sz="1500">
                  <a:solidFill>
                    <a:srgbClr val="4F81BD"/>
                  </a:solidFill>
                  <a:latin typeface="Calibri (MS)"/>
                  <a:ea typeface="Calibri (MS)"/>
                  <a:cs typeface="Calibri (MS)"/>
                  <a:sym typeface="Calibri (MS)"/>
                </a:rPr>
                <a:t>    public static Optional&lt;Conversor&gt; buscarCategoria(String nombre) {</a:t>
              </a:r>
            </a:p>
            <a:p>
              <a:pPr algn="l">
                <a:lnSpc>
                  <a:spcPts val="1800"/>
                </a:lnSpc>
              </a:pPr>
              <a:r>
                <a:rPr lang="en-US" sz="1500">
                  <a:solidFill>
                    <a:srgbClr val="4F81BD"/>
                  </a:solidFill>
                  <a:latin typeface="Calibri (MS)"/>
                  <a:ea typeface="Calibri (MS)"/>
                  <a:cs typeface="Calibri (MS)"/>
                  <a:sym typeface="Calibri (MS)"/>
                </a:rPr>
                <a:t>        String n = Conversor.normalizar(nombre);</a:t>
              </a:r>
            </a:p>
            <a:p>
              <a:pPr algn="l">
                <a:lnSpc>
                  <a:spcPts val="1800"/>
                </a:lnSpc>
              </a:pPr>
              <a:r>
                <a:rPr lang="en-US" sz="1500">
                  <a:solidFill>
                    <a:srgbClr val="4F81BD"/>
                  </a:solidFill>
                  <a:latin typeface="Calibri (MS)"/>
                  <a:ea typeface="Calibri (MS)"/>
                  <a:cs typeface="Calibri (MS)"/>
                  <a:sym typeface="Calibri (MS)"/>
                </a:rPr>
                <a:t>        if (n == null || n.isEmpty()) {</a:t>
              </a:r>
            </a:p>
            <a:p>
              <a:pPr algn="l">
                <a:lnSpc>
                  <a:spcPts val="1800"/>
                </a:lnSpc>
              </a:pPr>
              <a:r>
                <a:rPr lang="en-US" sz="1500">
                  <a:solidFill>
                    <a:srgbClr val="4F81BD"/>
                  </a:solidFill>
                  <a:latin typeface="Calibri (MS)"/>
                  <a:ea typeface="Calibri (MS)"/>
                  <a:cs typeface="Calibri (MS)"/>
                  <a:sym typeface="Calibri (MS)"/>
                </a:rPr>
                <a:t>            return Optional.empty();</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for (Conversor c : CONVERSORES) {</a:t>
              </a:r>
            </a:p>
            <a:p>
              <a:pPr algn="l">
                <a:lnSpc>
                  <a:spcPts val="1800"/>
                </a:lnSpc>
              </a:pPr>
              <a:r>
                <a:rPr lang="en-US" sz="1500">
                  <a:solidFill>
                    <a:srgbClr val="4F81BD"/>
                  </a:solidFill>
                  <a:latin typeface="Calibri (MS)"/>
                  <a:ea typeface="Calibri (MS)"/>
                  <a:cs typeface="Calibri (MS)"/>
                  <a:sym typeface="Calibri (MS)"/>
                </a:rPr>
                <a:t>            if (Conversor.normalizar(c.categoria()).equals(n)) {</a:t>
              </a:r>
            </a:p>
            <a:p>
              <a:pPr algn="l">
                <a:lnSpc>
                  <a:spcPts val="1800"/>
                </a:lnSpc>
              </a:pPr>
              <a:r>
                <a:rPr lang="en-US" sz="1500">
                  <a:solidFill>
                    <a:srgbClr val="4F81BD"/>
                  </a:solidFill>
                  <a:latin typeface="Calibri (MS)"/>
                  <a:ea typeface="Calibri (MS)"/>
                  <a:cs typeface="Calibri (MS)"/>
                  <a:sym typeface="Calibri (MS)"/>
                </a:rPr>
                <a:t>                return Optional.of(c);</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Optional.empty();</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Categoria a la que pertenece una unidad (ya normalizada), si existe. */</a:t>
              </a:r>
            </a:p>
            <a:p>
              <a:pPr algn="l">
                <a:lnSpc>
                  <a:spcPts val="1800"/>
                </a:lnSpc>
              </a:pPr>
              <a:r>
                <a:rPr lang="en-US" sz="1500">
                  <a:solidFill>
                    <a:srgbClr val="4F81BD"/>
                  </a:solidFill>
                  <a:latin typeface="Calibri (MS)"/>
                  <a:ea typeface="Calibri (MS)"/>
                  <a:cs typeface="Calibri (MS)"/>
                  <a:sym typeface="Calibri (MS)"/>
                </a:rPr>
                <a:t>    public static Optional&lt;Conversor&gt; categoriaDeUnidad(String unidadNormalizada) {</a:t>
              </a:r>
            </a:p>
            <a:p>
              <a:pPr algn="l">
                <a:lnSpc>
                  <a:spcPts val="1800"/>
                </a:lnSpc>
              </a:pPr>
              <a:r>
                <a:rPr lang="en-US" sz="1500">
                  <a:solidFill>
                    <a:srgbClr val="4F81BD"/>
                  </a:solidFill>
                  <a:latin typeface="Calibri (MS)"/>
                  <a:ea typeface="Calibri (MS)"/>
                  <a:cs typeface="Calibri (MS)"/>
                  <a:sym typeface="Calibri (MS)"/>
                </a:rPr>
                <a:t>        for (Conversor c : CONVERSORES) {</a:t>
              </a:r>
            </a:p>
            <a:p>
              <a:pPr algn="l">
                <a:lnSpc>
                  <a:spcPts val="1800"/>
                </a:lnSpc>
              </a:pPr>
              <a:r>
                <a:rPr lang="en-US" sz="1500">
                  <a:solidFill>
                    <a:srgbClr val="4F81BD"/>
                  </a:solidFill>
                  <a:latin typeface="Calibri (MS)"/>
                  <a:ea typeface="Calibri (MS)"/>
                  <a:cs typeface="Calibri (MS)"/>
                  <a:sym typeface="Calibri (MS)"/>
                </a:rPr>
                <a:t>            if (c.unidades().contains(unidadNormalizada)) {</a:t>
              </a:r>
            </a:p>
            <a:p>
              <a:pPr algn="l">
                <a:lnSpc>
                  <a:spcPts val="1800"/>
                </a:lnSpc>
              </a:pPr>
              <a:r>
                <a:rPr lang="en-US" sz="1500">
                  <a:solidFill>
                    <a:srgbClr val="4F81BD"/>
                  </a:solidFill>
                  <a:latin typeface="Calibri (MS)"/>
                  <a:ea typeface="Calibri (MS)"/>
                  <a:cs typeface="Calibri (MS)"/>
                  <a:sym typeface="Calibri (MS)"/>
                </a:rPr>
                <a:t>                return Optional.of(c);</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Optional.empty();</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4705365" y="4005494"/>
            <a:ext cx="9255661" cy="4749311"/>
          </a:xfrm>
          <a:custGeom>
            <a:avLst/>
            <a:gdLst/>
            <a:ahLst/>
            <a:cxnLst/>
            <a:rect r="r" b="b" t="t" l="l"/>
            <a:pathLst>
              <a:path h="4749311" w="9255661">
                <a:moveTo>
                  <a:pt x="0" y="0"/>
                </a:moveTo>
                <a:lnTo>
                  <a:pt x="9255661" y="0"/>
                </a:lnTo>
                <a:lnTo>
                  <a:pt x="9255661" y="4749311"/>
                </a:lnTo>
                <a:lnTo>
                  <a:pt x="0" y="4749311"/>
                </a:lnTo>
                <a:lnTo>
                  <a:pt x="0" y="0"/>
                </a:lnTo>
                <a:close/>
              </a:path>
            </a:pathLst>
          </a:custGeom>
          <a:blipFill>
            <a:blip r:embed="rId3"/>
            <a:stretch>
              <a:fillRect l="0" t="0" r="0" b="0"/>
            </a:stretch>
          </a:blipFill>
        </p:spPr>
        <p:txBody>
          <a:bodyPr/>
          <a:p/>
        </p:txBody>
      </p:sp>
      <p:sp>
        <p:nvSpPr>
          <p:cNvPr name="TextBox 17" id="17"/>
          <p:cNvSpPr txBox="true"/>
          <p:nvPr/>
        </p:nvSpPr>
        <p:spPr>
          <a:xfrm rot="0">
            <a:off x="149691" y="2896057"/>
            <a:ext cx="4294857" cy="6087348"/>
          </a:xfrm>
          <a:prstGeom prst="rect">
            <a:avLst/>
          </a:prstGeom>
        </p:spPr>
        <p:txBody>
          <a:bodyPr anchor="t" rtlCol="false" tIns="0" lIns="0" bIns="0" rIns="0">
            <a:spAutoFit/>
          </a:bodyPr>
          <a:lstStyle/>
          <a:p>
            <a:pPr algn="just" marL="487457" indent="-243729" lvl="1">
              <a:lnSpc>
                <a:spcPts val="3458"/>
              </a:lnSpc>
              <a:buFont typeface="Arial"/>
              <a:buChar char="•"/>
            </a:pPr>
            <a:r>
              <a:rPr lang="en-US" b="true" sz="2693">
                <a:solidFill>
                  <a:srgbClr val="3D3D3D"/>
                </a:solidFill>
                <a:latin typeface="Cambria Bold"/>
                <a:ea typeface="Cambria Bold"/>
                <a:cs typeface="Cambria Bold"/>
                <a:sym typeface="Cambria Bold"/>
              </a:rPr>
              <a:t>1.2.6 	Ejecución en Servidor</a:t>
            </a:r>
          </a:p>
          <a:p>
            <a:pPr algn="just" marL="452438" indent="-226219" lvl="1">
              <a:lnSpc>
                <a:spcPts val="3210"/>
              </a:lnSpc>
            </a:pPr>
          </a:p>
          <a:p>
            <a:pPr algn="just" marL="452438" indent="-226219" lvl="1">
              <a:lnSpc>
                <a:spcPts val="3210"/>
              </a:lnSpc>
              <a:buFont typeface="Arial"/>
              <a:buChar char="•"/>
            </a:pPr>
            <a:r>
              <a:rPr lang="en-US" sz="2500">
                <a:solidFill>
                  <a:srgbClr val="3D3D3D"/>
                </a:solidFill>
                <a:latin typeface="Cambria"/>
                <a:ea typeface="Cambria"/>
                <a:cs typeface="Cambria"/>
                <a:sym typeface="Cambria"/>
              </a:rPr>
              <a:t>Se ejecuta el programa corriendo en nuestro servidor Payara y se comprueba que la API responda en la ruta (Payara corre por defecto en 8080): http://localhost:8080/REST_ConUni_Java_GR07/api/. El proyecto incluye 9 pruebas automáticas y se probó además con SoapUI.</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3504089" y="6210154"/>
            <a:ext cx="7626785" cy="3861069"/>
          </a:xfrm>
          <a:custGeom>
            <a:avLst/>
            <a:gdLst/>
            <a:ahLst/>
            <a:cxnLst/>
            <a:rect r="r" b="b" t="t" l="l"/>
            <a:pathLst>
              <a:path h="3861069" w="7626785">
                <a:moveTo>
                  <a:pt x="0" y="0"/>
                </a:moveTo>
                <a:lnTo>
                  <a:pt x="7626785" y="0"/>
                </a:lnTo>
                <a:lnTo>
                  <a:pt x="7626785" y="3861069"/>
                </a:lnTo>
                <a:lnTo>
                  <a:pt x="0" y="3861069"/>
                </a:lnTo>
                <a:lnTo>
                  <a:pt x="0" y="0"/>
                </a:lnTo>
                <a:close/>
              </a:path>
            </a:pathLst>
          </a:custGeom>
          <a:blipFill>
            <a:blip r:embed="rId3"/>
            <a:stretch>
              <a:fillRect l="0" t="0" r="-2591" b="-48199"/>
            </a:stretch>
          </a:blipFill>
        </p:spPr>
        <p:txBody>
          <a:bodyPr/>
          <a:p/>
        </p:txBody>
      </p:sp>
      <p:sp>
        <p:nvSpPr>
          <p:cNvPr name="TextBox 17" id="17"/>
          <p:cNvSpPr txBox="true"/>
          <p:nvPr/>
        </p:nvSpPr>
        <p:spPr>
          <a:xfrm rot="0">
            <a:off x="969245" y="2956541"/>
            <a:ext cx="12696473" cy="3704882"/>
          </a:xfrm>
          <a:prstGeom prst="rect">
            <a:avLst/>
          </a:prstGeom>
        </p:spPr>
        <p:txBody>
          <a:bodyPr anchor="t" rtlCol="false" tIns="0" lIns="0" bIns="0" rIns="0">
            <a:spAutoFit/>
          </a:bodyPr>
          <a:lstStyle/>
          <a:p>
            <a:pPr algn="just" marL="523651" indent="-261826" lvl="1">
              <a:lnSpc>
                <a:spcPts val="3715"/>
              </a:lnSpc>
              <a:buFont typeface="Arial"/>
              <a:buChar char="•"/>
            </a:pPr>
            <a:r>
              <a:rPr lang="en-US" b="true" sz="2893">
                <a:solidFill>
                  <a:srgbClr val="3D3D3D"/>
                </a:solidFill>
                <a:latin typeface="Cambria Bold"/>
                <a:ea typeface="Cambria Bold"/>
                <a:cs typeface="Cambria Bold"/>
                <a:sym typeface="Cambria Bold"/>
              </a:rPr>
              <a:t>1.3 	CREACIÓN DEL PROYECTO CLIENTE CONSOLA</a:t>
            </a:r>
          </a:p>
          <a:p>
            <a:pPr algn="just" marL="488632" indent="-244316" lvl="1">
              <a:lnSpc>
                <a:spcPts val="3466"/>
              </a:lnSpc>
            </a:pPr>
          </a:p>
          <a:p>
            <a:pPr algn="just" marL="488632" indent="-244316" lvl="1">
              <a:lnSpc>
                <a:spcPts val="3466"/>
              </a:lnSpc>
              <a:buFont typeface="Arial"/>
              <a:buChar char="•"/>
            </a:pPr>
            <a:r>
              <a:rPr lang="en-US" sz="2700">
                <a:solidFill>
                  <a:srgbClr val="3D3D3D"/>
                </a:solidFill>
                <a:latin typeface="Cambria"/>
                <a:ea typeface="Cambria"/>
                <a:cs typeface="Cambria"/>
                <a:sym typeface="Cambria"/>
              </a:rPr>
              <a:t>Para el cliente consola se usó NetBeans en el cual se debe crear un nuevo proyecto para ello se seleccionó el gestor de proyectos Java with Maven, el tipo de aplicativo que se usa es Java Application.</a:t>
            </a:r>
          </a:p>
          <a:p>
            <a:pPr algn="just" marL="488632" indent="-244316" lvl="1">
              <a:lnSpc>
                <a:spcPts val="3466"/>
              </a:lnSpc>
              <a:buFont typeface="Arial"/>
              <a:buChar char="•"/>
            </a:pPr>
            <a:r>
              <a:rPr lang="en-US" sz="2700">
                <a:solidFill>
                  <a:srgbClr val="3D3D3D"/>
                </a:solidFill>
                <a:latin typeface="Cambria"/>
                <a:ea typeface="Cambria"/>
                <a:cs typeface="Cambria"/>
                <a:sym typeface="Cambria"/>
              </a:rPr>
              <a:t>Se asigna un nombre al proyecto (ClienteConsola), se da una ubicación y se configura el group id con el que se quiere nombrar.</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090485" y="2880360"/>
            <a:ext cx="7295740" cy="6858000"/>
            <a:chOff x="0" y="0"/>
            <a:chExt cx="9727654" cy="9144000"/>
          </a:xfrm>
        </p:grpSpPr>
        <p:sp>
          <p:nvSpPr>
            <p:cNvPr name="Freeform 17" id="17"/>
            <p:cNvSpPr/>
            <p:nvPr/>
          </p:nvSpPr>
          <p:spPr>
            <a:xfrm flipH="false" flipV="false" rot="0">
              <a:off x="0" y="0"/>
              <a:ext cx="9727692" cy="9144000"/>
            </a:xfrm>
            <a:custGeom>
              <a:avLst/>
              <a:gdLst/>
              <a:ahLst/>
              <a:cxnLst/>
              <a:rect r="r" b="b" t="t" l="l"/>
              <a:pathLst>
                <a:path h="9144000" w="9727692">
                  <a:moveTo>
                    <a:pt x="0" y="0"/>
                  </a:moveTo>
                  <a:lnTo>
                    <a:pt x="9727692" y="0"/>
                  </a:lnTo>
                  <a:lnTo>
                    <a:pt x="9727692" y="9144000"/>
                  </a:lnTo>
                  <a:lnTo>
                    <a:pt x="0" y="9144000"/>
                  </a:lnTo>
                  <a:lnTo>
                    <a:pt x="0" y="0"/>
                  </a:lnTo>
                  <a:close/>
                </a:path>
              </a:pathLst>
            </a:custGeom>
            <a:blipFill>
              <a:blip r:embed="rId3"/>
              <a:stretch>
                <a:fillRect l="-230" t="0" r="-230" b="0"/>
              </a:stretch>
            </a:blipFill>
          </p:spPr>
          <p:txBody>
            <a:bodyPr/>
            <a:p/>
          </p:txBody>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Una vez que se creó el proyecto se debe generar los diferentes paquetes, donde se colocarán los archivos con código fuente: modelo, controlador y vista (patrón MVC).</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RestClient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 continuación se detallarán las clases principales con su código fuente.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492"/>
                </a:lnSpc>
              </a:pPr>
              <a:r>
                <a:rPr lang="en-US" sz="1243">
                  <a:solidFill>
                    <a:srgbClr val="4F81BD"/>
                  </a:solidFill>
                  <a:latin typeface="Calibri (MS)"/>
                  <a:ea typeface="Calibri (MS)"/>
                  <a:cs typeface="Calibri (MS)"/>
                  <a:sym typeface="Calibri (MS)"/>
                </a:rPr>
                <a:t>package ec.edu.monster.clienteconsola.modelo;</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import com.fasterxml.jackson.core.JsonProcessingException;</a:t>
              </a:r>
            </a:p>
            <a:p>
              <a:pPr algn="l">
                <a:lnSpc>
                  <a:spcPts val="1492"/>
                </a:lnSpc>
              </a:pPr>
              <a:r>
                <a:rPr lang="en-US" sz="1243">
                  <a:solidFill>
                    <a:srgbClr val="4F81BD"/>
                  </a:solidFill>
                  <a:latin typeface="Calibri (MS)"/>
                  <a:ea typeface="Calibri (MS)"/>
                  <a:cs typeface="Calibri (MS)"/>
                  <a:sym typeface="Calibri (MS)"/>
                </a:rPr>
                <a:t>import com.fasterxml.jackson.databind.JsonNode;</a:t>
              </a:r>
            </a:p>
            <a:p>
              <a:pPr algn="l">
                <a:lnSpc>
                  <a:spcPts val="1492"/>
                </a:lnSpc>
              </a:pPr>
              <a:r>
                <a:rPr lang="en-US" sz="1243">
                  <a:solidFill>
                    <a:srgbClr val="4F81BD"/>
                  </a:solidFill>
                  <a:latin typeface="Calibri (MS)"/>
                  <a:ea typeface="Calibri (MS)"/>
                  <a:cs typeface="Calibri (MS)"/>
                  <a:sym typeface="Calibri (MS)"/>
                </a:rPr>
                <a:t>import com.fasterxml.jackson.databind.ObjectMapper;</a:t>
              </a:r>
            </a:p>
            <a:p>
              <a:pPr algn="l">
                <a:lnSpc>
                  <a:spcPts val="1492"/>
                </a:lnSpc>
              </a:pPr>
              <a:r>
                <a:rPr lang="en-US" sz="1243">
                  <a:solidFill>
                    <a:srgbClr val="4F81BD"/>
                  </a:solidFill>
                  <a:latin typeface="Calibri (MS)"/>
                  <a:ea typeface="Calibri (MS)"/>
                  <a:cs typeface="Calibri (MS)"/>
                  <a:sym typeface="Calibri (MS)"/>
                </a:rPr>
                <a:t>import java.io.IOException;</a:t>
              </a:r>
            </a:p>
            <a:p>
              <a:pPr algn="l">
                <a:lnSpc>
                  <a:spcPts val="1492"/>
                </a:lnSpc>
              </a:pPr>
              <a:r>
                <a:rPr lang="en-US" sz="1243">
                  <a:solidFill>
                    <a:srgbClr val="4F81BD"/>
                  </a:solidFill>
                  <a:latin typeface="Calibri (MS)"/>
                  <a:ea typeface="Calibri (MS)"/>
                  <a:cs typeface="Calibri (MS)"/>
                  <a:sym typeface="Calibri (MS)"/>
                </a:rPr>
                <a:t>import java.net.URI;</a:t>
              </a:r>
            </a:p>
            <a:p>
              <a:pPr algn="l">
                <a:lnSpc>
                  <a:spcPts val="1492"/>
                </a:lnSpc>
              </a:pPr>
              <a:r>
                <a:rPr lang="en-US" sz="1243">
                  <a:solidFill>
                    <a:srgbClr val="4F81BD"/>
                  </a:solidFill>
                  <a:latin typeface="Calibri (MS)"/>
                  <a:ea typeface="Calibri (MS)"/>
                  <a:cs typeface="Calibri (MS)"/>
                  <a:sym typeface="Calibri (MS)"/>
                </a:rPr>
                <a:t>import java.net.URLEncoder;</a:t>
              </a:r>
            </a:p>
            <a:p>
              <a:pPr algn="l">
                <a:lnSpc>
                  <a:spcPts val="1492"/>
                </a:lnSpc>
              </a:pPr>
              <a:r>
                <a:rPr lang="en-US" sz="1243">
                  <a:solidFill>
                    <a:srgbClr val="4F81BD"/>
                  </a:solidFill>
                  <a:latin typeface="Calibri (MS)"/>
                  <a:ea typeface="Calibri (MS)"/>
                  <a:cs typeface="Calibri (MS)"/>
                  <a:sym typeface="Calibri (MS)"/>
                </a:rPr>
                <a:t>import java.net.http.HttpClient;</a:t>
              </a:r>
            </a:p>
            <a:p>
              <a:pPr algn="l">
                <a:lnSpc>
                  <a:spcPts val="1492"/>
                </a:lnSpc>
              </a:pPr>
              <a:r>
                <a:rPr lang="en-US" sz="1243">
                  <a:solidFill>
                    <a:srgbClr val="4F81BD"/>
                  </a:solidFill>
                  <a:latin typeface="Calibri (MS)"/>
                  <a:ea typeface="Calibri (MS)"/>
                  <a:cs typeface="Calibri (MS)"/>
                  <a:sym typeface="Calibri (MS)"/>
                </a:rPr>
                <a:t>import java.net.http.HttpRequest;</a:t>
              </a:r>
            </a:p>
            <a:p>
              <a:pPr algn="l">
                <a:lnSpc>
                  <a:spcPts val="1492"/>
                </a:lnSpc>
              </a:pPr>
              <a:r>
                <a:rPr lang="en-US" sz="1243">
                  <a:solidFill>
                    <a:srgbClr val="4F81BD"/>
                  </a:solidFill>
                  <a:latin typeface="Calibri (MS)"/>
                  <a:ea typeface="Calibri (MS)"/>
                  <a:cs typeface="Calibri (MS)"/>
                  <a:sym typeface="Calibri (MS)"/>
                </a:rPr>
                <a:t>import java.net.http.HttpResponse;</a:t>
              </a:r>
            </a:p>
            <a:p>
              <a:pPr algn="l">
                <a:lnSpc>
                  <a:spcPts val="1492"/>
                </a:lnSpc>
              </a:pPr>
              <a:r>
                <a:rPr lang="en-US" sz="1243">
                  <a:solidFill>
                    <a:srgbClr val="4F81BD"/>
                  </a:solidFill>
                  <a:latin typeface="Calibri (MS)"/>
                  <a:ea typeface="Calibri (MS)"/>
                  <a:cs typeface="Calibri (MS)"/>
                  <a:sym typeface="Calibri (MS)"/>
                </a:rPr>
                <a:t>import java.nio.charset.StandardCharsets;</a:t>
              </a:r>
            </a:p>
            <a:p>
              <a:pPr algn="l">
                <a:lnSpc>
                  <a:spcPts val="1492"/>
                </a:lnSpc>
              </a:pPr>
              <a:r>
                <a:rPr lang="en-US" sz="1243">
                  <a:solidFill>
                    <a:srgbClr val="4F81BD"/>
                  </a:solidFill>
                  <a:latin typeface="Calibri (MS)"/>
                  <a:ea typeface="Calibri (MS)"/>
                  <a:cs typeface="Calibri (MS)"/>
                  <a:sym typeface="Calibri (MS)"/>
                </a:rPr>
                <a:t>import java.time.Duration;</a:t>
              </a:r>
            </a:p>
            <a:p>
              <a:pPr algn="l">
                <a:lnSpc>
                  <a:spcPts val="1492"/>
                </a:lnSpc>
              </a:pPr>
              <a:r>
                <a:rPr lang="en-US" sz="1243">
                  <a:solidFill>
                    <a:srgbClr val="4F81BD"/>
                  </a:solidFill>
                  <a:latin typeface="Calibri (MS)"/>
                  <a:ea typeface="Calibri (MS)"/>
                  <a:cs typeface="Calibri (MS)"/>
                  <a:sym typeface="Calibri (MS)"/>
                </a:rPr>
                <a:t>import java.util.HashMap;</a:t>
              </a:r>
            </a:p>
            <a:p>
              <a:pPr algn="l">
                <a:lnSpc>
                  <a:spcPts val="1492"/>
                </a:lnSpc>
              </a:pPr>
              <a:r>
                <a:rPr lang="en-US" sz="1243">
                  <a:solidFill>
                    <a:srgbClr val="4F81BD"/>
                  </a:solidFill>
                  <a:latin typeface="Calibri (MS)"/>
                  <a:ea typeface="Calibri (MS)"/>
                  <a:cs typeface="Calibri (MS)"/>
                  <a:sym typeface="Calibri (MS)"/>
                </a:rPr>
                <a:t>import java.util.Map;</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public class RestClient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public static final String URL_POR_DEFECTO = "http://localhost:8080/REST_ConUni_Java_GR07/api/";</a:t>
              </a:r>
            </a:p>
            <a:p>
              <a:pPr algn="l">
                <a:lnSpc>
                  <a:spcPts val="1492"/>
                </a:lnSpc>
              </a:pPr>
              <a:r>
                <a:rPr lang="en-US" sz="1243">
                  <a:solidFill>
                    <a:srgbClr val="4F81BD"/>
                  </a:solidFill>
                  <a:latin typeface="Calibri (MS)"/>
                  <a:ea typeface="Calibri (MS)"/>
                  <a:cs typeface="Calibri (MS)"/>
                  <a:sym typeface="Calibri (MS)"/>
                </a:rPr>
                <a:t>    private static final ObjectMapper JSON = new ObjectMapper();</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private final String baseUrl;</a:t>
              </a:r>
            </a:p>
            <a:p>
              <a:pPr algn="l">
                <a:lnSpc>
                  <a:spcPts val="1492"/>
                </a:lnSpc>
              </a:pPr>
              <a:r>
                <a:rPr lang="en-US" sz="1243">
                  <a:solidFill>
                    <a:srgbClr val="4F81BD"/>
                  </a:solidFill>
                  <a:latin typeface="Calibri (MS)"/>
                  <a:ea typeface="Calibri (MS)"/>
                  <a:cs typeface="Calibri (MS)"/>
                  <a:sym typeface="Calibri (MS)"/>
                </a:rPr>
                <a:t>    private final HttpClient http = HttpClient.newBuilder().connectTimeout(Duration.ofSeconds(5)).build();</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public RestClient(String baseUrl) {</a:t>
              </a:r>
            </a:p>
            <a:p>
              <a:pPr algn="l">
                <a:lnSpc>
                  <a:spcPts val="1492"/>
                </a:lnSpc>
              </a:pPr>
              <a:r>
                <a:rPr lang="en-US" sz="1243">
                  <a:solidFill>
                    <a:srgbClr val="4F81BD"/>
                  </a:solidFill>
                  <a:latin typeface="Calibri (MS)"/>
                  <a:ea typeface="Calibri (MS)"/>
                  <a:cs typeface="Calibri (MS)"/>
                  <a:sym typeface="Calibri (MS)"/>
                </a:rPr>
                <a:t>        String url = baseUrl == null || baseUrl.isBlank() ? URL_POR_DEFECTO : baseUrl.trim();</a:t>
              </a:r>
            </a:p>
            <a:p>
              <a:pPr algn="l">
                <a:lnSpc>
                  <a:spcPts val="1492"/>
                </a:lnSpc>
              </a:pPr>
              <a:r>
                <a:rPr lang="en-US" sz="1243">
                  <a:solidFill>
                    <a:srgbClr val="4F81BD"/>
                  </a:solidFill>
                  <a:latin typeface="Calibri (MS)"/>
                  <a:ea typeface="Calibri (MS)"/>
                  <a:cs typeface="Calibri (MS)"/>
                  <a:sym typeface="Calibri (MS)"/>
                </a:rPr>
                <a:t>        this.baseUrl = url.endsWith("/") ? url : url +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public static String urlConfigurada() {</a:t>
              </a:r>
            </a:p>
            <a:p>
              <a:pPr algn="l">
                <a:lnSpc>
                  <a:spcPts val="1492"/>
                </a:lnSpc>
              </a:pPr>
              <a:r>
                <a:rPr lang="en-US" sz="1243">
                  <a:solidFill>
                    <a:srgbClr val="4F81BD"/>
                  </a:solidFill>
                  <a:latin typeface="Calibri (MS)"/>
                  <a:ea typeface="Calibri (MS)"/>
                  <a:cs typeface="Calibri (MS)"/>
                  <a:sym typeface="Calibri (MS)"/>
                </a:rPr>
                <a:t>        String url = System.getProperty("conuni.url");</a:t>
              </a:r>
            </a:p>
            <a:p>
              <a:pPr algn="l">
                <a:lnSpc>
                  <a:spcPts val="1492"/>
                </a:lnSpc>
              </a:pPr>
              <a:r>
                <a:rPr lang="en-US" sz="1243">
                  <a:solidFill>
                    <a:srgbClr val="4F81BD"/>
                  </a:solidFill>
                  <a:latin typeface="Calibri (MS)"/>
                  <a:ea typeface="Calibri (MS)"/>
                  <a:cs typeface="Calibri (MS)"/>
                  <a:sym typeface="Calibri (MS)"/>
                </a:rPr>
                <a:t>        if (url == null || url.isBlank()) {</a:t>
              </a:r>
            </a:p>
            <a:p>
              <a:pPr algn="l">
                <a:lnSpc>
                  <a:spcPts val="1492"/>
                </a:lnSpc>
              </a:pPr>
              <a:r>
                <a:rPr lang="en-US" sz="1243">
                  <a:solidFill>
                    <a:srgbClr val="4F81BD"/>
                  </a:solidFill>
                  <a:latin typeface="Calibri (MS)"/>
                  <a:ea typeface="Calibri (MS)"/>
                  <a:cs typeface="Calibri (MS)"/>
                  <a:sym typeface="Calibri (MS)"/>
                </a:rPr>
                <a:t>            url = System.getenv("CONUNI_URL");</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return url == null || url.isBlank() ? URL_POR_DEFECTO : url;</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public String getBaseUrl() {</a:t>
              </a:r>
            </a:p>
            <a:p>
              <a:pPr algn="l">
                <a:lnSpc>
                  <a:spcPts val="1492"/>
                </a:lnSpc>
              </a:pPr>
              <a:r>
                <a:rPr lang="en-US" sz="1243">
                  <a:solidFill>
                    <a:srgbClr val="4F81BD"/>
                  </a:solidFill>
                  <a:latin typeface="Calibri (MS)"/>
                  <a:ea typeface="Calibri (MS)"/>
                  <a:cs typeface="Calibri (MS)"/>
                  <a:sym typeface="Calibri (MS)"/>
                </a:rPr>
                <a:t>        return baseUrl;</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RestClient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 continuación se detallarán las clases principales con su código fuente.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492"/>
                </a:lnSpc>
              </a:pPr>
              <a:r>
                <a:rPr lang="en-US" sz="1243">
                  <a:solidFill>
                    <a:srgbClr val="4F81BD"/>
                  </a:solidFill>
                  <a:latin typeface="Calibri (MS)"/>
                  <a:ea typeface="Calibri (MS)"/>
                  <a:cs typeface="Calibri (MS)"/>
                  <a:sym typeface="Calibri (MS)"/>
                </a:rPr>
                <a:t>    public RespuestaServicio login(String usuario, String clave) {</a:t>
              </a:r>
            </a:p>
            <a:p>
              <a:pPr algn="l">
                <a:lnSpc>
                  <a:spcPts val="1492"/>
                </a:lnSpc>
              </a:pPr>
              <a:r>
                <a:rPr lang="en-US" sz="1243">
                  <a:solidFill>
                    <a:srgbClr val="4F81BD"/>
                  </a:solidFill>
                  <a:latin typeface="Calibri (MS)"/>
                  <a:ea typeface="Calibri (MS)"/>
                  <a:cs typeface="Calibri (MS)"/>
                  <a:sym typeface="Calibri (MS)"/>
                </a:rPr>
                <a:t>        Map&lt;String, Object&gt; body = new HashMap&lt;&gt;();</a:t>
              </a:r>
            </a:p>
            <a:p>
              <a:pPr algn="l">
                <a:lnSpc>
                  <a:spcPts val="1492"/>
                </a:lnSpc>
              </a:pPr>
              <a:r>
                <a:rPr lang="en-US" sz="1243">
                  <a:solidFill>
                    <a:srgbClr val="4F81BD"/>
                  </a:solidFill>
                  <a:latin typeface="Calibri (MS)"/>
                  <a:ea typeface="Calibri (MS)"/>
                  <a:cs typeface="Calibri (MS)"/>
                  <a:sym typeface="Calibri (MS)"/>
                </a:rPr>
                <a:t>        body.put("usuario", usuario);</a:t>
              </a:r>
            </a:p>
            <a:p>
              <a:pPr algn="l">
                <a:lnSpc>
                  <a:spcPts val="1492"/>
                </a:lnSpc>
              </a:pPr>
              <a:r>
                <a:rPr lang="en-US" sz="1243">
                  <a:solidFill>
                    <a:srgbClr val="4F81BD"/>
                  </a:solidFill>
                  <a:latin typeface="Calibri (MS)"/>
                  <a:ea typeface="Calibri (MS)"/>
                  <a:cs typeface="Calibri (MS)"/>
                  <a:sym typeface="Calibri (MS)"/>
                </a:rPr>
                <a:t>        body.put("clave", clave);</a:t>
              </a:r>
            </a:p>
            <a:p>
              <a:pPr algn="l">
                <a:lnSpc>
                  <a:spcPts val="1492"/>
                </a:lnSpc>
              </a:pPr>
              <a:r>
                <a:rPr lang="en-US" sz="1243">
                  <a:solidFill>
                    <a:srgbClr val="4F81BD"/>
                  </a:solidFill>
                  <a:latin typeface="Calibri (MS)"/>
                  <a:ea typeface="Calibri (MS)"/>
                  <a:cs typeface="Calibri (MS)"/>
                  <a:sym typeface="Calibri (MS)"/>
                </a:rPr>
                <a:t>        return enviar("POST", "auth/login", null, body);</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public RespuestaServicio obtenerCategorias(String token) {</a:t>
              </a:r>
            </a:p>
            <a:p>
              <a:pPr algn="l">
                <a:lnSpc>
                  <a:spcPts val="1492"/>
                </a:lnSpc>
              </a:pPr>
              <a:r>
                <a:rPr lang="en-US" sz="1243">
                  <a:solidFill>
                    <a:srgbClr val="4F81BD"/>
                  </a:solidFill>
                  <a:latin typeface="Calibri (MS)"/>
                  <a:ea typeface="Calibri (MS)"/>
                  <a:cs typeface="Calibri (MS)"/>
                  <a:sym typeface="Calibri (MS)"/>
                </a:rPr>
                <a:t>        return enviar("GET", "catalogo/categorias", token, null);</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public RespuestaServicio obtenerUnidades(String token, String categoria) {</a:t>
              </a:r>
            </a:p>
            <a:p>
              <a:pPr algn="l">
                <a:lnSpc>
                  <a:spcPts val="1492"/>
                </a:lnSpc>
              </a:pPr>
              <a:r>
                <a:rPr lang="en-US" sz="1243">
                  <a:solidFill>
                    <a:srgbClr val="4F81BD"/>
                  </a:solidFill>
                  <a:latin typeface="Calibri (MS)"/>
                  <a:ea typeface="Calibri (MS)"/>
                  <a:cs typeface="Calibri (MS)"/>
                  <a:sym typeface="Calibri (MS)"/>
                </a:rPr>
                <a:t>        return enviar("GET", "catalogo/" + segmento(categoria) + "/unidades", token, null);</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public RespuestaServicio convertir(String categoria, double valor, String origen, String destino, String token) {</a:t>
              </a:r>
            </a:p>
            <a:p>
              <a:pPr algn="l">
                <a:lnSpc>
                  <a:spcPts val="1492"/>
                </a:lnSpc>
              </a:pPr>
              <a:r>
                <a:rPr lang="en-US" sz="1243">
                  <a:solidFill>
                    <a:srgbClr val="4F81BD"/>
                  </a:solidFill>
                  <a:latin typeface="Calibri (MS)"/>
                  <a:ea typeface="Calibri (MS)"/>
                  <a:cs typeface="Calibri (MS)"/>
                  <a:sym typeface="Calibri (MS)"/>
                </a:rPr>
                <a:t>        Map&lt;String, Object&gt; body = new HashMap&lt;&gt;();</a:t>
              </a:r>
            </a:p>
            <a:p>
              <a:pPr algn="l">
                <a:lnSpc>
                  <a:spcPts val="1492"/>
                </a:lnSpc>
              </a:pPr>
              <a:r>
                <a:rPr lang="en-US" sz="1243">
                  <a:solidFill>
                    <a:srgbClr val="4F81BD"/>
                  </a:solidFill>
                  <a:latin typeface="Calibri (MS)"/>
                  <a:ea typeface="Calibri (MS)"/>
                  <a:cs typeface="Calibri (MS)"/>
                  <a:sym typeface="Calibri (MS)"/>
                </a:rPr>
                <a:t>        body.put("valor", valor);</a:t>
              </a:r>
            </a:p>
            <a:p>
              <a:pPr algn="l">
                <a:lnSpc>
                  <a:spcPts val="1492"/>
                </a:lnSpc>
              </a:pPr>
              <a:r>
                <a:rPr lang="en-US" sz="1243">
                  <a:solidFill>
                    <a:srgbClr val="4F81BD"/>
                  </a:solidFill>
                  <a:latin typeface="Calibri (MS)"/>
                  <a:ea typeface="Calibri (MS)"/>
                  <a:cs typeface="Calibri (MS)"/>
                  <a:sym typeface="Calibri (MS)"/>
                </a:rPr>
                <a:t>        body.put("unidadOrigen", origen);</a:t>
              </a:r>
            </a:p>
            <a:p>
              <a:pPr algn="l">
                <a:lnSpc>
                  <a:spcPts val="1492"/>
                </a:lnSpc>
              </a:pPr>
              <a:r>
                <a:rPr lang="en-US" sz="1243">
                  <a:solidFill>
                    <a:srgbClr val="4F81BD"/>
                  </a:solidFill>
                  <a:latin typeface="Calibri (MS)"/>
                  <a:ea typeface="Calibri (MS)"/>
                  <a:cs typeface="Calibri (MS)"/>
                  <a:sym typeface="Calibri (MS)"/>
                </a:rPr>
                <a:t>        body.put("unidadDestino", destino);</a:t>
              </a:r>
            </a:p>
            <a:p>
              <a:pPr algn="l">
                <a:lnSpc>
                  <a:spcPts val="1492"/>
                </a:lnSpc>
              </a:pPr>
              <a:r>
                <a:rPr lang="en-US" sz="1243">
                  <a:solidFill>
                    <a:srgbClr val="4F81BD"/>
                  </a:solidFill>
                  <a:latin typeface="Calibri (MS)"/>
                  <a:ea typeface="Calibri (MS)"/>
                  <a:cs typeface="Calibri (MS)"/>
                  <a:sym typeface="Calibri (MS)"/>
                </a:rPr>
                <a:t>        return enviar("POST", "conversiones/" + segmento(categoria), token, body);</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private RespuestaServicio enviar(String metodo, String ruta, String token, Map&lt;String, Object&gt; body) {</a:t>
              </a:r>
            </a:p>
            <a:p>
              <a:pPr algn="l">
                <a:lnSpc>
                  <a:spcPts val="1492"/>
                </a:lnSpc>
              </a:pPr>
              <a:r>
                <a:rPr lang="en-US" sz="1243">
                  <a:solidFill>
                    <a:srgbClr val="4F81BD"/>
                  </a:solidFill>
                  <a:latin typeface="Calibri (MS)"/>
                  <a:ea typeface="Calibri (MS)"/>
                  <a:cs typeface="Calibri (MS)"/>
                  <a:sym typeface="Calibri (MS)"/>
                </a:rPr>
                <a:t>        HttpRequest.Builder request = HttpRequest.newBuilder(URI.create(baseUrl + ruta))</a:t>
              </a:r>
            </a:p>
            <a:p>
              <a:pPr algn="l">
                <a:lnSpc>
                  <a:spcPts val="1492"/>
                </a:lnSpc>
              </a:pPr>
              <a:r>
                <a:rPr lang="en-US" sz="1243">
                  <a:solidFill>
                    <a:srgbClr val="4F81BD"/>
                  </a:solidFill>
                  <a:latin typeface="Calibri (MS)"/>
                  <a:ea typeface="Calibri (MS)"/>
                  <a:cs typeface="Calibri (MS)"/>
                  <a:sym typeface="Calibri (MS)"/>
                </a:rPr>
                <a:t>                .timeout(Duration.ofSeconds(15))</a:t>
              </a:r>
            </a:p>
            <a:p>
              <a:pPr algn="l">
                <a:lnSpc>
                  <a:spcPts val="1492"/>
                </a:lnSpc>
              </a:pPr>
              <a:r>
                <a:rPr lang="en-US" sz="1243">
                  <a:solidFill>
                    <a:srgbClr val="4F81BD"/>
                  </a:solidFill>
                  <a:latin typeface="Calibri (MS)"/>
                  <a:ea typeface="Calibri (MS)"/>
                  <a:cs typeface="Calibri (MS)"/>
                  <a:sym typeface="Calibri (MS)"/>
                </a:rPr>
                <a:t>                .header("Accept", "application/json");</a:t>
              </a:r>
            </a:p>
            <a:p>
              <a:pPr algn="l">
                <a:lnSpc>
                  <a:spcPts val="1492"/>
                </a:lnSpc>
              </a:pPr>
              <a:r>
                <a:rPr lang="en-US" sz="1243">
                  <a:solidFill>
                    <a:srgbClr val="4F81BD"/>
                  </a:solidFill>
                  <a:latin typeface="Calibri (MS)"/>
                  <a:ea typeface="Calibri (MS)"/>
                  <a:cs typeface="Calibri (MS)"/>
                  <a:sym typeface="Calibri (MS)"/>
                </a:rPr>
                <a:t>        if (token != null &amp;&amp; !token.isBlank()) {</a:t>
              </a:r>
            </a:p>
            <a:p>
              <a:pPr algn="l">
                <a:lnSpc>
                  <a:spcPts val="1492"/>
                </a:lnSpc>
              </a:pPr>
              <a:r>
                <a:rPr lang="en-US" sz="1243">
                  <a:solidFill>
                    <a:srgbClr val="4F81BD"/>
                  </a:solidFill>
                  <a:latin typeface="Calibri (MS)"/>
                  <a:ea typeface="Calibri (MS)"/>
                  <a:cs typeface="Calibri (MS)"/>
                  <a:sym typeface="Calibri (MS)"/>
                </a:rPr>
                <a:t>            request.header("Authorization", "Bearer " + token);</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if (body == null) {</a:t>
              </a:r>
            </a:p>
            <a:p>
              <a:pPr algn="l">
                <a:lnSpc>
                  <a:spcPts val="1492"/>
                </a:lnSpc>
              </a:pPr>
              <a:r>
                <a:rPr lang="en-US" sz="1243">
                  <a:solidFill>
                    <a:srgbClr val="4F81BD"/>
                  </a:solidFill>
                  <a:latin typeface="Calibri (MS)"/>
                  <a:ea typeface="Calibri (MS)"/>
                  <a:cs typeface="Calibri (MS)"/>
                  <a:sym typeface="Calibri (MS)"/>
                </a:rPr>
                <a:t>            request.GET();</a:t>
              </a:r>
            </a:p>
            <a:p>
              <a:pPr algn="l">
                <a:lnSpc>
                  <a:spcPts val="1492"/>
                </a:lnSpc>
              </a:pPr>
              <a:r>
                <a:rPr lang="en-US" sz="1243">
                  <a:solidFill>
                    <a:srgbClr val="4F81BD"/>
                  </a:solidFill>
                  <a:latin typeface="Calibri (MS)"/>
                  <a:ea typeface="Calibri (MS)"/>
                  <a:cs typeface="Calibri (MS)"/>
                  <a:sym typeface="Calibri (MS)"/>
                </a:rPr>
                <a:t>        } else {</a:t>
              </a:r>
            </a:p>
            <a:p>
              <a:pPr algn="l">
                <a:lnSpc>
                  <a:spcPts val="1492"/>
                </a:lnSpc>
              </a:pPr>
              <a:r>
                <a:rPr lang="en-US" sz="1243">
                  <a:solidFill>
                    <a:srgbClr val="4F81BD"/>
                  </a:solidFill>
                  <a:latin typeface="Calibri (MS)"/>
                  <a:ea typeface="Calibri (MS)"/>
                  <a:cs typeface="Calibri (MS)"/>
                  <a:sym typeface="Calibri (MS)"/>
                </a:rPr>
                <a:t>            try {</a:t>
              </a:r>
            </a:p>
            <a:p>
              <a:pPr algn="l">
                <a:lnSpc>
                  <a:spcPts val="1492"/>
                </a:lnSpc>
              </a:pPr>
              <a:r>
                <a:rPr lang="en-US" sz="1243">
                  <a:solidFill>
                    <a:srgbClr val="4F81BD"/>
                  </a:solidFill>
                  <a:latin typeface="Calibri (MS)"/>
                  <a:ea typeface="Calibri (MS)"/>
                  <a:cs typeface="Calibri (MS)"/>
                  <a:sym typeface="Calibri (MS)"/>
                </a:rPr>
                <a:t>                request.header("Content-Type", "application/json; charset=utf-8")</a:t>
              </a:r>
            </a:p>
            <a:p>
              <a:pPr algn="l">
                <a:lnSpc>
                  <a:spcPts val="1492"/>
                </a:lnSpc>
              </a:pPr>
              <a:r>
                <a:rPr lang="en-US" sz="1243">
                  <a:solidFill>
                    <a:srgbClr val="4F81BD"/>
                  </a:solidFill>
                  <a:latin typeface="Calibri (MS)"/>
                  <a:ea typeface="Calibri (MS)"/>
                  <a:cs typeface="Calibri (MS)"/>
                  <a:sym typeface="Calibri (MS)"/>
                </a:rPr>
                <a:t>                        .method(metodo, HttpRequest.BodyPublishers.ofString(JSON.writeValueAsString(body)));</a:t>
              </a:r>
            </a:p>
            <a:p>
              <a:pPr algn="l">
                <a:lnSpc>
                  <a:spcPts val="1492"/>
                </a:lnSpc>
              </a:pPr>
              <a:r>
                <a:rPr lang="en-US" sz="1243">
                  <a:solidFill>
                    <a:srgbClr val="4F81BD"/>
                  </a:solidFill>
                  <a:latin typeface="Calibri (MS)"/>
                  <a:ea typeface="Calibri (MS)"/>
                  <a:cs typeface="Calibri (MS)"/>
                  <a:sym typeface="Calibri (MS)"/>
                </a:rPr>
                <a:t>            } catch (JsonProcessingException e) {</a:t>
              </a:r>
            </a:p>
            <a:p>
              <a:pPr algn="l">
                <a:lnSpc>
                  <a:spcPts val="1492"/>
                </a:lnSpc>
              </a:pPr>
              <a:r>
                <a:rPr lang="en-US" sz="1243">
                  <a:solidFill>
                    <a:srgbClr val="4F81BD"/>
                  </a:solidFill>
                  <a:latin typeface="Calibri (MS)"/>
                  <a:ea typeface="Calibri (MS)"/>
                  <a:cs typeface="Calibri (MS)"/>
                  <a:sym typeface="Calibri (MS)"/>
                </a:rPr>
                <a:t>                return RespuestaServicio.errorLocal("SRV-500", "No se pudo preparar la solicitud JSON");</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RestClient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A continuación se detallarán las clases principales con su código fuente.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473190"/>
            <a:chOff x="0" y="0"/>
            <a:chExt cx="12278360" cy="8630920"/>
          </a:xfrm>
        </p:grpSpPr>
        <p:sp>
          <p:nvSpPr>
            <p:cNvPr name="Freeform 18" id="18"/>
            <p:cNvSpPr/>
            <p:nvPr/>
          </p:nvSpPr>
          <p:spPr>
            <a:xfrm flipH="false" flipV="false" rot="0">
              <a:off x="0" y="0"/>
              <a:ext cx="12278360" cy="8630920"/>
            </a:xfrm>
            <a:custGeom>
              <a:avLst/>
              <a:gdLst/>
              <a:ahLst/>
              <a:cxnLst/>
              <a:rect r="r" b="b" t="t" l="l"/>
              <a:pathLst>
                <a:path h="8630920" w="12278360">
                  <a:moveTo>
                    <a:pt x="0" y="0"/>
                  </a:moveTo>
                  <a:lnTo>
                    <a:pt x="12278360" y="0"/>
                  </a:lnTo>
                  <a:lnTo>
                    <a:pt x="12278360" y="8630920"/>
                  </a:lnTo>
                  <a:lnTo>
                    <a:pt x="0" y="863092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669020"/>
            </a:xfrm>
            <a:prstGeom prst="rect">
              <a:avLst/>
            </a:prstGeom>
          </p:spPr>
          <p:txBody>
            <a:bodyPr anchor="t" rtlCol="false" tIns="50800" lIns="50800" bIns="50800" rIns="50800"/>
            <a:lstStyle/>
            <a:p>
              <a:pPr algn="l">
                <a:lnSpc>
                  <a:spcPts val="1492"/>
                </a:lnSpc>
              </a:pPr>
              <a:r>
                <a:rPr lang="en-US" sz="1243">
                  <a:solidFill>
                    <a:srgbClr val="4F81BD"/>
                  </a:solidFill>
                  <a:latin typeface="Calibri (MS)"/>
                  <a:ea typeface="Calibri (MS)"/>
                  <a:cs typeface="Calibri (MS)"/>
                  <a:sym typeface="Calibri (MS)"/>
                </a:rPr>
                <a:t>        HttpResponse&lt;String&gt; response;</a:t>
              </a:r>
            </a:p>
            <a:p>
              <a:pPr algn="l">
                <a:lnSpc>
                  <a:spcPts val="1492"/>
                </a:lnSpc>
              </a:pPr>
              <a:r>
                <a:rPr lang="en-US" sz="1243">
                  <a:solidFill>
                    <a:srgbClr val="4F81BD"/>
                  </a:solidFill>
                  <a:latin typeface="Calibri (MS)"/>
                  <a:ea typeface="Calibri (MS)"/>
                  <a:cs typeface="Calibri (MS)"/>
                  <a:sym typeface="Calibri (MS)"/>
                </a:rPr>
                <a:t>        try {</a:t>
              </a:r>
            </a:p>
            <a:p>
              <a:pPr algn="l">
                <a:lnSpc>
                  <a:spcPts val="1492"/>
                </a:lnSpc>
              </a:pPr>
              <a:r>
                <a:rPr lang="en-US" sz="1243">
                  <a:solidFill>
                    <a:srgbClr val="4F81BD"/>
                  </a:solidFill>
                  <a:latin typeface="Calibri (MS)"/>
                  <a:ea typeface="Calibri (MS)"/>
                  <a:cs typeface="Calibri (MS)"/>
                  <a:sym typeface="Calibri (MS)"/>
                </a:rPr>
                <a:t>            response = http.send(request.build(), HttpResponse.BodyHandlers.ofString(StandardCharsets.UTF_8));</a:t>
              </a:r>
            </a:p>
            <a:p>
              <a:pPr algn="l">
                <a:lnSpc>
                  <a:spcPts val="1492"/>
                </a:lnSpc>
              </a:pPr>
              <a:r>
                <a:rPr lang="en-US" sz="1243">
                  <a:solidFill>
                    <a:srgbClr val="4F81BD"/>
                  </a:solidFill>
                  <a:latin typeface="Calibri (MS)"/>
                  <a:ea typeface="Calibri (MS)"/>
                  <a:cs typeface="Calibri (MS)"/>
                  <a:sym typeface="Calibri (MS)"/>
                </a:rPr>
                <a:t>        } catch (IOException e) {</a:t>
              </a:r>
            </a:p>
            <a:p>
              <a:pPr algn="l">
                <a:lnSpc>
                  <a:spcPts val="1492"/>
                </a:lnSpc>
              </a:pPr>
              <a:r>
                <a:rPr lang="en-US" sz="1243">
                  <a:solidFill>
                    <a:srgbClr val="4F81BD"/>
                  </a:solidFill>
                  <a:latin typeface="Calibri (MS)"/>
                  <a:ea typeface="Calibri (MS)"/>
                  <a:cs typeface="Calibri (MS)"/>
                  <a:sym typeface="Calibri (MS)"/>
                </a:rPr>
                <a:t>            return RespuestaServicio.errorLocal(RespuestaServicio.COD_RED,</a:t>
              </a:r>
            </a:p>
            <a:p>
              <a:pPr algn="l">
                <a:lnSpc>
                  <a:spcPts val="1492"/>
                </a:lnSpc>
              </a:pPr>
              <a:r>
                <a:rPr lang="en-US" sz="1243">
                  <a:solidFill>
                    <a:srgbClr val="4F81BD"/>
                  </a:solidFill>
                  <a:latin typeface="Calibri (MS)"/>
                  <a:ea typeface="Calibri (MS)"/>
                  <a:cs typeface="Calibri (MS)"/>
                  <a:sym typeface="Calibri (MS)"/>
                </a:rPr>
                <a:t>                    "No se pudo conectar con el servidor (" + baseUrl + "). Verifique que esté en ejecución.");</a:t>
              </a:r>
            </a:p>
            <a:p>
              <a:pPr algn="l">
                <a:lnSpc>
                  <a:spcPts val="1492"/>
                </a:lnSpc>
              </a:pPr>
              <a:r>
                <a:rPr lang="en-US" sz="1243">
                  <a:solidFill>
                    <a:srgbClr val="4F81BD"/>
                  </a:solidFill>
                  <a:latin typeface="Calibri (MS)"/>
                  <a:ea typeface="Calibri (MS)"/>
                  <a:cs typeface="Calibri (MS)"/>
                  <a:sym typeface="Calibri (MS)"/>
                </a:rPr>
                <a:t>        } catch (InterruptedException e) {</a:t>
              </a:r>
            </a:p>
            <a:p>
              <a:pPr algn="l">
                <a:lnSpc>
                  <a:spcPts val="1492"/>
                </a:lnSpc>
              </a:pPr>
              <a:r>
                <a:rPr lang="en-US" sz="1243">
                  <a:solidFill>
                    <a:srgbClr val="4F81BD"/>
                  </a:solidFill>
                  <a:latin typeface="Calibri (MS)"/>
                  <a:ea typeface="Calibri (MS)"/>
                  <a:cs typeface="Calibri (MS)"/>
                  <a:sym typeface="Calibri (MS)"/>
                </a:rPr>
                <a:t>            Thread.currentThread().interrupt();</a:t>
              </a:r>
            </a:p>
            <a:p>
              <a:pPr algn="l">
                <a:lnSpc>
                  <a:spcPts val="1492"/>
                </a:lnSpc>
              </a:pPr>
              <a:r>
                <a:rPr lang="en-US" sz="1243">
                  <a:solidFill>
                    <a:srgbClr val="4F81BD"/>
                  </a:solidFill>
                  <a:latin typeface="Calibri (MS)"/>
                  <a:ea typeface="Calibri (MS)"/>
                  <a:cs typeface="Calibri (MS)"/>
                  <a:sym typeface="Calibri (MS)"/>
                </a:rPr>
                <a:t>            return RespuestaServicio.errorLocal(RespuestaServicio.COD_RED, "Operación interrumpida");</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return interpretar(response.body(), response.statusCode());</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private static RespuestaServicio interpretar(String contenido, int estadoHttp) {</a:t>
              </a:r>
            </a:p>
            <a:p>
              <a:pPr algn="l">
                <a:lnSpc>
                  <a:spcPts val="1492"/>
                </a:lnSpc>
              </a:pPr>
              <a:r>
                <a:rPr lang="en-US" sz="1243">
                  <a:solidFill>
                    <a:srgbClr val="4F81BD"/>
                  </a:solidFill>
                  <a:latin typeface="Calibri (MS)"/>
                  <a:ea typeface="Calibri (MS)"/>
                  <a:cs typeface="Calibri (MS)"/>
                  <a:sym typeface="Calibri (MS)"/>
                </a:rPr>
                <a:t>        try {</a:t>
              </a:r>
            </a:p>
            <a:p>
              <a:pPr algn="l">
                <a:lnSpc>
                  <a:spcPts val="1492"/>
                </a:lnSpc>
              </a:pPr>
              <a:r>
                <a:rPr lang="en-US" sz="1243">
                  <a:solidFill>
                    <a:srgbClr val="4F81BD"/>
                  </a:solidFill>
                  <a:latin typeface="Calibri (MS)"/>
                  <a:ea typeface="Calibri (MS)"/>
                  <a:cs typeface="Calibri (MS)"/>
                  <a:sym typeface="Calibri (MS)"/>
                </a:rPr>
                <a:t>            JsonNode json = JSON.readTree(contenido);</a:t>
              </a:r>
            </a:p>
            <a:p>
              <a:pPr algn="l">
                <a:lnSpc>
                  <a:spcPts val="1492"/>
                </a:lnSpc>
              </a:pPr>
              <a:r>
                <a:rPr lang="en-US" sz="1243">
                  <a:solidFill>
                    <a:srgbClr val="4F81BD"/>
                  </a:solidFill>
                  <a:latin typeface="Calibri (MS)"/>
                  <a:ea typeface="Calibri (MS)"/>
                  <a:cs typeface="Calibri (MS)"/>
                  <a:sym typeface="Calibri (MS)"/>
                </a:rPr>
                <a:t>            if (json == null || !json.isObject()) {</a:t>
              </a:r>
            </a:p>
            <a:p>
              <a:pPr algn="l">
                <a:lnSpc>
                  <a:spcPts val="1492"/>
                </a:lnSpc>
              </a:pPr>
              <a:r>
                <a:rPr lang="en-US" sz="1243">
                  <a:solidFill>
                    <a:srgbClr val="4F81BD"/>
                  </a:solidFill>
                  <a:latin typeface="Calibri (MS)"/>
                  <a:ea typeface="Calibri (MS)"/>
                  <a:cs typeface="Calibri (MS)"/>
                  <a:sym typeface="Calibri (MS)"/>
                </a:rPr>
                <a:t>                return RespuestaServicio.errorLocal("SRV-500", "Respuesta JSON inválida (HTTP " + estadoHttp +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RespuestaServicio respuesta = new RespuestaServicio();</a:t>
              </a:r>
            </a:p>
            <a:p>
              <a:pPr algn="l">
                <a:lnSpc>
                  <a:spcPts val="1492"/>
                </a:lnSpc>
              </a:pPr>
              <a:r>
                <a:rPr lang="en-US" sz="1243">
                  <a:solidFill>
                    <a:srgbClr val="4F81BD"/>
                  </a:solidFill>
                  <a:latin typeface="Calibri (MS)"/>
                  <a:ea typeface="Calibri (MS)"/>
                  <a:cs typeface="Calibri (MS)"/>
                  <a:sym typeface="Calibri (MS)"/>
                </a:rPr>
                <a:t>            if (json.hasNonNull("estado")) respuesta.setEstado(json.get("estado").asText());</a:t>
              </a:r>
            </a:p>
            <a:p>
              <a:pPr algn="l">
                <a:lnSpc>
                  <a:spcPts val="1492"/>
                </a:lnSpc>
              </a:pPr>
              <a:r>
                <a:rPr lang="en-US" sz="1243">
                  <a:solidFill>
                    <a:srgbClr val="4F81BD"/>
                  </a:solidFill>
                  <a:latin typeface="Calibri (MS)"/>
                  <a:ea typeface="Calibri (MS)"/>
                  <a:cs typeface="Calibri (MS)"/>
                  <a:sym typeface="Calibri (MS)"/>
                </a:rPr>
                <a:t>            if (json.hasNonNull("codigo")) respuesta.setCodigo(json.get("codigo").asText());</a:t>
              </a:r>
            </a:p>
            <a:p>
              <a:pPr algn="l">
                <a:lnSpc>
                  <a:spcPts val="1492"/>
                </a:lnSpc>
              </a:pPr>
              <a:r>
                <a:rPr lang="en-US" sz="1243">
                  <a:solidFill>
                    <a:srgbClr val="4F81BD"/>
                  </a:solidFill>
                  <a:latin typeface="Calibri (MS)"/>
                  <a:ea typeface="Calibri (MS)"/>
                  <a:cs typeface="Calibri (MS)"/>
                  <a:sym typeface="Calibri (MS)"/>
                </a:rPr>
                <a:t>            if (json.hasNonNull("mensaje")) respuesta.setMensaje(json.get("mensaje").asText());</a:t>
              </a:r>
            </a:p>
            <a:p>
              <a:pPr algn="l">
                <a:lnSpc>
                  <a:spcPts val="1492"/>
                </a:lnSpc>
              </a:pPr>
              <a:r>
                <a:rPr lang="en-US" sz="1243">
                  <a:solidFill>
                    <a:srgbClr val="4F81BD"/>
                  </a:solidFill>
                  <a:latin typeface="Calibri (MS)"/>
                  <a:ea typeface="Calibri (MS)"/>
                  <a:cs typeface="Calibri (MS)"/>
                  <a:sym typeface="Calibri (MS)"/>
                </a:rPr>
                <a:t>            if (json.hasNonNull("resultado")) respuesta.setResultado(json.get("resultado").asDouble());</a:t>
              </a:r>
            </a:p>
            <a:p>
              <a:pPr algn="l">
                <a:lnSpc>
                  <a:spcPts val="1492"/>
                </a:lnSpc>
              </a:pPr>
              <a:r>
                <a:rPr lang="en-US" sz="1243">
                  <a:solidFill>
                    <a:srgbClr val="4F81BD"/>
                  </a:solidFill>
                  <a:latin typeface="Calibri (MS)"/>
                  <a:ea typeface="Calibri (MS)"/>
                  <a:cs typeface="Calibri (MS)"/>
                  <a:sym typeface="Calibri (MS)"/>
                </a:rPr>
                <a:t>            if (json.hasNonNull("unidadOrigen")) respuesta.setUnidadOrigen(json.get("unidadOrigen").asText());</a:t>
              </a:r>
            </a:p>
            <a:p>
              <a:pPr algn="l">
                <a:lnSpc>
                  <a:spcPts val="1492"/>
                </a:lnSpc>
              </a:pPr>
              <a:r>
                <a:rPr lang="en-US" sz="1243">
                  <a:solidFill>
                    <a:srgbClr val="4F81BD"/>
                  </a:solidFill>
                  <a:latin typeface="Calibri (MS)"/>
                  <a:ea typeface="Calibri (MS)"/>
                  <a:cs typeface="Calibri (MS)"/>
                  <a:sym typeface="Calibri (MS)"/>
                </a:rPr>
                <a:t>            if (json.hasNonNull("unidadDestino")) respuesta.setUnidadDestino(json.get("unidadDestino").asText());</a:t>
              </a:r>
            </a:p>
            <a:p>
              <a:pPr algn="l">
                <a:lnSpc>
                  <a:spcPts val="1492"/>
                </a:lnSpc>
              </a:pPr>
              <a:r>
                <a:rPr lang="en-US" sz="1243">
                  <a:solidFill>
                    <a:srgbClr val="4F81BD"/>
                  </a:solidFill>
                  <a:latin typeface="Calibri (MS)"/>
                  <a:ea typeface="Calibri (MS)"/>
                  <a:cs typeface="Calibri (MS)"/>
                  <a:sym typeface="Calibri (MS)"/>
                </a:rPr>
                <a:t>            if (json.hasNonNull("token")) respuesta.setToken(json.get("token").asText());</a:t>
              </a:r>
            </a:p>
            <a:p>
              <a:pPr algn="l">
                <a:lnSpc>
                  <a:spcPts val="1492"/>
                </a:lnSpc>
              </a:pPr>
              <a:r>
                <a:rPr lang="en-US" sz="1243">
                  <a:solidFill>
                    <a:srgbClr val="4F81BD"/>
                  </a:solidFill>
                  <a:latin typeface="Calibri (MS)"/>
                  <a:ea typeface="Calibri (MS)"/>
                  <a:cs typeface="Calibri (MS)"/>
                  <a:sym typeface="Calibri (MS)"/>
                </a:rPr>
                <a:t>            JsonNode datos = json.get("datos");</a:t>
              </a:r>
            </a:p>
            <a:p>
              <a:pPr algn="l">
                <a:lnSpc>
                  <a:spcPts val="1492"/>
                </a:lnSpc>
              </a:pPr>
              <a:r>
                <a:rPr lang="en-US" sz="1243">
                  <a:solidFill>
                    <a:srgbClr val="4F81BD"/>
                  </a:solidFill>
                  <a:latin typeface="Calibri (MS)"/>
                  <a:ea typeface="Calibri (MS)"/>
                  <a:cs typeface="Calibri (MS)"/>
                  <a:sym typeface="Calibri (MS)"/>
                </a:rPr>
                <a:t>            if (datos != null &amp;&amp; datos.isArray()) {</a:t>
              </a:r>
            </a:p>
            <a:p>
              <a:pPr algn="l">
                <a:lnSpc>
                  <a:spcPts val="1492"/>
                </a:lnSpc>
              </a:pPr>
              <a:r>
                <a:rPr lang="en-US" sz="1243">
                  <a:solidFill>
                    <a:srgbClr val="4F81BD"/>
                  </a:solidFill>
                  <a:latin typeface="Calibri (MS)"/>
                  <a:ea typeface="Calibri (MS)"/>
                  <a:cs typeface="Calibri (MS)"/>
                  <a:sym typeface="Calibri (MS)"/>
                </a:rPr>
                <a:t>                for (JsonNode dato : datos) respuesta.getDatos().add(dato.asText());</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return respuesta;</a:t>
              </a:r>
            </a:p>
            <a:p>
              <a:pPr algn="l">
                <a:lnSpc>
                  <a:spcPts val="1492"/>
                </a:lnSpc>
              </a:pPr>
              <a:r>
                <a:rPr lang="en-US" sz="1243">
                  <a:solidFill>
                    <a:srgbClr val="4F81BD"/>
                  </a:solidFill>
                  <a:latin typeface="Calibri (MS)"/>
                  <a:ea typeface="Calibri (MS)"/>
                  <a:cs typeface="Calibri (MS)"/>
                  <a:sym typeface="Calibri (MS)"/>
                </a:rPr>
                <a:t>        } catch (JsonProcessingException e) {</a:t>
              </a:r>
            </a:p>
            <a:p>
              <a:pPr algn="l">
                <a:lnSpc>
                  <a:spcPts val="1492"/>
                </a:lnSpc>
              </a:pPr>
              <a:r>
                <a:rPr lang="en-US" sz="1243">
                  <a:solidFill>
                    <a:srgbClr val="4F81BD"/>
                  </a:solidFill>
                  <a:latin typeface="Calibri (MS)"/>
                  <a:ea typeface="Calibri (MS)"/>
                  <a:cs typeface="Calibri (MS)"/>
                  <a:sym typeface="Calibri (MS)"/>
                </a:rPr>
                <a:t>            return RespuestaServicio.errorLocal("SRV-500", "No se pudo leer la respuesta JSON del servidor");</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    private static String segmento(String valor) {</a:t>
              </a:r>
            </a:p>
            <a:p>
              <a:pPr algn="l">
                <a:lnSpc>
                  <a:spcPts val="1492"/>
                </a:lnSpc>
              </a:pPr>
              <a:r>
                <a:rPr lang="en-US" sz="1243">
                  <a:solidFill>
                    <a:srgbClr val="4F81BD"/>
                  </a:solidFill>
                  <a:latin typeface="Calibri (MS)"/>
                  <a:ea typeface="Calibri (MS)"/>
                  <a:cs typeface="Calibri (MS)"/>
                  <a:sym typeface="Calibri (MS)"/>
                </a:rPr>
                <a:t>        return URLEncoder.encode(valor == null ? "" : valor, StandardCharsets.UTF_8).replace("+", "%20");</a:t>
              </a:r>
            </a:p>
            <a:p>
              <a:pPr algn="l">
                <a:lnSpc>
                  <a:spcPts val="1492"/>
                </a:lnSpc>
              </a:pPr>
              <a:r>
                <a:rPr lang="en-US" sz="1243">
                  <a:solidFill>
                    <a:srgbClr val="4F81BD"/>
                  </a:solidFill>
                  <a:latin typeface="Calibri (MS)"/>
                  <a:ea typeface="Calibri (MS)"/>
                  <a:cs typeface="Calibri (MS)"/>
                  <a:sym typeface="Calibri (MS)"/>
                </a:rPr>
                <a:t>    }</a:t>
              </a:r>
            </a:p>
            <a:p>
              <a:pPr algn="l">
                <a:lnSpc>
                  <a:spcPts val="1492"/>
                </a:lnSpc>
              </a:pPr>
              <a:r>
                <a:rPr lang="en-US" sz="1243">
                  <a:solidFill>
                    <a:srgbClr val="4F81BD"/>
                  </a:solidFill>
                  <a:latin typeface="Calibri (MS)"/>
                  <a:ea typeface="Calibri (MS)"/>
                  <a:cs typeface="Calibri (MS)"/>
                  <a:sym typeface="Calibri (MS)"/>
                </a:rPr>
                <a:t>}</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Sesion (modelo)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Modelo de la sesión: guarda el token.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ec.edu.monster.clienteconsola.modelo;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Estado de la sesion del usuario: guarda el token que entrego el servidor. */</a:t>
              </a:r>
            </a:p>
            <a:p>
              <a:pPr algn="l">
                <a:lnSpc>
                  <a:spcPts val="1800"/>
                </a:lnSpc>
              </a:pPr>
              <a:r>
                <a:rPr lang="en-US" sz="1500">
                  <a:solidFill>
                    <a:srgbClr val="4F81BD"/>
                  </a:solidFill>
                  <a:latin typeface="Calibri (MS)"/>
                  <a:ea typeface="Calibri (MS)"/>
                  <a:cs typeface="Calibri (MS)"/>
                  <a:sym typeface="Calibri (MS)"/>
                </a:rPr>
                <a:t>public class Sesion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String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void iniciar(String token) {</a:t>
              </a:r>
            </a:p>
            <a:p>
              <a:pPr algn="l">
                <a:lnSpc>
                  <a:spcPts val="1800"/>
                </a:lnSpc>
              </a:pPr>
              <a:r>
                <a:rPr lang="en-US" sz="1500">
                  <a:solidFill>
                    <a:srgbClr val="4F81BD"/>
                  </a:solidFill>
                  <a:latin typeface="Calibri (MS)"/>
                  <a:ea typeface="Calibri (MS)"/>
                  <a:cs typeface="Calibri (MS)"/>
                  <a:sym typeface="Calibri (MS)"/>
                </a:rPr>
                <a:t>        this.token =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void cerrar() {</a:t>
              </a:r>
            </a:p>
            <a:p>
              <a:pPr algn="l">
                <a:lnSpc>
                  <a:spcPts val="1800"/>
                </a:lnSpc>
              </a:pPr>
              <a:r>
                <a:rPr lang="en-US" sz="1500">
                  <a:solidFill>
                    <a:srgbClr val="4F81BD"/>
                  </a:solidFill>
                  <a:latin typeface="Calibri (MS)"/>
                  <a:ea typeface="Calibri (MS)"/>
                  <a:cs typeface="Calibri (MS)"/>
                  <a:sym typeface="Calibri (MS)"/>
                </a:rPr>
                <a:t>        this.token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boolean activa() {</a:t>
              </a:r>
            </a:p>
            <a:p>
              <a:pPr algn="l">
                <a:lnSpc>
                  <a:spcPts val="1800"/>
                </a:lnSpc>
              </a:pPr>
              <a:r>
                <a:rPr lang="en-US" sz="1500">
                  <a:solidFill>
                    <a:srgbClr val="4F81BD"/>
                  </a:solidFill>
                  <a:latin typeface="Calibri (MS)"/>
                  <a:ea typeface="Calibri (MS)"/>
                  <a:cs typeface="Calibri (MS)"/>
                  <a:sym typeface="Calibri (MS)"/>
                </a:rPr>
                <a:t>        return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synchronized String getToken() {</a:t>
              </a:r>
            </a:p>
            <a:p>
              <a:pPr algn="l">
                <a:lnSpc>
                  <a:spcPts val="1800"/>
                </a:lnSpc>
              </a:pPr>
              <a:r>
                <a:rPr lang="en-US" sz="1500">
                  <a:solidFill>
                    <a:srgbClr val="4F81BD"/>
                  </a:solidFill>
                  <a:latin typeface="Calibri (MS)"/>
                  <a:ea typeface="Calibri (MS)"/>
                  <a:cs typeface="Calibri (MS)"/>
                  <a:sym typeface="Calibri (MS)"/>
                </a:rPr>
                <a:t>        return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 la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078730"/>
            <a:chOff x="0" y="0"/>
            <a:chExt cx="12278360" cy="6771640"/>
          </a:xfrm>
        </p:grpSpPr>
        <p:sp>
          <p:nvSpPr>
            <p:cNvPr name="Freeform 18" id="18"/>
            <p:cNvSpPr/>
            <p:nvPr/>
          </p:nvSpPr>
          <p:spPr>
            <a:xfrm flipH="false" flipV="false" rot="0">
              <a:off x="0" y="0"/>
              <a:ext cx="12278360" cy="6771640"/>
            </a:xfrm>
            <a:custGeom>
              <a:avLst/>
              <a:gdLst/>
              <a:ahLst/>
              <a:cxnLst/>
              <a:rect r="r" b="b" t="t" l="l"/>
              <a:pathLst>
                <a:path h="6771640" w="12278360">
                  <a:moveTo>
                    <a:pt x="0" y="0"/>
                  </a:moveTo>
                  <a:lnTo>
                    <a:pt x="12278360" y="0"/>
                  </a:lnTo>
                  <a:lnTo>
                    <a:pt x="12278360" y="6771640"/>
                  </a:lnTo>
                  <a:lnTo>
                    <a:pt x="0" y="677164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68097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ec.edu.monster.clienteconsola.modelo.RespuestaServicio;</a:t>
              </a:r>
            </a:p>
            <a:p>
              <a:pPr algn="l">
                <a:lnSpc>
                  <a:spcPts val="1800"/>
                </a:lnSpc>
              </a:pPr>
              <a:r>
                <a:rPr lang="en-US" sz="1500">
                  <a:solidFill>
                    <a:srgbClr val="4F81BD"/>
                  </a:solidFill>
                  <a:latin typeface="Calibri (MS)"/>
                  <a:ea typeface="Calibri (MS)"/>
                  <a:cs typeface="Calibri (MS)"/>
                  <a:sym typeface="Calibri (MS)"/>
                </a:rPr>
                <a:t>import ec.edu.monster.clienteconsola.modelo.Sesion;</a:t>
              </a:r>
            </a:p>
            <a:p>
              <a:pPr algn="l">
                <a:lnSpc>
                  <a:spcPts val="1800"/>
                </a:lnSpc>
              </a:pPr>
              <a:r>
                <a:rPr lang="en-US" sz="1500">
                  <a:solidFill>
                    <a:srgbClr val="4F81BD"/>
                  </a:solidFill>
                  <a:latin typeface="Calibri (MS)"/>
                  <a:ea typeface="Calibri (MS)"/>
                  <a:cs typeface="Calibri (MS)"/>
                  <a:sym typeface="Calibri (MS)"/>
                </a:rPr>
                <a:t>import ec.edu.monster.clienteconsola.modelo.RestClient;</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Controlador de la sesión (CU-01): inicia y cierra la sesión REST. */</a:t>
              </a:r>
            </a:p>
            <a:p>
              <a:pPr algn="l">
                <a:lnSpc>
                  <a:spcPts val="1800"/>
                </a:lnSpc>
              </a:pPr>
              <a:r>
                <a:rPr lang="en-US" sz="1500">
                  <a:solidFill>
                    <a:srgbClr val="4F81BD"/>
                  </a:solidFill>
                  <a:latin typeface="Calibri (MS)"/>
                  <a:ea typeface="Calibri (MS)"/>
                  <a:cs typeface="Calibri (MS)"/>
                  <a:sym typeface="Calibri (MS)"/>
                </a:rPr>
                <a:t>public class ControladorSesion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RestClient cliente;</a:t>
              </a:r>
            </a:p>
            <a:p>
              <a:pPr algn="l">
                <a:lnSpc>
                  <a:spcPts val="1800"/>
                </a:lnSpc>
              </a:pPr>
              <a:r>
                <a:rPr lang="en-US" sz="1500">
                  <a:solidFill>
                    <a:srgbClr val="4F81BD"/>
                  </a:solidFill>
                  <a:latin typeface="Calibri (MS)"/>
                  <a:ea typeface="Calibri (MS)"/>
                  <a:cs typeface="Calibri (MS)"/>
                  <a:sym typeface="Calibri (MS)"/>
                </a:rPr>
                <a:t>    private final Sesion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ControladorSesion(RestClient cliente, Sesion sesion)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this.sesion =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getUrl() {</a:t>
              </a:r>
            </a:p>
            <a:p>
              <a:pPr algn="l">
                <a:lnSpc>
                  <a:spcPts val="1800"/>
                </a:lnSpc>
              </a:pPr>
              <a:r>
                <a:rPr lang="en-US" sz="1500">
                  <a:solidFill>
                    <a:srgbClr val="4F81BD"/>
                  </a:solidFill>
                  <a:latin typeface="Calibri (MS)"/>
                  <a:ea typeface="Calibri (MS)"/>
                  <a:cs typeface="Calibri (MS)"/>
                  <a:sym typeface="Calibri (MS)"/>
                </a:rPr>
                <a:t>        return cliente.getBaseUrl();</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 la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684270"/>
            <a:chOff x="0" y="0"/>
            <a:chExt cx="12278360" cy="4912360"/>
          </a:xfrm>
        </p:grpSpPr>
        <p:sp>
          <p:nvSpPr>
            <p:cNvPr name="Freeform 18" id="18"/>
            <p:cNvSpPr/>
            <p:nvPr/>
          </p:nvSpPr>
          <p:spPr>
            <a:xfrm flipH="false" flipV="false" rot="0">
              <a:off x="0" y="0"/>
              <a:ext cx="12278360" cy="4912360"/>
            </a:xfrm>
            <a:custGeom>
              <a:avLst/>
              <a:gdLst/>
              <a:ahLst/>
              <a:cxnLst/>
              <a:rect r="r" b="b" t="t" l="l"/>
              <a:pathLst>
                <a:path h="4912360" w="12278360">
                  <a:moveTo>
                    <a:pt x="0" y="0"/>
                  </a:moveTo>
                  <a:lnTo>
                    <a:pt x="12278360" y="0"/>
                  </a:lnTo>
                  <a:lnTo>
                    <a:pt x="12278360" y="4912360"/>
                  </a:lnTo>
                  <a:lnTo>
                    <a:pt x="0" y="49123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49504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boolean haySesion() {</a:t>
              </a:r>
            </a:p>
            <a:p>
              <a:pPr algn="l">
                <a:lnSpc>
                  <a:spcPts val="1800"/>
                </a:lnSpc>
              </a:pPr>
              <a:r>
                <a:rPr lang="en-US" sz="1500">
                  <a:solidFill>
                    <a:srgbClr val="4F81BD"/>
                  </a:solidFill>
                  <a:latin typeface="Calibri (MS)"/>
                  <a:ea typeface="Calibri (MS)"/>
                  <a:cs typeface="Calibri (MS)"/>
                  <a:sym typeface="Calibri (MS)"/>
                </a:rPr>
                <a:t>        return sesion.activa();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iniciarSesion(String usuario, String clave) {</a:t>
              </a:r>
            </a:p>
            <a:p>
              <a:pPr algn="l">
                <a:lnSpc>
                  <a:spcPts val="1800"/>
                </a:lnSpc>
              </a:pPr>
              <a:r>
                <a:rPr lang="en-US" sz="1500">
                  <a:solidFill>
                    <a:srgbClr val="4F81BD"/>
                  </a:solidFill>
                  <a:latin typeface="Calibri (MS)"/>
                  <a:ea typeface="Calibri (MS)"/>
                  <a:cs typeface="Calibri (MS)"/>
                  <a:sym typeface="Calibri (MS)"/>
                </a:rPr>
                <a:t>        RespuestaServicio r = cliente.login(usuario, clave);</a:t>
              </a:r>
            </a:p>
            <a:p>
              <a:pPr algn="l">
                <a:lnSpc>
                  <a:spcPts val="1800"/>
                </a:lnSpc>
              </a:pPr>
              <a:r>
                <a:rPr lang="en-US" sz="1500">
                  <a:solidFill>
                    <a:srgbClr val="4F81BD"/>
                  </a:solidFill>
                  <a:latin typeface="Calibri (MS)"/>
                  <a:ea typeface="Calibri (MS)"/>
                  <a:cs typeface="Calibri (MS)"/>
                  <a:sym typeface="Calibri (MS)"/>
                </a:rPr>
                <a:t>        if (r.esExitosa() &amp;&amp; r.getToken() != null) {</a:t>
              </a:r>
            </a:p>
            <a:p>
              <a:pPr algn="l">
                <a:lnSpc>
                  <a:spcPts val="1800"/>
                </a:lnSpc>
              </a:pPr>
              <a:r>
                <a:rPr lang="en-US" sz="1500">
                  <a:solidFill>
                    <a:srgbClr val="4F81BD"/>
                  </a:solidFill>
                  <a:latin typeface="Calibri (MS)"/>
                  <a:ea typeface="Calibri (MS)"/>
                  <a:cs typeface="Calibri (MS)"/>
                  <a:sym typeface="Calibri (MS)"/>
                </a:rPr>
                <a:t>            sesion.iniciar(r.getToken());</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sesion.cerrar();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sesion.cerrar();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del catálogo y las 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ec.edu.monster.clienteconsola.modelo.RespuestaServicio;</a:t>
              </a:r>
            </a:p>
            <a:p>
              <a:pPr algn="l">
                <a:lnSpc>
                  <a:spcPts val="1800"/>
                </a:lnSpc>
              </a:pPr>
              <a:r>
                <a:rPr lang="en-US" sz="1500">
                  <a:solidFill>
                    <a:srgbClr val="4F81BD"/>
                  </a:solidFill>
                  <a:latin typeface="Calibri (MS)"/>
                  <a:ea typeface="Calibri (MS)"/>
                  <a:cs typeface="Calibri (MS)"/>
                  <a:sym typeface="Calibri (MS)"/>
                </a:rPr>
                <a:t>import ec.edu.monster.clienteconsola.modelo.Sesion;</a:t>
              </a:r>
            </a:p>
            <a:p>
              <a:pPr algn="l">
                <a:lnSpc>
                  <a:spcPts val="1800"/>
                </a:lnSpc>
              </a:pPr>
              <a:r>
                <a:rPr lang="en-US" sz="1500">
                  <a:solidFill>
                    <a:srgbClr val="4F81BD"/>
                  </a:solidFill>
                  <a:latin typeface="Calibri (MS)"/>
                  <a:ea typeface="Calibri (MS)"/>
                  <a:cs typeface="Calibri (MS)"/>
                  <a:sym typeface="Calibri (MS)"/>
                </a:rPr>
                <a:t>import ec.edu.monster.clienteconsola.modelo.RestClient;</a:t>
              </a:r>
            </a:p>
            <a:p>
              <a:pPr algn="l">
                <a:lnSpc>
                  <a:spcPts val="1800"/>
                </a:lnSpc>
              </a:pPr>
              <a:r>
                <a:rPr lang="en-US" sz="1500">
                  <a:solidFill>
                    <a:srgbClr val="4F81BD"/>
                  </a:solidFill>
                  <a:latin typeface="Calibri (MS)"/>
                  <a:ea typeface="Calibri (MS)"/>
                  <a:cs typeface="Calibri (MS)"/>
                  <a:sym typeface="Calibri (MS)"/>
                </a:rPr>
                <a:t>import java.math.BigDecimal;</a:t>
              </a:r>
            </a:p>
            <a:p>
              <a:pPr algn="l">
                <a:lnSpc>
                  <a:spcPts val="1800"/>
                </a:lnSpc>
              </a:pPr>
              <a:r>
                <a:rPr lang="en-US" sz="1500">
                  <a:solidFill>
                    <a:srgbClr val="4F81BD"/>
                  </a:solidFill>
                  <a:latin typeface="Calibri (MS)"/>
                  <a:ea typeface="Calibri (MS)"/>
                  <a:cs typeface="Calibri (MS)"/>
                  <a:sym typeface="Calibri (MS)"/>
                </a:rPr>
                <a:t>import java.math.RoundingMode;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Controlador del catalogo y las conversiones: usa el token de la sesion, llama al</a:t>
              </a:r>
            </a:p>
            <a:p>
              <a:pPr algn="l">
                <a:lnSpc>
                  <a:spcPts val="1800"/>
                </a:lnSpc>
              </a:pPr>
              <a:r>
                <a:rPr lang="en-US" sz="1500">
                  <a:solidFill>
                    <a:srgbClr val="4F81BD"/>
                  </a:solidFill>
                  <a:latin typeface="Calibri (MS)"/>
                  <a:ea typeface="Calibri (MS)"/>
                  <a:cs typeface="Calibri (MS)"/>
                  <a:sym typeface="Calibri (MS)"/>
                </a:rPr>
                <a:t> * servicio REST y cierra la sesion local cuando el servidor rechaza el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ControladorConversiones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RestClient cliente;</a:t>
              </a:r>
            </a:p>
            <a:p>
              <a:pPr algn="l">
                <a:lnSpc>
                  <a:spcPts val="1800"/>
                </a:lnSpc>
              </a:pPr>
              <a:r>
                <a:rPr lang="en-US" sz="1500">
                  <a:solidFill>
                    <a:srgbClr val="4F81BD"/>
                  </a:solidFill>
                  <a:latin typeface="Calibri (MS)"/>
                  <a:ea typeface="Calibri (MS)"/>
                  <a:cs typeface="Calibri (MS)"/>
                  <a:sym typeface="Calibri (MS)"/>
                </a:rPr>
                <a:t>    private final Sesion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ControladorConversiones(RestClient cliente, Sesion sesion)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this.sesion = 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categorias() {</a:t>
              </a:r>
            </a:p>
            <a:p>
              <a:pPr algn="l">
                <a:lnSpc>
                  <a:spcPts val="1800"/>
                </a:lnSpc>
              </a:pPr>
              <a:r>
                <a:rPr lang="en-US" sz="1500">
                  <a:solidFill>
                    <a:srgbClr val="4F81BD"/>
                  </a:solidFill>
                  <a:latin typeface="Calibri (MS)"/>
                  <a:ea typeface="Calibri (MS)"/>
                  <a:cs typeface="Calibri (MS)"/>
                  <a:sym typeface="Calibri (MS)"/>
                </a:rPr>
                <a:t>        return revisar(cliente.obtenerCategorias(sesion.getToken()));</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del catálogo y las 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unidades(String categoria) {</a:t>
              </a:r>
            </a:p>
            <a:p>
              <a:pPr algn="l">
                <a:lnSpc>
                  <a:spcPts val="1800"/>
                </a:lnSpc>
              </a:pPr>
              <a:r>
                <a:rPr lang="en-US" sz="1500">
                  <a:solidFill>
                    <a:srgbClr val="4F81BD"/>
                  </a:solidFill>
                  <a:latin typeface="Calibri (MS)"/>
                  <a:ea typeface="Calibri (MS)"/>
                  <a:cs typeface="Calibri (MS)"/>
                  <a:sym typeface="Calibri (MS)"/>
                </a:rPr>
                <a:t>        return revisar(cliente.obtenerUnidades(sesion.getToken(),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 String origen, String destino) {</a:t>
              </a:r>
            </a:p>
            <a:p>
              <a:pPr algn="l">
                <a:lnSpc>
                  <a:spcPts val="1800"/>
                </a:lnSpc>
              </a:pPr>
              <a:r>
                <a:rPr lang="en-US" sz="1500">
                  <a:solidFill>
                    <a:srgbClr val="4F81BD"/>
                  </a:solidFill>
                  <a:latin typeface="Calibri (MS)"/>
                  <a:ea typeface="Calibri (MS)"/>
                  <a:cs typeface="Calibri (MS)"/>
                  <a:sym typeface="Calibri (MS)"/>
                </a:rPr>
                <a:t>        return revisar(cliente.convertir(categoria, valor, origen, destino, sesion.getToken()));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Si el servidor dice que el token no sirve, se cierra la sesion local. */</a:t>
              </a:r>
            </a:p>
            <a:p>
              <a:pPr algn="l">
                <a:lnSpc>
                  <a:spcPts val="1800"/>
                </a:lnSpc>
              </a:pPr>
              <a:r>
                <a:rPr lang="en-US" sz="1500">
                  <a:solidFill>
                    <a:srgbClr val="4F81BD"/>
                  </a:solidFill>
                  <a:latin typeface="Calibri (MS)"/>
                  <a:ea typeface="Calibri (MS)"/>
                  <a:cs typeface="Calibri (MS)"/>
                  <a:sym typeface="Calibri (MS)"/>
                </a:rPr>
                <a:t>    private RespuestaServicio revisar(RespuestaServicio r) {</a:t>
              </a:r>
            </a:p>
            <a:p>
              <a:pPr algn="l">
                <a:lnSpc>
                  <a:spcPts val="1800"/>
                </a:lnSpc>
              </a:pPr>
              <a:r>
                <a:rPr lang="en-US" sz="1500">
                  <a:solidFill>
                    <a:srgbClr val="4F81BD"/>
                  </a:solidFill>
                  <a:latin typeface="Calibri (MS)"/>
                  <a:ea typeface="Calibri (MS)"/>
                  <a:cs typeface="Calibri (MS)"/>
                  <a:sym typeface="Calibri (MS)"/>
                </a:rPr>
                <a:t>        if (r.requiereNuevoLogin()) {</a:t>
              </a:r>
            </a:p>
            <a:p>
              <a:pPr algn="l">
                <a:lnSpc>
                  <a:spcPts val="1800"/>
                </a:lnSpc>
              </a:pPr>
              <a:r>
                <a:rPr lang="en-US" sz="1500">
                  <a:solidFill>
                    <a:srgbClr val="4F81BD"/>
                  </a:solidFill>
                  <a:latin typeface="Calibri (MS)"/>
                  <a:ea typeface="Calibri (MS)"/>
                  <a:cs typeface="Calibri (MS)"/>
                  <a:sym typeface="Calibri (MS)"/>
                </a:rPr>
                <a:t>            sesion.cerrar();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Numero sin notacion cientifica y sin ceros sobrantes. */</a:t>
              </a:r>
            </a:p>
            <a:p>
              <a:pPr algn="l">
                <a:lnSpc>
                  <a:spcPts val="1800"/>
                </a:lnSpc>
              </a:pPr>
              <a:r>
                <a:rPr lang="en-US" sz="1500">
                  <a:solidFill>
                    <a:srgbClr val="4F81BD"/>
                  </a:solidFill>
                  <a:latin typeface="Calibri (MS)"/>
                  <a:ea typeface="Calibri (MS)"/>
                  <a:cs typeface="Calibri (MS)"/>
                  <a:sym typeface="Calibri (MS)"/>
                </a:rPr>
                <a:t>    public static String formatear(double valor) {</a:t>
              </a:r>
            </a:p>
            <a:p>
              <a:pPr algn="l">
                <a:lnSpc>
                  <a:spcPts val="1800"/>
                </a:lnSpc>
              </a:pPr>
              <a:r>
                <a:rPr lang="en-US" sz="1500">
                  <a:solidFill>
                    <a:srgbClr val="4F81BD"/>
                  </a:solidFill>
                  <a:latin typeface="Calibri (MS)"/>
                  <a:ea typeface="Calibri (MS)"/>
                  <a:cs typeface="Calibri (MS)"/>
                  <a:sym typeface="Calibri (MS)"/>
                </a:rPr>
                <a:t>        BigDecimal b = BigDecimal.valueOf(valor).setScale(10, RoundingMode.HALF_UP).stripTrailingZeros();</a:t>
              </a:r>
            </a:p>
            <a:p>
              <a:pPr algn="l">
                <a:lnSpc>
                  <a:spcPts val="1800"/>
                </a:lnSpc>
              </a:pPr>
              <a:r>
                <a:rPr lang="en-US" sz="1500">
                  <a:solidFill>
                    <a:srgbClr val="4F81BD"/>
                  </a:solidFill>
                  <a:latin typeface="Calibri (MS)"/>
                  <a:ea typeface="Calibri (MS)"/>
                  <a:cs typeface="Calibri (MS)"/>
                  <a:sym typeface="Calibri (MS)"/>
                </a:rPr>
                <a:t>        return b.scale() &lt; 0 ? b.setScale(0).toPlainString() : b.toPlainString();</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inicio y cierre de sesión.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ec.edu.monster.clienteconsola.controlador.ControladorSesion;</a:t>
              </a:r>
            </a:p>
            <a:p>
              <a:pPr algn="l">
                <a:lnSpc>
                  <a:spcPts val="1800"/>
                </a:lnSpc>
              </a:pPr>
              <a:r>
                <a:rPr lang="en-US" sz="1500">
                  <a:solidFill>
                    <a:srgbClr val="4F81BD"/>
                  </a:solidFill>
                  <a:latin typeface="Calibri (MS)"/>
                  <a:ea typeface="Calibri (MS)"/>
                  <a:cs typeface="Calibri (MS)"/>
                  <a:sym typeface="Calibri (MS)"/>
                </a:rPr>
                <a:t>import ec.edu.monster.clienteconsola.modelo.RespuestaServicio;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Pantalla de inicio y cierre de sesion (CU-01). */</a:t>
              </a:r>
            </a:p>
            <a:p>
              <a:pPr algn="l">
                <a:lnSpc>
                  <a:spcPts val="1800"/>
                </a:lnSpc>
              </a:pPr>
              <a:r>
                <a:rPr lang="en-US" sz="1500">
                  <a:solidFill>
                    <a:srgbClr val="4F81BD"/>
                  </a:solidFill>
                  <a:latin typeface="Calibri (MS)"/>
                  <a:ea typeface="Calibri (MS)"/>
                  <a:cs typeface="Calibri (MS)"/>
                  <a:sym typeface="Calibri (MS)"/>
                </a:rPr>
                <a:t>public class VistaSesion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ControladorSesion controlador;</a:t>
              </a:r>
            </a:p>
            <a:p>
              <a:pPr algn="l">
                <a:lnSpc>
                  <a:spcPts val="1800"/>
                </a:lnSpc>
              </a:pPr>
              <a:r>
                <a:rPr lang="en-US" sz="1500">
                  <a:solidFill>
                    <a:srgbClr val="4F81BD"/>
                  </a:solidFill>
                  <a:latin typeface="Calibri (MS)"/>
                  <a:ea typeface="Calibri (MS)"/>
                  <a:cs typeface="Calibri (MS)"/>
                  <a:sym typeface="Calibri (MS)"/>
                </a:rPr>
                <a:t>    private final ConsolaIO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VistaSesion(ControladorSesion controlador, ConsolaIO io) {</a:t>
              </a:r>
            </a:p>
            <a:p>
              <a:pPr algn="l">
                <a:lnSpc>
                  <a:spcPts val="1800"/>
                </a:lnSpc>
              </a:pPr>
              <a:r>
                <a:rPr lang="en-US" sz="1500">
                  <a:solidFill>
                    <a:srgbClr val="4F81BD"/>
                  </a:solidFill>
                  <a:latin typeface="Calibri (MS)"/>
                  <a:ea typeface="Calibri (MS)"/>
                  <a:cs typeface="Calibri (MS)"/>
                  <a:sym typeface="Calibri (MS)"/>
                </a:rPr>
                <a:t>        this.controlador = controlador;</a:t>
              </a:r>
            </a:p>
            <a:p>
              <a:pPr algn="l">
                <a:lnSpc>
                  <a:spcPts val="1800"/>
                </a:lnSpc>
              </a:pPr>
              <a:r>
                <a:rPr lang="en-US" sz="1500">
                  <a:solidFill>
                    <a:srgbClr val="4F81BD"/>
                  </a:solidFill>
                  <a:latin typeface="Calibri (MS)"/>
                  <a:ea typeface="Calibri (MS)"/>
                  <a:cs typeface="Calibri (MS)"/>
                  <a:sym typeface="Calibri (MS)"/>
                </a:rPr>
                <a:t>        this.io =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iniciarSesion() {</a:t>
              </a:r>
            </a:p>
            <a:p>
              <a:pPr algn="l">
                <a:lnSpc>
                  <a:spcPts val="1800"/>
                </a:lnSpc>
              </a:pPr>
              <a:r>
                <a:rPr lang="en-US" sz="1500">
                  <a:solidFill>
                    <a:srgbClr val="4F81BD"/>
                  </a:solidFill>
                  <a:latin typeface="Calibri (MS)"/>
                  <a:ea typeface="Calibri (MS)"/>
                  <a:cs typeface="Calibri (MS)"/>
                  <a:sym typeface="Calibri (MS)"/>
                </a:rPr>
                <a:t>        io.seccion("Iniciar sesión");</a:t>
              </a:r>
            </a:p>
            <a:p>
              <a:pPr algn="l">
                <a:lnSpc>
                  <a:spcPts val="1800"/>
                </a:lnSpc>
              </a:pPr>
              <a:r>
                <a:rPr lang="en-US" sz="1500">
                  <a:solidFill>
                    <a:srgbClr val="4F81BD"/>
                  </a:solidFill>
                  <a:latin typeface="Calibri (MS)"/>
                  <a:ea typeface="Calibri (MS)"/>
                  <a:cs typeface="Calibri (MS)"/>
                  <a:sym typeface="Calibri (MS)"/>
                </a:rPr>
                <a:t>        if (controlador.haySesion()) {</a:t>
              </a:r>
            </a:p>
            <a:p>
              <a:pPr algn="l">
                <a:lnSpc>
                  <a:spcPts val="1800"/>
                </a:lnSpc>
              </a:pPr>
              <a:r>
                <a:rPr lang="en-US" sz="1500">
                  <a:solidFill>
                    <a:srgbClr val="4F81BD"/>
                  </a:solidFill>
                  <a:latin typeface="Calibri (MS)"/>
                  <a:ea typeface="Calibri (MS)"/>
                  <a:cs typeface="Calibri (MS)"/>
                  <a:sym typeface="Calibri (MS)"/>
                </a:rPr>
                <a:t>            io.linea("  Ya hay una sesión activa.");</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VistaSesion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inicio y cierre de sesión.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2289810"/>
            <a:chOff x="0" y="0"/>
            <a:chExt cx="12278360" cy="3053080"/>
          </a:xfrm>
        </p:grpSpPr>
        <p:sp>
          <p:nvSpPr>
            <p:cNvPr name="Freeform 18" id="18"/>
            <p:cNvSpPr/>
            <p:nvPr/>
          </p:nvSpPr>
          <p:spPr>
            <a:xfrm flipH="false" flipV="false" rot="0">
              <a:off x="0" y="0"/>
              <a:ext cx="12278360" cy="3053080"/>
            </a:xfrm>
            <a:custGeom>
              <a:avLst/>
              <a:gdLst/>
              <a:ahLst/>
              <a:cxnLst/>
              <a:rect r="r" b="b" t="t" l="l"/>
              <a:pathLst>
                <a:path h="3053080" w="12278360">
                  <a:moveTo>
                    <a:pt x="0" y="0"/>
                  </a:moveTo>
                  <a:lnTo>
                    <a:pt x="12278360" y="0"/>
                  </a:lnTo>
                  <a:lnTo>
                    <a:pt x="12278360" y="3053080"/>
                  </a:lnTo>
                  <a:lnTo>
                    <a:pt x="0" y="305308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30911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usuario = io.leer("Usuario: ");</a:t>
              </a:r>
            </a:p>
            <a:p>
              <a:pPr algn="l">
                <a:lnSpc>
                  <a:spcPts val="1800"/>
                </a:lnSpc>
              </a:pPr>
              <a:r>
                <a:rPr lang="en-US" sz="1500">
                  <a:solidFill>
                    <a:srgbClr val="4F81BD"/>
                  </a:solidFill>
                  <a:latin typeface="Calibri (MS)"/>
                  <a:ea typeface="Calibri (MS)"/>
                  <a:cs typeface="Calibri (MS)"/>
                  <a:sym typeface="Calibri (MS)"/>
                </a:rPr>
                <a:t>        String clave = io.leer("Clave: ");</a:t>
              </a:r>
            </a:p>
            <a:p>
              <a:pPr algn="l">
                <a:lnSpc>
                  <a:spcPts val="1800"/>
                </a:lnSpc>
              </a:pPr>
              <a:r>
                <a:rPr lang="en-US" sz="1500">
                  <a:solidFill>
                    <a:srgbClr val="4F81BD"/>
                  </a:solidFill>
                  <a:latin typeface="Calibri (MS)"/>
                  <a:ea typeface="Calibri (MS)"/>
                  <a:cs typeface="Calibri (MS)"/>
                  <a:sym typeface="Calibri (MS)"/>
                </a:rPr>
                <a:t>        if (usuario == null || clave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RespuestaServicio r = controlador.iniciarSesion(usuario, clave);</a:t>
              </a:r>
            </a:p>
            <a:p>
              <a:pPr algn="l">
                <a:lnSpc>
                  <a:spcPts val="1800"/>
                </a:lnSpc>
              </a:pPr>
              <a:r>
                <a:rPr lang="en-US" sz="1500">
                  <a:solidFill>
                    <a:srgbClr val="4F81BD"/>
                  </a:solidFill>
                  <a:latin typeface="Calibri (MS)"/>
                  <a:ea typeface="Calibri (MS)"/>
                  <a:cs typeface="Calibri (MS)"/>
                  <a:sym typeface="Calibri (MS)"/>
                </a:rPr>
                <a:t>        if (r.esExitosa()) {</a:t>
              </a:r>
            </a:p>
            <a:p>
              <a:pPr algn="l">
                <a:lnSpc>
                  <a:spcPts val="1800"/>
                </a:lnSpc>
              </a:pPr>
              <a:r>
                <a:rPr lang="en-US" sz="1500">
                  <a:solidFill>
                    <a:srgbClr val="4F81BD"/>
                  </a:solidFill>
                  <a:latin typeface="Calibri (MS)"/>
                  <a:ea typeface="Calibri (MS)"/>
                  <a:cs typeface="Calibri (MS)"/>
                  <a:sym typeface="Calibri (MS)"/>
                </a:rPr>
                <a:t>            io.ok(r.getMensaje());</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io.error(r);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controlador.cerrarSesion();</a:t>
              </a:r>
            </a:p>
            <a:p>
              <a:pPr algn="l">
                <a:lnSpc>
                  <a:spcPts val="1800"/>
                </a:lnSpc>
              </a:pPr>
              <a:r>
                <a:rPr lang="en-US" sz="1500">
                  <a:solidFill>
                    <a:srgbClr val="4F81BD"/>
                  </a:solidFill>
                  <a:latin typeface="Calibri (MS)"/>
                  <a:ea typeface="Calibri (MS)"/>
                  <a:cs typeface="Calibri (MS)"/>
                  <a:sym typeface="Calibri (MS)"/>
                </a:rPr>
                <a:t>        io.ok("Sesión cerrada.");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catálogo y de la conversión.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ec.edu.monster.clienteconsola.controlador.ControladorConversiones;</a:t>
              </a:r>
            </a:p>
            <a:p>
              <a:pPr algn="l">
                <a:lnSpc>
                  <a:spcPts val="1800"/>
                </a:lnSpc>
              </a:pPr>
              <a:r>
                <a:rPr lang="en-US" sz="1500">
                  <a:solidFill>
                    <a:srgbClr val="4F81BD"/>
                  </a:solidFill>
                  <a:latin typeface="Calibri (MS)"/>
                  <a:ea typeface="Calibri (MS)"/>
                  <a:cs typeface="Calibri (MS)"/>
                  <a:sym typeface="Calibri (MS)"/>
                </a:rPr>
                <a:t>import ec.edu.monster.clienteconsola.modelo.RespuestaServicio;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Pantallas del catalogo y de la conversion (CU-02, CU-03 y CU-04). */</a:t>
              </a:r>
            </a:p>
            <a:p>
              <a:pPr algn="l">
                <a:lnSpc>
                  <a:spcPts val="1800"/>
                </a:lnSpc>
              </a:pPr>
              <a:r>
                <a:rPr lang="en-US" sz="1500">
                  <a:solidFill>
                    <a:srgbClr val="4F81BD"/>
                  </a:solidFill>
                  <a:latin typeface="Calibri (MS)"/>
                  <a:ea typeface="Calibri (MS)"/>
                  <a:cs typeface="Calibri (MS)"/>
                  <a:sym typeface="Calibri (MS)"/>
                </a:rPr>
                <a:t>public class VistaConversion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ControladorConversiones controlador;</a:t>
              </a:r>
            </a:p>
            <a:p>
              <a:pPr algn="l">
                <a:lnSpc>
                  <a:spcPts val="1800"/>
                </a:lnSpc>
              </a:pPr>
              <a:r>
                <a:rPr lang="en-US" sz="1500">
                  <a:solidFill>
                    <a:srgbClr val="4F81BD"/>
                  </a:solidFill>
                  <a:latin typeface="Calibri (MS)"/>
                  <a:ea typeface="Calibri (MS)"/>
                  <a:cs typeface="Calibri (MS)"/>
                  <a:sym typeface="Calibri (MS)"/>
                </a:rPr>
                <a:t>    private final ConsolaIO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VistaConversion(ControladorConversiones controlador, ConsolaIO io) {</a:t>
              </a:r>
            </a:p>
            <a:p>
              <a:pPr algn="l">
                <a:lnSpc>
                  <a:spcPts val="1800"/>
                </a:lnSpc>
              </a:pPr>
              <a:r>
                <a:rPr lang="en-US" sz="1500">
                  <a:solidFill>
                    <a:srgbClr val="4F81BD"/>
                  </a:solidFill>
                  <a:latin typeface="Calibri (MS)"/>
                  <a:ea typeface="Calibri (MS)"/>
                  <a:cs typeface="Calibri (MS)"/>
                  <a:sym typeface="Calibri (MS)"/>
                </a:rPr>
                <a:t>        this.controlador = controlador;</a:t>
              </a:r>
            </a:p>
            <a:p>
              <a:pPr algn="l">
                <a:lnSpc>
                  <a:spcPts val="1800"/>
                </a:lnSpc>
              </a:pPr>
              <a:r>
                <a:rPr lang="en-US" sz="1500">
                  <a:solidFill>
                    <a:srgbClr val="4F81BD"/>
                  </a:solidFill>
                  <a:latin typeface="Calibri (MS)"/>
                  <a:ea typeface="Calibri (MS)"/>
                  <a:cs typeface="Calibri (MS)"/>
                  <a:sym typeface="Calibri (MS)"/>
                </a:rPr>
                <a:t>        this.io =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verCatalogo() {</a:t>
              </a:r>
            </a:p>
            <a:p>
              <a:pPr algn="l">
                <a:lnSpc>
                  <a:spcPts val="1800"/>
                </a:lnSpc>
              </a:pPr>
              <a:r>
                <a:rPr lang="en-US" sz="1500">
                  <a:solidFill>
                    <a:srgbClr val="4F81BD"/>
                  </a:solidFill>
                  <a:latin typeface="Calibri (MS)"/>
                  <a:ea typeface="Calibri (MS)"/>
                  <a:cs typeface="Calibri (MS)"/>
                  <a:sym typeface="Calibri (MS)"/>
                </a:rPr>
                <a:t>        RespuestaServicio cats = controlador.categorias();</a:t>
              </a:r>
            </a:p>
            <a:p>
              <a:pPr algn="l">
                <a:lnSpc>
                  <a:spcPts val="1800"/>
                </a:lnSpc>
              </a:pPr>
              <a:r>
                <a:rPr lang="en-US" sz="1500">
                  <a:solidFill>
                    <a:srgbClr val="4F81BD"/>
                  </a:solidFill>
                  <a:latin typeface="Calibri (MS)"/>
                  <a:ea typeface="Calibri (MS)"/>
                  <a:cs typeface="Calibri (MS)"/>
                  <a:sym typeface="Calibri (MS)"/>
                </a:rPr>
                <a:t>        if (!cats.esExitosa()) {</a:t>
              </a:r>
            </a:p>
            <a:p>
              <a:pPr algn="l">
                <a:lnSpc>
                  <a:spcPts val="1800"/>
                </a:lnSpc>
              </a:pPr>
              <a:r>
                <a:rPr lang="en-US" sz="1500">
                  <a:solidFill>
                    <a:srgbClr val="4F81BD"/>
                  </a:solidFill>
                  <a:latin typeface="Calibri (MS)"/>
                  <a:ea typeface="Calibri (MS)"/>
                  <a:cs typeface="Calibri (MS)"/>
                  <a:sym typeface="Calibri (MS)"/>
                </a:rPr>
                <a:t>            io.error(cats);</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io.seccion("Catálogo de unidades");</a:t>
              </a:r>
            </a:p>
            <a:p>
              <a:pPr algn="l">
                <a:lnSpc>
                  <a:spcPts val="1800"/>
                </a:lnSpc>
              </a:pPr>
              <a:r>
                <a:rPr lang="en-US" sz="1500">
                  <a:solidFill>
                    <a:srgbClr val="4F81BD"/>
                  </a:solidFill>
                  <a:latin typeface="Calibri (MS)"/>
                  <a:ea typeface="Calibri (MS)"/>
                  <a:cs typeface="Calibri (MS)"/>
                  <a:sym typeface="Calibri (MS)"/>
                </a:rPr>
                <a:t>        for (String c : cats.getDatos()) {</a:t>
              </a:r>
            </a:p>
            <a:p>
              <a:pPr algn="l">
                <a:lnSpc>
                  <a:spcPts val="1800"/>
                </a:lnSpc>
              </a:pPr>
              <a:r>
                <a:rPr lang="en-US" sz="1500">
                  <a:solidFill>
                    <a:srgbClr val="4F81BD"/>
                  </a:solidFill>
                  <a:latin typeface="Calibri (MS)"/>
                  <a:ea typeface="Calibri (MS)"/>
                  <a:cs typeface="Calibri (MS)"/>
                  <a:sym typeface="Calibri (MS)"/>
                </a:rPr>
                <a:t>            RespuestaServicio u = controlador.unidades(c);</a:t>
              </a:r>
            </a:p>
          </p:txBody>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catálogo y de la conversión.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if (!u.esExitosa()) {</a:t>
              </a:r>
            </a:p>
            <a:p>
              <a:pPr algn="l">
                <a:lnSpc>
                  <a:spcPts val="1800"/>
                </a:lnSpc>
              </a:pPr>
              <a:r>
                <a:rPr lang="en-US" sz="1500">
                  <a:solidFill>
                    <a:srgbClr val="4F81BD"/>
                  </a:solidFill>
                  <a:latin typeface="Calibri (MS)"/>
                  <a:ea typeface="Calibri (MS)"/>
                  <a:cs typeface="Calibri (MS)"/>
                  <a:sym typeface="Calibri (MS)"/>
                </a:rPr>
                <a:t>                io.error(u);</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io.linea("  " + c + ": " + String.join(", ", u.getDatos()));</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convertir() {</a:t>
              </a:r>
            </a:p>
            <a:p>
              <a:pPr algn="l">
                <a:lnSpc>
                  <a:spcPts val="1800"/>
                </a:lnSpc>
              </a:pPr>
              <a:r>
                <a:rPr lang="en-US" sz="1500">
                  <a:solidFill>
                    <a:srgbClr val="4F81BD"/>
                  </a:solidFill>
                  <a:latin typeface="Calibri (MS)"/>
                  <a:ea typeface="Calibri (MS)"/>
                  <a:cs typeface="Calibri (MS)"/>
                  <a:sym typeface="Calibri (MS)"/>
                </a:rPr>
                <a:t>        RespuestaServicio cats = controlador.categorias();</a:t>
              </a:r>
            </a:p>
            <a:p>
              <a:pPr algn="l">
                <a:lnSpc>
                  <a:spcPts val="1800"/>
                </a:lnSpc>
              </a:pPr>
              <a:r>
                <a:rPr lang="en-US" sz="1500">
                  <a:solidFill>
                    <a:srgbClr val="4F81BD"/>
                  </a:solidFill>
                  <a:latin typeface="Calibri (MS)"/>
                  <a:ea typeface="Calibri (MS)"/>
                  <a:cs typeface="Calibri (MS)"/>
                  <a:sym typeface="Calibri (MS)"/>
                </a:rPr>
                <a:t>        if (!cats.esExitosa()) {</a:t>
              </a:r>
            </a:p>
            <a:p>
              <a:pPr algn="l">
                <a:lnSpc>
                  <a:spcPts val="1800"/>
                </a:lnSpc>
              </a:pPr>
              <a:r>
                <a:rPr lang="en-US" sz="1500">
                  <a:solidFill>
                    <a:srgbClr val="4F81BD"/>
                  </a:solidFill>
                  <a:latin typeface="Calibri (MS)"/>
                  <a:ea typeface="Calibri (MS)"/>
                  <a:cs typeface="Calibri (MS)"/>
                  <a:sym typeface="Calibri (MS)"/>
                </a:rPr>
                <a:t>            io.error(cats);</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categoria = io.elegir("Categoría", cats.getDatos());</a:t>
              </a:r>
            </a:p>
            <a:p>
              <a:pPr algn="l">
                <a:lnSpc>
                  <a:spcPts val="1800"/>
                </a:lnSpc>
              </a:pPr>
              <a:r>
                <a:rPr lang="en-US" sz="1500">
                  <a:solidFill>
                    <a:srgbClr val="4F81BD"/>
                  </a:solidFill>
                  <a:latin typeface="Calibri (MS)"/>
                  <a:ea typeface="Calibri (MS)"/>
                  <a:cs typeface="Calibri (MS)"/>
                  <a:sym typeface="Calibri (MS)"/>
                </a:rPr>
                <a:t>        if (categoria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RespuestaServicio un = controlador.unidades(categoria);</a:t>
              </a:r>
            </a:p>
            <a:p>
              <a:pPr algn="l">
                <a:lnSpc>
                  <a:spcPts val="1800"/>
                </a:lnSpc>
              </a:pPr>
              <a:r>
                <a:rPr lang="en-US" sz="1500">
                  <a:solidFill>
                    <a:srgbClr val="4F81BD"/>
                  </a:solidFill>
                  <a:latin typeface="Calibri (MS)"/>
                  <a:ea typeface="Calibri (MS)"/>
                  <a:cs typeface="Calibri (MS)"/>
                  <a:sym typeface="Calibri (MS)"/>
                </a:rPr>
                <a:t>        if (!un.esExitosa()) {</a:t>
              </a:r>
            </a:p>
            <a:p>
              <a:pPr algn="l">
                <a:lnSpc>
                  <a:spcPts val="1800"/>
                </a:lnSpc>
              </a:pPr>
              <a:r>
                <a:rPr lang="en-US" sz="1500">
                  <a:solidFill>
                    <a:srgbClr val="4F81BD"/>
                  </a:solidFill>
                  <a:latin typeface="Calibri (MS)"/>
                  <a:ea typeface="Calibri (MS)"/>
                  <a:cs typeface="Calibri (MS)"/>
                  <a:sym typeface="Calibri (MS)"/>
                </a:rPr>
                <a:t>            io.error(un);</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origen = io.elegir("Unidad de origen", un.getDatos());</a:t>
              </a:r>
            </a:p>
            <a:p>
              <a:pPr algn="l">
                <a:lnSpc>
                  <a:spcPts val="1800"/>
                </a:lnSpc>
              </a:pPr>
              <a:r>
                <a:rPr lang="en-US" sz="1500">
                  <a:solidFill>
                    <a:srgbClr val="4F81BD"/>
                  </a:solidFill>
                  <a:latin typeface="Calibri (MS)"/>
                  <a:ea typeface="Calibri (MS)"/>
                  <a:cs typeface="Calibri (MS)"/>
                  <a:sym typeface="Calibri (MS)"/>
                </a:rPr>
                <a:t>        if (origen == null) {</a:t>
              </a:r>
            </a:p>
          </p:txBody>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VistaConversion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del catálogo y de la conversión.</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451860"/>
            <a:chOff x="0" y="0"/>
            <a:chExt cx="12278360" cy="4602480"/>
          </a:xfrm>
        </p:grpSpPr>
        <p:sp>
          <p:nvSpPr>
            <p:cNvPr name="Freeform 18" id="18"/>
            <p:cNvSpPr/>
            <p:nvPr/>
          </p:nvSpPr>
          <p:spPr>
            <a:xfrm flipH="false" flipV="false" rot="0">
              <a:off x="0" y="0"/>
              <a:ext cx="12278360" cy="4602480"/>
            </a:xfrm>
            <a:custGeom>
              <a:avLst/>
              <a:gdLst/>
              <a:ahLst/>
              <a:cxnLst/>
              <a:rect r="r" b="b" t="t" l="l"/>
              <a:pathLst>
                <a:path h="4602480" w="12278360">
                  <a:moveTo>
                    <a:pt x="0" y="0"/>
                  </a:moveTo>
                  <a:lnTo>
                    <a:pt x="12278360" y="0"/>
                  </a:lnTo>
                  <a:lnTo>
                    <a:pt x="12278360" y="4602480"/>
                  </a:lnTo>
                  <a:lnTo>
                    <a:pt x="0" y="460248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464058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String destino = io.elegir("Unidad de destino", un.getDatos());</a:t>
              </a:r>
            </a:p>
            <a:p>
              <a:pPr algn="l">
                <a:lnSpc>
                  <a:spcPts val="1800"/>
                </a:lnSpc>
              </a:pPr>
              <a:r>
                <a:rPr lang="en-US" sz="1500">
                  <a:solidFill>
                    <a:srgbClr val="4F81BD"/>
                  </a:solidFill>
                  <a:latin typeface="Calibri (MS)"/>
                  <a:ea typeface="Calibri (MS)"/>
                  <a:cs typeface="Calibri (MS)"/>
                  <a:sym typeface="Calibri (MS)"/>
                </a:rPr>
                <a:t>        if (destino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Double valor = io.leerNumero("Valor a convertir: ");</a:t>
              </a:r>
            </a:p>
            <a:p>
              <a:pPr algn="l">
                <a:lnSpc>
                  <a:spcPts val="1800"/>
                </a:lnSpc>
              </a:pPr>
              <a:r>
                <a:rPr lang="en-US" sz="1500">
                  <a:solidFill>
                    <a:srgbClr val="4F81BD"/>
                  </a:solidFill>
                  <a:latin typeface="Calibri (MS)"/>
                  <a:ea typeface="Calibri (MS)"/>
                  <a:cs typeface="Calibri (MS)"/>
                  <a:sym typeface="Calibri (MS)"/>
                </a:rPr>
                <a:t>        if (valor == null) {</a:t>
              </a:r>
            </a:p>
            <a:p>
              <a:pPr algn="l">
                <a:lnSpc>
                  <a:spcPts val="1800"/>
                </a:lnSpc>
              </a:pPr>
              <a:r>
                <a:rPr lang="en-US" sz="1500">
                  <a:solidFill>
                    <a:srgbClr val="4F81BD"/>
                  </a:solidFill>
                  <a:latin typeface="Calibri (MS)"/>
                  <a:ea typeface="Calibri (MS)"/>
                  <a:cs typeface="Calibri (MS)"/>
                  <a:sym typeface="Calibri (MS)"/>
                </a:rPr>
                <a:t>            return;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RespuestaServicio r = controlador.convertir(categoria, valor, origen, destino);</a:t>
              </a:r>
            </a:p>
            <a:p>
              <a:pPr algn="l">
                <a:lnSpc>
                  <a:spcPts val="1800"/>
                </a:lnSpc>
              </a:pPr>
              <a:r>
                <a:rPr lang="en-US" sz="1500">
                  <a:solidFill>
                    <a:srgbClr val="4F81BD"/>
                  </a:solidFill>
                  <a:latin typeface="Calibri (MS)"/>
                  <a:ea typeface="Calibri (MS)"/>
                  <a:cs typeface="Calibri (MS)"/>
                  <a:sym typeface="Calibri (MS)"/>
                </a:rPr>
                <a:t>        if (r.esExitosa() &amp;&amp; r.getResultado() != null) {</a:t>
              </a:r>
            </a:p>
            <a:p>
              <a:pPr algn="l">
                <a:lnSpc>
                  <a:spcPts val="1800"/>
                </a:lnSpc>
              </a:pPr>
              <a:r>
                <a:rPr lang="en-US" sz="1500">
                  <a:solidFill>
                    <a:srgbClr val="4F81BD"/>
                  </a:solidFill>
                  <a:latin typeface="Calibri (MS)"/>
                  <a:ea typeface="Calibri (MS)"/>
                  <a:cs typeface="Calibri (MS)"/>
                  <a:sym typeface="Calibri (MS)"/>
                </a:rPr>
                <a:t>            io.linea();</a:t>
              </a:r>
            </a:p>
            <a:p>
              <a:pPr algn="l">
                <a:lnSpc>
                  <a:spcPts val="1800"/>
                </a:lnSpc>
              </a:pPr>
              <a:r>
                <a:rPr lang="en-US" sz="1500">
                  <a:solidFill>
                    <a:srgbClr val="4F81BD"/>
                  </a:solidFill>
                  <a:latin typeface="Calibri (MS)"/>
                  <a:ea typeface="Calibri (MS)"/>
                  <a:cs typeface="Calibri (MS)"/>
                  <a:sym typeface="Calibri (MS)"/>
                </a:rPr>
                <a:t>            io.marco("RESULTADO",</a:t>
              </a:r>
            </a:p>
            <a:p>
              <a:pPr algn="l">
                <a:lnSpc>
                  <a:spcPts val="1800"/>
                </a:lnSpc>
              </a:pPr>
              <a:r>
                <a:rPr lang="en-US" sz="1500">
                  <a:solidFill>
                    <a:srgbClr val="4F81BD"/>
                  </a:solidFill>
                  <a:latin typeface="Calibri (MS)"/>
                  <a:ea typeface="Calibri (MS)"/>
                  <a:cs typeface="Calibri (MS)"/>
                  <a:sym typeface="Calibri (MS)"/>
                </a:rPr>
                <a:t>                    ControladorConversiones.formatear(valor) + " " + r.getUnidadOrigen(),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ControladorConversiones.formatear(r.getResultado()) + " " + r.getUnidadDestino());</a:t>
              </a:r>
            </a:p>
            <a:p>
              <a:pPr algn="l">
                <a:lnSpc>
                  <a:spcPts val="1800"/>
                </a:lnSpc>
              </a:pPr>
              <a:r>
                <a:rPr lang="en-US" sz="1500">
                  <a:solidFill>
                    <a:srgbClr val="4F81BD"/>
                  </a:solidFill>
                  <a:latin typeface="Calibri (MS)"/>
                  <a:ea typeface="Calibri (MS)"/>
                  <a:cs typeface="Calibri (MS)"/>
                  <a:sym typeface="Calibri (MS)"/>
                </a:rPr>
                <a:t>            io.linea("  " + r.getMensaje());</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io.error(r);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Menú principal que reparte el trabajo a las vistas.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ec.edu.monster.clienteconsola.vista;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ec.edu.monster.clienteconsola.controlador.ControladorSesion;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Menu principal de opciones numericas: reparte el trabajo a las vistas de sesion y de conversion. */</a:t>
              </a:r>
            </a:p>
            <a:p>
              <a:pPr algn="l">
                <a:lnSpc>
                  <a:spcPts val="1800"/>
                </a:lnSpc>
              </a:pPr>
              <a:r>
                <a:rPr lang="en-US" sz="1500">
                  <a:solidFill>
                    <a:srgbClr val="4F81BD"/>
                  </a:solidFill>
                  <a:latin typeface="Calibri (MS)"/>
                  <a:ea typeface="Calibri (MS)"/>
                  <a:cs typeface="Calibri (MS)"/>
                  <a:sym typeface="Calibri (MS)"/>
                </a:rPr>
                <a:t>public class InterfazConsola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ControladorSesion sesion;</a:t>
              </a:r>
            </a:p>
            <a:p>
              <a:pPr algn="l">
                <a:lnSpc>
                  <a:spcPts val="1800"/>
                </a:lnSpc>
              </a:pPr>
              <a:r>
                <a:rPr lang="en-US" sz="1500">
                  <a:solidFill>
                    <a:srgbClr val="4F81BD"/>
                  </a:solidFill>
                  <a:latin typeface="Calibri (MS)"/>
                  <a:ea typeface="Calibri (MS)"/>
                  <a:cs typeface="Calibri (MS)"/>
                  <a:sym typeface="Calibri (MS)"/>
                </a:rPr>
                <a:t>    private final VistaSesion vistaSesion;</a:t>
              </a:r>
            </a:p>
            <a:p>
              <a:pPr algn="l">
                <a:lnSpc>
                  <a:spcPts val="1800"/>
                </a:lnSpc>
              </a:pPr>
              <a:r>
                <a:rPr lang="en-US" sz="1500">
                  <a:solidFill>
                    <a:srgbClr val="4F81BD"/>
                  </a:solidFill>
                  <a:latin typeface="Calibri (MS)"/>
                  <a:ea typeface="Calibri (MS)"/>
                  <a:cs typeface="Calibri (MS)"/>
                  <a:sym typeface="Calibri (MS)"/>
                </a:rPr>
                <a:t>    private final VistaConversion vistaConversion;</a:t>
              </a:r>
            </a:p>
            <a:p>
              <a:pPr algn="l">
                <a:lnSpc>
                  <a:spcPts val="1800"/>
                </a:lnSpc>
              </a:pPr>
              <a:r>
                <a:rPr lang="en-US" sz="1500">
                  <a:solidFill>
                    <a:srgbClr val="4F81BD"/>
                  </a:solidFill>
                  <a:latin typeface="Calibri (MS)"/>
                  <a:ea typeface="Calibri (MS)"/>
                  <a:cs typeface="Calibri (MS)"/>
                  <a:sym typeface="Calibri (MS)"/>
                </a:rPr>
                <a:t>    private final ConsolaIO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InterfazConsola(ControladorSesion sesion, VistaSesion vistaSesion, VistaConversion vistaConversion, ConsolaIO io) {</a:t>
              </a:r>
            </a:p>
            <a:p>
              <a:pPr algn="l">
                <a:lnSpc>
                  <a:spcPts val="1800"/>
                </a:lnSpc>
              </a:pPr>
              <a:r>
                <a:rPr lang="en-US" sz="1500">
                  <a:solidFill>
                    <a:srgbClr val="4F81BD"/>
                  </a:solidFill>
                  <a:latin typeface="Calibri (MS)"/>
                  <a:ea typeface="Calibri (MS)"/>
                  <a:cs typeface="Calibri (MS)"/>
                  <a:sym typeface="Calibri (MS)"/>
                </a:rPr>
                <a:t>        this.sesion = sesion;</a:t>
              </a:r>
            </a:p>
            <a:p>
              <a:pPr algn="l">
                <a:lnSpc>
                  <a:spcPts val="1800"/>
                </a:lnSpc>
              </a:pPr>
              <a:r>
                <a:rPr lang="en-US" sz="1500">
                  <a:solidFill>
                    <a:srgbClr val="4F81BD"/>
                  </a:solidFill>
                  <a:latin typeface="Calibri (MS)"/>
                  <a:ea typeface="Calibri (MS)"/>
                  <a:cs typeface="Calibri (MS)"/>
                  <a:sym typeface="Calibri (MS)"/>
                </a:rPr>
                <a:t>        this.vistaSesion = vistaSesion;</a:t>
              </a:r>
            </a:p>
            <a:p>
              <a:pPr algn="l">
                <a:lnSpc>
                  <a:spcPts val="1800"/>
                </a:lnSpc>
              </a:pPr>
              <a:r>
                <a:rPr lang="en-US" sz="1500">
                  <a:solidFill>
                    <a:srgbClr val="4F81BD"/>
                  </a:solidFill>
                  <a:latin typeface="Calibri (MS)"/>
                  <a:ea typeface="Calibri (MS)"/>
                  <a:cs typeface="Calibri (MS)"/>
                  <a:sym typeface="Calibri (MS)"/>
                </a:rPr>
                <a:t>        this.vistaConversion = vistaConversion;</a:t>
              </a:r>
            </a:p>
            <a:p>
              <a:pPr algn="l">
                <a:lnSpc>
                  <a:spcPts val="1800"/>
                </a:lnSpc>
              </a:pPr>
              <a:r>
                <a:rPr lang="en-US" sz="1500">
                  <a:solidFill>
                    <a:srgbClr val="4F81BD"/>
                  </a:solidFill>
                  <a:latin typeface="Calibri (MS)"/>
                  <a:ea typeface="Calibri (MS)"/>
                  <a:cs typeface="Calibri (MS)"/>
                  <a:sym typeface="Calibri (MS)"/>
                </a:rPr>
                <a:t>        this.io = io;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ejecutar() {</a:t>
              </a:r>
            </a:p>
            <a:p>
              <a:pPr algn="l">
                <a:lnSpc>
                  <a:spcPts val="1800"/>
                </a:lnSpc>
              </a:pPr>
              <a:r>
                <a:rPr lang="en-US" sz="1500">
                  <a:solidFill>
                    <a:srgbClr val="4F81BD"/>
                  </a:solidFill>
                  <a:latin typeface="Calibri (MS)"/>
                  <a:ea typeface="Calibri (MS)"/>
                  <a:cs typeface="Calibri (MS)"/>
                  <a:sym typeface="Calibri (MS)"/>
                </a:rPr>
                <a:t>        io.linea();</a:t>
              </a:r>
            </a:p>
            <a:p>
              <a:pPr algn="l">
                <a:lnSpc>
                  <a:spcPts val="1800"/>
                </a:lnSpc>
              </a:pPr>
              <a:r>
                <a:rPr lang="en-US" sz="1500">
                  <a:solidFill>
                    <a:srgbClr val="4F81BD"/>
                  </a:solidFill>
                  <a:latin typeface="Calibri (MS)"/>
                  <a:ea typeface="Calibri (MS)"/>
                  <a:cs typeface="Calibri (MS)"/>
                  <a:sym typeface="Calibri (MS)"/>
                </a:rPr>
                <a:t>        io.marco("CONVERSIÓN DE UNIDADES MONSTER", "Cliente de consola", "Servidor: " + sesion.getUrl());</a:t>
              </a:r>
            </a:p>
            <a:p>
              <a:pPr algn="l">
                <a:lnSpc>
                  <a:spcPts val="1800"/>
                </a:lnSpc>
              </a:pPr>
              <a:r>
                <a:rPr lang="en-US" sz="1500">
                  <a:solidFill>
                    <a:srgbClr val="4F81BD"/>
                  </a:solidFill>
                  <a:latin typeface="Calibri (MS)"/>
                  <a:ea typeface="Calibri (MS)"/>
                  <a:cs typeface="Calibri (MS)"/>
                  <a:sym typeface="Calibri (MS)"/>
                </a:rPr>
                <a:t>        boolean seguir = true;</a:t>
              </a:r>
            </a:p>
            <a:p>
              <a:pPr algn="l">
                <a:lnSpc>
                  <a:spcPts val="1800"/>
                </a:lnSpc>
              </a:pPr>
              <a:r>
                <a:rPr lang="en-US" sz="1500">
                  <a:solidFill>
                    <a:srgbClr val="4F81BD"/>
                  </a:solidFill>
                  <a:latin typeface="Calibri (MS)"/>
                  <a:ea typeface="Calibri (MS)"/>
                  <a:cs typeface="Calibri (MS)"/>
                  <a:sym typeface="Calibri (MS)"/>
                </a:rPr>
                <a:t>        while (seguir) {</a:t>
              </a:r>
            </a:p>
            <a:p>
              <a:pPr algn="l">
                <a:lnSpc>
                  <a:spcPts val="1800"/>
                </a:lnSpc>
              </a:pPr>
              <a:r>
                <a:rPr lang="en-US" sz="1500">
                  <a:solidFill>
                    <a:srgbClr val="4F81BD"/>
                  </a:solidFill>
                  <a:latin typeface="Calibri (MS)"/>
                  <a:ea typeface="Calibri (MS)"/>
                  <a:cs typeface="Calibri (MS)"/>
                  <a:sym typeface="Calibri (MS)"/>
                </a:rPr>
                <a:t>            mostrarMenu();</a:t>
              </a:r>
            </a:p>
            <a:p>
              <a:pPr algn="l">
                <a:lnSpc>
                  <a:spcPts val="1800"/>
                </a:lnSpc>
              </a:pPr>
              <a:r>
                <a:rPr lang="en-US" sz="1500">
                  <a:solidFill>
                    <a:srgbClr val="4F81BD"/>
                  </a:solidFill>
                  <a:latin typeface="Calibri (MS)"/>
                  <a:ea typeface="Calibri (MS)"/>
                  <a:cs typeface="Calibri (MS)"/>
                  <a:sym typeface="Calibri (MS)"/>
                </a:rPr>
                <a:t>            String op = io.leer("Opción: ");</a:t>
              </a: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Menú principal que reparte el trabajo a las vistas.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if (op == null) {</a:t>
              </a:r>
            </a:p>
            <a:p>
              <a:pPr algn="l">
                <a:lnSpc>
                  <a:spcPts val="1800"/>
                </a:lnSpc>
              </a:pPr>
              <a:r>
                <a:rPr lang="en-US" sz="1500">
                  <a:solidFill>
                    <a:srgbClr val="4F81BD"/>
                  </a:solidFill>
                  <a:latin typeface="Calibri (MS)"/>
                  <a:ea typeface="Calibri (MS)"/>
                  <a:cs typeface="Calibri (MS)"/>
                  <a:sym typeface="Calibri (MS)"/>
                </a:rPr>
                <a:t>                break; // fin de la entrada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switch (op.trim()) {</a:t>
              </a:r>
            </a:p>
            <a:p>
              <a:pPr algn="l">
                <a:lnSpc>
                  <a:spcPts val="1800"/>
                </a:lnSpc>
              </a:pPr>
              <a:r>
                <a:rPr lang="en-US" sz="1500">
                  <a:solidFill>
                    <a:srgbClr val="4F81BD"/>
                  </a:solidFill>
                  <a:latin typeface="Calibri (MS)"/>
                  <a:ea typeface="Calibri (MS)"/>
                  <a:cs typeface="Calibri (MS)"/>
                  <a:sym typeface="Calibri (MS)"/>
                </a:rPr>
                <a:t>                case "1":</a:t>
              </a:r>
            </a:p>
            <a:p>
              <a:pPr algn="l">
                <a:lnSpc>
                  <a:spcPts val="1800"/>
                </a:lnSpc>
              </a:pPr>
              <a:r>
                <a:rPr lang="en-US" sz="1500">
                  <a:solidFill>
                    <a:srgbClr val="4F81BD"/>
                  </a:solidFill>
                  <a:latin typeface="Calibri (MS)"/>
                  <a:ea typeface="Calibri (MS)"/>
                  <a:cs typeface="Calibri (MS)"/>
                  <a:sym typeface="Calibri (MS)"/>
                </a:rPr>
                <a:t>                    vistaSesion.iniciarSesion();</a:t>
              </a:r>
            </a:p>
            <a:p>
              <a:pPr algn="l">
                <a:lnSpc>
                  <a:spcPts val="1800"/>
                </a:lnSpc>
              </a:pPr>
              <a:r>
                <a:rPr lang="en-US" sz="1500">
                  <a:solidFill>
                    <a:srgbClr val="4F81BD"/>
                  </a:solidFill>
                  <a:latin typeface="Calibri (MS)"/>
                  <a:ea typeface="Calibri (MS)"/>
                  <a:cs typeface="Calibri (MS)"/>
                  <a:sym typeface="Calibri (MS)"/>
                </a:rPr>
                <a:t>                    break;</a:t>
              </a:r>
            </a:p>
            <a:p>
              <a:pPr algn="l">
                <a:lnSpc>
                  <a:spcPts val="1800"/>
                </a:lnSpc>
              </a:pPr>
              <a:r>
                <a:rPr lang="en-US" sz="1500">
                  <a:solidFill>
                    <a:srgbClr val="4F81BD"/>
                  </a:solidFill>
                  <a:latin typeface="Calibri (MS)"/>
                  <a:ea typeface="Calibri (MS)"/>
                  <a:cs typeface="Calibri (MS)"/>
                  <a:sym typeface="Calibri (MS)"/>
                </a:rPr>
                <a:t>                case "2":</a:t>
              </a:r>
            </a:p>
            <a:p>
              <a:pPr algn="l">
                <a:lnSpc>
                  <a:spcPts val="1800"/>
                </a:lnSpc>
              </a:pPr>
              <a:r>
                <a:rPr lang="en-US" sz="1500">
                  <a:solidFill>
                    <a:srgbClr val="4F81BD"/>
                  </a:solidFill>
                  <a:latin typeface="Calibri (MS)"/>
                  <a:ea typeface="Calibri (MS)"/>
                  <a:cs typeface="Calibri (MS)"/>
                  <a:sym typeface="Calibri (MS)"/>
                </a:rPr>
                <a:t>                    if (exigirSesion()) {</a:t>
              </a:r>
            </a:p>
            <a:p>
              <a:pPr algn="l">
                <a:lnSpc>
                  <a:spcPts val="1800"/>
                </a:lnSpc>
              </a:pPr>
              <a:r>
                <a:rPr lang="en-US" sz="1500">
                  <a:solidFill>
                    <a:srgbClr val="4F81BD"/>
                  </a:solidFill>
                  <a:latin typeface="Calibri (MS)"/>
                  <a:ea typeface="Calibri (MS)"/>
                  <a:cs typeface="Calibri (MS)"/>
                  <a:sym typeface="Calibri (MS)"/>
                </a:rPr>
                <a:t>                        vistaConversion.verCatalogo();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break;</a:t>
              </a:r>
            </a:p>
            <a:p>
              <a:pPr algn="l">
                <a:lnSpc>
                  <a:spcPts val="1800"/>
                </a:lnSpc>
              </a:pPr>
              <a:r>
                <a:rPr lang="en-US" sz="1500">
                  <a:solidFill>
                    <a:srgbClr val="4F81BD"/>
                  </a:solidFill>
                  <a:latin typeface="Calibri (MS)"/>
                  <a:ea typeface="Calibri (MS)"/>
                  <a:cs typeface="Calibri (MS)"/>
                  <a:sym typeface="Calibri (MS)"/>
                </a:rPr>
                <a:t>                case "3":</a:t>
              </a:r>
            </a:p>
            <a:p>
              <a:pPr algn="l">
                <a:lnSpc>
                  <a:spcPts val="1800"/>
                </a:lnSpc>
              </a:pPr>
              <a:r>
                <a:rPr lang="en-US" sz="1500">
                  <a:solidFill>
                    <a:srgbClr val="4F81BD"/>
                  </a:solidFill>
                  <a:latin typeface="Calibri (MS)"/>
                  <a:ea typeface="Calibri (MS)"/>
                  <a:cs typeface="Calibri (MS)"/>
                  <a:sym typeface="Calibri (MS)"/>
                </a:rPr>
                <a:t>                    if (exigirSesion()) {</a:t>
              </a:r>
            </a:p>
            <a:p>
              <a:pPr algn="l">
                <a:lnSpc>
                  <a:spcPts val="1800"/>
                </a:lnSpc>
              </a:pPr>
              <a:r>
                <a:rPr lang="en-US" sz="1500">
                  <a:solidFill>
                    <a:srgbClr val="4F81BD"/>
                  </a:solidFill>
                  <a:latin typeface="Calibri (MS)"/>
                  <a:ea typeface="Calibri (MS)"/>
                  <a:cs typeface="Calibri (MS)"/>
                  <a:sym typeface="Calibri (MS)"/>
                </a:rPr>
                <a:t>                        vistaConversion.convertir();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break;</a:t>
              </a:r>
            </a:p>
            <a:p>
              <a:pPr algn="l">
                <a:lnSpc>
                  <a:spcPts val="1800"/>
                </a:lnSpc>
              </a:pPr>
              <a:r>
                <a:rPr lang="en-US" sz="1500">
                  <a:solidFill>
                    <a:srgbClr val="4F81BD"/>
                  </a:solidFill>
                  <a:latin typeface="Calibri (MS)"/>
                  <a:ea typeface="Calibri (MS)"/>
                  <a:cs typeface="Calibri (MS)"/>
                  <a:sym typeface="Calibri (MS)"/>
                </a:rPr>
                <a:t>                case "4":</a:t>
              </a:r>
            </a:p>
            <a:p>
              <a:pPr algn="l">
                <a:lnSpc>
                  <a:spcPts val="1800"/>
                </a:lnSpc>
              </a:pPr>
              <a:r>
                <a:rPr lang="en-US" sz="1500">
                  <a:solidFill>
                    <a:srgbClr val="4F81BD"/>
                  </a:solidFill>
                  <a:latin typeface="Calibri (MS)"/>
                  <a:ea typeface="Calibri (MS)"/>
                  <a:cs typeface="Calibri (MS)"/>
                  <a:sym typeface="Calibri (MS)"/>
                </a:rPr>
                <a:t>                    vistaSesion.cerrarSesion();</a:t>
              </a:r>
            </a:p>
            <a:p>
              <a:pPr algn="l">
                <a:lnSpc>
                  <a:spcPts val="1800"/>
                </a:lnSpc>
              </a:pPr>
              <a:r>
                <a:rPr lang="en-US" sz="1500">
                  <a:solidFill>
                    <a:srgbClr val="4F81BD"/>
                  </a:solidFill>
                  <a:latin typeface="Calibri (MS)"/>
                  <a:ea typeface="Calibri (MS)"/>
                  <a:cs typeface="Calibri (MS)"/>
                  <a:sym typeface="Calibri (MS)"/>
                </a:rPr>
                <a:t>                    break;</a:t>
              </a:r>
            </a:p>
            <a:p>
              <a:pPr algn="l">
                <a:lnSpc>
                  <a:spcPts val="1800"/>
                </a:lnSpc>
              </a:pPr>
              <a:r>
                <a:rPr lang="en-US" sz="1500">
                  <a:solidFill>
                    <a:srgbClr val="4F81BD"/>
                  </a:solidFill>
                  <a:latin typeface="Calibri (MS)"/>
                  <a:ea typeface="Calibri (MS)"/>
                  <a:cs typeface="Calibri (MS)"/>
                  <a:sym typeface="Calibri (MS)"/>
                </a:rPr>
                <a:t>                case "0":</a:t>
              </a:r>
            </a:p>
            <a:p>
              <a:pPr algn="l">
                <a:lnSpc>
                  <a:spcPts val="1800"/>
                </a:lnSpc>
              </a:pPr>
              <a:r>
                <a:rPr lang="en-US" sz="1500">
                  <a:solidFill>
                    <a:srgbClr val="4F81BD"/>
                  </a:solidFill>
                  <a:latin typeface="Calibri (MS)"/>
                  <a:ea typeface="Calibri (MS)"/>
                  <a:cs typeface="Calibri (MS)"/>
                  <a:sym typeface="Calibri (MS)"/>
                </a:rPr>
                <a:t>                    seguir = false;</a:t>
              </a:r>
            </a:p>
            <a:p>
              <a:pPr algn="l">
                <a:lnSpc>
                  <a:spcPts val="1800"/>
                </a:lnSpc>
              </a:pPr>
              <a:r>
                <a:rPr lang="en-US" sz="1500">
                  <a:solidFill>
                    <a:srgbClr val="4F81BD"/>
                  </a:solidFill>
                  <a:latin typeface="Calibri (MS)"/>
                  <a:ea typeface="Calibri (MS)"/>
                  <a:cs typeface="Calibri (MS)"/>
                  <a:sym typeface="Calibri (MS)"/>
                </a:rPr>
                <a:t>                    break;</a:t>
              </a:r>
            </a:p>
            <a:p>
              <a:pPr algn="l">
                <a:lnSpc>
                  <a:spcPts val="1800"/>
                </a:lnSpc>
              </a:pPr>
              <a:r>
                <a:rPr lang="en-US" sz="1500">
                  <a:solidFill>
                    <a:srgbClr val="4F81BD"/>
                  </a:solidFill>
                  <a:latin typeface="Calibri (MS)"/>
                  <a:ea typeface="Calibri (MS)"/>
                  <a:cs typeface="Calibri (MS)"/>
                  <a:sym typeface="Calibri (MS)"/>
                </a:rPr>
                <a:t>                default:</a:t>
              </a:r>
            </a:p>
            <a:p>
              <a:pPr algn="l">
                <a:lnSpc>
                  <a:spcPts val="1800"/>
                </a:lnSpc>
              </a:pPr>
              <a:r>
                <a:rPr lang="en-US" sz="1500">
                  <a:solidFill>
                    <a:srgbClr val="4F81BD"/>
                  </a:solidFill>
                  <a:latin typeface="Calibri (MS)"/>
                  <a:ea typeface="Calibri (MS)"/>
                  <a:cs typeface="Calibri (MS)"/>
                  <a:sym typeface="Calibri (MS)"/>
                </a:rPr>
                <a:t>                    io.linea("  Opción no válida.");</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InterfazConsola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Menú principal que reparte el trabajo a las vistas.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2754630"/>
            <a:chOff x="0" y="0"/>
            <a:chExt cx="12278360" cy="3672840"/>
          </a:xfrm>
        </p:grpSpPr>
        <p:sp>
          <p:nvSpPr>
            <p:cNvPr name="Freeform 18" id="18"/>
            <p:cNvSpPr/>
            <p:nvPr/>
          </p:nvSpPr>
          <p:spPr>
            <a:xfrm flipH="false" flipV="false" rot="0">
              <a:off x="0" y="0"/>
              <a:ext cx="12278360" cy="3672840"/>
            </a:xfrm>
            <a:custGeom>
              <a:avLst/>
              <a:gdLst/>
              <a:ahLst/>
              <a:cxnLst/>
              <a:rect r="r" b="b" t="t" l="l"/>
              <a:pathLst>
                <a:path h="3672840" w="12278360">
                  <a:moveTo>
                    <a:pt x="0" y="0"/>
                  </a:moveTo>
                  <a:lnTo>
                    <a:pt x="12278360" y="0"/>
                  </a:lnTo>
                  <a:lnTo>
                    <a:pt x="12278360" y="3672840"/>
                  </a:lnTo>
                  <a:lnTo>
                    <a:pt x="0" y="367284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371094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io.linea("Hasta luego.");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void mostrarMenu() {</a:t>
              </a:r>
            </a:p>
            <a:p>
              <a:pPr algn="l">
                <a:lnSpc>
                  <a:spcPts val="1800"/>
                </a:lnSpc>
              </a:pPr>
              <a:r>
                <a:rPr lang="en-US" sz="1500">
                  <a:solidFill>
                    <a:srgbClr val="4F81BD"/>
                  </a:solidFill>
                  <a:latin typeface="Calibri (MS)"/>
                  <a:ea typeface="Calibri (MS)"/>
                  <a:cs typeface="Calibri (MS)"/>
                  <a:sym typeface="Calibri (MS)"/>
                </a:rPr>
                <a:t>        io.seccion("Menú  |  Sesión: " + (sesion.haySesion() ? "ACTIVA" : "no iniciada"));</a:t>
              </a:r>
            </a:p>
            <a:p>
              <a:pPr algn="l">
                <a:lnSpc>
                  <a:spcPts val="1800"/>
                </a:lnSpc>
              </a:pPr>
              <a:r>
                <a:rPr lang="en-US" sz="1500">
                  <a:solidFill>
                    <a:srgbClr val="4F81BD"/>
                  </a:solidFill>
                  <a:latin typeface="Calibri (MS)"/>
                  <a:ea typeface="Calibri (MS)"/>
                  <a:cs typeface="Calibri (MS)"/>
                  <a:sym typeface="Calibri (MS)"/>
                </a:rPr>
                <a:t>        if (!sesion.haySesion()) {</a:t>
              </a:r>
            </a:p>
            <a:p>
              <a:pPr algn="l">
                <a:lnSpc>
                  <a:spcPts val="1800"/>
                </a:lnSpc>
              </a:pPr>
              <a:r>
                <a:rPr lang="en-US" sz="1500">
                  <a:solidFill>
                    <a:srgbClr val="4F81BD"/>
                  </a:solidFill>
                  <a:latin typeface="Calibri (MS)"/>
                  <a:ea typeface="Calibri (MS)"/>
                  <a:cs typeface="Calibri (MS)"/>
                  <a:sym typeface="Calibri (MS)"/>
                </a:rPr>
                <a:t>            io.linea("  1. Iniciar sesión");</a:t>
              </a:r>
            </a:p>
            <a:p>
              <a:pPr algn="l">
                <a:lnSpc>
                  <a:spcPts val="1800"/>
                </a:lnSpc>
              </a:pPr>
              <a:r>
                <a:rPr lang="en-US" sz="1500">
                  <a:solidFill>
                    <a:srgbClr val="4F81BD"/>
                  </a:solidFill>
                  <a:latin typeface="Calibri (MS)"/>
                  <a:ea typeface="Calibri (MS)"/>
                  <a:cs typeface="Calibri (MS)"/>
                  <a:sym typeface="Calibri (MS)"/>
                </a:rPr>
                <a:t>        } else {</a:t>
              </a:r>
            </a:p>
            <a:p>
              <a:pPr algn="l">
                <a:lnSpc>
                  <a:spcPts val="1800"/>
                </a:lnSpc>
              </a:pPr>
              <a:r>
                <a:rPr lang="en-US" sz="1500">
                  <a:solidFill>
                    <a:srgbClr val="4F81BD"/>
                  </a:solidFill>
                  <a:latin typeface="Calibri (MS)"/>
                  <a:ea typeface="Calibri (MS)"/>
                  <a:cs typeface="Calibri (MS)"/>
                  <a:sym typeface="Calibri (MS)"/>
                </a:rPr>
                <a:t>            io.linea("  2. Ver catálogo (categorías y unidades)");</a:t>
              </a:r>
            </a:p>
            <a:p>
              <a:pPr algn="l">
                <a:lnSpc>
                  <a:spcPts val="1800"/>
                </a:lnSpc>
              </a:pPr>
              <a:r>
                <a:rPr lang="en-US" sz="1500">
                  <a:solidFill>
                    <a:srgbClr val="4F81BD"/>
                  </a:solidFill>
                  <a:latin typeface="Calibri (MS)"/>
                  <a:ea typeface="Calibri (MS)"/>
                  <a:cs typeface="Calibri (MS)"/>
                  <a:sym typeface="Calibri (MS)"/>
                </a:rPr>
                <a:t>            io.linea("  3. Convertir");</a:t>
              </a:r>
            </a:p>
            <a:p>
              <a:pPr algn="l">
                <a:lnSpc>
                  <a:spcPts val="1800"/>
                </a:lnSpc>
              </a:pPr>
              <a:r>
                <a:rPr lang="en-US" sz="1500">
                  <a:solidFill>
                    <a:srgbClr val="4F81BD"/>
                  </a:solidFill>
                  <a:latin typeface="Calibri (MS)"/>
                  <a:ea typeface="Calibri (MS)"/>
                  <a:cs typeface="Calibri (MS)"/>
                  <a:sym typeface="Calibri (MS)"/>
                </a:rPr>
                <a:t>            io.linea("  4. Cerrar sesión");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io.linea("  0. Salir");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boolean exigirSesion() {</a:t>
              </a:r>
            </a:p>
            <a:p>
              <a:pPr algn="l">
                <a:lnSpc>
                  <a:spcPts val="1800"/>
                </a:lnSpc>
              </a:pPr>
              <a:r>
                <a:rPr lang="en-US" sz="1500">
                  <a:solidFill>
                    <a:srgbClr val="4F81BD"/>
                  </a:solidFill>
                  <a:latin typeface="Calibri (MS)"/>
                  <a:ea typeface="Calibri (MS)"/>
                  <a:cs typeface="Calibri (MS)"/>
                  <a:sym typeface="Calibri (MS)"/>
                </a:rPr>
                <a:t>        if (!sesion.haySesion()) {</a:t>
              </a:r>
            </a:p>
            <a:p>
              <a:pPr algn="l">
                <a:lnSpc>
                  <a:spcPts val="1800"/>
                </a:lnSpc>
              </a:pPr>
              <a:r>
                <a:rPr lang="en-US" sz="1500">
                  <a:solidFill>
                    <a:srgbClr val="4F81BD"/>
                  </a:solidFill>
                  <a:latin typeface="Calibri (MS)"/>
                  <a:ea typeface="Calibri (MS)"/>
                  <a:cs typeface="Calibri (MS)"/>
                  <a:sym typeface="Calibri (MS)"/>
                </a:rPr>
                <a:t>            io.linea("  Debe iniciar sesión primero.");</a:t>
              </a:r>
            </a:p>
            <a:p>
              <a:pPr algn="l">
                <a:lnSpc>
                  <a:spcPts val="1800"/>
                </a:lnSpc>
              </a:pPr>
              <a:r>
                <a:rPr lang="en-US" sz="1500">
                  <a:solidFill>
                    <a:srgbClr val="4F81BD"/>
                  </a:solidFill>
                  <a:latin typeface="Calibri (MS)"/>
                  <a:ea typeface="Calibri (MS)"/>
                  <a:cs typeface="Calibri (MS)"/>
                  <a:sym typeface="Calibri (MS)"/>
                </a:rPr>
                <a:t>            return false;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true;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ClienteConsola</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Clase principal: arma las piezas del MVC.</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846320"/>
            <a:chOff x="0" y="0"/>
            <a:chExt cx="12278360" cy="6461760"/>
          </a:xfrm>
        </p:grpSpPr>
        <p:sp>
          <p:nvSpPr>
            <p:cNvPr name="Freeform 18" id="18"/>
            <p:cNvSpPr/>
            <p:nvPr/>
          </p:nvSpPr>
          <p:spPr>
            <a:xfrm flipH="false" flipV="false" rot="0">
              <a:off x="0" y="0"/>
              <a:ext cx="12278360" cy="6461760"/>
            </a:xfrm>
            <a:custGeom>
              <a:avLst/>
              <a:gdLst/>
              <a:ahLst/>
              <a:cxnLst/>
              <a:rect r="r" b="b" t="t" l="l"/>
              <a:pathLst>
                <a:path h="6461760" w="12278360">
                  <a:moveTo>
                    <a:pt x="0" y="0"/>
                  </a:moveTo>
                  <a:lnTo>
                    <a:pt x="12278360" y="0"/>
                  </a:lnTo>
                  <a:lnTo>
                    <a:pt x="12278360" y="6461760"/>
                  </a:lnTo>
                  <a:lnTo>
                    <a:pt x="0" y="64617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6499860"/>
            </a:xfrm>
            <a:prstGeom prst="rect">
              <a:avLst/>
            </a:prstGeom>
          </p:spPr>
          <p:txBody>
            <a:bodyPr anchor="t" rtlCol="false" tIns="50800" lIns="50800" bIns="50800" rIns="50800"/>
            <a:lstStyle/>
            <a:p>
              <a:pPr algn="l">
                <a:lnSpc>
                  <a:spcPts val="1654"/>
                </a:lnSpc>
              </a:pPr>
              <a:r>
                <a:rPr lang="en-US" sz="1378">
                  <a:solidFill>
                    <a:srgbClr val="4F81BD"/>
                  </a:solidFill>
                  <a:latin typeface="Calibri (MS)"/>
                  <a:ea typeface="Calibri (MS)"/>
                  <a:cs typeface="Calibri (MS)"/>
                  <a:sym typeface="Calibri (MS)"/>
                </a:rPr>
                <a:t>package ec.edu.monster.clienteconsola;</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import ec.edu.monster.clienteconsola.controlador.ControladorConversiones;</a:t>
              </a:r>
            </a:p>
            <a:p>
              <a:pPr algn="l">
                <a:lnSpc>
                  <a:spcPts val="1654"/>
                </a:lnSpc>
              </a:pPr>
              <a:r>
                <a:rPr lang="en-US" sz="1378">
                  <a:solidFill>
                    <a:srgbClr val="4F81BD"/>
                  </a:solidFill>
                  <a:latin typeface="Calibri (MS)"/>
                  <a:ea typeface="Calibri (MS)"/>
                  <a:cs typeface="Calibri (MS)"/>
                  <a:sym typeface="Calibri (MS)"/>
                </a:rPr>
                <a:t>import ec.edu.monster.clienteconsola.controlador.ControladorSesion;</a:t>
              </a:r>
            </a:p>
            <a:p>
              <a:pPr algn="l">
                <a:lnSpc>
                  <a:spcPts val="1654"/>
                </a:lnSpc>
              </a:pPr>
              <a:r>
                <a:rPr lang="en-US" sz="1378">
                  <a:solidFill>
                    <a:srgbClr val="4F81BD"/>
                  </a:solidFill>
                  <a:latin typeface="Calibri (MS)"/>
                  <a:ea typeface="Calibri (MS)"/>
                  <a:cs typeface="Calibri (MS)"/>
                  <a:sym typeface="Calibri (MS)"/>
                </a:rPr>
                <a:t>import ec.edu.monster.clienteconsola.modelo.Sesion;</a:t>
              </a:r>
            </a:p>
            <a:p>
              <a:pPr algn="l">
                <a:lnSpc>
                  <a:spcPts val="1654"/>
                </a:lnSpc>
              </a:pPr>
              <a:r>
                <a:rPr lang="en-US" sz="1378">
                  <a:solidFill>
                    <a:srgbClr val="4F81BD"/>
                  </a:solidFill>
                  <a:latin typeface="Calibri (MS)"/>
                  <a:ea typeface="Calibri (MS)"/>
                  <a:cs typeface="Calibri (MS)"/>
                  <a:sym typeface="Calibri (MS)"/>
                </a:rPr>
                <a:t>import ec.edu.monster.clienteconsola.modelo.RestClient;</a:t>
              </a:r>
            </a:p>
            <a:p>
              <a:pPr algn="l">
                <a:lnSpc>
                  <a:spcPts val="1654"/>
                </a:lnSpc>
              </a:pPr>
              <a:r>
                <a:rPr lang="en-US" sz="1378">
                  <a:solidFill>
                    <a:srgbClr val="4F81BD"/>
                  </a:solidFill>
                  <a:latin typeface="Calibri (MS)"/>
                  <a:ea typeface="Calibri (MS)"/>
                  <a:cs typeface="Calibri (MS)"/>
                  <a:sym typeface="Calibri (MS)"/>
                </a:rPr>
                <a:t>import ec.edu.monster.clienteconsola.vista.ConsolaIO;</a:t>
              </a:r>
            </a:p>
            <a:p>
              <a:pPr algn="l">
                <a:lnSpc>
                  <a:spcPts val="1654"/>
                </a:lnSpc>
              </a:pPr>
              <a:r>
                <a:rPr lang="en-US" sz="1378">
                  <a:solidFill>
                    <a:srgbClr val="4F81BD"/>
                  </a:solidFill>
                  <a:latin typeface="Calibri (MS)"/>
                  <a:ea typeface="Calibri (MS)"/>
                  <a:cs typeface="Calibri (MS)"/>
                  <a:sym typeface="Calibri (MS)"/>
                </a:rPr>
                <a:t>import ec.edu.monster.clienteconsola.vista.InterfazConsola;</a:t>
              </a:r>
            </a:p>
            <a:p>
              <a:pPr algn="l">
                <a:lnSpc>
                  <a:spcPts val="1654"/>
                </a:lnSpc>
              </a:pPr>
              <a:r>
                <a:rPr lang="en-US" sz="1378">
                  <a:solidFill>
                    <a:srgbClr val="4F81BD"/>
                  </a:solidFill>
                  <a:latin typeface="Calibri (MS)"/>
                  <a:ea typeface="Calibri (MS)"/>
                  <a:cs typeface="Calibri (MS)"/>
                  <a:sym typeface="Calibri (MS)"/>
                </a:rPr>
                <a:t>import ec.edu.monster.clienteconsola.vista.VistaConversion;</a:t>
              </a:r>
            </a:p>
            <a:p>
              <a:pPr algn="l">
                <a:lnSpc>
                  <a:spcPts val="1654"/>
                </a:lnSpc>
              </a:pPr>
              <a:r>
                <a:rPr lang="en-US" sz="1378">
                  <a:solidFill>
                    <a:srgbClr val="4F81BD"/>
                  </a:solidFill>
                  <a:latin typeface="Calibri (MS)"/>
                  <a:ea typeface="Calibri (MS)"/>
                  <a:cs typeface="Calibri (MS)"/>
                  <a:sym typeface="Calibri (MS)"/>
                </a:rPr>
                <a:t>import ec.edu.monster.clienteconsola.vista.VistaSesion;</a:t>
              </a:r>
            </a:p>
            <a:p>
              <a:pPr algn="l">
                <a:lnSpc>
                  <a:spcPts val="1654"/>
                </a:lnSpc>
              </a:pPr>
              <a:r>
                <a:rPr lang="en-US" sz="1378">
                  <a:solidFill>
                    <a:srgbClr val="4F81BD"/>
                  </a:solidFill>
                  <a:latin typeface="Calibri (MS)"/>
                  <a:ea typeface="Calibri (MS)"/>
                  <a:cs typeface="Calibri (MS)"/>
                  <a:sym typeface="Calibri (MS)"/>
                </a:rPr>
                <a:t>import java.io.PrintStream;</a:t>
              </a:r>
            </a:p>
            <a:p>
              <a:pPr algn="l">
                <a:lnSpc>
                  <a:spcPts val="1654"/>
                </a:lnSpc>
              </a:pPr>
              <a:r>
                <a:rPr lang="en-US" sz="1378">
                  <a:solidFill>
                    <a:srgbClr val="4F81BD"/>
                  </a:solidFill>
                  <a:latin typeface="Calibri (MS)"/>
                  <a:ea typeface="Calibri (MS)"/>
                  <a:cs typeface="Calibri (MS)"/>
                  <a:sym typeface="Calibri (MS)"/>
                </a:rPr>
                <a:t>import java.nio.charset.StandardCharsets;</a:t>
              </a:r>
            </a:p>
            <a:p>
              <a:pPr algn="l">
                <a:lnSpc>
                  <a:spcPts val="1654"/>
                </a:lnSpc>
              </a:pPr>
              <a:r>
                <a:rPr lang="en-US" sz="1378">
                  <a:solidFill>
                    <a:srgbClr val="4F81BD"/>
                  </a:solidFill>
                  <a:latin typeface="Calibri (MS)"/>
                  <a:ea typeface="Calibri (MS)"/>
                  <a:cs typeface="Calibri (MS)"/>
                  <a:sym typeface="Calibri (MS)"/>
                </a:rPr>
                <a:t>import java.util.Scanner;</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a:t>
              </a:r>
            </a:p>
            <a:p>
              <a:pPr algn="l">
                <a:lnSpc>
                  <a:spcPts val="1654"/>
                </a:lnSpc>
              </a:pPr>
              <a:r>
                <a:rPr lang="en-US" sz="1378">
                  <a:solidFill>
                    <a:srgbClr val="4F81BD"/>
                  </a:solidFill>
                  <a:latin typeface="Calibri (MS)"/>
                  <a:ea typeface="Calibri (MS)"/>
                  <a:cs typeface="Calibri (MS)"/>
                  <a:sym typeface="Calibri (MS)"/>
                </a:rPr>
                <a:t> * Cliente de consola de "Conversion de Unidades Monster". Aqui se arman las piezas del MVC:</a:t>
              </a:r>
            </a:p>
            <a:p>
              <a:pPr algn="l">
                <a:lnSpc>
                  <a:spcPts val="1654"/>
                </a:lnSpc>
              </a:pPr>
              <a:r>
                <a:rPr lang="en-US" sz="1378">
                  <a:solidFill>
                    <a:srgbClr val="4F81BD"/>
                  </a:solidFill>
                  <a:latin typeface="Calibri (MS)"/>
                  <a:ea typeface="Calibri (MS)"/>
                  <a:cs typeface="Calibri (MS)"/>
                  <a:sym typeface="Calibri (MS)"/>
                </a:rPr>
                <a:t> * modelo (RestClient, Sesion), controladores y vistas.</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 URL del servidor: argumento 1, propiedad -Dconuni.url, variable CONUNI_URL o</a:t>
              </a:r>
            </a:p>
            <a:p>
              <a:pPr algn="l">
                <a:lnSpc>
                  <a:spcPts val="1654"/>
                </a:lnSpc>
              </a:pPr>
              <a:r>
                <a:rPr lang="en-US" sz="1378">
                  <a:solidFill>
                    <a:srgbClr val="4F81BD"/>
                  </a:solidFill>
                  <a:latin typeface="Calibri (MS)"/>
                  <a:ea typeface="Calibri (MS)"/>
                  <a:cs typeface="Calibri (MS)"/>
                  <a:sym typeface="Calibri (MS)"/>
                </a:rPr>
                <a:t> * http://localhost:8080/REST_ConUni_Java_GR07/api/</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public class ClienteConsola {</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public static void main(String[] args) {</a:t>
              </a:r>
            </a:p>
            <a:p>
              <a:pPr algn="l">
                <a:lnSpc>
                  <a:spcPts val="1654"/>
                </a:lnSpc>
              </a:pPr>
              <a:r>
                <a:rPr lang="en-US" sz="1378">
                  <a:solidFill>
                    <a:srgbClr val="4F81BD"/>
                  </a:solidFill>
                  <a:latin typeface="Calibri (MS)"/>
                  <a:ea typeface="Calibri (MS)"/>
                  <a:cs typeface="Calibri (MS)"/>
                  <a:sym typeface="Calibri (MS)"/>
                </a:rPr>
                <a:t>        PrintStream salida = new PrintStream(System.out, true, StandardCharsets.UTF_8);</a:t>
              </a:r>
            </a:p>
            <a:p>
              <a:pPr algn="l">
                <a:lnSpc>
                  <a:spcPts val="1654"/>
                </a:lnSpc>
              </a:pPr>
              <a:r>
                <a:rPr lang="en-US" sz="1378">
                  <a:solidFill>
                    <a:srgbClr val="4F81BD"/>
                  </a:solidFill>
                  <a:latin typeface="Calibri (MS)"/>
                  <a:ea typeface="Calibri (MS)"/>
                  <a:cs typeface="Calibri (MS)"/>
                  <a:sym typeface="Calibri (MS)"/>
                </a:rPr>
                <a:t>        Scanner entrada = new Scanner(System.in, StandardCharsets.UTF_8);</a:t>
              </a:r>
            </a:p>
            <a:p>
              <a:pPr algn="l">
                <a:lnSpc>
                  <a:spcPts val="1654"/>
                </a:lnSpc>
              </a:pPr>
              <a:r>
                <a:rPr lang="en-US" sz="1378">
                  <a:solidFill>
                    <a:srgbClr val="4F81BD"/>
                  </a:solidFill>
                  <a:latin typeface="Calibri (MS)"/>
                  <a:ea typeface="Calibri (MS)"/>
                  <a:cs typeface="Calibri (MS)"/>
                  <a:sym typeface="Calibri (MS)"/>
                </a:rPr>
                <a:t>        String url = args.length &gt; 0 ? args[0] : RestClient.urlConfigurada();</a:t>
              </a:r>
            </a:p>
            <a:p>
              <a:pPr algn="l">
                <a:lnSpc>
                  <a:spcPts val="1654"/>
                </a:lnSpc>
              </a:pPr>
              <a:r>
                <a:rPr lang="en-US" sz="1378">
                  <a:solidFill>
                    <a:srgbClr val="4F81BD"/>
                  </a:solidFill>
                  <a:latin typeface="Calibri (MS)"/>
                  <a:ea typeface="Calibri (MS)"/>
                  <a:cs typeface="Calibri (MS)"/>
                  <a:sym typeface="Calibri (MS)"/>
                </a:rPr>
                <a:t>        RestClient cliente = new RestClient(url);</a:t>
              </a:r>
            </a:p>
            <a:p>
              <a:pPr algn="l">
                <a:lnSpc>
                  <a:spcPts val="1654"/>
                </a:lnSpc>
              </a:pPr>
              <a:r>
                <a:rPr lang="en-US" sz="1378">
                  <a:solidFill>
                    <a:srgbClr val="4F81BD"/>
                  </a:solidFill>
                  <a:latin typeface="Calibri (MS)"/>
                  <a:ea typeface="Calibri (MS)"/>
                  <a:cs typeface="Calibri (MS)"/>
                  <a:sym typeface="Calibri (MS)"/>
                </a:rPr>
                <a:t>        Sesion sesion = new Sesion();</a:t>
              </a:r>
            </a:p>
            <a:p>
              <a:pPr algn="l">
                <a:lnSpc>
                  <a:spcPts val="1654"/>
                </a:lnSpc>
              </a:pPr>
              <a:r>
                <a:rPr lang="en-US" sz="1378">
                  <a:solidFill>
                    <a:srgbClr val="4F81BD"/>
                  </a:solidFill>
                  <a:latin typeface="Calibri (MS)"/>
                  <a:ea typeface="Calibri (MS)"/>
                  <a:cs typeface="Calibri (MS)"/>
                  <a:sym typeface="Calibri (MS)"/>
                </a:rPr>
                <a:t>        ControladorSesion controladorSesion = new ControladorSesion(cliente, sesion);</a:t>
              </a:r>
            </a:p>
            <a:p>
              <a:pPr algn="l">
                <a:lnSpc>
                  <a:spcPts val="1654"/>
                </a:lnSpc>
              </a:pPr>
              <a:r>
                <a:rPr lang="en-US" sz="1378">
                  <a:solidFill>
                    <a:srgbClr val="4F81BD"/>
                  </a:solidFill>
                  <a:latin typeface="Calibri (MS)"/>
                  <a:ea typeface="Calibri (MS)"/>
                  <a:cs typeface="Calibri (MS)"/>
                  <a:sym typeface="Calibri (MS)"/>
                </a:rPr>
                <a:t>        ControladorConversiones controladorConversiones = new ControladorConversiones(cliente, sesion);</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        ConsolaIO io = new ConsolaIO(entrada, salida);</a:t>
              </a:r>
            </a:p>
            <a:p>
              <a:pPr algn="l">
                <a:lnSpc>
                  <a:spcPts val="1654"/>
                </a:lnSpc>
              </a:pPr>
              <a:r>
                <a:rPr lang="en-US" sz="1378">
                  <a:solidFill>
                    <a:srgbClr val="4F81BD"/>
                  </a:solidFill>
                  <a:latin typeface="Calibri (MS)"/>
                  <a:ea typeface="Calibri (MS)"/>
                  <a:cs typeface="Calibri (MS)"/>
                  <a:sym typeface="Calibri (MS)"/>
                </a:rPr>
                <a:t>        new InterfazConsola(controladorSesion, new VistaSesion(controladorSesion, io),</a:t>
              </a:r>
            </a:p>
            <a:p>
              <a:pPr algn="l">
                <a:lnSpc>
                  <a:spcPts val="1654"/>
                </a:lnSpc>
              </a:pPr>
              <a:r>
                <a:rPr lang="en-US" sz="1378">
                  <a:solidFill>
                    <a:srgbClr val="4F81BD"/>
                  </a:solidFill>
                  <a:latin typeface="Calibri (MS)"/>
                  <a:ea typeface="Calibri (MS)"/>
                  <a:cs typeface="Calibri (MS)"/>
                  <a:sym typeface="Calibri (MS)"/>
                </a:rPr>
                <a:t>                new VistaConversion(controladorConversiones, io), io).ejecutar();</a:t>
              </a:r>
            </a:p>
            <a:p>
              <a:pPr algn="l">
                <a:lnSpc>
                  <a:spcPts val="1654"/>
                </a:lnSpc>
              </a:pPr>
              <a:r>
                <a:rPr lang="en-US" sz="1378">
                  <a:solidFill>
                    <a:srgbClr val="4F81BD"/>
                  </a:solidFill>
                  <a:latin typeface="Calibri (MS)"/>
                  <a:ea typeface="Calibri (MS)"/>
                  <a:cs typeface="Calibri (MS)"/>
                  <a:sym typeface="Calibri (MS)"/>
                </a:rPr>
                <a:t>    }</a:t>
              </a:r>
            </a:p>
            <a:p>
              <a:pPr algn="l">
                <a:lnSpc>
                  <a:spcPts val="1654"/>
                </a:lnSpc>
              </a:pPr>
              <a:r>
                <a:rPr lang="en-US" sz="1378">
                  <a:solidFill>
                    <a:srgbClr val="4F81BD"/>
                  </a:solidFill>
                  <a:latin typeface="Calibri (MS)"/>
                  <a:ea typeface="Calibri (MS)"/>
                  <a:cs typeface="Calibri (MS)"/>
                  <a:sym typeface="Calibri (MS)"/>
                </a:rPr>
                <a:t>}</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Se puede verificar que el cliente funciona de forma correcta, se levanta y tiene comunicación con el servidor (inicio de sesión).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5897880" y="3857625"/>
            <a:ext cx="7818120" cy="3806190"/>
            <a:chOff x="0" y="0"/>
            <a:chExt cx="10424160" cy="5074920"/>
          </a:xfrm>
        </p:grpSpPr>
        <p:sp>
          <p:nvSpPr>
            <p:cNvPr name="Freeform 18" id="18" descr="term_login.png"/>
            <p:cNvSpPr/>
            <p:nvPr/>
          </p:nvSpPr>
          <p:spPr>
            <a:xfrm flipH="false" flipV="false" rot="0">
              <a:off x="0" y="0"/>
              <a:ext cx="10424160" cy="5074920"/>
            </a:xfrm>
            <a:custGeom>
              <a:avLst/>
              <a:gdLst/>
              <a:ahLst/>
              <a:cxnLst/>
              <a:rect r="r" b="b" t="t" l="l"/>
              <a:pathLst>
                <a:path h="5074920" w="10424160">
                  <a:moveTo>
                    <a:pt x="0" y="0"/>
                  </a:moveTo>
                  <a:lnTo>
                    <a:pt x="10424160" y="0"/>
                  </a:lnTo>
                  <a:lnTo>
                    <a:pt x="10424160" y="5074920"/>
                  </a:lnTo>
                  <a:lnTo>
                    <a:pt x="0" y="5074920"/>
                  </a:lnTo>
                  <a:lnTo>
                    <a:pt x="0" y="0"/>
                  </a:lnTo>
                  <a:close/>
                </a:path>
              </a:pathLst>
            </a:custGeom>
            <a:blipFill>
              <a:blip r:embed="rId3"/>
              <a:stretch>
                <a:fillRect l="0" t="0" r="0" b="0"/>
              </a:stretch>
            </a:blipFill>
          </p:spPr>
          <p:txBody>
            <a:bodyPr/>
            <a:p/>
          </p:txBody>
        </p:sp>
      </p:gr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Conversión de ejemplo: 1 milla a metros.</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5897880" y="3319272"/>
            <a:ext cx="7818120" cy="5843016"/>
            <a:chOff x="0" y="0"/>
            <a:chExt cx="10424160" cy="7790688"/>
          </a:xfrm>
        </p:grpSpPr>
        <p:sp>
          <p:nvSpPr>
            <p:cNvPr name="Freeform 18" id="18" descr="term_conversion.png"/>
            <p:cNvSpPr/>
            <p:nvPr/>
          </p:nvSpPr>
          <p:spPr>
            <a:xfrm flipH="false" flipV="false" rot="0">
              <a:off x="0" y="0"/>
              <a:ext cx="10424160" cy="7790688"/>
            </a:xfrm>
            <a:custGeom>
              <a:avLst/>
              <a:gdLst/>
              <a:ahLst/>
              <a:cxnLst/>
              <a:rect r="r" b="b" t="t" l="l"/>
              <a:pathLst>
                <a:path h="7790688" w="10424160">
                  <a:moveTo>
                    <a:pt x="0" y="0"/>
                  </a:moveTo>
                  <a:lnTo>
                    <a:pt x="10424160" y="0"/>
                  </a:lnTo>
                  <a:lnTo>
                    <a:pt x="10424160" y="7790688"/>
                  </a:lnTo>
                  <a:lnTo>
                    <a:pt x="0" y="7790688"/>
                  </a:lnTo>
                  <a:lnTo>
                    <a:pt x="0" y="0"/>
                  </a:lnTo>
                  <a:close/>
                </a:path>
              </a:pathLst>
            </a:custGeom>
            <a:blipFill>
              <a:blip r:embed="rId3"/>
              <a:stretch>
                <a:fillRect l="0" t="0" r="0" b="0"/>
              </a:stretch>
            </a:blipFill>
          </p:spPr>
          <p:txBody>
            <a:bodyP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035040" y="2891333"/>
            <a:ext cx="7680960" cy="6561734"/>
            <a:chOff x="0" y="0"/>
            <a:chExt cx="10241280" cy="8748979"/>
          </a:xfrm>
        </p:grpSpPr>
        <p:sp>
          <p:nvSpPr>
            <p:cNvPr name="Freeform 17" id="17"/>
            <p:cNvSpPr/>
            <p:nvPr/>
          </p:nvSpPr>
          <p:spPr>
            <a:xfrm flipH="false" flipV="false" rot="0">
              <a:off x="0" y="0"/>
              <a:ext cx="10241280" cy="8749030"/>
            </a:xfrm>
            <a:custGeom>
              <a:avLst/>
              <a:gdLst/>
              <a:ahLst/>
              <a:cxnLst/>
              <a:rect r="r" b="b" t="t" l="l"/>
              <a:pathLst>
                <a:path h="8749030" w="10241280">
                  <a:moveTo>
                    <a:pt x="0" y="0"/>
                  </a:moveTo>
                  <a:lnTo>
                    <a:pt x="10241280" y="0"/>
                  </a:lnTo>
                  <a:lnTo>
                    <a:pt x="10241280" y="8749030"/>
                  </a:lnTo>
                  <a:lnTo>
                    <a:pt x="0" y="8749030"/>
                  </a:lnTo>
                  <a:lnTo>
                    <a:pt x="0" y="0"/>
                  </a:lnTo>
                  <a:close/>
                </a:path>
              </a:pathLst>
            </a:custGeom>
            <a:blipFill>
              <a:blip r:embed="rId3"/>
              <a:stretch>
                <a:fillRect l="0" t="-9428" r="0" b="-9428"/>
              </a:stretch>
            </a:blipFill>
          </p:spPr>
          <p:txBody>
            <a:bodyPr/>
            <a:p/>
          </p:txBody>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1.4 	CREACIÓN DEL PROYECTO – CLIENTE ESCRITORIO</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Para el cliente de escritorio se creó un proyecto Java with Maven (Java Application) con la librería gráfica Swing, sin dependencias externas.</a:t>
            </a:r>
          </a:p>
          <a:p>
            <a:pPr algn="just" marL="352901" indent="-176451" lvl="1">
              <a:lnSpc>
                <a:spcPts val="2503"/>
              </a:lnSpc>
              <a:buFont typeface="Arial"/>
              <a:buChar char="•"/>
            </a:pPr>
            <a:r>
              <a:rPr lang="en-US" sz="1950">
                <a:solidFill>
                  <a:srgbClr val="3D3D3D"/>
                </a:solidFill>
                <a:latin typeface="Cambria"/>
                <a:ea typeface="Cambria"/>
                <a:cs typeface="Cambria"/>
                <a:sym typeface="Cambria"/>
              </a:rPr>
              <a:t>Paquetes: modelo (RestClient, RespuestaServicio), controlador (ControladorConversiones) y vista (LoginFrame, ConversionFrame y Estilo).</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API REST.</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ec.edu.monster.clienteescritorio.controlador;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ec.edu.monster.clienteescritorio.modelo.RespuestaServicio;</a:t>
              </a:r>
            </a:p>
            <a:p>
              <a:pPr algn="l">
                <a:lnSpc>
                  <a:spcPts val="1800"/>
                </a:lnSpc>
              </a:pPr>
              <a:r>
                <a:rPr lang="en-US" sz="1500">
                  <a:solidFill>
                    <a:srgbClr val="4F81BD"/>
                  </a:solidFill>
                  <a:latin typeface="Calibri (MS)"/>
                  <a:ea typeface="Calibri (MS)"/>
                  <a:cs typeface="Calibri (MS)"/>
                  <a:sym typeface="Calibri (MS)"/>
                </a:rPr>
                <a:t>import ec.edu.monster.clienteescritorio.modelo.RestClient;</a:t>
              </a:r>
            </a:p>
            <a:p>
              <a:pPr algn="l">
                <a:lnSpc>
                  <a:spcPts val="1800"/>
                </a:lnSpc>
              </a:pPr>
              <a:r>
                <a:rPr lang="en-US" sz="1500">
                  <a:solidFill>
                    <a:srgbClr val="4F81BD"/>
                  </a:solidFill>
                  <a:latin typeface="Calibri (MS)"/>
                  <a:ea typeface="Calibri (MS)"/>
                  <a:cs typeface="Calibri (MS)"/>
                  <a:sym typeface="Calibri (MS)"/>
                </a:rPr>
                <a:t>import java.math.BigDecimal;</a:t>
              </a:r>
            </a:p>
            <a:p>
              <a:pPr algn="l">
                <a:lnSpc>
                  <a:spcPts val="1800"/>
                </a:lnSpc>
              </a:pPr>
              <a:r>
                <a:rPr lang="en-US" sz="1500">
                  <a:solidFill>
                    <a:srgbClr val="4F81BD"/>
                  </a:solidFill>
                  <a:latin typeface="Calibri (MS)"/>
                  <a:ea typeface="Calibri (MS)"/>
                  <a:cs typeface="Calibri (MS)"/>
                  <a:sym typeface="Calibri (MS)"/>
                </a:rPr>
                <a:t>import java.math.RoundingMode;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Controlador del cliente de escritorio: guarda el token de la sesion, llama al</a:t>
              </a:r>
            </a:p>
            <a:p>
              <a:pPr algn="l">
                <a:lnSpc>
                  <a:spcPts val="1800"/>
                </a:lnSpc>
              </a:pPr>
              <a:r>
                <a:rPr lang="en-US" sz="1500">
                  <a:solidFill>
                    <a:srgbClr val="4F81BD"/>
                  </a:solidFill>
                  <a:latin typeface="Calibri (MS)"/>
                  <a:ea typeface="Calibri (MS)"/>
                  <a:cs typeface="Calibri (MS)"/>
                  <a:sym typeface="Calibri (MS)"/>
                </a:rPr>
                <a:t> * servicio REST y descarta el token cuando el servidor lo rechaza.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ControladorConversiones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RestClient cliente;</a:t>
              </a:r>
            </a:p>
            <a:p>
              <a:pPr algn="l">
                <a:lnSpc>
                  <a:spcPts val="1800"/>
                </a:lnSpc>
              </a:pPr>
              <a:r>
                <a:rPr lang="en-US" sz="1500">
                  <a:solidFill>
                    <a:srgbClr val="4F81BD"/>
                  </a:solidFill>
                  <a:latin typeface="Calibri (MS)"/>
                  <a:ea typeface="Calibri (MS)"/>
                  <a:cs typeface="Calibri (MS)"/>
                  <a:sym typeface="Calibri (MS)"/>
                </a:rPr>
                <a:t>    private String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ControladorConversiones(RestClient cliente)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URL del servidor por defecto (para que la vista no toque el modelo). */</a:t>
              </a:r>
            </a:p>
            <a:p>
              <a:pPr algn="l">
                <a:lnSpc>
                  <a:spcPts val="1800"/>
                </a:lnSpc>
              </a:pPr>
              <a:r>
                <a:rPr lang="en-US" sz="1500">
                  <a:solidFill>
                    <a:srgbClr val="4F81BD"/>
                  </a:solidFill>
                  <a:latin typeface="Calibri (MS)"/>
                  <a:ea typeface="Calibri (MS)"/>
                  <a:cs typeface="Calibri (MS)"/>
                  <a:sym typeface="Calibri (MS)"/>
                </a:rPr>
                <a:t>    public static String urlPorDefecto() {</a:t>
              </a:r>
            </a:p>
            <a:p>
              <a:pPr algn="l">
                <a:lnSpc>
                  <a:spcPts val="1800"/>
                </a:lnSpc>
              </a:pPr>
              <a:r>
                <a:rPr lang="en-US" sz="1500">
                  <a:solidFill>
                    <a:srgbClr val="4F81BD"/>
                  </a:solidFill>
                  <a:latin typeface="Calibri (MS)"/>
                  <a:ea typeface="Calibri (MS)"/>
                  <a:cs typeface="Calibri (MS)"/>
                  <a:sym typeface="Calibri (MS)"/>
                </a:rPr>
                <a:t>        return RestClient.urlConfigurada();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API REST.</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 Crea el controlador ya conectado a la URL indicada. */</a:t>
              </a:r>
            </a:p>
            <a:p>
              <a:pPr algn="l">
                <a:lnSpc>
                  <a:spcPts val="1800"/>
                </a:lnSpc>
              </a:pPr>
              <a:r>
                <a:rPr lang="en-US" sz="1500">
                  <a:solidFill>
                    <a:srgbClr val="4F81BD"/>
                  </a:solidFill>
                  <a:latin typeface="Calibri (MS)"/>
                  <a:ea typeface="Calibri (MS)"/>
                  <a:cs typeface="Calibri (MS)"/>
                  <a:sym typeface="Calibri (MS)"/>
                </a:rPr>
                <a:t>    public static ControladorConversiones conectar(String url) {</a:t>
              </a:r>
            </a:p>
            <a:p>
              <a:pPr algn="l">
                <a:lnSpc>
                  <a:spcPts val="1800"/>
                </a:lnSpc>
              </a:pPr>
              <a:r>
                <a:rPr lang="en-US" sz="1500">
                  <a:solidFill>
                    <a:srgbClr val="4F81BD"/>
                  </a:solidFill>
                  <a:latin typeface="Calibri (MS)"/>
                  <a:ea typeface="Calibri (MS)"/>
                  <a:cs typeface="Calibri (MS)"/>
                  <a:sym typeface="Calibri (MS)"/>
                </a:rPr>
                <a:t>        return new ControladorConversiones(new RestClient(url));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getUrl() {</a:t>
              </a:r>
            </a:p>
            <a:p>
              <a:pPr algn="l">
                <a:lnSpc>
                  <a:spcPts val="1800"/>
                </a:lnSpc>
              </a:pPr>
              <a:r>
                <a:rPr lang="en-US" sz="1500">
                  <a:solidFill>
                    <a:srgbClr val="4F81BD"/>
                  </a:solidFill>
                  <a:latin typeface="Calibri (MS)"/>
                  <a:ea typeface="Calibri (MS)"/>
                  <a:cs typeface="Calibri (MS)"/>
                  <a:sym typeface="Calibri (MS)"/>
                </a:rPr>
                <a:t>        return cliente.getBaseUrl();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boolean haySesion() {</a:t>
              </a:r>
            </a:p>
            <a:p>
              <a:pPr algn="l">
                <a:lnSpc>
                  <a:spcPts val="1800"/>
                </a:lnSpc>
              </a:pPr>
              <a:r>
                <a:rPr lang="en-US" sz="1500">
                  <a:solidFill>
                    <a:srgbClr val="4F81BD"/>
                  </a:solidFill>
                  <a:latin typeface="Calibri (MS)"/>
                  <a:ea typeface="Calibri (MS)"/>
                  <a:cs typeface="Calibri (MS)"/>
                  <a:sym typeface="Calibri (MS)"/>
                </a:rPr>
                <a:t>        return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iniciarSesion(String usuario, String clave) {</a:t>
              </a:r>
            </a:p>
            <a:p>
              <a:pPr algn="l">
                <a:lnSpc>
                  <a:spcPts val="1800"/>
                </a:lnSpc>
              </a:pPr>
              <a:r>
                <a:rPr lang="en-US" sz="1500">
                  <a:solidFill>
                    <a:srgbClr val="4F81BD"/>
                  </a:solidFill>
                  <a:latin typeface="Calibri (MS)"/>
                  <a:ea typeface="Calibri (MS)"/>
                  <a:cs typeface="Calibri (MS)"/>
                  <a:sym typeface="Calibri (MS)"/>
                </a:rPr>
                <a:t>        RespuestaServicio r = cliente.login(usuario, clave);</a:t>
              </a:r>
            </a:p>
            <a:p>
              <a:pPr algn="l">
                <a:lnSpc>
                  <a:spcPts val="1800"/>
                </a:lnSpc>
              </a:pPr>
              <a:r>
                <a:rPr lang="en-US" sz="1500">
                  <a:solidFill>
                    <a:srgbClr val="4F81BD"/>
                  </a:solidFill>
                  <a:latin typeface="Calibri (MS)"/>
                  <a:ea typeface="Calibri (MS)"/>
                  <a:cs typeface="Calibri (MS)"/>
                  <a:sym typeface="Calibri (MS)"/>
                </a:rPr>
                <a:t>        token = (r.esExitosa() &amp;&amp; r.getToken() != null) ? r.getToken() : null;</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categorias() {</a:t>
              </a:r>
            </a:p>
            <a:p>
              <a:pPr algn="l">
                <a:lnSpc>
                  <a:spcPts val="1800"/>
                </a:lnSpc>
              </a:pPr>
              <a:r>
                <a:rPr lang="en-US" sz="1500">
                  <a:solidFill>
                    <a:srgbClr val="4F81BD"/>
                  </a:solidFill>
                  <a:latin typeface="Calibri (MS)"/>
                  <a:ea typeface="Calibri (MS)"/>
                  <a:cs typeface="Calibri (MS)"/>
                  <a:sym typeface="Calibri (MS)"/>
                </a:rPr>
                <a:t>        return revisar(cliente.obtenerCategorias(token));</a:t>
              </a:r>
            </a:p>
          </p:txBody>
        </p:sp>
      </p:gr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API REST.</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unidades(String categoria) {</a:t>
              </a:r>
            </a:p>
            <a:p>
              <a:pPr algn="l">
                <a:lnSpc>
                  <a:spcPts val="1800"/>
                </a:lnSpc>
              </a:pPr>
              <a:r>
                <a:rPr lang="en-US" sz="1500">
                  <a:solidFill>
                    <a:srgbClr val="4F81BD"/>
                  </a:solidFill>
                  <a:latin typeface="Calibri (MS)"/>
                  <a:ea typeface="Calibri (MS)"/>
                  <a:cs typeface="Calibri (MS)"/>
                  <a:sym typeface="Calibri (MS)"/>
                </a:rPr>
                <a:t>        return revisar(cliente.obtenerUnidades(token,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 String origen, String destino) {</a:t>
              </a:r>
            </a:p>
            <a:p>
              <a:pPr algn="l">
                <a:lnSpc>
                  <a:spcPts val="1800"/>
                </a:lnSpc>
              </a:pPr>
              <a:r>
                <a:rPr lang="en-US" sz="1500">
                  <a:solidFill>
                    <a:srgbClr val="4F81BD"/>
                  </a:solidFill>
                  <a:latin typeface="Calibri (MS)"/>
                  <a:ea typeface="Calibri (MS)"/>
                  <a:cs typeface="Calibri (MS)"/>
                  <a:sym typeface="Calibri (MS)"/>
                </a:rPr>
                <a:t>        return revisar(cliente.convertir(categoria, valor, origen, destino,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Si el servidor dice que el token no sirve, se cierra la sesion local. */</a:t>
              </a:r>
            </a:p>
            <a:p>
              <a:pPr algn="l">
                <a:lnSpc>
                  <a:spcPts val="1800"/>
                </a:lnSpc>
              </a:pPr>
              <a:r>
                <a:rPr lang="en-US" sz="1500">
                  <a:solidFill>
                    <a:srgbClr val="4F81BD"/>
                  </a:solidFill>
                  <a:latin typeface="Calibri (MS)"/>
                  <a:ea typeface="Calibri (MS)"/>
                  <a:cs typeface="Calibri (MS)"/>
                  <a:sym typeface="Calibri (MS)"/>
                </a:rPr>
                <a:t>    private RespuestaServicio revisar(RespuestaServicio r) {</a:t>
              </a:r>
            </a:p>
            <a:p>
              <a:pPr algn="l">
                <a:lnSpc>
                  <a:spcPts val="1800"/>
                </a:lnSpc>
              </a:pPr>
              <a:r>
                <a:rPr lang="en-US" sz="1500">
                  <a:solidFill>
                    <a:srgbClr val="4F81BD"/>
                  </a:solidFill>
                  <a:latin typeface="Calibri (MS)"/>
                  <a:ea typeface="Calibri (MS)"/>
                  <a:cs typeface="Calibri (MS)"/>
                  <a:sym typeface="Calibri (MS)"/>
                </a:rPr>
                <a:t>        if (r.requiereNuevoLogin())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Numero sin notacion cientifica y sin ceros sobrantes. */</a:t>
              </a:r>
            </a:p>
            <a:p>
              <a:pPr algn="l">
                <a:lnSpc>
                  <a:spcPts val="1800"/>
                </a:lnSpc>
              </a:pPr>
              <a:r>
                <a:rPr lang="en-US" sz="1500">
                  <a:solidFill>
                    <a:srgbClr val="4F81BD"/>
                  </a:solidFill>
                  <a:latin typeface="Calibri (MS)"/>
                  <a:ea typeface="Calibri (MS)"/>
                  <a:cs typeface="Calibri (MS)"/>
                  <a:sym typeface="Calibri (MS)"/>
                </a:rPr>
                <a:t>    public static String formatear(double valor) {</a:t>
              </a:r>
            </a:p>
            <a:p>
              <a:pPr algn="l">
                <a:lnSpc>
                  <a:spcPts val="1800"/>
                </a:lnSpc>
              </a:pPr>
              <a:r>
                <a:rPr lang="en-US" sz="1500">
                  <a:solidFill>
                    <a:srgbClr val="4F81BD"/>
                  </a:solidFill>
                  <a:latin typeface="Calibri (MS)"/>
                  <a:ea typeface="Calibri (MS)"/>
                  <a:cs typeface="Calibri (MS)"/>
                  <a:sym typeface="Calibri (MS)"/>
                </a:rPr>
                <a:t>        BigDecimal b = BigDecimal.valueOf(valor).setScale(10, RoundingMode.HALF_UP).stripTrailingZeros();</a:t>
              </a:r>
            </a:p>
            <a:p>
              <a:pPr algn="l">
                <a:lnSpc>
                  <a:spcPts val="1800"/>
                </a:lnSpc>
              </a:pPr>
              <a:r>
                <a:rPr lang="en-US" sz="1500">
                  <a:solidFill>
                    <a:srgbClr val="4F81BD"/>
                  </a:solidFill>
                  <a:latin typeface="Calibri (MS)"/>
                  <a:ea typeface="Calibri (MS)"/>
                  <a:cs typeface="Calibri (MS)"/>
                  <a:sym typeface="Calibri (MS)"/>
                </a:rPr>
                <a:t>        return b.scale() &lt; 0 ? b.setScale(0).toPlainString() : b.toPlainString();</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4846320"/>
            <a:chOff x="0" y="0"/>
            <a:chExt cx="12278360" cy="6461760"/>
          </a:xfrm>
        </p:grpSpPr>
        <p:sp>
          <p:nvSpPr>
            <p:cNvPr name="Freeform 18" id="18"/>
            <p:cNvSpPr/>
            <p:nvPr/>
          </p:nvSpPr>
          <p:spPr>
            <a:xfrm flipH="false" flipV="false" rot="0">
              <a:off x="0" y="0"/>
              <a:ext cx="12278360" cy="6461760"/>
            </a:xfrm>
            <a:custGeom>
              <a:avLst/>
              <a:gdLst/>
              <a:ahLst/>
              <a:cxnLst/>
              <a:rect r="r" b="b" t="t" l="l"/>
              <a:pathLst>
                <a:path h="6461760" w="12278360">
                  <a:moveTo>
                    <a:pt x="0" y="0"/>
                  </a:moveTo>
                  <a:lnTo>
                    <a:pt x="12278360" y="0"/>
                  </a:lnTo>
                  <a:lnTo>
                    <a:pt x="12278360" y="6461760"/>
                  </a:lnTo>
                  <a:lnTo>
                    <a:pt x="0" y="64617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6499860"/>
            </a:xfrm>
            <a:prstGeom prst="rect">
              <a:avLst/>
            </a:prstGeom>
          </p:spPr>
          <p:txBody>
            <a:bodyPr anchor="t" rtlCol="false" tIns="50800" lIns="50800" bIns="50800" rIns="50800"/>
            <a:lstStyle/>
            <a:p>
              <a:pPr algn="l">
                <a:lnSpc>
                  <a:spcPts val="956"/>
                </a:lnSpc>
              </a:pPr>
              <a:r>
                <a:rPr lang="en-US" sz="796">
                  <a:solidFill>
                    <a:srgbClr val="4F81BD"/>
                  </a:solidFill>
                  <a:latin typeface="Calibri (MS)"/>
                  <a:ea typeface="Calibri (MS)"/>
                  <a:cs typeface="Calibri (MS)"/>
                  <a:sym typeface="Calibri (MS)"/>
                </a:rPr>
                <a:t>package ec.edu.monster.clienteescritorio.vista;</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import ec.edu.monster.clienteescritorio.controlador.ControladorConversiones;</a:t>
              </a:r>
            </a:p>
            <a:p>
              <a:pPr algn="l">
                <a:lnSpc>
                  <a:spcPts val="956"/>
                </a:lnSpc>
              </a:pPr>
              <a:r>
                <a:rPr lang="en-US" sz="796">
                  <a:solidFill>
                    <a:srgbClr val="4F81BD"/>
                  </a:solidFill>
                  <a:latin typeface="Calibri (MS)"/>
                  <a:ea typeface="Calibri (MS)"/>
                  <a:cs typeface="Calibri (MS)"/>
                  <a:sym typeface="Calibri (MS)"/>
                </a:rPr>
                <a:t>import ec.edu.monster.clienteescritorio.modelo.RespuestaServicio;</a:t>
              </a:r>
            </a:p>
            <a:p>
              <a:pPr algn="l">
                <a:lnSpc>
                  <a:spcPts val="956"/>
                </a:lnSpc>
              </a:pPr>
              <a:r>
                <a:rPr lang="en-US" sz="796">
                  <a:solidFill>
                    <a:srgbClr val="4F81BD"/>
                  </a:solidFill>
                  <a:latin typeface="Calibri (MS)"/>
                  <a:ea typeface="Calibri (MS)"/>
                  <a:cs typeface="Calibri (MS)"/>
                  <a:sym typeface="Calibri (MS)"/>
                </a:rPr>
                <a:t>import java.awt.BorderLayout;</a:t>
              </a:r>
            </a:p>
            <a:p>
              <a:pPr algn="l">
                <a:lnSpc>
                  <a:spcPts val="956"/>
                </a:lnSpc>
              </a:pPr>
              <a:r>
                <a:rPr lang="en-US" sz="796">
                  <a:solidFill>
                    <a:srgbClr val="4F81BD"/>
                  </a:solidFill>
                  <a:latin typeface="Calibri (MS)"/>
                  <a:ea typeface="Calibri (MS)"/>
                  <a:cs typeface="Calibri (MS)"/>
                  <a:sym typeface="Calibri (MS)"/>
                </a:rPr>
                <a:t>import java.awt.Color;</a:t>
              </a:r>
            </a:p>
            <a:p>
              <a:pPr algn="l">
                <a:lnSpc>
                  <a:spcPts val="956"/>
                </a:lnSpc>
              </a:pPr>
              <a:r>
                <a:rPr lang="en-US" sz="796">
                  <a:solidFill>
                    <a:srgbClr val="4F81BD"/>
                  </a:solidFill>
                  <a:latin typeface="Calibri (MS)"/>
                  <a:ea typeface="Calibri (MS)"/>
                  <a:cs typeface="Calibri (MS)"/>
                  <a:sym typeface="Calibri (MS)"/>
                </a:rPr>
                <a:t>import java.awt.Font;</a:t>
              </a:r>
            </a:p>
            <a:p>
              <a:pPr algn="l">
                <a:lnSpc>
                  <a:spcPts val="956"/>
                </a:lnSpc>
              </a:pPr>
              <a:r>
                <a:rPr lang="en-US" sz="796">
                  <a:solidFill>
                    <a:srgbClr val="4F81BD"/>
                  </a:solidFill>
                  <a:latin typeface="Calibri (MS)"/>
                  <a:ea typeface="Calibri (MS)"/>
                  <a:cs typeface="Calibri (MS)"/>
                  <a:sym typeface="Calibri (MS)"/>
                </a:rPr>
                <a:t>import java.awt.GridBagConstraints;</a:t>
              </a:r>
            </a:p>
            <a:p>
              <a:pPr algn="l">
                <a:lnSpc>
                  <a:spcPts val="956"/>
                </a:lnSpc>
              </a:pPr>
              <a:r>
                <a:rPr lang="en-US" sz="796">
                  <a:solidFill>
                    <a:srgbClr val="4F81BD"/>
                  </a:solidFill>
                  <a:latin typeface="Calibri (MS)"/>
                  <a:ea typeface="Calibri (MS)"/>
                  <a:cs typeface="Calibri (MS)"/>
                  <a:sym typeface="Calibri (MS)"/>
                </a:rPr>
                <a:t>import java.awt.GridBagLayout;</a:t>
              </a:r>
            </a:p>
            <a:p>
              <a:pPr algn="l">
                <a:lnSpc>
                  <a:spcPts val="956"/>
                </a:lnSpc>
              </a:pPr>
              <a:r>
                <a:rPr lang="en-US" sz="796">
                  <a:solidFill>
                    <a:srgbClr val="4F81BD"/>
                  </a:solidFill>
                  <a:latin typeface="Calibri (MS)"/>
                  <a:ea typeface="Calibri (MS)"/>
                  <a:cs typeface="Calibri (MS)"/>
                  <a:sym typeface="Calibri (MS)"/>
                </a:rPr>
                <a:t>import java.awt.Insets;</a:t>
              </a:r>
            </a:p>
            <a:p>
              <a:pPr algn="l">
                <a:lnSpc>
                  <a:spcPts val="956"/>
                </a:lnSpc>
              </a:pPr>
              <a:r>
                <a:rPr lang="en-US" sz="796">
                  <a:solidFill>
                    <a:srgbClr val="4F81BD"/>
                  </a:solidFill>
                  <a:latin typeface="Calibri (MS)"/>
                  <a:ea typeface="Calibri (MS)"/>
                  <a:cs typeface="Calibri (MS)"/>
                  <a:sym typeface="Calibri (MS)"/>
                </a:rPr>
                <a:t>import javax.swing.ImageIcon;</a:t>
              </a:r>
            </a:p>
            <a:p>
              <a:pPr algn="l">
                <a:lnSpc>
                  <a:spcPts val="956"/>
                </a:lnSpc>
              </a:pPr>
              <a:r>
                <a:rPr lang="en-US" sz="796">
                  <a:solidFill>
                    <a:srgbClr val="4F81BD"/>
                  </a:solidFill>
                  <a:latin typeface="Calibri (MS)"/>
                  <a:ea typeface="Calibri (MS)"/>
                  <a:cs typeface="Calibri (MS)"/>
                  <a:sym typeface="Calibri (MS)"/>
                </a:rPr>
                <a:t>import javax.swing.JFrame;</a:t>
              </a:r>
            </a:p>
            <a:p>
              <a:pPr algn="l">
                <a:lnSpc>
                  <a:spcPts val="956"/>
                </a:lnSpc>
              </a:pPr>
              <a:r>
                <a:rPr lang="en-US" sz="796">
                  <a:solidFill>
                    <a:srgbClr val="4F81BD"/>
                  </a:solidFill>
                  <a:latin typeface="Calibri (MS)"/>
                  <a:ea typeface="Calibri (MS)"/>
                  <a:cs typeface="Calibri (MS)"/>
                  <a:sym typeface="Calibri (MS)"/>
                </a:rPr>
                <a:t>import javax.swing.JLabel;</a:t>
              </a:r>
            </a:p>
            <a:p>
              <a:pPr algn="l">
                <a:lnSpc>
                  <a:spcPts val="956"/>
                </a:lnSpc>
              </a:pPr>
              <a:r>
                <a:rPr lang="en-US" sz="796">
                  <a:solidFill>
                    <a:srgbClr val="4F81BD"/>
                  </a:solidFill>
                  <a:latin typeface="Calibri (MS)"/>
                  <a:ea typeface="Calibri (MS)"/>
                  <a:cs typeface="Calibri (MS)"/>
                  <a:sym typeface="Calibri (MS)"/>
                </a:rPr>
                <a:t>import javax.swing.JPanel;</a:t>
              </a:r>
            </a:p>
            <a:p>
              <a:pPr algn="l">
                <a:lnSpc>
                  <a:spcPts val="956"/>
                </a:lnSpc>
              </a:pPr>
              <a:r>
                <a:rPr lang="en-US" sz="796">
                  <a:solidFill>
                    <a:srgbClr val="4F81BD"/>
                  </a:solidFill>
                  <a:latin typeface="Calibri (MS)"/>
                  <a:ea typeface="Calibri (MS)"/>
                  <a:cs typeface="Calibri (MS)"/>
                  <a:sym typeface="Calibri (MS)"/>
                </a:rPr>
                <a:t>import javax.swing.JPasswordField;</a:t>
              </a:r>
            </a:p>
            <a:p>
              <a:pPr algn="l">
                <a:lnSpc>
                  <a:spcPts val="956"/>
                </a:lnSpc>
              </a:pPr>
              <a:r>
                <a:rPr lang="en-US" sz="796">
                  <a:solidFill>
                    <a:srgbClr val="4F81BD"/>
                  </a:solidFill>
                  <a:latin typeface="Calibri (MS)"/>
                  <a:ea typeface="Calibri (MS)"/>
                  <a:cs typeface="Calibri (MS)"/>
                  <a:sym typeface="Calibri (MS)"/>
                </a:rPr>
                <a:t>import javax.swing.JTextField;</a:t>
              </a:r>
            </a:p>
            <a:p>
              <a:pPr algn="l">
                <a:lnSpc>
                  <a:spcPts val="956"/>
                </a:lnSpc>
              </a:pPr>
              <a:r>
                <a:rPr lang="en-US" sz="796">
                  <a:solidFill>
                    <a:srgbClr val="4F81BD"/>
                  </a:solidFill>
                  <a:latin typeface="Calibri (MS)"/>
                  <a:ea typeface="Calibri (MS)"/>
                  <a:cs typeface="Calibri (MS)"/>
                  <a:sym typeface="Calibri (MS)"/>
                </a:rPr>
                <a:t>import javax.swing.SwingConstants;</a:t>
              </a:r>
            </a:p>
            <a:p>
              <a:pPr algn="l">
                <a:lnSpc>
                  <a:spcPts val="956"/>
                </a:lnSpc>
              </a:pPr>
              <a:r>
                <a:rPr lang="en-US" sz="796">
                  <a:solidFill>
                    <a:srgbClr val="4F81BD"/>
                  </a:solidFill>
                  <a:latin typeface="Calibri (MS)"/>
                  <a:ea typeface="Calibri (MS)"/>
                  <a:cs typeface="Calibri (MS)"/>
                  <a:sym typeface="Calibri (MS)"/>
                </a:rPr>
                <a:t>import javax.swing.SwingWorker;</a:t>
              </a:r>
            </a:p>
            <a:p>
              <a:pPr algn="l">
                <a:lnSpc>
                  <a:spcPts val="956"/>
                </a:lnSpc>
              </a:pPr>
              <a:r>
                <a:rPr lang="en-US" sz="796">
                  <a:solidFill>
                    <a:srgbClr val="4F81BD"/>
                  </a:solidFill>
                  <a:latin typeface="Calibri (MS)"/>
                  <a:ea typeface="Calibri (MS)"/>
                  <a:cs typeface="Calibri (MS)"/>
                  <a:sym typeface="Calibri (MS)"/>
                </a:rPr>
                <a:t>import javax.swing.WindowConstants;</a:t>
              </a:r>
            </a:p>
            <a:p>
              <a:pPr algn="l">
                <a:lnSpc>
                  <a:spcPts val="956"/>
                </a:lnSpc>
              </a:pPr>
              <a:r>
                <a:rPr lang="en-US" sz="796">
                  <a:solidFill>
                    <a:srgbClr val="4F81BD"/>
                  </a:solidFill>
                  <a:latin typeface="Calibri (MS)"/>
                  <a:ea typeface="Calibri (MS)"/>
                  <a:cs typeface="Calibri (MS)"/>
                  <a:sym typeface="Calibri (MS)"/>
                </a:rPr>
                <a:t>import javax.swing.border.EmptyBorder;</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Ventana de inicio de sesion (CU-01). */</a:t>
              </a:r>
            </a:p>
            <a:p>
              <a:pPr algn="l">
                <a:lnSpc>
                  <a:spcPts val="956"/>
                </a:lnSpc>
              </a:pPr>
              <a:r>
                <a:rPr lang="en-US" sz="796">
                  <a:solidFill>
                    <a:srgbClr val="4F81BD"/>
                  </a:solidFill>
                  <a:latin typeface="Calibri (MS)"/>
                  <a:ea typeface="Calibri (MS)"/>
                  <a:cs typeface="Calibri (MS)"/>
                  <a:sym typeface="Calibri (MS)"/>
                </a:rPr>
                <a:t>public class LoginFrame extends JFrame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private final JTextField txtUsuario = new JTextField(26);</a:t>
              </a:r>
            </a:p>
            <a:p>
              <a:pPr algn="l">
                <a:lnSpc>
                  <a:spcPts val="956"/>
                </a:lnSpc>
              </a:pPr>
              <a:r>
                <a:rPr lang="en-US" sz="796">
                  <a:solidFill>
                    <a:srgbClr val="4F81BD"/>
                  </a:solidFill>
                  <a:latin typeface="Calibri (MS)"/>
                  <a:ea typeface="Calibri (MS)"/>
                  <a:cs typeface="Calibri (MS)"/>
                  <a:sym typeface="Calibri (MS)"/>
                </a:rPr>
                <a:t>    private final JPasswordField txtClave = new JPasswordField(26);</a:t>
              </a:r>
            </a:p>
            <a:p>
              <a:pPr algn="l">
                <a:lnSpc>
                  <a:spcPts val="956"/>
                </a:lnSpc>
              </a:pPr>
              <a:r>
                <a:rPr lang="en-US" sz="796">
                  <a:solidFill>
                    <a:srgbClr val="4F81BD"/>
                  </a:solidFill>
                  <a:latin typeface="Calibri (MS)"/>
                  <a:ea typeface="Calibri (MS)"/>
                  <a:cs typeface="Calibri (MS)"/>
                  <a:sym typeface="Calibri (MS)"/>
                </a:rPr>
                <a:t>    private final JTextField txtServidor = new JTextField(ControladorConversiones.urlPorDefecto(), 26);</a:t>
              </a:r>
            </a:p>
            <a:p>
              <a:pPr algn="l">
                <a:lnSpc>
                  <a:spcPts val="956"/>
                </a:lnSpc>
              </a:pPr>
              <a:r>
                <a:rPr lang="en-US" sz="796">
                  <a:solidFill>
                    <a:srgbClr val="4F81BD"/>
                  </a:solidFill>
                  <a:latin typeface="Calibri (MS)"/>
                  <a:ea typeface="Calibri (MS)"/>
                  <a:cs typeface="Calibri (MS)"/>
                  <a:sym typeface="Calibri (MS)"/>
                </a:rPr>
                <a:t>    private final JLabel lblEstado = new JLabel(" ", SwingConstants.CENTER);</a:t>
              </a:r>
            </a:p>
            <a:p>
              <a:pPr algn="l">
                <a:lnSpc>
                  <a:spcPts val="956"/>
                </a:lnSpc>
              </a:pPr>
              <a:r>
                <a:rPr lang="en-US" sz="796">
                  <a:solidFill>
                    <a:srgbClr val="4F81BD"/>
                  </a:solidFill>
                  <a:latin typeface="Calibri (MS)"/>
                  <a:ea typeface="Calibri (MS)"/>
                  <a:cs typeface="Calibri (MS)"/>
                  <a:sym typeface="Calibri (MS)"/>
                </a:rPr>
                <a:t>    private final javax.swing.JButton btnIngresar = Estilo.boton("Iniciar sesión");</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public LoginFrame() {</a:t>
              </a:r>
            </a:p>
            <a:p>
              <a:pPr algn="l">
                <a:lnSpc>
                  <a:spcPts val="956"/>
                </a:lnSpc>
              </a:pPr>
              <a:r>
                <a:rPr lang="en-US" sz="796">
                  <a:solidFill>
                    <a:srgbClr val="4F81BD"/>
                  </a:solidFill>
                  <a:latin typeface="Calibri (MS)"/>
                  <a:ea typeface="Calibri (MS)"/>
                  <a:cs typeface="Calibri (MS)"/>
                  <a:sym typeface="Calibri (MS)"/>
                </a:rPr>
                <a:t>        super("Conversión de Unidades Monster - Iniciar sesión");</a:t>
              </a:r>
            </a:p>
            <a:p>
              <a:pPr algn="l">
                <a:lnSpc>
                  <a:spcPts val="956"/>
                </a:lnSpc>
              </a:pPr>
              <a:r>
                <a:rPr lang="en-US" sz="796">
                  <a:solidFill>
                    <a:srgbClr val="4F81BD"/>
                  </a:solidFill>
                  <a:latin typeface="Calibri (MS)"/>
                  <a:ea typeface="Calibri (MS)"/>
                  <a:cs typeface="Calibri (MS)"/>
                  <a:sym typeface="Calibri (MS)"/>
                </a:rPr>
                <a:t>        setDefaultCloseOperation(WindowConstants.EXIT_ON_CLOSE);</a:t>
              </a:r>
            </a:p>
            <a:p>
              <a:pPr algn="l">
                <a:lnSpc>
                  <a:spcPts val="956"/>
                </a:lnSpc>
              </a:pPr>
              <a:r>
                <a:rPr lang="en-US" sz="796">
                  <a:solidFill>
                    <a:srgbClr val="4F81BD"/>
                  </a:solidFill>
                  <a:latin typeface="Calibri (MS)"/>
                  <a:ea typeface="Calibri (MS)"/>
                  <a:cs typeface="Calibri (MS)"/>
                  <a:sym typeface="Calibri (MS)"/>
                </a:rPr>
                <a:t>        JPanel fondo = new JPanel(new BorderLayout());</a:t>
              </a:r>
            </a:p>
            <a:p>
              <a:pPr algn="l">
                <a:lnSpc>
                  <a:spcPts val="956"/>
                </a:lnSpc>
              </a:pPr>
              <a:r>
                <a:rPr lang="en-US" sz="796">
                  <a:solidFill>
                    <a:srgbClr val="4F81BD"/>
                  </a:solidFill>
                  <a:latin typeface="Calibri (MS)"/>
                  <a:ea typeface="Calibri (MS)"/>
                  <a:cs typeface="Calibri (MS)"/>
                  <a:sym typeface="Calibri (MS)"/>
                </a:rPr>
                <a:t>        fondo.setBackground(Estilo.FONDO);</a:t>
              </a:r>
            </a:p>
            <a:p>
              <a:pPr algn="l">
                <a:lnSpc>
                  <a:spcPts val="956"/>
                </a:lnSpc>
              </a:pPr>
              <a:r>
                <a:rPr lang="en-US" sz="796">
                  <a:solidFill>
                    <a:srgbClr val="4F81BD"/>
                  </a:solidFill>
                  <a:latin typeface="Calibri (MS)"/>
                  <a:ea typeface="Calibri (MS)"/>
                  <a:cs typeface="Calibri (MS)"/>
                  <a:sym typeface="Calibri (MS)"/>
                </a:rPr>
                <a:t>        fondo.setBorder(new EmptyBorder(16, 20, 16, 20));</a:t>
              </a:r>
            </a:p>
            <a:p>
              <a:pPr algn="l">
                <a:lnSpc>
                  <a:spcPts val="956"/>
                </a:lnSpc>
              </a:pPr>
              <a:r>
                <a:rPr lang="en-US" sz="796">
                  <a:solidFill>
                    <a:srgbClr val="4F81BD"/>
                  </a:solidFill>
                  <a:latin typeface="Calibri (MS)"/>
                  <a:ea typeface="Calibri (MS)"/>
                  <a:cs typeface="Calibri (MS)"/>
                  <a:sym typeface="Calibri (MS)"/>
                </a:rPr>
                <a:t>        JPanel raiz = Estilo.tarjeta(new BorderLayout(0, 10));</a:t>
              </a:r>
            </a:p>
            <a:p>
              <a:pPr algn="l">
                <a:lnSpc>
                  <a:spcPts val="956"/>
                </a:lnSpc>
              </a:pPr>
              <a:r>
                <a:rPr lang="en-US" sz="796">
                  <a:solidFill>
                    <a:srgbClr val="4F81BD"/>
                  </a:solidFill>
                  <a:latin typeface="Calibri (MS)"/>
                  <a:ea typeface="Calibri (MS)"/>
                  <a:cs typeface="Calibri (MS)"/>
                  <a:sym typeface="Calibri (MS)"/>
                </a:rPr>
                <a:t>        fondo.add(raiz, BorderLayout.CENTER);</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 Encabezado: imagen y titulo</a:t>
              </a:r>
            </a:p>
            <a:p>
              <a:pPr algn="l">
                <a:lnSpc>
                  <a:spcPts val="956"/>
                </a:lnSpc>
              </a:pPr>
              <a:r>
                <a:rPr lang="en-US" sz="796">
                  <a:solidFill>
                    <a:srgbClr val="4F81BD"/>
                  </a:solidFill>
                  <a:latin typeface="Calibri (MS)"/>
                  <a:ea typeface="Calibri (MS)"/>
                  <a:cs typeface="Calibri (MS)"/>
                  <a:sym typeface="Calibri (MS)"/>
                </a:rPr>
                <a:t>        JPanel cabecera = new JPanel(new BorderLayout(0, 6));</a:t>
              </a:r>
            </a:p>
            <a:p>
              <a:pPr algn="l">
                <a:lnSpc>
                  <a:spcPts val="956"/>
                </a:lnSpc>
              </a:pPr>
              <a:r>
                <a:rPr lang="en-US" sz="796">
                  <a:solidFill>
                    <a:srgbClr val="4F81BD"/>
                  </a:solidFill>
                  <a:latin typeface="Calibri (MS)"/>
                  <a:ea typeface="Calibri (MS)"/>
                  <a:cs typeface="Calibri (MS)"/>
                  <a:sym typeface="Calibri (MS)"/>
                </a:rPr>
                <a:t>        cabecera.setOpaque(false);</a:t>
              </a:r>
            </a:p>
            <a:p>
              <a:pPr algn="l">
                <a:lnSpc>
                  <a:spcPts val="956"/>
                </a:lnSpc>
              </a:pPr>
              <a:r>
                <a:rPr lang="en-US" sz="796">
                  <a:solidFill>
                    <a:srgbClr val="4F81BD"/>
                  </a:solidFill>
                  <a:latin typeface="Calibri (MS)"/>
                  <a:ea typeface="Calibri (MS)"/>
                  <a:cs typeface="Calibri (MS)"/>
                  <a:sym typeface="Calibri (MS)"/>
                </a:rPr>
                <a:t>        ImageIcon icono = Estilo.banner(400);</a:t>
              </a:r>
            </a:p>
            <a:p>
              <a:pPr algn="l">
                <a:lnSpc>
                  <a:spcPts val="956"/>
                </a:lnSpc>
              </a:pPr>
              <a:r>
                <a:rPr lang="en-US" sz="796">
                  <a:solidFill>
                    <a:srgbClr val="4F81BD"/>
                  </a:solidFill>
                  <a:latin typeface="Calibri (MS)"/>
                  <a:ea typeface="Calibri (MS)"/>
                  <a:cs typeface="Calibri (MS)"/>
                  <a:sym typeface="Calibri (MS)"/>
                </a:rPr>
                <a:t>        if (icono != null) {</a:t>
              </a:r>
            </a:p>
            <a:p>
              <a:pPr algn="l">
                <a:lnSpc>
                  <a:spcPts val="956"/>
                </a:lnSpc>
              </a:pPr>
              <a:r>
                <a:rPr lang="en-US" sz="796">
                  <a:solidFill>
                    <a:srgbClr val="4F81BD"/>
                  </a:solidFill>
                  <a:latin typeface="Calibri (MS)"/>
                  <a:ea typeface="Calibri (MS)"/>
                  <a:cs typeface="Calibri (MS)"/>
                  <a:sym typeface="Calibri (MS)"/>
                </a:rPr>
                <a:t>            cabecera.add(new JLabel(icono), BorderLayout.NORTH);</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JPanel titulos = new JPanel(new BorderLayout(0, 2));</a:t>
              </a:r>
            </a:p>
            <a:p>
              <a:pPr algn="l">
                <a:lnSpc>
                  <a:spcPts val="956"/>
                </a:lnSpc>
              </a:pPr>
              <a:r>
                <a:rPr lang="en-US" sz="796">
                  <a:solidFill>
                    <a:srgbClr val="4F81BD"/>
                  </a:solidFill>
                  <a:latin typeface="Calibri (MS)"/>
                  <a:ea typeface="Calibri (MS)"/>
                  <a:cs typeface="Calibri (MS)"/>
                  <a:sym typeface="Calibri (MS)"/>
                </a:rPr>
                <a:t>        titulos.setOpaque(false);</a:t>
              </a:r>
            </a:p>
            <a:p>
              <a:pPr algn="l">
                <a:lnSpc>
                  <a:spcPts val="956"/>
                </a:lnSpc>
              </a:pPr>
              <a:r>
                <a:rPr lang="en-US" sz="796">
                  <a:solidFill>
                    <a:srgbClr val="4F81BD"/>
                  </a:solidFill>
                  <a:latin typeface="Calibri (MS)"/>
                  <a:ea typeface="Calibri (MS)"/>
                  <a:cs typeface="Calibri (MS)"/>
                  <a:sym typeface="Calibri (MS)"/>
                </a:rPr>
                <a:t>        titulos.add(Estilo.titulo("Conversión de Unidades Monster"), BorderLayout.NORTH);</a:t>
              </a:r>
            </a:p>
            <a:p>
              <a:pPr algn="l">
                <a:lnSpc>
                  <a:spcPts val="956"/>
                </a:lnSpc>
              </a:pPr>
              <a:r>
                <a:rPr lang="en-US" sz="796">
                  <a:solidFill>
                    <a:srgbClr val="4F81BD"/>
                  </a:solidFill>
                  <a:latin typeface="Calibri (MS)"/>
                  <a:ea typeface="Calibri (MS)"/>
                  <a:cs typeface="Calibri (MS)"/>
                  <a:sym typeface="Calibri (MS)"/>
                </a:rPr>
                <a:t>        titulos.add(Estilo.subtitulo("Longitud · Masa · Temperatura"), BorderLayout.CENTER);</a:t>
              </a:r>
            </a:p>
            <a:p>
              <a:pPr algn="l">
                <a:lnSpc>
                  <a:spcPts val="956"/>
                </a:lnSpc>
              </a:pPr>
              <a:r>
                <a:rPr lang="en-US" sz="796">
                  <a:solidFill>
                    <a:srgbClr val="4F81BD"/>
                  </a:solidFill>
                  <a:latin typeface="Calibri (MS)"/>
                  <a:ea typeface="Calibri (MS)"/>
                  <a:cs typeface="Calibri (MS)"/>
                  <a:sym typeface="Calibri (MS)"/>
                </a:rPr>
                <a:t>        cabecera.add(titulos, BorderLayout.CENTER);</a:t>
              </a:r>
            </a:p>
            <a:p>
              <a:pPr algn="l">
                <a:lnSpc>
                  <a:spcPts val="956"/>
                </a:lnSpc>
              </a:pPr>
              <a:r>
                <a:rPr lang="en-US" sz="796">
                  <a:solidFill>
                    <a:srgbClr val="4F81BD"/>
                  </a:solidFill>
                  <a:latin typeface="Calibri (MS)"/>
                  <a:ea typeface="Calibri (MS)"/>
                  <a:cs typeface="Calibri (MS)"/>
                  <a:sym typeface="Calibri (MS)"/>
                </a:rPr>
                <a:t>        raiz.add(cabecera, BorderLayout.NORTH);</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 Formulario</a:t>
              </a:r>
            </a:p>
            <a:p>
              <a:pPr algn="l">
                <a:lnSpc>
                  <a:spcPts val="956"/>
                </a:lnSpc>
              </a:pPr>
              <a:r>
                <a:rPr lang="en-US" sz="796">
                  <a:solidFill>
                    <a:srgbClr val="4F81BD"/>
                  </a:solidFill>
                  <a:latin typeface="Calibri (MS)"/>
                  <a:ea typeface="Calibri (MS)"/>
                  <a:cs typeface="Calibri (MS)"/>
                  <a:sym typeface="Calibri (MS)"/>
                </a:rPr>
                <a:t>        JPanel form = new JPanel(new GridBagLayout());</a:t>
              </a:r>
            </a:p>
            <a:p>
              <a:pPr algn="l">
                <a:lnSpc>
                  <a:spcPts val="956"/>
                </a:lnSpc>
              </a:pPr>
              <a:r>
                <a:rPr lang="en-US" sz="796">
                  <a:solidFill>
                    <a:srgbClr val="4F81BD"/>
                  </a:solidFill>
                  <a:latin typeface="Calibri (MS)"/>
                  <a:ea typeface="Calibri (MS)"/>
                  <a:cs typeface="Calibri (MS)"/>
                  <a:sym typeface="Calibri (MS)"/>
                </a:rPr>
                <a:t>        form.setOpaque(false);</a:t>
              </a:r>
            </a:p>
            <a:p>
              <a:pPr algn="l">
                <a:lnSpc>
                  <a:spcPts val="956"/>
                </a:lnSpc>
              </a:pPr>
              <a:r>
                <a:rPr lang="en-US" sz="796">
                  <a:solidFill>
                    <a:srgbClr val="4F81BD"/>
                  </a:solidFill>
                  <a:latin typeface="Calibri (MS)"/>
                  <a:ea typeface="Calibri (MS)"/>
                  <a:cs typeface="Calibri (MS)"/>
                  <a:sym typeface="Calibri (MS)"/>
                </a:rPr>
                <a:t>        GridBagConstraints c = new GridBagConstraints();</a:t>
              </a:r>
            </a:p>
            <a:p>
              <a:pPr algn="l">
                <a:lnSpc>
                  <a:spcPts val="956"/>
                </a:lnSpc>
              </a:pPr>
              <a:r>
                <a:rPr lang="en-US" sz="796">
                  <a:solidFill>
                    <a:srgbClr val="4F81BD"/>
                  </a:solidFill>
                  <a:latin typeface="Calibri (MS)"/>
                  <a:ea typeface="Calibri (MS)"/>
                  <a:cs typeface="Calibri (MS)"/>
                  <a:sym typeface="Calibri (MS)"/>
                </a:rPr>
                <a:t>        c.insets = new Insets(5, 4, 5, 4);</a:t>
              </a:r>
            </a:p>
            <a:p>
              <a:pPr algn="l">
                <a:lnSpc>
                  <a:spcPts val="956"/>
                </a:lnSpc>
              </a:pPr>
              <a:r>
                <a:rPr lang="en-US" sz="796">
                  <a:solidFill>
                    <a:srgbClr val="4F81BD"/>
                  </a:solidFill>
                  <a:latin typeface="Calibri (MS)"/>
                  <a:ea typeface="Calibri (MS)"/>
                  <a:cs typeface="Calibri (MS)"/>
                  <a:sym typeface="Calibri (MS)"/>
                </a:rPr>
                <a:t>        c.anchor = GridBagConstraints.WEST;</a:t>
              </a:r>
            </a:p>
            <a:p>
              <a:pPr algn="l">
                <a:lnSpc>
                  <a:spcPts val="956"/>
                </a:lnSpc>
              </a:pPr>
              <a:r>
                <a:rPr lang="en-US" sz="796">
                  <a:solidFill>
                    <a:srgbClr val="4F81BD"/>
                  </a:solidFill>
                  <a:latin typeface="Calibri (MS)"/>
                  <a:ea typeface="Calibri (MS)"/>
                  <a:cs typeface="Calibri (MS)"/>
                  <a:sym typeface="Calibri (MS)"/>
                </a:rPr>
                <a:t>        agregar(form, c, 0, "Usuario", txtUsuario);</a:t>
              </a:r>
            </a:p>
            <a:p>
              <a:pPr algn="l">
                <a:lnSpc>
                  <a:spcPts val="956"/>
                </a:lnSpc>
              </a:pPr>
              <a:r>
                <a:rPr lang="en-US" sz="796">
                  <a:solidFill>
                    <a:srgbClr val="4F81BD"/>
                  </a:solidFill>
                  <a:latin typeface="Calibri (MS)"/>
                  <a:ea typeface="Calibri (MS)"/>
                  <a:cs typeface="Calibri (MS)"/>
                  <a:sym typeface="Calibri (MS)"/>
                </a:rPr>
                <a:t>        agregar(form, c, 1, "Clave", txtClave);</a:t>
              </a:r>
            </a:p>
            <a:p>
              <a:pPr algn="l">
                <a:lnSpc>
                  <a:spcPts val="956"/>
                </a:lnSpc>
              </a:pPr>
              <a:r>
                <a:rPr lang="en-US" sz="796">
                  <a:solidFill>
                    <a:srgbClr val="4F81BD"/>
                  </a:solidFill>
                  <a:latin typeface="Calibri (MS)"/>
                  <a:ea typeface="Calibri (MS)"/>
                  <a:cs typeface="Calibri (MS)"/>
                  <a:sym typeface="Calibri (MS)"/>
                </a:rPr>
                <a:t>        final JLabel lblServidor = Estilo.etiqueta("");</a:t>
              </a:r>
            </a:p>
            <a:p>
              <a:pPr algn="l">
                <a:lnSpc>
                  <a:spcPts val="956"/>
                </a:lnSpc>
              </a:pPr>
              <a:r>
                <a:rPr lang="en-US" sz="796">
                  <a:solidFill>
                    <a:srgbClr val="4F81BD"/>
                  </a:solidFill>
                  <a:latin typeface="Calibri (MS)"/>
                  <a:ea typeface="Calibri (MS)"/>
                  <a:cs typeface="Calibri (MS)"/>
                  <a:sym typeface="Calibri (MS)"/>
                </a:rPr>
                <a:t>        lblServidor.setToolTipText("Servidor");</a:t>
              </a:r>
            </a:p>
            <a:p>
              <a:pPr algn="l">
                <a:lnSpc>
                  <a:spcPts val="956"/>
                </a:lnSpc>
              </a:pPr>
              <a:r>
                <a:rPr lang="en-US" sz="796">
                  <a:solidFill>
                    <a:srgbClr val="4F81BD"/>
                  </a:solidFill>
                  <a:latin typeface="Calibri (MS)"/>
                  <a:ea typeface="Calibri (MS)"/>
                  <a:cs typeface="Calibri (MS)"/>
                  <a:sym typeface="Calibri (MS)"/>
                </a:rPr>
                <a:t>        lblServidor.setIcon(new Flecha(false));</a:t>
              </a:r>
            </a:p>
          </p:txBody>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956"/>
                </a:lnSpc>
              </a:pPr>
              <a:r>
                <a:rPr lang="en-US" sz="796">
                  <a:solidFill>
                    <a:srgbClr val="4F81BD"/>
                  </a:solidFill>
                  <a:latin typeface="Calibri (MS)"/>
                  <a:ea typeface="Calibri (MS)"/>
                  <a:cs typeface="Calibri (MS)"/>
                  <a:sym typeface="Calibri (MS)"/>
                </a:rPr>
                <a:t>        lblServidor.setIconTextGap(6);</a:t>
              </a:r>
            </a:p>
            <a:p>
              <a:pPr algn="l">
                <a:lnSpc>
                  <a:spcPts val="956"/>
                </a:lnSpc>
              </a:pPr>
              <a:r>
                <a:rPr lang="en-US" sz="796">
                  <a:solidFill>
                    <a:srgbClr val="4F81BD"/>
                  </a:solidFill>
                  <a:latin typeface="Calibri (MS)"/>
                  <a:ea typeface="Calibri (MS)"/>
                  <a:cs typeface="Calibri (MS)"/>
                  <a:sym typeface="Calibri (MS)"/>
                </a:rPr>
                <a:t>        lblServidor.setCursor(java.awt.Cursor.getPredefinedCursor(java.awt.Cursor.HAND_CURSOR));</a:t>
              </a:r>
            </a:p>
            <a:p>
              <a:pPr algn="l">
                <a:lnSpc>
                  <a:spcPts val="956"/>
                </a:lnSpc>
              </a:pPr>
              <a:r>
                <a:rPr lang="en-US" sz="796">
                  <a:solidFill>
                    <a:srgbClr val="4F81BD"/>
                  </a:solidFill>
                  <a:latin typeface="Calibri (MS)"/>
                  <a:ea typeface="Calibri (MS)"/>
                  <a:cs typeface="Calibri (MS)"/>
                  <a:sym typeface="Calibri (MS)"/>
                </a:rPr>
                <a:t>        txtServidor.setVisible(false);</a:t>
              </a:r>
            </a:p>
            <a:p>
              <a:pPr algn="l">
                <a:lnSpc>
                  <a:spcPts val="956"/>
                </a:lnSpc>
              </a:pPr>
              <a:r>
                <a:rPr lang="en-US" sz="796">
                  <a:solidFill>
                    <a:srgbClr val="4F81BD"/>
                  </a:solidFill>
                  <a:latin typeface="Calibri (MS)"/>
                  <a:ea typeface="Calibri (MS)"/>
                  <a:cs typeface="Calibri (MS)"/>
                  <a:sym typeface="Calibri (MS)"/>
                </a:rPr>
                <a:t>        lblServidor.addMouseListener(new java.awt.event.MouseAdapter() {</a:t>
              </a:r>
            </a:p>
            <a:p>
              <a:pPr algn="l">
                <a:lnSpc>
                  <a:spcPts val="956"/>
                </a:lnSpc>
              </a:pPr>
              <a:r>
                <a:rPr lang="en-US" sz="796">
                  <a:solidFill>
                    <a:srgbClr val="4F81BD"/>
                  </a:solidFill>
                  <a:latin typeface="Calibri (MS)"/>
                  <a:ea typeface="Calibri (MS)"/>
                  <a:cs typeface="Calibri (MS)"/>
                  <a:sym typeface="Calibri (MS)"/>
                </a:rPr>
                <a:t>            @Override</a:t>
              </a:r>
            </a:p>
            <a:p>
              <a:pPr algn="l">
                <a:lnSpc>
                  <a:spcPts val="956"/>
                </a:lnSpc>
              </a:pPr>
              <a:r>
                <a:rPr lang="en-US" sz="796">
                  <a:solidFill>
                    <a:srgbClr val="4F81BD"/>
                  </a:solidFill>
                  <a:latin typeface="Calibri (MS)"/>
                  <a:ea typeface="Calibri (MS)"/>
                  <a:cs typeface="Calibri (MS)"/>
                  <a:sym typeface="Calibri (MS)"/>
                </a:rPr>
                <a:t>            public void mouseClicked(java.awt.event.MouseEvent e) {</a:t>
              </a:r>
            </a:p>
            <a:p>
              <a:pPr algn="l">
                <a:lnSpc>
                  <a:spcPts val="956"/>
                </a:lnSpc>
              </a:pPr>
              <a:r>
                <a:rPr lang="en-US" sz="796">
                  <a:solidFill>
                    <a:srgbClr val="4F81BD"/>
                  </a:solidFill>
                  <a:latin typeface="Calibri (MS)"/>
                  <a:ea typeface="Calibri (MS)"/>
                  <a:cs typeface="Calibri (MS)"/>
                  <a:sym typeface="Calibri (MS)"/>
                </a:rPr>
                <a:t>                boolean mostrar = !txtServidor.isVisible();</a:t>
              </a:r>
            </a:p>
            <a:p>
              <a:pPr algn="l">
                <a:lnSpc>
                  <a:spcPts val="956"/>
                </a:lnSpc>
              </a:pPr>
              <a:r>
                <a:rPr lang="en-US" sz="796">
                  <a:solidFill>
                    <a:srgbClr val="4F81BD"/>
                  </a:solidFill>
                  <a:latin typeface="Calibri (MS)"/>
                  <a:ea typeface="Calibri (MS)"/>
                  <a:cs typeface="Calibri (MS)"/>
                  <a:sym typeface="Calibri (MS)"/>
                </a:rPr>
                <a:t>                txtServidor.setVisible(mostrar);</a:t>
              </a:r>
            </a:p>
            <a:p>
              <a:pPr algn="l">
                <a:lnSpc>
                  <a:spcPts val="956"/>
                </a:lnSpc>
              </a:pPr>
              <a:r>
                <a:rPr lang="en-US" sz="796">
                  <a:solidFill>
                    <a:srgbClr val="4F81BD"/>
                  </a:solidFill>
                  <a:latin typeface="Calibri (MS)"/>
                  <a:ea typeface="Calibri (MS)"/>
                  <a:cs typeface="Calibri (MS)"/>
                  <a:sym typeface="Calibri (MS)"/>
                </a:rPr>
                <a:t>                lblServidor.setIcon(new Flecha(mostrar));</a:t>
              </a:r>
            </a:p>
            <a:p>
              <a:pPr algn="l">
                <a:lnSpc>
                  <a:spcPts val="956"/>
                </a:lnSpc>
              </a:pPr>
              <a:r>
                <a:rPr lang="en-US" sz="796">
                  <a:solidFill>
                    <a:srgbClr val="4F81BD"/>
                  </a:solidFill>
                  <a:latin typeface="Calibri (MS)"/>
                  <a:ea typeface="Calibri (MS)"/>
                  <a:cs typeface="Calibri (MS)"/>
                  <a:sym typeface="Calibri (MS)"/>
                </a:rPr>
                <a:t>                lblServidor.setText(mostrar ? "Servidor" : "");</a:t>
              </a:r>
            </a:p>
            <a:p>
              <a:pPr algn="l">
                <a:lnSpc>
                  <a:spcPts val="956"/>
                </a:lnSpc>
              </a:pPr>
              <a:r>
                <a:rPr lang="en-US" sz="796">
                  <a:solidFill>
                    <a:srgbClr val="4F81BD"/>
                  </a:solidFill>
                  <a:latin typeface="Calibri (MS)"/>
                  <a:ea typeface="Calibri (MS)"/>
                  <a:cs typeface="Calibri (MS)"/>
                  <a:sym typeface="Calibri (MS)"/>
                </a:rPr>
                <a:t>                LoginFrame.this.pack();</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c.gridx = 0;</a:t>
              </a:r>
            </a:p>
            <a:p>
              <a:pPr algn="l">
                <a:lnSpc>
                  <a:spcPts val="956"/>
                </a:lnSpc>
              </a:pPr>
              <a:r>
                <a:rPr lang="en-US" sz="796">
                  <a:solidFill>
                    <a:srgbClr val="4F81BD"/>
                  </a:solidFill>
                  <a:latin typeface="Calibri (MS)"/>
                  <a:ea typeface="Calibri (MS)"/>
                  <a:cs typeface="Calibri (MS)"/>
                  <a:sym typeface="Calibri (MS)"/>
                </a:rPr>
                <a:t>        c.gridy = 2;</a:t>
              </a:r>
            </a:p>
            <a:p>
              <a:pPr algn="l">
                <a:lnSpc>
                  <a:spcPts val="956"/>
                </a:lnSpc>
              </a:pPr>
              <a:r>
                <a:rPr lang="en-US" sz="796">
                  <a:solidFill>
                    <a:srgbClr val="4F81BD"/>
                  </a:solidFill>
                  <a:latin typeface="Calibri (MS)"/>
                  <a:ea typeface="Calibri (MS)"/>
                  <a:cs typeface="Calibri (MS)"/>
                  <a:sym typeface="Calibri (MS)"/>
                </a:rPr>
                <a:t>        form.add(lblServidor, c);</a:t>
              </a:r>
            </a:p>
            <a:p>
              <a:pPr algn="l">
                <a:lnSpc>
                  <a:spcPts val="956"/>
                </a:lnSpc>
              </a:pPr>
              <a:r>
                <a:rPr lang="en-US" sz="796">
                  <a:solidFill>
                    <a:srgbClr val="4F81BD"/>
                  </a:solidFill>
                  <a:latin typeface="Calibri (MS)"/>
                  <a:ea typeface="Calibri (MS)"/>
                  <a:cs typeface="Calibri (MS)"/>
                  <a:sym typeface="Calibri (MS)"/>
                </a:rPr>
                <a:t>        c.gridx = 1;</a:t>
              </a:r>
            </a:p>
            <a:p>
              <a:pPr algn="l">
                <a:lnSpc>
                  <a:spcPts val="956"/>
                </a:lnSpc>
              </a:pPr>
              <a:r>
                <a:rPr lang="en-US" sz="796">
                  <a:solidFill>
                    <a:srgbClr val="4F81BD"/>
                  </a:solidFill>
                  <a:latin typeface="Calibri (MS)"/>
                  <a:ea typeface="Calibri (MS)"/>
                  <a:cs typeface="Calibri (MS)"/>
                  <a:sym typeface="Calibri (MS)"/>
                </a:rPr>
                <a:t>        form.add(txtServidor, c);</a:t>
              </a:r>
            </a:p>
            <a:p>
              <a:pPr algn="l">
                <a:lnSpc>
                  <a:spcPts val="956"/>
                </a:lnSpc>
              </a:pPr>
              <a:r>
                <a:rPr lang="en-US" sz="796">
                  <a:solidFill>
                    <a:srgbClr val="4F81BD"/>
                  </a:solidFill>
                  <a:latin typeface="Calibri (MS)"/>
                  <a:ea typeface="Calibri (MS)"/>
                  <a:cs typeface="Calibri (MS)"/>
                  <a:sym typeface="Calibri (MS)"/>
                </a:rPr>
                <a:t>        raiz.add(form, BorderLayout.CENTER);</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 Boton y estado</a:t>
              </a:r>
            </a:p>
            <a:p>
              <a:pPr algn="l">
                <a:lnSpc>
                  <a:spcPts val="956"/>
                </a:lnSpc>
              </a:pPr>
              <a:r>
                <a:rPr lang="en-US" sz="796">
                  <a:solidFill>
                    <a:srgbClr val="4F81BD"/>
                  </a:solidFill>
                  <a:latin typeface="Calibri (MS)"/>
                  <a:ea typeface="Calibri (MS)"/>
                  <a:cs typeface="Calibri (MS)"/>
                  <a:sym typeface="Calibri (MS)"/>
                </a:rPr>
                <a:t>        JPanel sur = new JPanel(new BorderLayout(0, 6));</a:t>
              </a:r>
            </a:p>
            <a:p>
              <a:pPr algn="l">
                <a:lnSpc>
                  <a:spcPts val="956"/>
                </a:lnSpc>
              </a:pPr>
              <a:r>
                <a:rPr lang="en-US" sz="796">
                  <a:solidFill>
                    <a:srgbClr val="4F81BD"/>
                  </a:solidFill>
                  <a:latin typeface="Calibri (MS)"/>
                  <a:ea typeface="Calibri (MS)"/>
                  <a:cs typeface="Calibri (MS)"/>
                  <a:sym typeface="Calibri (MS)"/>
                </a:rPr>
                <a:t>        sur.setOpaque(false);</a:t>
              </a:r>
            </a:p>
            <a:p>
              <a:pPr algn="l">
                <a:lnSpc>
                  <a:spcPts val="956"/>
                </a:lnSpc>
              </a:pPr>
              <a:r>
                <a:rPr lang="en-US" sz="796">
                  <a:solidFill>
                    <a:srgbClr val="4F81BD"/>
                  </a:solidFill>
                  <a:latin typeface="Calibri (MS)"/>
                  <a:ea typeface="Calibri (MS)"/>
                  <a:cs typeface="Calibri (MS)"/>
                  <a:sym typeface="Calibri (MS)"/>
                </a:rPr>
                <a:t>        JPanel boton = new JPanel();</a:t>
              </a:r>
            </a:p>
            <a:p>
              <a:pPr algn="l">
                <a:lnSpc>
                  <a:spcPts val="956"/>
                </a:lnSpc>
              </a:pPr>
              <a:r>
                <a:rPr lang="en-US" sz="796">
                  <a:solidFill>
                    <a:srgbClr val="4F81BD"/>
                  </a:solidFill>
                  <a:latin typeface="Calibri (MS)"/>
                  <a:ea typeface="Calibri (MS)"/>
                  <a:cs typeface="Calibri (MS)"/>
                  <a:sym typeface="Calibri (MS)"/>
                </a:rPr>
                <a:t>        boton.setOpaque(false);</a:t>
              </a:r>
            </a:p>
            <a:p>
              <a:pPr algn="l">
                <a:lnSpc>
                  <a:spcPts val="956"/>
                </a:lnSpc>
              </a:pPr>
              <a:r>
                <a:rPr lang="en-US" sz="796">
                  <a:solidFill>
                    <a:srgbClr val="4F81BD"/>
                  </a:solidFill>
                  <a:latin typeface="Calibri (MS)"/>
                  <a:ea typeface="Calibri (MS)"/>
                  <a:cs typeface="Calibri (MS)"/>
                  <a:sym typeface="Calibri (MS)"/>
                </a:rPr>
                <a:t>        boton.add(btnIngresar);</a:t>
              </a:r>
            </a:p>
            <a:p>
              <a:pPr algn="l">
                <a:lnSpc>
                  <a:spcPts val="956"/>
                </a:lnSpc>
              </a:pPr>
              <a:r>
                <a:rPr lang="en-US" sz="796">
                  <a:solidFill>
                    <a:srgbClr val="4F81BD"/>
                  </a:solidFill>
                  <a:latin typeface="Calibri (MS)"/>
                  <a:ea typeface="Calibri (MS)"/>
                  <a:cs typeface="Calibri (MS)"/>
                  <a:sym typeface="Calibri (MS)"/>
                </a:rPr>
                <a:t>        sur.add(boton, BorderLayout.NORTH);</a:t>
              </a:r>
            </a:p>
            <a:p>
              <a:pPr algn="l">
                <a:lnSpc>
                  <a:spcPts val="956"/>
                </a:lnSpc>
              </a:pPr>
              <a:r>
                <a:rPr lang="en-US" sz="796">
                  <a:solidFill>
                    <a:srgbClr val="4F81BD"/>
                  </a:solidFill>
                  <a:latin typeface="Calibri (MS)"/>
                  <a:ea typeface="Calibri (MS)"/>
                  <a:cs typeface="Calibri (MS)"/>
                  <a:sym typeface="Calibri (MS)"/>
                </a:rPr>
                <a:t>        lblEstado.setFont(Estilo.fuente(Font.PLAIN, 13));</a:t>
              </a:r>
            </a:p>
            <a:p>
              <a:pPr algn="l">
                <a:lnSpc>
                  <a:spcPts val="956"/>
                </a:lnSpc>
              </a:pPr>
              <a:r>
                <a:rPr lang="en-US" sz="796">
                  <a:solidFill>
                    <a:srgbClr val="4F81BD"/>
                  </a:solidFill>
                  <a:latin typeface="Calibri (MS)"/>
                  <a:ea typeface="Calibri (MS)"/>
                  <a:cs typeface="Calibri (MS)"/>
                  <a:sym typeface="Calibri (MS)"/>
                </a:rPr>
                <a:t>        sur.add(lblEstado, BorderLayout.CENTER);</a:t>
              </a:r>
            </a:p>
            <a:p>
              <a:pPr algn="l">
                <a:lnSpc>
                  <a:spcPts val="956"/>
                </a:lnSpc>
              </a:pPr>
              <a:r>
                <a:rPr lang="en-US" sz="796">
                  <a:solidFill>
                    <a:srgbClr val="4F81BD"/>
                  </a:solidFill>
                  <a:latin typeface="Calibri (MS)"/>
                  <a:ea typeface="Calibri (MS)"/>
                  <a:cs typeface="Calibri (MS)"/>
                  <a:sym typeface="Calibri (MS)"/>
                </a:rPr>
                <a:t>        raiz.add(sur, BorderLayout.SOUTH);</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Estilo.estilizarCampo(txtUsuario);</a:t>
              </a:r>
            </a:p>
            <a:p>
              <a:pPr algn="l">
                <a:lnSpc>
                  <a:spcPts val="956"/>
                </a:lnSpc>
              </a:pPr>
              <a:r>
                <a:rPr lang="en-US" sz="796">
                  <a:solidFill>
                    <a:srgbClr val="4F81BD"/>
                  </a:solidFill>
                  <a:latin typeface="Calibri (MS)"/>
                  <a:ea typeface="Calibri (MS)"/>
                  <a:cs typeface="Calibri (MS)"/>
                  <a:sym typeface="Calibri (MS)"/>
                </a:rPr>
                <a:t>        Estilo.estilizarCampo(txtClave);</a:t>
              </a:r>
            </a:p>
            <a:p>
              <a:pPr algn="l">
                <a:lnSpc>
                  <a:spcPts val="956"/>
                </a:lnSpc>
              </a:pPr>
              <a:r>
                <a:rPr lang="en-US" sz="796">
                  <a:solidFill>
                    <a:srgbClr val="4F81BD"/>
                  </a:solidFill>
                  <a:latin typeface="Calibri (MS)"/>
                  <a:ea typeface="Calibri (MS)"/>
                  <a:cs typeface="Calibri (MS)"/>
                  <a:sym typeface="Calibri (MS)"/>
                </a:rPr>
                <a:t>        Estilo.estilizarCampo(txtServidor);</a:t>
              </a:r>
            </a:p>
            <a:p>
              <a:pPr algn="l">
                <a:lnSpc>
                  <a:spcPts val="956"/>
                </a:lnSpc>
              </a:pPr>
              <a:r>
                <a:rPr lang="en-US" sz="796">
                  <a:solidFill>
                    <a:srgbClr val="4F81BD"/>
                  </a:solidFill>
                  <a:latin typeface="Calibri (MS)"/>
                  <a:ea typeface="Calibri (MS)"/>
                  <a:cs typeface="Calibri (MS)"/>
                  <a:sym typeface="Calibri (MS)"/>
                </a:rPr>
                <a:t>        setContentPane(fondo);</a:t>
              </a:r>
            </a:p>
            <a:p>
              <a:pPr algn="l">
                <a:lnSpc>
                  <a:spcPts val="956"/>
                </a:lnSpc>
              </a:pPr>
              <a:r>
                <a:rPr lang="en-US" sz="796">
                  <a:solidFill>
                    <a:srgbClr val="4F81BD"/>
                  </a:solidFill>
                  <a:latin typeface="Calibri (MS)"/>
                  <a:ea typeface="Calibri (MS)"/>
                  <a:cs typeface="Calibri (MS)"/>
                  <a:sym typeface="Calibri (MS)"/>
                </a:rPr>
                <a:t>        btnIngresar.addActionListener(e -&gt; ingresar());</a:t>
              </a:r>
            </a:p>
            <a:p>
              <a:pPr algn="l">
                <a:lnSpc>
                  <a:spcPts val="956"/>
                </a:lnSpc>
              </a:pPr>
              <a:r>
                <a:rPr lang="en-US" sz="796">
                  <a:solidFill>
                    <a:srgbClr val="4F81BD"/>
                  </a:solidFill>
                  <a:latin typeface="Calibri (MS)"/>
                  <a:ea typeface="Calibri (MS)"/>
                  <a:cs typeface="Calibri (MS)"/>
                  <a:sym typeface="Calibri (MS)"/>
                </a:rPr>
                <a:t>        txtClave.addActionListener(e -&gt; ingresar());</a:t>
              </a:r>
            </a:p>
            <a:p>
              <a:pPr algn="l">
                <a:lnSpc>
                  <a:spcPts val="956"/>
                </a:lnSpc>
              </a:pPr>
              <a:r>
                <a:rPr lang="en-US" sz="796">
                  <a:solidFill>
                    <a:srgbClr val="4F81BD"/>
                  </a:solidFill>
                  <a:latin typeface="Calibri (MS)"/>
                  <a:ea typeface="Calibri (MS)"/>
                  <a:cs typeface="Calibri (MS)"/>
                  <a:sym typeface="Calibri (MS)"/>
                </a:rPr>
                <a:t>        getRootPane().setDefaultButton(btnIngresar);</a:t>
              </a:r>
            </a:p>
            <a:p>
              <a:pPr algn="l">
                <a:lnSpc>
                  <a:spcPts val="956"/>
                </a:lnSpc>
              </a:pPr>
              <a:r>
                <a:rPr lang="en-US" sz="796">
                  <a:solidFill>
                    <a:srgbClr val="4F81BD"/>
                  </a:solidFill>
                  <a:latin typeface="Calibri (MS)"/>
                  <a:ea typeface="Calibri (MS)"/>
                  <a:cs typeface="Calibri (MS)"/>
                  <a:sym typeface="Calibri (MS)"/>
                </a:rPr>
                <a:t>        pack();</a:t>
              </a:r>
            </a:p>
            <a:p>
              <a:pPr algn="l">
                <a:lnSpc>
                  <a:spcPts val="956"/>
                </a:lnSpc>
              </a:pPr>
              <a:r>
                <a:rPr lang="en-US" sz="796">
                  <a:solidFill>
                    <a:srgbClr val="4F81BD"/>
                  </a:solidFill>
                  <a:latin typeface="Calibri (MS)"/>
                  <a:ea typeface="Calibri (MS)"/>
                  <a:cs typeface="Calibri (MS)"/>
                  <a:sym typeface="Calibri (MS)"/>
                </a:rPr>
                <a:t>        setLocationRelativeTo(null);</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private void agregar(JPanel p, GridBagConstraints c, int fila, String texto, java.awt.Component campo) {</a:t>
              </a:r>
            </a:p>
            <a:p>
              <a:pPr algn="l">
                <a:lnSpc>
                  <a:spcPts val="956"/>
                </a:lnSpc>
              </a:pPr>
              <a:r>
                <a:rPr lang="en-US" sz="796">
                  <a:solidFill>
                    <a:srgbClr val="4F81BD"/>
                  </a:solidFill>
                  <a:latin typeface="Calibri (MS)"/>
                  <a:ea typeface="Calibri (MS)"/>
                  <a:cs typeface="Calibri (MS)"/>
                  <a:sym typeface="Calibri (MS)"/>
                </a:rPr>
                <a:t>        c.gridx = 0;</a:t>
              </a:r>
            </a:p>
            <a:p>
              <a:pPr algn="l">
                <a:lnSpc>
                  <a:spcPts val="956"/>
                </a:lnSpc>
              </a:pPr>
              <a:r>
                <a:rPr lang="en-US" sz="796">
                  <a:solidFill>
                    <a:srgbClr val="4F81BD"/>
                  </a:solidFill>
                  <a:latin typeface="Calibri (MS)"/>
                  <a:ea typeface="Calibri (MS)"/>
                  <a:cs typeface="Calibri (MS)"/>
                  <a:sym typeface="Calibri (MS)"/>
                </a:rPr>
                <a:t>        c.gridy = fila;</a:t>
              </a:r>
            </a:p>
            <a:p>
              <a:pPr algn="l">
                <a:lnSpc>
                  <a:spcPts val="956"/>
                </a:lnSpc>
              </a:pPr>
              <a:r>
                <a:rPr lang="en-US" sz="796">
                  <a:solidFill>
                    <a:srgbClr val="4F81BD"/>
                  </a:solidFill>
                  <a:latin typeface="Calibri (MS)"/>
                  <a:ea typeface="Calibri (MS)"/>
                  <a:cs typeface="Calibri (MS)"/>
                  <a:sym typeface="Calibri (MS)"/>
                </a:rPr>
                <a:t>        p.add(Estilo.etiqueta(texto), c);</a:t>
              </a:r>
            </a:p>
            <a:p>
              <a:pPr algn="l">
                <a:lnSpc>
                  <a:spcPts val="956"/>
                </a:lnSpc>
              </a:pPr>
              <a:r>
                <a:rPr lang="en-US" sz="796">
                  <a:solidFill>
                    <a:srgbClr val="4F81BD"/>
                  </a:solidFill>
                  <a:latin typeface="Calibri (MS)"/>
                  <a:ea typeface="Calibri (MS)"/>
                  <a:cs typeface="Calibri (MS)"/>
                  <a:sym typeface="Calibri (MS)"/>
                </a:rPr>
                <a:t>        c.gridx = 1;</a:t>
              </a:r>
            </a:p>
            <a:p>
              <a:pPr algn="l">
                <a:lnSpc>
                  <a:spcPts val="956"/>
                </a:lnSpc>
              </a:pPr>
              <a:r>
                <a:rPr lang="en-US" sz="796">
                  <a:solidFill>
                    <a:srgbClr val="4F81BD"/>
                  </a:solidFill>
                  <a:latin typeface="Calibri (MS)"/>
                  <a:ea typeface="Calibri (MS)"/>
                  <a:cs typeface="Calibri (MS)"/>
                  <a:sym typeface="Calibri (MS)"/>
                </a:rPr>
                <a:t>        p.add(campo, c);</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private void mostrar(String texto, Color color) {</a:t>
              </a:r>
            </a:p>
            <a:p>
              <a:pPr algn="l">
                <a:lnSpc>
                  <a:spcPts val="956"/>
                </a:lnSpc>
              </a:pPr>
              <a:r>
                <a:rPr lang="en-US" sz="796">
                  <a:solidFill>
                    <a:srgbClr val="4F81BD"/>
                  </a:solidFill>
                  <a:latin typeface="Calibri (MS)"/>
                  <a:ea typeface="Calibri (MS)"/>
                  <a:cs typeface="Calibri (MS)"/>
                  <a:sym typeface="Calibri (MS)"/>
                </a:rPr>
                <a:t>        lblEstado.setForeground(color);</a:t>
              </a:r>
            </a:p>
            <a:p>
              <a:pPr algn="l">
                <a:lnSpc>
                  <a:spcPts val="956"/>
                </a:lnSpc>
              </a:pPr>
              <a:r>
                <a:rPr lang="en-US" sz="796">
                  <a:solidFill>
                    <a:srgbClr val="4F81BD"/>
                  </a:solidFill>
                  <a:latin typeface="Calibri (MS)"/>
                  <a:ea typeface="Calibri (MS)"/>
                  <a:cs typeface="Calibri (MS)"/>
                  <a:sym typeface="Calibri (MS)"/>
                </a:rPr>
                <a:t>        lblEstado.setText(texto);</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private void ingresar() {</a:t>
              </a:r>
            </a:p>
            <a:p>
              <a:pPr algn="l">
                <a:lnSpc>
                  <a:spcPts val="956"/>
                </a:lnSpc>
              </a:pPr>
              <a:r>
                <a:rPr lang="en-US" sz="796">
                  <a:solidFill>
                    <a:srgbClr val="4F81BD"/>
                  </a:solidFill>
                  <a:latin typeface="Calibri (MS)"/>
                  <a:ea typeface="Calibri (MS)"/>
                  <a:cs typeface="Calibri (MS)"/>
                  <a:sym typeface="Calibri (MS)"/>
                </a:rPr>
                <a:t>        final String usuario = txtUsuario.getText();</a:t>
              </a:r>
            </a:p>
            <a:p>
              <a:pPr algn="l">
                <a:lnSpc>
                  <a:spcPts val="956"/>
                </a:lnSpc>
              </a:pPr>
              <a:r>
                <a:rPr lang="en-US" sz="796">
                  <a:solidFill>
                    <a:srgbClr val="4F81BD"/>
                  </a:solidFill>
                  <a:latin typeface="Calibri (MS)"/>
                  <a:ea typeface="Calibri (MS)"/>
                  <a:cs typeface="Calibri (MS)"/>
                  <a:sym typeface="Calibri (MS)"/>
                </a:rPr>
                <a:t>        final String clave = new String(txtClave.getPassword());</a:t>
              </a:r>
            </a:p>
            <a:p>
              <a:pPr algn="l">
                <a:lnSpc>
                  <a:spcPts val="956"/>
                </a:lnSpc>
              </a:pPr>
              <a:r>
                <a:rPr lang="en-US" sz="796">
                  <a:solidFill>
                    <a:srgbClr val="4F81BD"/>
                  </a:solidFill>
                  <a:latin typeface="Calibri (MS)"/>
                  <a:ea typeface="Calibri (MS)"/>
                  <a:cs typeface="Calibri (MS)"/>
                  <a:sym typeface="Calibri (MS)"/>
                </a:rPr>
                <a:t>        final ControladorConversiones controlador = ControladorConversiones.conectar(txtServidor.getText());</a:t>
              </a:r>
            </a:p>
            <a:p>
              <a:pPr algn="l">
                <a:lnSpc>
                  <a:spcPts val="956"/>
                </a:lnSpc>
              </a:pPr>
              <a:r>
                <a:rPr lang="en-US" sz="796">
                  <a:solidFill>
                    <a:srgbClr val="4F81BD"/>
                  </a:solidFill>
                  <a:latin typeface="Calibri (MS)"/>
                  <a:ea typeface="Calibri (MS)"/>
                  <a:cs typeface="Calibri (MS)"/>
                  <a:sym typeface="Calibri (MS)"/>
                </a:rPr>
                <a:t>        btnIngresar.setEnabled(false);</a:t>
              </a:r>
            </a:p>
            <a:p>
              <a:pPr algn="l">
                <a:lnSpc>
                  <a:spcPts val="956"/>
                </a:lnSpc>
              </a:pPr>
              <a:r>
                <a:rPr lang="en-US" sz="796">
                  <a:solidFill>
                    <a:srgbClr val="4F81BD"/>
                  </a:solidFill>
                  <a:latin typeface="Calibri (MS)"/>
                  <a:ea typeface="Calibri (MS)"/>
                  <a:cs typeface="Calibri (MS)"/>
                  <a:sym typeface="Calibri (MS)"/>
                </a:rPr>
                <a:t>        mostrar("Conectando...", Estilo.AZUL);</a:t>
              </a:r>
            </a:p>
            <a:p>
              <a:pPr algn="l">
                <a:lnSpc>
                  <a:spcPts val="956"/>
                </a:lnSpc>
              </a:pPr>
              <a:r>
                <a:rPr lang="en-US" sz="796">
                  <a:solidFill>
                    <a:srgbClr val="4F81BD"/>
                  </a:solidFill>
                  <a:latin typeface="Calibri (MS)"/>
                  <a:ea typeface="Calibri (MS)"/>
                  <a:cs typeface="Calibri (MS)"/>
                  <a:sym typeface="Calibri (MS)"/>
                </a:rPr>
                <a:t>        new SwingWorker&lt;RespuestaServicio, Void&gt;() {</a:t>
              </a:r>
            </a:p>
            <a:p>
              <a:pPr algn="l">
                <a:lnSpc>
                  <a:spcPts val="956"/>
                </a:lnSpc>
              </a:pPr>
              <a:r>
                <a:rPr lang="en-US" sz="796">
                  <a:solidFill>
                    <a:srgbClr val="4F81BD"/>
                  </a:solidFill>
                  <a:latin typeface="Calibri (MS)"/>
                  <a:ea typeface="Calibri (MS)"/>
                  <a:cs typeface="Calibri (MS)"/>
                  <a:sym typeface="Calibri (MS)"/>
                </a:rPr>
                <a:t>            @Override</a:t>
              </a:r>
            </a:p>
            <a:p>
              <a:pPr algn="l">
                <a:lnSpc>
                  <a:spcPts val="956"/>
                </a:lnSpc>
              </a:pPr>
              <a:r>
                <a:rPr lang="en-US" sz="796">
                  <a:solidFill>
                    <a:srgbClr val="4F81BD"/>
                  </a:solidFill>
                  <a:latin typeface="Calibri (MS)"/>
                  <a:ea typeface="Calibri (MS)"/>
                  <a:cs typeface="Calibri (MS)"/>
                  <a:sym typeface="Calibri (MS)"/>
                </a:rPr>
                <a:t>            protected RespuestaServicio doInBackground() {</a:t>
              </a:r>
            </a:p>
          </p:txBody>
        </p:sp>
      </p:gr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684270"/>
            <a:chOff x="0" y="0"/>
            <a:chExt cx="12278360" cy="4912360"/>
          </a:xfrm>
        </p:grpSpPr>
        <p:sp>
          <p:nvSpPr>
            <p:cNvPr name="Freeform 18" id="18"/>
            <p:cNvSpPr/>
            <p:nvPr/>
          </p:nvSpPr>
          <p:spPr>
            <a:xfrm flipH="false" flipV="false" rot="0">
              <a:off x="0" y="0"/>
              <a:ext cx="12278360" cy="4912360"/>
            </a:xfrm>
            <a:custGeom>
              <a:avLst/>
              <a:gdLst/>
              <a:ahLst/>
              <a:cxnLst/>
              <a:rect r="r" b="b" t="t" l="l"/>
              <a:pathLst>
                <a:path h="4912360" w="12278360">
                  <a:moveTo>
                    <a:pt x="0" y="0"/>
                  </a:moveTo>
                  <a:lnTo>
                    <a:pt x="12278360" y="0"/>
                  </a:lnTo>
                  <a:lnTo>
                    <a:pt x="12278360" y="4912360"/>
                  </a:lnTo>
                  <a:lnTo>
                    <a:pt x="0" y="49123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4950460"/>
            </a:xfrm>
            <a:prstGeom prst="rect">
              <a:avLst/>
            </a:prstGeom>
          </p:spPr>
          <p:txBody>
            <a:bodyPr anchor="t" rtlCol="false" tIns="50800" lIns="50800" bIns="50800" rIns="50800"/>
            <a:lstStyle/>
            <a:p>
              <a:pPr algn="l">
                <a:lnSpc>
                  <a:spcPts val="956"/>
                </a:lnSpc>
              </a:pPr>
              <a:r>
                <a:rPr lang="en-US" sz="796">
                  <a:solidFill>
                    <a:srgbClr val="4F81BD"/>
                  </a:solidFill>
                  <a:latin typeface="Calibri (MS)"/>
                  <a:ea typeface="Calibri (MS)"/>
                  <a:cs typeface="Calibri (MS)"/>
                  <a:sym typeface="Calibri (MS)"/>
                </a:rPr>
                <a:t>                return controlador.iniciarSesion(usuario, clave);</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@Override</a:t>
              </a:r>
            </a:p>
            <a:p>
              <a:pPr algn="l">
                <a:lnSpc>
                  <a:spcPts val="956"/>
                </a:lnSpc>
              </a:pPr>
              <a:r>
                <a:rPr lang="en-US" sz="796">
                  <a:solidFill>
                    <a:srgbClr val="4F81BD"/>
                  </a:solidFill>
                  <a:latin typeface="Calibri (MS)"/>
                  <a:ea typeface="Calibri (MS)"/>
                  <a:cs typeface="Calibri (MS)"/>
                  <a:sym typeface="Calibri (MS)"/>
                </a:rPr>
                <a:t>            protected void done() {</a:t>
              </a:r>
            </a:p>
            <a:p>
              <a:pPr algn="l">
                <a:lnSpc>
                  <a:spcPts val="956"/>
                </a:lnSpc>
              </a:pPr>
              <a:r>
                <a:rPr lang="en-US" sz="796">
                  <a:solidFill>
                    <a:srgbClr val="4F81BD"/>
                  </a:solidFill>
                  <a:latin typeface="Calibri (MS)"/>
                  <a:ea typeface="Calibri (MS)"/>
                  <a:cs typeface="Calibri (MS)"/>
                  <a:sym typeface="Calibri (MS)"/>
                </a:rPr>
                <a:t>                btnIngresar.setEnabled(true);</a:t>
              </a:r>
            </a:p>
            <a:p>
              <a:pPr algn="l">
                <a:lnSpc>
                  <a:spcPts val="956"/>
                </a:lnSpc>
              </a:pPr>
              <a:r>
                <a:rPr lang="en-US" sz="796">
                  <a:solidFill>
                    <a:srgbClr val="4F81BD"/>
                  </a:solidFill>
                  <a:latin typeface="Calibri (MS)"/>
                  <a:ea typeface="Calibri (MS)"/>
                  <a:cs typeface="Calibri (MS)"/>
                  <a:sym typeface="Calibri (MS)"/>
                </a:rPr>
                <a:t>                try {</a:t>
              </a:r>
            </a:p>
            <a:p>
              <a:pPr algn="l">
                <a:lnSpc>
                  <a:spcPts val="956"/>
                </a:lnSpc>
              </a:pPr>
              <a:r>
                <a:rPr lang="en-US" sz="796">
                  <a:solidFill>
                    <a:srgbClr val="4F81BD"/>
                  </a:solidFill>
                  <a:latin typeface="Calibri (MS)"/>
                  <a:ea typeface="Calibri (MS)"/>
                  <a:cs typeface="Calibri (MS)"/>
                  <a:sym typeface="Calibri (MS)"/>
                </a:rPr>
                <a:t>                    RespuestaServicio r = get();</a:t>
              </a:r>
            </a:p>
            <a:p>
              <a:pPr algn="l">
                <a:lnSpc>
                  <a:spcPts val="956"/>
                </a:lnSpc>
              </a:pPr>
              <a:r>
                <a:rPr lang="en-US" sz="796">
                  <a:solidFill>
                    <a:srgbClr val="4F81BD"/>
                  </a:solidFill>
                  <a:latin typeface="Calibri (MS)"/>
                  <a:ea typeface="Calibri (MS)"/>
                  <a:cs typeface="Calibri (MS)"/>
                  <a:sym typeface="Calibri (MS)"/>
                </a:rPr>
                <a:t>                    if (r.esExitosa()) {</a:t>
              </a:r>
            </a:p>
            <a:p>
              <a:pPr algn="l">
                <a:lnSpc>
                  <a:spcPts val="956"/>
                </a:lnSpc>
              </a:pPr>
              <a:r>
                <a:rPr lang="en-US" sz="796">
                  <a:solidFill>
                    <a:srgbClr val="4F81BD"/>
                  </a:solidFill>
                  <a:latin typeface="Calibri (MS)"/>
                  <a:ea typeface="Calibri (MS)"/>
                  <a:cs typeface="Calibri (MS)"/>
                  <a:sym typeface="Calibri (MS)"/>
                </a:rPr>
                <a:t>                        new ConversionFrame(controlador).setVisible(true);</a:t>
              </a:r>
            </a:p>
            <a:p>
              <a:pPr algn="l">
                <a:lnSpc>
                  <a:spcPts val="956"/>
                </a:lnSpc>
              </a:pPr>
              <a:r>
                <a:rPr lang="en-US" sz="796">
                  <a:solidFill>
                    <a:srgbClr val="4F81BD"/>
                  </a:solidFill>
                  <a:latin typeface="Calibri (MS)"/>
                  <a:ea typeface="Calibri (MS)"/>
                  <a:cs typeface="Calibri (MS)"/>
                  <a:sym typeface="Calibri (MS)"/>
                </a:rPr>
                <a:t>                        dispose();</a:t>
              </a:r>
            </a:p>
            <a:p>
              <a:pPr algn="l">
                <a:lnSpc>
                  <a:spcPts val="956"/>
                </a:lnSpc>
              </a:pPr>
              <a:r>
                <a:rPr lang="en-US" sz="796">
                  <a:solidFill>
                    <a:srgbClr val="4F81BD"/>
                  </a:solidFill>
                  <a:latin typeface="Calibri (MS)"/>
                  <a:ea typeface="Calibri (MS)"/>
                  <a:cs typeface="Calibri (MS)"/>
                  <a:sym typeface="Calibri (MS)"/>
                </a:rPr>
                <a:t>                    } else {</a:t>
              </a:r>
            </a:p>
            <a:p>
              <a:pPr algn="l">
                <a:lnSpc>
                  <a:spcPts val="956"/>
                </a:lnSpc>
              </a:pPr>
              <a:r>
                <a:rPr lang="en-US" sz="796">
                  <a:solidFill>
                    <a:srgbClr val="4F81BD"/>
                  </a:solidFill>
                  <a:latin typeface="Calibri (MS)"/>
                  <a:ea typeface="Calibri (MS)"/>
                  <a:cs typeface="Calibri (MS)"/>
                  <a:sym typeface="Calibri (MS)"/>
                </a:rPr>
                <a:t>                        mostrar("[" + r.getCodigo() + "] " + r.getMensaje(), Estilo.ERROR);</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 catch (Exception ex) {</a:t>
              </a:r>
            </a:p>
            <a:p>
              <a:pPr algn="l">
                <a:lnSpc>
                  <a:spcPts val="956"/>
                </a:lnSpc>
              </a:pPr>
              <a:r>
                <a:rPr lang="en-US" sz="796">
                  <a:solidFill>
                    <a:srgbClr val="4F81BD"/>
                  </a:solidFill>
                  <a:latin typeface="Calibri (MS)"/>
                  <a:ea typeface="Calibri (MS)"/>
                  <a:cs typeface="Calibri (MS)"/>
                  <a:sym typeface="Calibri (MS)"/>
                </a:rPr>
                <a:t>                    mostrar("Error inesperado: " + ex.getMessage(), Estilo.ERROR);</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}.execute();</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private static final class Flecha implements javax.swing.Icon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private final boolean abajo;</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Flecha(boolean abajo) {</a:t>
              </a:r>
            </a:p>
            <a:p>
              <a:pPr algn="l">
                <a:lnSpc>
                  <a:spcPts val="956"/>
                </a:lnSpc>
              </a:pPr>
              <a:r>
                <a:rPr lang="en-US" sz="796">
                  <a:solidFill>
                    <a:srgbClr val="4F81BD"/>
                  </a:solidFill>
                  <a:latin typeface="Calibri (MS)"/>
                  <a:ea typeface="Calibri (MS)"/>
                  <a:cs typeface="Calibri (MS)"/>
                  <a:sym typeface="Calibri (MS)"/>
                </a:rPr>
                <a:t>            this.abajo = abajo;</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@Override</a:t>
              </a:r>
            </a:p>
            <a:p>
              <a:pPr algn="l">
                <a:lnSpc>
                  <a:spcPts val="956"/>
                </a:lnSpc>
              </a:pPr>
              <a:r>
                <a:rPr lang="en-US" sz="796">
                  <a:solidFill>
                    <a:srgbClr val="4F81BD"/>
                  </a:solidFill>
                  <a:latin typeface="Calibri (MS)"/>
                  <a:ea typeface="Calibri (MS)"/>
                  <a:cs typeface="Calibri (MS)"/>
                  <a:sym typeface="Calibri (MS)"/>
                </a:rPr>
                <a:t>        public int getIconWidth() {</a:t>
              </a:r>
            </a:p>
            <a:p>
              <a:pPr algn="l">
                <a:lnSpc>
                  <a:spcPts val="956"/>
                </a:lnSpc>
              </a:pPr>
              <a:r>
                <a:rPr lang="en-US" sz="796">
                  <a:solidFill>
                    <a:srgbClr val="4F81BD"/>
                  </a:solidFill>
                  <a:latin typeface="Calibri (MS)"/>
                  <a:ea typeface="Calibri (MS)"/>
                  <a:cs typeface="Calibri (MS)"/>
                  <a:sym typeface="Calibri (MS)"/>
                </a:rPr>
                <a:t>            return 12;</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@Override</a:t>
              </a:r>
            </a:p>
            <a:p>
              <a:pPr algn="l">
                <a:lnSpc>
                  <a:spcPts val="956"/>
                </a:lnSpc>
              </a:pPr>
              <a:r>
                <a:rPr lang="en-US" sz="796">
                  <a:solidFill>
                    <a:srgbClr val="4F81BD"/>
                  </a:solidFill>
                  <a:latin typeface="Calibri (MS)"/>
                  <a:ea typeface="Calibri (MS)"/>
                  <a:cs typeface="Calibri (MS)"/>
                  <a:sym typeface="Calibri (MS)"/>
                </a:rPr>
                <a:t>        public int getIconHeight() {</a:t>
              </a:r>
            </a:p>
            <a:p>
              <a:pPr algn="l">
                <a:lnSpc>
                  <a:spcPts val="956"/>
                </a:lnSpc>
              </a:pPr>
              <a:r>
                <a:rPr lang="en-US" sz="796">
                  <a:solidFill>
                    <a:srgbClr val="4F81BD"/>
                  </a:solidFill>
                  <a:latin typeface="Calibri (MS)"/>
                  <a:ea typeface="Calibri (MS)"/>
                  <a:cs typeface="Calibri (MS)"/>
                  <a:sym typeface="Calibri (MS)"/>
                </a:rPr>
                <a:t>            return 12;</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@Override</a:t>
              </a:r>
            </a:p>
            <a:p>
              <a:pPr algn="l">
                <a:lnSpc>
                  <a:spcPts val="956"/>
                </a:lnSpc>
              </a:pPr>
              <a:r>
                <a:rPr lang="en-US" sz="796">
                  <a:solidFill>
                    <a:srgbClr val="4F81BD"/>
                  </a:solidFill>
                  <a:latin typeface="Calibri (MS)"/>
                  <a:ea typeface="Calibri (MS)"/>
                  <a:cs typeface="Calibri (MS)"/>
                  <a:sym typeface="Calibri (MS)"/>
                </a:rPr>
                <a:t>        public void paintIcon(java.awt.Component c, java.awt.Graphics g, int x, int y) {</a:t>
              </a:r>
            </a:p>
            <a:p>
              <a:pPr algn="l">
                <a:lnSpc>
                  <a:spcPts val="956"/>
                </a:lnSpc>
              </a:pPr>
              <a:r>
                <a:rPr lang="en-US" sz="796">
                  <a:solidFill>
                    <a:srgbClr val="4F81BD"/>
                  </a:solidFill>
                  <a:latin typeface="Calibri (MS)"/>
                  <a:ea typeface="Calibri (MS)"/>
                  <a:cs typeface="Calibri (MS)"/>
                  <a:sym typeface="Calibri (MS)"/>
                </a:rPr>
                <a:t>            java.awt.Graphics2D g2 = (java.awt.Graphics2D) g.create();</a:t>
              </a:r>
            </a:p>
            <a:p>
              <a:pPr algn="l">
                <a:lnSpc>
                  <a:spcPts val="956"/>
                </a:lnSpc>
              </a:pPr>
              <a:r>
                <a:rPr lang="en-US" sz="796">
                  <a:solidFill>
                    <a:srgbClr val="4F81BD"/>
                  </a:solidFill>
                  <a:latin typeface="Calibri (MS)"/>
                  <a:ea typeface="Calibri (MS)"/>
                  <a:cs typeface="Calibri (MS)"/>
                  <a:sym typeface="Calibri (MS)"/>
                </a:rPr>
                <a:t>            g2.setRenderingHint(java.awt.RenderingHints.KEY_ANTIALIASING, java.awt.RenderingHints.VALUE_ANTIALIAS_ON);</a:t>
              </a:r>
            </a:p>
            <a:p>
              <a:pPr algn="l">
                <a:lnSpc>
                  <a:spcPts val="956"/>
                </a:lnSpc>
              </a:pPr>
              <a:r>
                <a:rPr lang="en-US" sz="796">
                  <a:solidFill>
                    <a:srgbClr val="4F81BD"/>
                  </a:solidFill>
                  <a:latin typeface="Calibri (MS)"/>
                  <a:ea typeface="Calibri (MS)"/>
                  <a:cs typeface="Calibri (MS)"/>
                  <a:sym typeface="Calibri (MS)"/>
                </a:rPr>
                <a:t>            g2.setColor(Estilo.AZUL);</a:t>
              </a:r>
            </a:p>
            <a:p>
              <a:pPr algn="l">
                <a:lnSpc>
                  <a:spcPts val="956"/>
                </a:lnSpc>
              </a:pPr>
              <a:r>
                <a:rPr lang="en-US" sz="796">
                  <a:solidFill>
                    <a:srgbClr val="4F81BD"/>
                  </a:solidFill>
                  <a:latin typeface="Calibri (MS)"/>
                  <a:ea typeface="Calibri (MS)"/>
                  <a:cs typeface="Calibri (MS)"/>
                  <a:sym typeface="Calibri (MS)"/>
                </a:rPr>
                <a:t>            int[] px = abajo ? new int[] {x + 1, x + 11, x + 6} : new int[] {x + 3, x + 3, x + 10};</a:t>
              </a:r>
            </a:p>
            <a:p>
              <a:pPr algn="l">
                <a:lnSpc>
                  <a:spcPts val="956"/>
                </a:lnSpc>
              </a:pPr>
              <a:r>
                <a:rPr lang="en-US" sz="796">
                  <a:solidFill>
                    <a:srgbClr val="4F81BD"/>
                  </a:solidFill>
                  <a:latin typeface="Calibri (MS)"/>
                  <a:ea typeface="Calibri (MS)"/>
                  <a:cs typeface="Calibri (MS)"/>
                  <a:sym typeface="Calibri (MS)"/>
                </a:rPr>
                <a:t>            int[] py = abajo ? new int[] {y + 3, y + 3, y + 10} : new int[] {y + 1, y + 11, y + 6};</a:t>
              </a:r>
            </a:p>
            <a:p>
              <a:pPr algn="l">
                <a:lnSpc>
                  <a:spcPts val="956"/>
                </a:lnSpc>
              </a:pPr>
              <a:r>
                <a:rPr lang="en-US" sz="796">
                  <a:solidFill>
                    <a:srgbClr val="4F81BD"/>
                  </a:solidFill>
                  <a:latin typeface="Calibri (MS)"/>
                  <a:ea typeface="Calibri (MS)"/>
                  <a:cs typeface="Calibri (MS)"/>
                  <a:sym typeface="Calibri (MS)"/>
                </a:rPr>
                <a:t>            g2.fillPolygon(px, py, 3);</a:t>
              </a:r>
            </a:p>
            <a:p>
              <a:pPr algn="l">
                <a:lnSpc>
                  <a:spcPts val="956"/>
                </a:lnSpc>
              </a:pPr>
              <a:r>
                <a:rPr lang="en-US" sz="796">
                  <a:solidFill>
                    <a:srgbClr val="4F81BD"/>
                  </a:solidFill>
                  <a:latin typeface="Calibri (MS)"/>
                  <a:ea typeface="Calibri (MS)"/>
                  <a:cs typeface="Calibri (MS)"/>
                  <a:sym typeface="Calibri (MS)"/>
                </a:rPr>
                <a:t>            g2.dispose();</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 Acceso para pruebas</a:t>
              </a:r>
            </a:p>
            <a:p>
              <a:pPr algn="l">
                <a:lnSpc>
                  <a:spcPts val="956"/>
                </a:lnSpc>
              </a:pPr>
              <a:r>
                <a:rPr lang="en-US" sz="796">
                  <a:solidFill>
                    <a:srgbClr val="4F81BD"/>
                  </a:solidFill>
                  <a:latin typeface="Calibri (MS)"/>
                  <a:ea typeface="Calibri (MS)"/>
                  <a:cs typeface="Calibri (MS)"/>
                  <a:sym typeface="Calibri (MS)"/>
                </a:rPr>
                <a:t>    JTextField campoUsuario() {</a:t>
              </a:r>
            </a:p>
            <a:p>
              <a:pPr algn="l">
                <a:lnSpc>
                  <a:spcPts val="956"/>
                </a:lnSpc>
              </a:pPr>
              <a:r>
                <a:rPr lang="en-US" sz="796">
                  <a:solidFill>
                    <a:srgbClr val="4F81BD"/>
                  </a:solidFill>
                  <a:latin typeface="Calibri (MS)"/>
                  <a:ea typeface="Calibri (MS)"/>
                  <a:cs typeface="Calibri (MS)"/>
                  <a:sym typeface="Calibri (MS)"/>
                </a:rPr>
                <a:t>        return txtUsuario;</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JPasswordField campoClave() {</a:t>
              </a:r>
            </a:p>
            <a:p>
              <a:pPr algn="l">
                <a:lnSpc>
                  <a:spcPts val="956"/>
                </a:lnSpc>
              </a:pPr>
              <a:r>
                <a:rPr lang="en-US" sz="796">
                  <a:solidFill>
                    <a:srgbClr val="4F81BD"/>
                  </a:solidFill>
                  <a:latin typeface="Calibri (MS)"/>
                  <a:ea typeface="Calibri (MS)"/>
                  <a:cs typeface="Calibri (MS)"/>
                  <a:sym typeface="Calibri (MS)"/>
                </a:rPr>
                <a:t>        return txtClave;</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    JLabel etiquetaEstado() {</a:t>
              </a:r>
            </a:p>
            <a:p>
              <a:pPr algn="l">
                <a:lnSpc>
                  <a:spcPts val="956"/>
                </a:lnSpc>
              </a:pPr>
              <a:r>
                <a:rPr lang="en-US" sz="796">
                  <a:solidFill>
                    <a:srgbClr val="4F81BD"/>
                  </a:solidFill>
                  <a:latin typeface="Calibri (MS)"/>
                  <a:ea typeface="Calibri (MS)"/>
                  <a:cs typeface="Calibri (MS)"/>
                  <a:sym typeface="Calibri (MS)"/>
                </a:rPr>
                <a:t>        return lblEstado;</a:t>
              </a:r>
            </a:p>
            <a:p>
              <a:pPr algn="l">
                <a:lnSpc>
                  <a:spcPts val="956"/>
                </a:lnSpc>
              </a:pPr>
              <a:r>
                <a:rPr lang="en-US" sz="796">
                  <a:solidFill>
                    <a:srgbClr val="4F81BD"/>
                  </a:solidFill>
                  <a:latin typeface="Calibri (MS)"/>
                  <a:ea typeface="Calibri (MS)"/>
                  <a:cs typeface="Calibri (MS)"/>
                  <a:sym typeface="Calibri (MS)"/>
                </a:rPr>
                <a:t>    }</a:t>
              </a:r>
            </a:p>
            <a:p>
              <a:pPr algn="l">
                <a:lnSpc>
                  <a:spcPts val="956"/>
                </a:lnSpc>
              </a:pPr>
              <a:r>
                <a:rPr lang="en-US" sz="796">
                  <a:solidFill>
                    <a:srgbClr val="4F81BD"/>
                  </a:solidFill>
                  <a:latin typeface="Calibri (MS)"/>
                  <a:ea typeface="Calibri (MS)"/>
                  <a:cs typeface="Calibri (MS)"/>
                  <a:sym typeface="Calibri (MS)"/>
                </a:rPr>
                <a:t>}</a:t>
              </a:r>
            </a:p>
          </p:txBody>
        </p:sp>
      </p:gr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ConversionFrame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conversión (CU-02, CU-03 y CU-04).</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775960"/>
            <a:chOff x="0" y="0"/>
            <a:chExt cx="12278360" cy="7701280"/>
          </a:xfrm>
        </p:grpSpPr>
        <p:sp>
          <p:nvSpPr>
            <p:cNvPr name="Freeform 18" id="18"/>
            <p:cNvSpPr/>
            <p:nvPr/>
          </p:nvSpPr>
          <p:spPr>
            <a:xfrm flipH="false" flipV="false" rot="0">
              <a:off x="0" y="0"/>
              <a:ext cx="12278360" cy="7701280"/>
            </a:xfrm>
            <a:custGeom>
              <a:avLst/>
              <a:gdLst/>
              <a:ahLst/>
              <a:cxnLst/>
              <a:rect r="r" b="b" t="t" l="l"/>
              <a:pathLst>
                <a:path h="7701280" w="12278360">
                  <a:moveTo>
                    <a:pt x="0" y="0"/>
                  </a:moveTo>
                  <a:lnTo>
                    <a:pt x="12278360" y="0"/>
                  </a:lnTo>
                  <a:lnTo>
                    <a:pt x="12278360" y="7701280"/>
                  </a:lnTo>
                  <a:lnTo>
                    <a:pt x="0" y="770128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739380"/>
            </a:xfrm>
            <a:prstGeom prst="rect">
              <a:avLst/>
            </a:prstGeom>
          </p:spPr>
          <p:txBody>
            <a:bodyPr anchor="t" rtlCol="false" tIns="50800" lIns="50800" bIns="50800" rIns="50800"/>
            <a:lstStyle/>
            <a:p>
              <a:pPr algn="l">
                <a:lnSpc>
                  <a:spcPts val="605"/>
                </a:lnSpc>
              </a:pPr>
              <a:r>
                <a:rPr lang="en-US" sz="504">
                  <a:solidFill>
                    <a:srgbClr val="4F81BD"/>
                  </a:solidFill>
                  <a:latin typeface="Calibri (MS)"/>
                  <a:ea typeface="Calibri (MS)"/>
                  <a:cs typeface="Calibri (MS)"/>
                  <a:sym typeface="Calibri (MS)"/>
                </a:rPr>
                <a:t>package ec.edu.monster.clienteescritorio.vista;</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import ec.edu.monster.clienteescritorio.controlador.ControladorConversiones;</a:t>
              </a:r>
            </a:p>
            <a:p>
              <a:pPr algn="l">
                <a:lnSpc>
                  <a:spcPts val="605"/>
                </a:lnSpc>
              </a:pPr>
              <a:r>
                <a:rPr lang="en-US" sz="504">
                  <a:solidFill>
                    <a:srgbClr val="4F81BD"/>
                  </a:solidFill>
                  <a:latin typeface="Calibri (MS)"/>
                  <a:ea typeface="Calibri (MS)"/>
                  <a:cs typeface="Calibri (MS)"/>
                  <a:sym typeface="Calibri (MS)"/>
                </a:rPr>
                <a:t>import ec.edu.monster.clienteescritorio.modelo.RespuestaServicio;</a:t>
              </a:r>
            </a:p>
            <a:p>
              <a:pPr algn="l">
                <a:lnSpc>
                  <a:spcPts val="605"/>
                </a:lnSpc>
              </a:pPr>
              <a:r>
                <a:rPr lang="en-US" sz="504">
                  <a:solidFill>
                    <a:srgbClr val="4F81BD"/>
                  </a:solidFill>
                  <a:latin typeface="Calibri (MS)"/>
                  <a:ea typeface="Calibri (MS)"/>
                  <a:cs typeface="Calibri (MS)"/>
                  <a:sym typeface="Calibri (MS)"/>
                </a:rPr>
                <a:t>import java.awt.BorderLayout;</a:t>
              </a:r>
            </a:p>
            <a:p>
              <a:pPr algn="l">
                <a:lnSpc>
                  <a:spcPts val="605"/>
                </a:lnSpc>
              </a:pPr>
              <a:r>
                <a:rPr lang="en-US" sz="504">
                  <a:solidFill>
                    <a:srgbClr val="4F81BD"/>
                  </a:solidFill>
                  <a:latin typeface="Calibri (MS)"/>
                  <a:ea typeface="Calibri (MS)"/>
                  <a:cs typeface="Calibri (MS)"/>
                  <a:sym typeface="Calibri (MS)"/>
                </a:rPr>
                <a:t>import java.awt.Color;</a:t>
              </a:r>
            </a:p>
            <a:p>
              <a:pPr algn="l">
                <a:lnSpc>
                  <a:spcPts val="605"/>
                </a:lnSpc>
              </a:pPr>
              <a:r>
                <a:rPr lang="en-US" sz="504">
                  <a:solidFill>
                    <a:srgbClr val="4F81BD"/>
                  </a:solidFill>
                  <a:latin typeface="Calibri (MS)"/>
                  <a:ea typeface="Calibri (MS)"/>
                  <a:cs typeface="Calibri (MS)"/>
                  <a:sym typeface="Calibri (MS)"/>
                </a:rPr>
                <a:t>import java.awt.Dimension;</a:t>
              </a:r>
            </a:p>
            <a:p>
              <a:pPr algn="l">
                <a:lnSpc>
                  <a:spcPts val="605"/>
                </a:lnSpc>
              </a:pPr>
              <a:r>
                <a:rPr lang="en-US" sz="504">
                  <a:solidFill>
                    <a:srgbClr val="4F81BD"/>
                  </a:solidFill>
                  <a:latin typeface="Calibri (MS)"/>
                  <a:ea typeface="Calibri (MS)"/>
                  <a:cs typeface="Calibri (MS)"/>
                  <a:sym typeface="Calibri (MS)"/>
                </a:rPr>
                <a:t>import java.awt.Font;</a:t>
              </a:r>
            </a:p>
            <a:p>
              <a:pPr algn="l">
                <a:lnSpc>
                  <a:spcPts val="605"/>
                </a:lnSpc>
              </a:pPr>
              <a:r>
                <a:rPr lang="en-US" sz="504">
                  <a:solidFill>
                    <a:srgbClr val="4F81BD"/>
                  </a:solidFill>
                  <a:latin typeface="Calibri (MS)"/>
                  <a:ea typeface="Calibri (MS)"/>
                  <a:cs typeface="Calibri (MS)"/>
                  <a:sym typeface="Calibri (MS)"/>
                </a:rPr>
                <a:t>import java.awt.GridBagConstraints;</a:t>
              </a:r>
            </a:p>
            <a:p>
              <a:pPr algn="l">
                <a:lnSpc>
                  <a:spcPts val="605"/>
                </a:lnSpc>
              </a:pPr>
              <a:r>
                <a:rPr lang="en-US" sz="504">
                  <a:solidFill>
                    <a:srgbClr val="4F81BD"/>
                  </a:solidFill>
                  <a:latin typeface="Calibri (MS)"/>
                  <a:ea typeface="Calibri (MS)"/>
                  <a:cs typeface="Calibri (MS)"/>
                  <a:sym typeface="Calibri (MS)"/>
                </a:rPr>
                <a:t>import java.awt.GridBagLayout;</a:t>
              </a:r>
            </a:p>
            <a:p>
              <a:pPr algn="l">
                <a:lnSpc>
                  <a:spcPts val="605"/>
                </a:lnSpc>
              </a:pPr>
              <a:r>
                <a:rPr lang="en-US" sz="504">
                  <a:solidFill>
                    <a:srgbClr val="4F81BD"/>
                  </a:solidFill>
                  <a:latin typeface="Calibri (MS)"/>
                  <a:ea typeface="Calibri (MS)"/>
                  <a:cs typeface="Calibri (MS)"/>
                  <a:sym typeface="Calibri (MS)"/>
                </a:rPr>
                <a:t>import java.awt.Insets;</a:t>
              </a:r>
            </a:p>
            <a:p>
              <a:pPr algn="l">
                <a:lnSpc>
                  <a:spcPts val="605"/>
                </a:lnSpc>
              </a:pPr>
              <a:r>
                <a:rPr lang="en-US" sz="504">
                  <a:solidFill>
                    <a:srgbClr val="4F81BD"/>
                  </a:solidFill>
                  <a:latin typeface="Calibri (MS)"/>
                  <a:ea typeface="Calibri (MS)"/>
                  <a:cs typeface="Calibri (MS)"/>
                  <a:sym typeface="Calibri (MS)"/>
                </a:rPr>
                <a:t>import java.util.List;</a:t>
              </a:r>
            </a:p>
            <a:p>
              <a:pPr algn="l">
                <a:lnSpc>
                  <a:spcPts val="605"/>
                </a:lnSpc>
              </a:pPr>
              <a:r>
                <a:rPr lang="en-US" sz="504">
                  <a:solidFill>
                    <a:srgbClr val="4F81BD"/>
                  </a:solidFill>
                  <a:latin typeface="Calibri (MS)"/>
                  <a:ea typeface="Calibri (MS)"/>
                  <a:cs typeface="Calibri (MS)"/>
                  <a:sym typeface="Calibri (MS)"/>
                </a:rPr>
                <a:t>import javax.swing.JButton;</a:t>
              </a:r>
            </a:p>
            <a:p>
              <a:pPr algn="l">
                <a:lnSpc>
                  <a:spcPts val="605"/>
                </a:lnSpc>
              </a:pPr>
              <a:r>
                <a:rPr lang="en-US" sz="504">
                  <a:solidFill>
                    <a:srgbClr val="4F81BD"/>
                  </a:solidFill>
                  <a:latin typeface="Calibri (MS)"/>
                  <a:ea typeface="Calibri (MS)"/>
                  <a:cs typeface="Calibri (MS)"/>
                  <a:sym typeface="Calibri (MS)"/>
                </a:rPr>
                <a:t>import javax.swing.JComboBox;</a:t>
              </a:r>
            </a:p>
            <a:p>
              <a:pPr algn="l">
                <a:lnSpc>
                  <a:spcPts val="605"/>
                </a:lnSpc>
              </a:pPr>
              <a:r>
                <a:rPr lang="en-US" sz="504">
                  <a:solidFill>
                    <a:srgbClr val="4F81BD"/>
                  </a:solidFill>
                  <a:latin typeface="Calibri (MS)"/>
                  <a:ea typeface="Calibri (MS)"/>
                  <a:cs typeface="Calibri (MS)"/>
                  <a:sym typeface="Calibri (MS)"/>
                </a:rPr>
                <a:t>import javax.swing.JFrame;</a:t>
              </a:r>
            </a:p>
            <a:p>
              <a:pPr algn="l">
                <a:lnSpc>
                  <a:spcPts val="605"/>
                </a:lnSpc>
              </a:pPr>
              <a:r>
                <a:rPr lang="en-US" sz="504">
                  <a:solidFill>
                    <a:srgbClr val="4F81BD"/>
                  </a:solidFill>
                  <a:latin typeface="Calibri (MS)"/>
                  <a:ea typeface="Calibri (MS)"/>
                  <a:cs typeface="Calibri (MS)"/>
                  <a:sym typeface="Calibri (MS)"/>
                </a:rPr>
                <a:t>import javax.swing.JLabel;</a:t>
              </a:r>
            </a:p>
            <a:p>
              <a:pPr algn="l">
                <a:lnSpc>
                  <a:spcPts val="605"/>
                </a:lnSpc>
              </a:pPr>
              <a:r>
                <a:rPr lang="en-US" sz="504">
                  <a:solidFill>
                    <a:srgbClr val="4F81BD"/>
                  </a:solidFill>
                  <a:latin typeface="Calibri (MS)"/>
                  <a:ea typeface="Calibri (MS)"/>
                  <a:cs typeface="Calibri (MS)"/>
                  <a:sym typeface="Calibri (MS)"/>
                </a:rPr>
                <a:t>import javax.swing.JOptionPane;</a:t>
              </a:r>
            </a:p>
            <a:p>
              <a:pPr algn="l">
                <a:lnSpc>
                  <a:spcPts val="605"/>
                </a:lnSpc>
              </a:pPr>
              <a:r>
                <a:rPr lang="en-US" sz="504">
                  <a:solidFill>
                    <a:srgbClr val="4F81BD"/>
                  </a:solidFill>
                  <a:latin typeface="Calibri (MS)"/>
                  <a:ea typeface="Calibri (MS)"/>
                  <a:cs typeface="Calibri (MS)"/>
                  <a:sym typeface="Calibri (MS)"/>
                </a:rPr>
                <a:t>import javax.swing.JPanel;</a:t>
              </a:r>
            </a:p>
            <a:p>
              <a:pPr algn="l">
                <a:lnSpc>
                  <a:spcPts val="605"/>
                </a:lnSpc>
              </a:pPr>
              <a:r>
                <a:rPr lang="en-US" sz="504">
                  <a:solidFill>
                    <a:srgbClr val="4F81BD"/>
                  </a:solidFill>
                  <a:latin typeface="Calibri (MS)"/>
                  <a:ea typeface="Calibri (MS)"/>
                  <a:cs typeface="Calibri (MS)"/>
                  <a:sym typeface="Calibri (MS)"/>
                </a:rPr>
                <a:t>import javax.swing.JTextField;</a:t>
              </a:r>
            </a:p>
            <a:p>
              <a:pPr algn="l">
                <a:lnSpc>
                  <a:spcPts val="605"/>
                </a:lnSpc>
              </a:pPr>
              <a:r>
                <a:rPr lang="en-US" sz="504">
                  <a:solidFill>
                    <a:srgbClr val="4F81BD"/>
                  </a:solidFill>
                  <a:latin typeface="Calibri (MS)"/>
                  <a:ea typeface="Calibri (MS)"/>
                  <a:cs typeface="Calibri (MS)"/>
                  <a:sym typeface="Calibri (MS)"/>
                </a:rPr>
                <a:t>import javax.swing.SwingConstants;</a:t>
              </a:r>
            </a:p>
            <a:p>
              <a:pPr algn="l">
                <a:lnSpc>
                  <a:spcPts val="605"/>
                </a:lnSpc>
              </a:pPr>
              <a:r>
                <a:rPr lang="en-US" sz="504">
                  <a:solidFill>
                    <a:srgbClr val="4F81BD"/>
                  </a:solidFill>
                  <a:latin typeface="Calibri (MS)"/>
                  <a:ea typeface="Calibri (MS)"/>
                  <a:cs typeface="Calibri (MS)"/>
                  <a:sym typeface="Calibri (MS)"/>
                </a:rPr>
                <a:t>import javax.swing.SwingWorker;</a:t>
              </a:r>
            </a:p>
            <a:p>
              <a:pPr algn="l">
                <a:lnSpc>
                  <a:spcPts val="605"/>
                </a:lnSpc>
              </a:pPr>
              <a:r>
                <a:rPr lang="en-US" sz="504">
                  <a:solidFill>
                    <a:srgbClr val="4F81BD"/>
                  </a:solidFill>
                  <a:latin typeface="Calibri (MS)"/>
                  <a:ea typeface="Calibri (MS)"/>
                  <a:cs typeface="Calibri (MS)"/>
                  <a:sym typeface="Calibri (MS)"/>
                </a:rPr>
                <a:t>import javax.swing.WindowConstants;</a:t>
              </a:r>
            </a:p>
            <a:p>
              <a:pPr algn="l">
                <a:lnSpc>
                  <a:spcPts val="605"/>
                </a:lnSpc>
              </a:pPr>
              <a:r>
                <a:rPr lang="en-US" sz="504">
                  <a:solidFill>
                    <a:srgbClr val="4F81BD"/>
                  </a:solidFill>
                  <a:latin typeface="Calibri (MS)"/>
                  <a:ea typeface="Calibri (MS)"/>
                  <a:cs typeface="Calibri (MS)"/>
                  <a:sym typeface="Calibri (MS)"/>
                </a:rPr>
                <a:t>import javax.swing.border.EmptyBorder;</a:t>
              </a:r>
            </a:p>
            <a:p>
              <a:pPr algn="l">
                <a:lnSpc>
                  <a:spcPts val="605"/>
                </a:lnSpc>
              </a:pPr>
              <a:r>
                <a:rPr lang="en-US" sz="504">
                  <a:solidFill>
                    <a:srgbClr val="4F81BD"/>
                  </a:solidFill>
                  <a:latin typeface="Calibri (MS)"/>
                  <a:ea typeface="Calibri (MS)"/>
                  <a:cs typeface="Calibri (MS)"/>
                  <a:sym typeface="Calibri (MS)"/>
                </a:rPr>
                <a:t>import javax.swing.border.LineBorder;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a:t>
              </a:r>
            </a:p>
            <a:p>
              <a:pPr algn="l">
                <a:lnSpc>
                  <a:spcPts val="605"/>
                </a:lnSpc>
              </a:pPr>
              <a:r>
                <a:rPr lang="en-US" sz="504">
                  <a:solidFill>
                    <a:srgbClr val="4F81BD"/>
                  </a:solidFill>
                  <a:latin typeface="Calibri (MS)"/>
                  <a:ea typeface="Calibri (MS)"/>
                  <a:cs typeface="Calibri (MS)"/>
                  <a:sym typeface="Calibri (MS)"/>
                </a:rPr>
                <a:t> * Ventana de conversion (CU-02, CU-03 y CU-04). Solo existe si hay token de</a:t>
              </a:r>
            </a:p>
            <a:p>
              <a:pPr algn="l">
                <a:lnSpc>
                  <a:spcPts val="605"/>
                </a:lnSpc>
              </a:pPr>
              <a:r>
                <a:rPr lang="en-US" sz="504">
                  <a:solidFill>
                    <a:srgbClr val="4F81BD"/>
                  </a:solidFill>
                  <a:latin typeface="Calibri (MS)"/>
                  <a:ea typeface="Calibri (MS)"/>
                  <a:cs typeface="Calibri (MS)"/>
                  <a:sym typeface="Calibri (MS)"/>
                </a:rPr>
                <a:t> * sesion; si el servidor rechaza el token, vuelve al login.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public class ConversionFrame extends JFrame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final ControladorConversiones controlador;</a:t>
              </a:r>
            </a:p>
            <a:p>
              <a:pPr algn="l">
                <a:lnSpc>
                  <a:spcPts val="605"/>
                </a:lnSpc>
              </a:pPr>
              <a:r>
                <a:rPr lang="en-US" sz="504">
                  <a:solidFill>
                    <a:srgbClr val="4F81BD"/>
                  </a:solidFill>
                  <a:latin typeface="Calibri (MS)"/>
                  <a:ea typeface="Calibri (MS)"/>
                  <a:cs typeface="Calibri (MS)"/>
                  <a:sym typeface="Calibri (MS)"/>
                </a:rPr>
                <a:t>    private final JComboBox&lt;String&gt; cmbCategoria = new JComboBox&lt;&gt;();</a:t>
              </a:r>
            </a:p>
            <a:p>
              <a:pPr algn="l">
                <a:lnSpc>
                  <a:spcPts val="605"/>
                </a:lnSpc>
              </a:pPr>
              <a:r>
                <a:rPr lang="en-US" sz="504">
                  <a:solidFill>
                    <a:srgbClr val="4F81BD"/>
                  </a:solidFill>
                  <a:latin typeface="Calibri (MS)"/>
                  <a:ea typeface="Calibri (MS)"/>
                  <a:cs typeface="Calibri (MS)"/>
                  <a:sym typeface="Calibri (MS)"/>
                </a:rPr>
                <a:t>    private final JComboBox&lt;String&gt; cmbOrigen = new JComboBox&lt;&gt;();</a:t>
              </a:r>
            </a:p>
            <a:p>
              <a:pPr algn="l">
                <a:lnSpc>
                  <a:spcPts val="605"/>
                </a:lnSpc>
              </a:pPr>
              <a:r>
                <a:rPr lang="en-US" sz="504">
                  <a:solidFill>
                    <a:srgbClr val="4F81BD"/>
                  </a:solidFill>
                  <a:latin typeface="Calibri (MS)"/>
                  <a:ea typeface="Calibri (MS)"/>
                  <a:cs typeface="Calibri (MS)"/>
                  <a:sym typeface="Calibri (MS)"/>
                </a:rPr>
                <a:t>    private final JComboBox&lt;String&gt; cmbDestino = new JComboBox&lt;&gt;();</a:t>
              </a:r>
            </a:p>
            <a:p>
              <a:pPr algn="l">
                <a:lnSpc>
                  <a:spcPts val="605"/>
                </a:lnSpc>
              </a:pPr>
              <a:r>
                <a:rPr lang="en-US" sz="504">
                  <a:solidFill>
                    <a:srgbClr val="4F81BD"/>
                  </a:solidFill>
                  <a:latin typeface="Calibri (MS)"/>
                  <a:ea typeface="Calibri (MS)"/>
                  <a:cs typeface="Calibri (MS)"/>
                  <a:sym typeface="Calibri (MS)"/>
                </a:rPr>
                <a:t>    private final JTextField txtValor = new JTextField(14);</a:t>
              </a:r>
            </a:p>
            <a:p>
              <a:pPr algn="l">
                <a:lnSpc>
                  <a:spcPts val="605"/>
                </a:lnSpc>
              </a:pPr>
              <a:r>
                <a:rPr lang="en-US" sz="504">
                  <a:solidFill>
                    <a:srgbClr val="4F81BD"/>
                  </a:solidFill>
                  <a:latin typeface="Calibri (MS)"/>
                  <a:ea typeface="Calibri (MS)"/>
                  <a:cs typeface="Calibri (MS)"/>
                  <a:sym typeface="Calibri (MS)"/>
                </a:rPr>
                <a:t>    private final JLabel lblResultado = new JLabel("Resultado", SwingConstants.CENTER);</a:t>
              </a:r>
            </a:p>
            <a:p>
              <a:pPr algn="l">
                <a:lnSpc>
                  <a:spcPts val="605"/>
                </a:lnSpc>
              </a:pPr>
              <a:r>
                <a:rPr lang="en-US" sz="504">
                  <a:solidFill>
                    <a:srgbClr val="4F81BD"/>
                  </a:solidFill>
                  <a:latin typeface="Calibri (MS)"/>
                  <a:ea typeface="Calibri (MS)"/>
                  <a:cs typeface="Calibri (MS)"/>
                  <a:sym typeface="Calibri (MS)"/>
                </a:rPr>
                <a:t>    private final JLabel lblEstado = new JLabel(" ", SwingConstants.CENTER);</a:t>
              </a:r>
            </a:p>
            <a:p>
              <a:pPr algn="l">
                <a:lnSpc>
                  <a:spcPts val="605"/>
                </a:lnSpc>
              </a:pPr>
              <a:r>
                <a:rPr lang="en-US" sz="504">
                  <a:solidFill>
                    <a:srgbClr val="4F81BD"/>
                  </a:solidFill>
                  <a:latin typeface="Calibri (MS)"/>
                  <a:ea typeface="Calibri (MS)"/>
                  <a:cs typeface="Calibri (MS)"/>
                  <a:sym typeface="Calibri (MS)"/>
                </a:rPr>
                <a:t>    private final JButton btnConvertir = Estilo.boton("Convertir");</a:t>
              </a:r>
            </a:p>
            <a:p>
              <a:pPr algn="l">
                <a:lnSpc>
                  <a:spcPts val="605"/>
                </a:lnSpc>
              </a:pPr>
              <a:r>
                <a:rPr lang="en-US" sz="504">
                  <a:solidFill>
                    <a:srgbClr val="4F81BD"/>
                  </a:solidFill>
                  <a:latin typeface="Calibri (MS)"/>
                  <a:ea typeface="Calibri (MS)"/>
                  <a:cs typeface="Calibri (MS)"/>
                  <a:sym typeface="Calibri (MS)"/>
                </a:rPr>
                <a:t>    private final JButton btnIntercambiar = Estilo.boton("Intercambiar");</a:t>
              </a:r>
            </a:p>
            <a:p>
              <a:pPr algn="l">
                <a:lnSpc>
                  <a:spcPts val="605"/>
                </a:lnSpc>
              </a:pPr>
              <a:r>
                <a:rPr lang="en-US" sz="504">
                  <a:solidFill>
                    <a:srgbClr val="4F81BD"/>
                  </a:solidFill>
                  <a:latin typeface="Calibri (MS)"/>
                  <a:ea typeface="Calibri (MS)"/>
                  <a:cs typeface="Calibri (MS)"/>
                  <a:sym typeface="Calibri (MS)"/>
                </a:rPr>
                <a:t>    private boolean cargando;</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public ConversionFrame(ControladorConversiones controlador) {</a:t>
              </a:r>
            </a:p>
            <a:p>
              <a:pPr algn="l">
                <a:lnSpc>
                  <a:spcPts val="605"/>
                </a:lnSpc>
              </a:pPr>
              <a:r>
                <a:rPr lang="en-US" sz="504">
                  <a:solidFill>
                    <a:srgbClr val="4F81BD"/>
                  </a:solidFill>
                  <a:latin typeface="Calibri (MS)"/>
                  <a:ea typeface="Calibri (MS)"/>
                  <a:cs typeface="Calibri (MS)"/>
                  <a:sym typeface="Calibri (MS)"/>
                </a:rPr>
                <a:t>        super("Conversión de Unidades Monster");</a:t>
              </a:r>
            </a:p>
            <a:p>
              <a:pPr algn="l">
                <a:lnSpc>
                  <a:spcPts val="605"/>
                </a:lnSpc>
              </a:pPr>
              <a:r>
                <a:rPr lang="en-US" sz="504">
                  <a:solidFill>
                    <a:srgbClr val="4F81BD"/>
                  </a:solidFill>
                  <a:latin typeface="Calibri (MS)"/>
                  <a:ea typeface="Calibri (MS)"/>
                  <a:cs typeface="Calibri (MS)"/>
                  <a:sym typeface="Calibri (MS)"/>
                </a:rPr>
                <a:t>        this.controlador = controlador;</a:t>
              </a:r>
            </a:p>
            <a:p>
              <a:pPr algn="l">
                <a:lnSpc>
                  <a:spcPts val="605"/>
                </a:lnSpc>
              </a:pPr>
              <a:r>
                <a:rPr lang="en-US" sz="504">
                  <a:solidFill>
                    <a:srgbClr val="4F81BD"/>
                  </a:solidFill>
                  <a:latin typeface="Calibri (MS)"/>
                  <a:ea typeface="Calibri (MS)"/>
                  <a:cs typeface="Calibri (MS)"/>
                  <a:sym typeface="Calibri (MS)"/>
                </a:rPr>
                <a:t>        setDefaultCloseOperation(WindowConstants.EXIT_ON_CLOSE);</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JPanel raiz = new JPanel(new BorderLayout());</a:t>
              </a:r>
            </a:p>
            <a:p>
              <a:pPr algn="l">
                <a:lnSpc>
                  <a:spcPts val="605"/>
                </a:lnSpc>
              </a:pPr>
              <a:r>
                <a:rPr lang="en-US" sz="504">
                  <a:solidFill>
                    <a:srgbClr val="4F81BD"/>
                  </a:solidFill>
                  <a:latin typeface="Calibri (MS)"/>
                  <a:ea typeface="Calibri (MS)"/>
                  <a:cs typeface="Calibri (MS)"/>
                  <a:sym typeface="Calibri (MS)"/>
                </a:rPr>
                <a:t>        raiz.setBackground(Estilo.FONDO);</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Barra superior</a:t>
              </a:r>
            </a:p>
            <a:p>
              <a:pPr algn="l">
                <a:lnSpc>
                  <a:spcPts val="605"/>
                </a:lnSpc>
              </a:pPr>
              <a:r>
                <a:rPr lang="en-US" sz="504">
                  <a:solidFill>
                    <a:srgbClr val="4F81BD"/>
                  </a:solidFill>
                  <a:latin typeface="Calibri (MS)"/>
                  <a:ea typeface="Calibri (MS)"/>
                  <a:cs typeface="Calibri (MS)"/>
                  <a:sym typeface="Calibri (MS)"/>
                </a:rPr>
                <a:t>        JPanel barra = Estilo.cabecera(new BorderLayout());</a:t>
              </a:r>
            </a:p>
            <a:p>
              <a:pPr algn="l">
                <a:lnSpc>
                  <a:spcPts val="605"/>
                </a:lnSpc>
              </a:pPr>
              <a:r>
                <a:rPr lang="en-US" sz="504">
                  <a:solidFill>
                    <a:srgbClr val="4F81BD"/>
                  </a:solidFill>
                  <a:latin typeface="Calibri (MS)"/>
                  <a:ea typeface="Calibri (MS)"/>
                  <a:cs typeface="Calibri (MS)"/>
                  <a:sym typeface="Calibri (MS)"/>
                </a:rPr>
                <a:t>        JLabel titulo = new JLabel("Conversión de Unidades Monster");</a:t>
              </a:r>
            </a:p>
            <a:p>
              <a:pPr algn="l">
                <a:lnSpc>
                  <a:spcPts val="605"/>
                </a:lnSpc>
              </a:pPr>
              <a:r>
                <a:rPr lang="en-US" sz="504">
                  <a:solidFill>
                    <a:srgbClr val="4F81BD"/>
                  </a:solidFill>
                  <a:latin typeface="Calibri (MS)"/>
                  <a:ea typeface="Calibri (MS)"/>
                  <a:cs typeface="Calibri (MS)"/>
                  <a:sym typeface="Calibri (MS)"/>
                </a:rPr>
                <a:t>        titulo.setFont(Estilo.fuente(Font.BOLD, 18));</a:t>
              </a:r>
            </a:p>
            <a:p>
              <a:pPr algn="l">
                <a:lnSpc>
                  <a:spcPts val="605"/>
                </a:lnSpc>
              </a:pPr>
              <a:r>
                <a:rPr lang="en-US" sz="504">
                  <a:solidFill>
                    <a:srgbClr val="4F81BD"/>
                  </a:solidFill>
                  <a:latin typeface="Calibri (MS)"/>
                  <a:ea typeface="Calibri (MS)"/>
                  <a:cs typeface="Calibri (MS)"/>
                  <a:sym typeface="Calibri (MS)"/>
                </a:rPr>
                <a:t>        titulo.setForeground(Color.WHITE);</a:t>
              </a:r>
            </a:p>
            <a:p>
              <a:pPr algn="l">
                <a:lnSpc>
                  <a:spcPts val="605"/>
                </a:lnSpc>
              </a:pPr>
              <a:r>
                <a:rPr lang="en-US" sz="504">
                  <a:solidFill>
                    <a:srgbClr val="4F81BD"/>
                  </a:solidFill>
                  <a:latin typeface="Calibri (MS)"/>
                  <a:ea typeface="Calibri (MS)"/>
                  <a:cs typeface="Calibri (MS)"/>
                  <a:sym typeface="Calibri (MS)"/>
                </a:rPr>
                <a:t>        barra.add(titulo, BorderLayout.WEST);</a:t>
              </a:r>
            </a:p>
            <a:p>
              <a:pPr algn="l">
                <a:lnSpc>
                  <a:spcPts val="605"/>
                </a:lnSpc>
              </a:pPr>
              <a:r>
                <a:rPr lang="en-US" sz="504">
                  <a:solidFill>
                    <a:srgbClr val="4F81BD"/>
                  </a:solidFill>
                  <a:latin typeface="Calibri (MS)"/>
                  <a:ea typeface="Calibri (MS)"/>
                  <a:cs typeface="Calibri (MS)"/>
                  <a:sym typeface="Calibri (MS)"/>
                </a:rPr>
                <a:t>        JButton btnCerrar = Estilo.boton("Cerrar sesión");</a:t>
              </a:r>
            </a:p>
            <a:p>
              <a:pPr algn="l">
                <a:lnSpc>
                  <a:spcPts val="605"/>
                </a:lnSpc>
              </a:pPr>
              <a:r>
                <a:rPr lang="en-US" sz="504">
                  <a:solidFill>
                    <a:srgbClr val="4F81BD"/>
                  </a:solidFill>
                  <a:latin typeface="Calibri (MS)"/>
                  <a:ea typeface="Calibri (MS)"/>
                  <a:cs typeface="Calibri (MS)"/>
                  <a:sym typeface="Calibri (MS)"/>
                </a:rPr>
                <a:t>        btnCerrar.setBackground(Estilo.AZUL_CLARO);</a:t>
              </a:r>
            </a:p>
            <a:p>
              <a:pPr algn="l">
                <a:lnSpc>
                  <a:spcPts val="605"/>
                </a:lnSpc>
              </a:pPr>
              <a:r>
                <a:rPr lang="en-US" sz="504">
                  <a:solidFill>
                    <a:srgbClr val="4F81BD"/>
                  </a:solidFill>
                  <a:latin typeface="Calibri (MS)"/>
                  <a:ea typeface="Calibri (MS)"/>
                  <a:cs typeface="Calibri (MS)"/>
                  <a:sym typeface="Calibri (MS)"/>
                </a:rPr>
                <a:t>        btnCerrar.setPreferredSize(new Dimension(140, 34));</a:t>
              </a:r>
            </a:p>
            <a:p>
              <a:pPr algn="l">
                <a:lnSpc>
                  <a:spcPts val="605"/>
                </a:lnSpc>
              </a:pPr>
              <a:r>
                <a:rPr lang="en-US" sz="504">
                  <a:solidFill>
                    <a:srgbClr val="4F81BD"/>
                  </a:solidFill>
                  <a:latin typeface="Calibri (MS)"/>
                  <a:ea typeface="Calibri (MS)"/>
                  <a:cs typeface="Calibri (MS)"/>
                  <a:sym typeface="Calibri (MS)"/>
                </a:rPr>
                <a:t>        barra.add(btnCerrar, BorderLayout.EAST);</a:t>
              </a:r>
            </a:p>
            <a:p>
              <a:pPr algn="l">
                <a:lnSpc>
                  <a:spcPts val="605"/>
                </a:lnSpc>
              </a:pPr>
              <a:r>
                <a:rPr lang="en-US" sz="504">
                  <a:solidFill>
                    <a:srgbClr val="4F81BD"/>
                  </a:solidFill>
                  <a:latin typeface="Calibri (MS)"/>
                  <a:ea typeface="Calibri (MS)"/>
                  <a:cs typeface="Calibri (MS)"/>
                  <a:sym typeface="Calibri (MS)"/>
                </a:rPr>
                <a:t>        raiz.add(barra, BorderLayout.NORTH);</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Formulario dentro de una tarjeta</a:t>
              </a:r>
            </a:p>
            <a:p>
              <a:pPr algn="l">
                <a:lnSpc>
                  <a:spcPts val="605"/>
                </a:lnSpc>
              </a:pPr>
              <a:r>
                <a:rPr lang="en-US" sz="504">
                  <a:solidFill>
                    <a:srgbClr val="4F81BD"/>
                  </a:solidFill>
                  <a:latin typeface="Calibri (MS)"/>
                  <a:ea typeface="Calibri (MS)"/>
                  <a:cs typeface="Calibri (MS)"/>
                  <a:sym typeface="Calibri (MS)"/>
                </a:rPr>
                <a:t>        JPanel centro = new JPanel(new BorderLayout(0, 0));</a:t>
              </a:r>
            </a:p>
            <a:p>
              <a:pPr algn="l">
                <a:lnSpc>
                  <a:spcPts val="605"/>
                </a:lnSpc>
              </a:pPr>
              <a:r>
                <a:rPr lang="en-US" sz="504">
                  <a:solidFill>
                    <a:srgbClr val="4F81BD"/>
                  </a:solidFill>
                  <a:latin typeface="Calibri (MS)"/>
                  <a:ea typeface="Calibri (MS)"/>
                  <a:cs typeface="Calibri (MS)"/>
                  <a:sym typeface="Calibri (MS)"/>
                </a:rPr>
                <a:t>        centro.setOpaque(false);</a:t>
              </a:r>
            </a:p>
            <a:p>
              <a:pPr algn="l">
                <a:lnSpc>
                  <a:spcPts val="605"/>
                </a:lnSpc>
              </a:pPr>
              <a:r>
                <a:rPr lang="en-US" sz="504">
                  <a:solidFill>
                    <a:srgbClr val="4F81BD"/>
                  </a:solidFill>
                  <a:latin typeface="Calibri (MS)"/>
                  <a:ea typeface="Calibri (MS)"/>
                  <a:cs typeface="Calibri (MS)"/>
                  <a:sym typeface="Calibri (MS)"/>
                </a:rPr>
                <a:t>        centro.setBorder(new EmptyBorder(16, 18, 14, 18));</a:t>
              </a:r>
            </a:p>
            <a:p>
              <a:pPr algn="l">
                <a:lnSpc>
                  <a:spcPts val="605"/>
                </a:lnSpc>
              </a:pPr>
              <a:r>
                <a:rPr lang="en-US" sz="504">
                  <a:solidFill>
                    <a:srgbClr val="4F81BD"/>
                  </a:solidFill>
                  <a:latin typeface="Calibri (MS)"/>
                  <a:ea typeface="Calibri (MS)"/>
                  <a:cs typeface="Calibri (MS)"/>
                  <a:sym typeface="Calibri (MS)"/>
                </a:rPr>
                <a:t>        JPanel tarjeta = Estilo.tarjeta(new BorderLayout(0, 10));</a:t>
              </a:r>
            </a:p>
            <a:p>
              <a:pPr algn="l">
                <a:lnSpc>
                  <a:spcPts val="605"/>
                </a:lnSpc>
              </a:pPr>
              <a:r>
                <a:rPr lang="en-US" sz="504">
                  <a:solidFill>
                    <a:srgbClr val="4F81BD"/>
                  </a:solidFill>
                  <a:latin typeface="Calibri (MS)"/>
                  <a:ea typeface="Calibri (MS)"/>
                  <a:cs typeface="Calibri (MS)"/>
                  <a:sym typeface="Calibri (MS)"/>
                </a:rPr>
                <a:t>        centro.add(tarjeta, BorderLayout.CENTER);</a:t>
              </a:r>
            </a:p>
            <a:p>
              <a:pPr algn="l">
                <a:lnSpc>
                  <a:spcPts val="605"/>
                </a:lnSpc>
              </a:pPr>
              <a:r>
                <a:rPr lang="en-US" sz="504">
                  <a:solidFill>
                    <a:srgbClr val="4F81BD"/>
                  </a:solidFill>
                  <a:latin typeface="Calibri (MS)"/>
                  <a:ea typeface="Calibri (MS)"/>
                  <a:cs typeface="Calibri (MS)"/>
                  <a:sym typeface="Calibri (MS)"/>
                </a:rPr>
                <a:t>        JPanel form = new JPanel(new GridBagLayout());</a:t>
              </a:r>
            </a:p>
            <a:p>
              <a:pPr algn="l">
                <a:lnSpc>
                  <a:spcPts val="605"/>
                </a:lnSpc>
              </a:pPr>
              <a:r>
                <a:rPr lang="en-US" sz="504">
                  <a:solidFill>
                    <a:srgbClr val="4F81BD"/>
                  </a:solidFill>
                  <a:latin typeface="Calibri (MS)"/>
                  <a:ea typeface="Calibri (MS)"/>
                  <a:cs typeface="Calibri (MS)"/>
                  <a:sym typeface="Calibri (MS)"/>
                </a:rPr>
                <a:t>        form.setOpaque(false);</a:t>
              </a:r>
            </a:p>
            <a:p>
              <a:pPr algn="l">
                <a:lnSpc>
                  <a:spcPts val="605"/>
                </a:lnSpc>
              </a:pPr>
              <a:r>
                <a:rPr lang="en-US" sz="504">
                  <a:solidFill>
                    <a:srgbClr val="4F81BD"/>
                  </a:solidFill>
                  <a:latin typeface="Calibri (MS)"/>
                  <a:ea typeface="Calibri (MS)"/>
                  <a:cs typeface="Calibri (MS)"/>
                  <a:sym typeface="Calibri (MS)"/>
                </a:rPr>
                <a:t>        GridBagConstraints c = new GridBagConstraints();</a:t>
              </a:r>
            </a:p>
            <a:p>
              <a:pPr algn="l">
                <a:lnSpc>
                  <a:spcPts val="605"/>
                </a:lnSpc>
              </a:pPr>
              <a:r>
                <a:rPr lang="en-US" sz="504">
                  <a:solidFill>
                    <a:srgbClr val="4F81BD"/>
                  </a:solidFill>
                  <a:latin typeface="Calibri (MS)"/>
                  <a:ea typeface="Calibri (MS)"/>
                  <a:cs typeface="Calibri (MS)"/>
                  <a:sym typeface="Calibri (MS)"/>
                </a:rPr>
                <a:t>        c.insets = new Insets(6, 4, 6, 4);</a:t>
              </a:r>
            </a:p>
            <a:p>
              <a:pPr algn="l">
                <a:lnSpc>
                  <a:spcPts val="605"/>
                </a:lnSpc>
              </a:pPr>
              <a:r>
                <a:rPr lang="en-US" sz="504">
                  <a:solidFill>
                    <a:srgbClr val="4F81BD"/>
                  </a:solidFill>
                  <a:latin typeface="Calibri (MS)"/>
                  <a:ea typeface="Calibri (MS)"/>
                  <a:cs typeface="Calibri (MS)"/>
                  <a:sym typeface="Calibri (MS)"/>
                </a:rPr>
                <a:t>        c.anchor = GridBagConstraints.WEST;</a:t>
              </a:r>
            </a:p>
            <a:p>
              <a:pPr algn="l">
                <a:lnSpc>
                  <a:spcPts val="605"/>
                </a:lnSpc>
              </a:pPr>
              <a:r>
                <a:rPr lang="en-US" sz="504">
                  <a:solidFill>
                    <a:srgbClr val="4F81BD"/>
                  </a:solidFill>
                  <a:latin typeface="Calibri (MS)"/>
                  <a:ea typeface="Calibri (MS)"/>
                  <a:cs typeface="Calibri (MS)"/>
                  <a:sym typeface="Calibri (MS)"/>
                </a:rPr>
                <a:t>        c.fill = GridBagConstraints.HORIZONTAL;</a:t>
              </a:r>
            </a:p>
            <a:p>
              <a:pPr algn="l">
                <a:lnSpc>
                  <a:spcPts val="605"/>
                </a:lnSpc>
              </a:pPr>
              <a:r>
                <a:rPr lang="en-US" sz="504">
                  <a:solidFill>
                    <a:srgbClr val="4F81BD"/>
                  </a:solidFill>
                  <a:latin typeface="Calibri (MS)"/>
                  <a:ea typeface="Calibri (MS)"/>
                  <a:cs typeface="Calibri (MS)"/>
                  <a:sym typeface="Calibri (MS)"/>
                </a:rPr>
                <a:t>        for (JComboBox&lt;String&gt; cmb : List.of(cmbCategoria, cmbOrigen, cmbDestino)) {</a:t>
              </a:r>
            </a:p>
            <a:p>
              <a:pPr algn="l">
                <a:lnSpc>
                  <a:spcPts val="605"/>
                </a:lnSpc>
              </a:pPr>
              <a:r>
                <a:rPr lang="en-US" sz="504">
                  <a:solidFill>
                    <a:srgbClr val="4F81BD"/>
                  </a:solidFill>
                  <a:latin typeface="Calibri (MS)"/>
                  <a:ea typeface="Calibri (MS)"/>
                  <a:cs typeface="Calibri (MS)"/>
                  <a:sym typeface="Calibri (MS)"/>
                </a:rPr>
                <a:t>            Estilo.estilizarCombo(cmb);</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Estilo.estilizarCampo(txtValor);</a:t>
              </a:r>
            </a:p>
            <a:p>
              <a:pPr algn="l">
                <a:lnSpc>
                  <a:spcPts val="605"/>
                </a:lnSpc>
              </a:pPr>
              <a:r>
                <a:rPr lang="en-US" sz="504">
                  <a:solidFill>
                    <a:srgbClr val="4F81BD"/>
                  </a:solidFill>
                  <a:latin typeface="Calibri (MS)"/>
                  <a:ea typeface="Calibri (MS)"/>
                  <a:cs typeface="Calibri (MS)"/>
                  <a:sym typeface="Calibri (MS)"/>
                </a:rPr>
                <a:t>        fila(form, c, 0, "Categoría", cmbCategoria);</a:t>
              </a:r>
            </a:p>
            <a:p>
              <a:pPr algn="l">
                <a:lnSpc>
                  <a:spcPts val="605"/>
                </a:lnSpc>
              </a:pPr>
              <a:r>
                <a:rPr lang="en-US" sz="504">
                  <a:solidFill>
                    <a:srgbClr val="4F81BD"/>
                  </a:solidFill>
                  <a:latin typeface="Calibri (MS)"/>
                  <a:ea typeface="Calibri (MS)"/>
                  <a:cs typeface="Calibri (MS)"/>
                  <a:sym typeface="Calibri (MS)"/>
                </a:rPr>
                <a:t>        fila(form, c, 1, "De", cmbOrigen);</a:t>
              </a:r>
            </a:p>
            <a:p>
              <a:pPr algn="l">
                <a:lnSpc>
                  <a:spcPts val="605"/>
                </a:lnSpc>
              </a:pPr>
              <a:r>
                <a:rPr lang="en-US" sz="504">
                  <a:solidFill>
                    <a:srgbClr val="4F81BD"/>
                  </a:solidFill>
                  <a:latin typeface="Calibri (MS)"/>
                  <a:ea typeface="Calibri (MS)"/>
                  <a:cs typeface="Calibri (MS)"/>
                  <a:sym typeface="Calibri (MS)"/>
                </a:rPr>
                <a:t>        c.gridx = 1;</a:t>
              </a:r>
            </a:p>
            <a:p>
              <a:pPr algn="l">
                <a:lnSpc>
                  <a:spcPts val="605"/>
                </a:lnSpc>
              </a:pPr>
              <a:r>
                <a:rPr lang="en-US" sz="504">
                  <a:solidFill>
                    <a:srgbClr val="4F81BD"/>
                  </a:solidFill>
                  <a:latin typeface="Calibri (MS)"/>
                  <a:ea typeface="Calibri (MS)"/>
                  <a:cs typeface="Calibri (MS)"/>
                  <a:sym typeface="Calibri (MS)"/>
                </a:rPr>
                <a:t>        c.gridy = 2;</a:t>
              </a:r>
            </a:p>
            <a:p>
              <a:pPr algn="l">
                <a:lnSpc>
                  <a:spcPts val="605"/>
                </a:lnSpc>
              </a:pPr>
              <a:r>
                <a:rPr lang="en-US" sz="504">
                  <a:solidFill>
                    <a:srgbClr val="4F81BD"/>
                  </a:solidFill>
                  <a:latin typeface="Calibri (MS)"/>
                  <a:ea typeface="Calibri (MS)"/>
                  <a:cs typeface="Calibri (MS)"/>
                  <a:sym typeface="Calibri (MS)"/>
                </a:rPr>
                <a:t>        c.fill = GridBagConstraints.NONE;</a:t>
              </a:r>
            </a:p>
            <a:p>
              <a:pPr algn="l">
                <a:lnSpc>
                  <a:spcPts val="605"/>
                </a:lnSpc>
              </a:pPr>
              <a:r>
                <a:rPr lang="en-US" sz="504">
                  <a:solidFill>
                    <a:srgbClr val="4F81BD"/>
                  </a:solidFill>
                  <a:latin typeface="Calibri (MS)"/>
                  <a:ea typeface="Calibri (MS)"/>
                  <a:cs typeface="Calibri (MS)"/>
                  <a:sym typeface="Calibri (MS)"/>
                </a:rPr>
                <a:t>        c.anchor = GridBagConstraints.CENTER;</a:t>
              </a:r>
            </a:p>
            <a:p>
              <a:pPr algn="l">
                <a:lnSpc>
                  <a:spcPts val="605"/>
                </a:lnSpc>
              </a:pPr>
              <a:r>
                <a:rPr lang="en-US" sz="504">
                  <a:solidFill>
                    <a:srgbClr val="4F81BD"/>
                  </a:solidFill>
                  <a:latin typeface="Calibri (MS)"/>
                  <a:ea typeface="Calibri (MS)"/>
                  <a:cs typeface="Calibri (MS)"/>
                  <a:sym typeface="Calibri (MS)"/>
                </a:rPr>
                <a:t>        btnIntercambiar.setPreferredSize(new Dimension(160, 34));</a:t>
              </a:r>
            </a:p>
            <a:p>
              <a:pPr algn="l">
                <a:lnSpc>
                  <a:spcPts val="605"/>
                </a:lnSpc>
              </a:pPr>
              <a:r>
                <a:rPr lang="en-US" sz="504">
                  <a:solidFill>
                    <a:srgbClr val="4F81BD"/>
                  </a:solidFill>
                  <a:latin typeface="Calibri (MS)"/>
                  <a:ea typeface="Calibri (MS)"/>
                  <a:cs typeface="Calibri (MS)"/>
                  <a:sym typeface="Calibri (MS)"/>
                </a:rPr>
                <a:t>        form.add(btnIntercambiar, c);</a:t>
              </a:r>
            </a:p>
            <a:p>
              <a:pPr algn="l">
                <a:lnSpc>
                  <a:spcPts val="605"/>
                </a:lnSpc>
              </a:pPr>
              <a:r>
                <a:rPr lang="en-US" sz="504">
                  <a:solidFill>
                    <a:srgbClr val="4F81BD"/>
                  </a:solidFill>
                  <a:latin typeface="Calibri (MS)"/>
                  <a:ea typeface="Calibri (MS)"/>
                  <a:cs typeface="Calibri (MS)"/>
                  <a:sym typeface="Calibri (MS)"/>
                </a:rPr>
                <a:t>        c.fill = GridBagConstraints.HORIZONTAL;</a:t>
              </a:r>
            </a:p>
            <a:p>
              <a:pPr algn="l">
                <a:lnSpc>
                  <a:spcPts val="605"/>
                </a:lnSpc>
              </a:pPr>
              <a:r>
                <a:rPr lang="en-US" sz="504">
                  <a:solidFill>
                    <a:srgbClr val="4F81BD"/>
                  </a:solidFill>
                  <a:latin typeface="Calibri (MS)"/>
                  <a:ea typeface="Calibri (MS)"/>
                  <a:cs typeface="Calibri (MS)"/>
                  <a:sym typeface="Calibri (MS)"/>
                </a:rPr>
                <a:t>        c.anchor = GridBagConstraints.WEST;</a:t>
              </a:r>
            </a:p>
            <a:p>
              <a:pPr algn="l">
                <a:lnSpc>
                  <a:spcPts val="605"/>
                </a:lnSpc>
              </a:pPr>
              <a:r>
                <a:rPr lang="en-US" sz="504">
                  <a:solidFill>
                    <a:srgbClr val="4F81BD"/>
                  </a:solidFill>
                  <a:latin typeface="Calibri (MS)"/>
                  <a:ea typeface="Calibri (MS)"/>
                  <a:cs typeface="Calibri (MS)"/>
                  <a:sym typeface="Calibri (MS)"/>
                </a:rPr>
                <a:t>        fila(form, c, 3, "A", cmbDestino);</a:t>
              </a:r>
            </a:p>
            <a:p>
              <a:pPr algn="l">
                <a:lnSpc>
                  <a:spcPts val="605"/>
                </a:lnSpc>
              </a:pPr>
              <a:r>
                <a:rPr lang="en-US" sz="504">
                  <a:solidFill>
                    <a:srgbClr val="4F81BD"/>
                  </a:solidFill>
                  <a:latin typeface="Calibri (MS)"/>
                  <a:ea typeface="Calibri (MS)"/>
                  <a:cs typeface="Calibri (MS)"/>
                  <a:sym typeface="Calibri (MS)"/>
                </a:rPr>
                <a:t>        fila(form, c, 4, "Valor", txtValor);</a:t>
              </a:r>
            </a:p>
            <a:p>
              <a:pPr algn="l">
                <a:lnSpc>
                  <a:spcPts val="605"/>
                </a:lnSpc>
              </a:pPr>
              <a:r>
                <a:rPr lang="en-US" sz="504">
                  <a:solidFill>
                    <a:srgbClr val="4F81BD"/>
                  </a:solidFill>
                  <a:latin typeface="Calibri (MS)"/>
                  <a:ea typeface="Calibri (MS)"/>
                  <a:cs typeface="Calibri (MS)"/>
                  <a:sym typeface="Calibri (MS)"/>
                </a:rPr>
                <a:t>        tarjeta.add(form, BorderLayout.CENTER);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Resultado y estado</a:t>
              </a:r>
            </a:p>
            <a:p>
              <a:pPr algn="l">
                <a:lnSpc>
                  <a:spcPts val="605"/>
                </a:lnSpc>
              </a:pPr>
              <a:r>
                <a:rPr lang="en-US" sz="504">
                  <a:solidFill>
                    <a:srgbClr val="4F81BD"/>
                  </a:solidFill>
                  <a:latin typeface="Calibri (MS)"/>
                  <a:ea typeface="Calibri (MS)"/>
                  <a:cs typeface="Calibri (MS)"/>
                  <a:sym typeface="Calibri (MS)"/>
                </a:rPr>
                <a:t>        JPanel sur = new JPanel(new BorderLayout(0, 8));</a:t>
              </a:r>
            </a:p>
            <a:p>
              <a:pPr algn="l">
                <a:lnSpc>
                  <a:spcPts val="605"/>
                </a:lnSpc>
              </a:pPr>
              <a:r>
                <a:rPr lang="en-US" sz="504">
                  <a:solidFill>
                    <a:srgbClr val="4F81BD"/>
                  </a:solidFill>
                  <a:latin typeface="Calibri (MS)"/>
                  <a:ea typeface="Calibri (MS)"/>
                  <a:cs typeface="Calibri (MS)"/>
                  <a:sym typeface="Calibri (MS)"/>
                </a:rPr>
                <a:t>        sur.setOpaque(false);</a:t>
              </a:r>
            </a:p>
            <a:p>
              <a:pPr algn="l">
                <a:lnSpc>
                  <a:spcPts val="605"/>
                </a:lnSpc>
              </a:pPr>
              <a:r>
                <a:rPr lang="en-US" sz="504">
                  <a:solidFill>
                    <a:srgbClr val="4F81BD"/>
                  </a:solidFill>
                  <a:latin typeface="Calibri (MS)"/>
                  <a:ea typeface="Calibri (MS)"/>
                  <a:cs typeface="Calibri (MS)"/>
                  <a:sym typeface="Calibri (MS)"/>
                </a:rPr>
                <a:t>        JPanel botonPanel = new JPanel();</a:t>
              </a:r>
            </a:p>
            <a:p>
              <a:pPr algn="l">
                <a:lnSpc>
                  <a:spcPts val="605"/>
                </a:lnSpc>
              </a:pPr>
              <a:r>
                <a:rPr lang="en-US" sz="504">
                  <a:solidFill>
                    <a:srgbClr val="4F81BD"/>
                  </a:solidFill>
                  <a:latin typeface="Calibri (MS)"/>
                  <a:ea typeface="Calibri (MS)"/>
                  <a:cs typeface="Calibri (MS)"/>
                  <a:sym typeface="Calibri (MS)"/>
                </a:rPr>
                <a:t>        botonPanel.setOpaque(false);</a:t>
              </a:r>
            </a:p>
            <a:p>
              <a:pPr algn="l">
                <a:lnSpc>
                  <a:spcPts val="605"/>
                </a:lnSpc>
              </a:pPr>
              <a:r>
                <a:rPr lang="en-US" sz="504">
                  <a:solidFill>
                    <a:srgbClr val="4F81BD"/>
                  </a:solidFill>
                  <a:latin typeface="Calibri (MS)"/>
                  <a:ea typeface="Calibri (MS)"/>
                  <a:cs typeface="Calibri (MS)"/>
                  <a:sym typeface="Calibri (MS)"/>
                </a:rPr>
                <a:t>        botonPanel.add(btnConvertir);</a:t>
              </a:r>
            </a:p>
            <a:p>
              <a:pPr algn="l">
                <a:lnSpc>
                  <a:spcPts val="605"/>
                </a:lnSpc>
              </a:pPr>
              <a:r>
                <a:rPr lang="en-US" sz="504">
                  <a:solidFill>
                    <a:srgbClr val="4F81BD"/>
                  </a:solidFill>
                  <a:latin typeface="Calibri (MS)"/>
                  <a:ea typeface="Calibri (MS)"/>
                  <a:cs typeface="Calibri (MS)"/>
                  <a:sym typeface="Calibri (MS)"/>
                </a:rPr>
                <a:t>        sur.add(botonPanel, BorderLayout.NORTH);</a:t>
              </a:r>
            </a:p>
            <a:p>
              <a:pPr algn="l">
                <a:lnSpc>
                  <a:spcPts val="605"/>
                </a:lnSpc>
              </a:pPr>
              <a:r>
                <a:rPr lang="en-US" sz="504">
                  <a:solidFill>
                    <a:srgbClr val="4F81BD"/>
                  </a:solidFill>
                  <a:latin typeface="Calibri (MS)"/>
                  <a:ea typeface="Calibri (MS)"/>
                  <a:cs typeface="Calibri (MS)"/>
                  <a:sym typeface="Calibri (MS)"/>
                </a:rPr>
                <a:t>        lblResultado.setFont(Estilo.fuente(Font.BOLD, 20));</a:t>
              </a:r>
            </a:p>
            <a:p>
              <a:pPr algn="l">
                <a:lnSpc>
                  <a:spcPts val="605"/>
                </a:lnSpc>
              </a:pPr>
              <a:r>
                <a:rPr lang="en-US" sz="504">
                  <a:solidFill>
                    <a:srgbClr val="4F81BD"/>
                  </a:solidFill>
                  <a:latin typeface="Calibri (MS)"/>
                  <a:ea typeface="Calibri (MS)"/>
                  <a:cs typeface="Calibri (MS)"/>
                  <a:sym typeface="Calibri (MS)"/>
                </a:rPr>
                <a:t>        lblResultado.setForeground(Estilo.AZUL);</a:t>
              </a:r>
            </a:p>
          </p:txBody>
        </p:sp>
      </p:gr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ConversionFrame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conversión (CU-02, CU-03 y CU-04).</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605"/>
                </a:lnSpc>
              </a:pPr>
              <a:r>
                <a:rPr lang="en-US" sz="504">
                  <a:solidFill>
                    <a:srgbClr val="4F81BD"/>
                  </a:solidFill>
                  <a:latin typeface="Calibri (MS)"/>
                  <a:ea typeface="Calibri (MS)"/>
                  <a:cs typeface="Calibri (MS)"/>
                  <a:sym typeface="Calibri (MS)"/>
                </a:rPr>
                <a:t>        lblResultado.setOpaque(true);</a:t>
              </a:r>
            </a:p>
            <a:p>
              <a:pPr algn="l">
                <a:lnSpc>
                  <a:spcPts val="605"/>
                </a:lnSpc>
              </a:pPr>
              <a:r>
                <a:rPr lang="en-US" sz="504">
                  <a:solidFill>
                    <a:srgbClr val="4F81BD"/>
                  </a:solidFill>
                  <a:latin typeface="Calibri (MS)"/>
                  <a:ea typeface="Calibri (MS)"/>
                  <a:cs typeface="Calibri (MS)"/>
                  <a:sym typeface="Calibri (MS)"/>
                </a:rPr>
                <a:t>        lblResultado.setBackground(Estilo.CELESTE);</a:t>
              </a:r>
            </a:p>
            <a:p>
              <a:pPr algn="l">
                <a:lnSpc>
                  <a:spcPts val="605"/>
                </a:lnSpc>
              </a:pPr>
              <a:r>
                <a:rPr lang="en-US" sz="504">
                  <a:solidFill>
                    <a:srgbClr val="4F81BD"/>
                  </a:solidFill>
                  <a:latin typeface="Calibri (MS)"/>
                  <a:ea typeface="Calibri (MS)"/>
                  <a:cs typeface="Calibri (MS)"/>
                  <a:sym typeface="Calibri (MS)"/>
                </a:rPr>
                <a:t>        lblResultado.setBorder(new LineBorder(Estilo.AZUL_CLARO, 2, true));</a:t>
              </a:r>
            </a:p>
            <a:p>
              <a:pPr algn="l">
                <a:lnSpc>
                  <a:spcPts val="605"/>
                </a:lnSpc>
              </a:pPr>
              <a:r>
                <a:rPr lang="en-US" sz="504">
                  <a:solidFill>
                    <a:srgbClr val="4F81BD"/>
                  </a:solidFill>
                  <a:latin typeface="Calibri (MS)"/>
                  <a:ea typeface="Calibri (MS)"/>
                  <a:cs typeface="Calibri (MS)"/>
                  <a:sym typeface="Calibri (MS)"/>
                </a:rPr>
                <a:t>        lblResultado.setPreferredSize(new Dimension(380, 60));</a:t>
              </a:r>
            </a:p>
            <a:p>
              <a:pPr algn="l">
                <a:lnSpc>
                  <a:spcPts val="605"/>
                </a:lnSpc>
              </a:pPr>
              <a:r>
                <a:rPr lang="en-US" sz="504">
                  <a:solidFill>
                    <a:srgbClr val="4F81BD"/>
                  </a:solidFill>
                  <a:latin typeface="Calibri (MS)"/>
                  <a:ea typeface="Calibri (MS)"/>
                  <a:cs typeface="Calibri (MS)"/>
                  <a:sym typeface="Calibri (MS)"/>
                </a:rPr>
                <a:t>        sur.add(lblResultado, BorderLayout.CENTER);</a:t>
              </a:r>
            </a:p>
            <a:p>
              <a:pPr algn="l">
                <a:lnSpc>
                  <a:spcPts val="605"/>
                </a:lnSpc>
              </a:pPr>
              <a:r>
                <a:rPr lang="en-US" sz="504">
                  <a:solidFill>
                    <a:srgbClr val="4F81BD"/>
                  </a:solidFill>
                  <a:latin typeface="Calibri (MS)"/>
                  <a:ea typeface="Calibri (MS)"/>
                  <a:cs typeface="Calibri (MS)"/>
                  <a:sym typeface="Calibri (MS)"/>
                </a:rPr>
                <a:t>        lblEstado.setFont(Estilo.fuente(Font.PLAIN, 13));</a:t>
              </a:r>
            </a:p>
            <a:p>
              <a:pPr algn="l">
                <a:lnSpc>
                  <a:spcPts val="605"/>
                </a:lnSpc>
              </a:pPr>
              <a:r>
                <a:rPr lang="en-US" sz="504">
                  <a:solidFill>
                    <a:srgbClr val="4F81BD"/>
                  </a:solidFill>
                  <a:latin typeface="Calibri (MS)"/>
                  <a:ea typeface="Calibri (MS)"/>
                  <a:cs typeface="Calibri (MS)"/>
                  <a:sym typeface="Calibri (MS)"/>
                </a:rPr>
                <a:t>        lblEstado.setPreferredSize(new Dimension(380, 24));</a:t>
              </a:r>
            </a:p>
            <a:p>
              <a:pPr algn="l">
                <a:lnSpc>
                  <a:spcPts val="605"/>
                </a:lnSpc>
              </a:pPr>
              <a:r>
                <a:rPr lang="en-US" sz="504">
                  <a:solidFill>
                    <a:srgbClr val="4F81BD"/>
                  </a:solidFill>
                  <a:latin typeface="Calibri (MS)"/>
                  <a:ea typeface="Calibri (MS)"/>
                  <a:cs typeface="Calibri (MS)"/>
                  <a:sym typeface="Calibri (MS)"/>
                </a:rPr>
                <a:t>        sur.add(lblEstado, BorderLayout.SOUTH);</a:t>
              </a:r>
            </a:p>
            <a:p>
              <a:pPr algn="l">
                <a:lnSpc>
                  <a:spcPts val="605"/>
                </a:lnSpc>
              </a:pPr>
              <a:r>
                <a:rPr lang="en-US" sz="504">
                  <a:solidFill>
                    <a:srgbClr val="4F81BD"/>
                  </a:solidFill>
                  <a:latin typeface="Calibri (MS)"/>
                  <a:ea typeface="Calibri (MS)"/>
                  <a:cs typeface="Calibri (MS)"/>
                  <a:sym typeface="Calibri (MS)"/>
                </a:rPr>
                <a:t>        tarjeta.add(sur, BorderLayout.SOUTH);</a:t>
              </a:r>
            </a:p>
            <a:p>
              <a:pPr algn="l">
                <a:lnSpc>
                  <a:spcPts val="605"/>
                </a:lnSpc>
              </a:pPr>
              <a:r>
                <a:rPr lang="en-US" sz="504">
                  <a:solidFill>
                    <a:srgbClr val="4F81BD"/>
                  </a:solidFill>
                  <a:latin typeface="Calibri (MS)"/>
                  <a:ea typeface="Calibri (MS)"/>
                  <a:cs typeface="Calibri (MS)"/>
                  <a:sym typeface="Calibri (MS)"/>
                </a:rPr>
                <a:t>        raiz.add(centro, BorderLayout.CENTER);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setContentPane(raiz);</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Eventos</a:t>
              </a:r>
            </a:p>
            <a:p>
              <a:pPr algn="l">
                <a:lnSpc>
                  <a:spcPts val="605"/>
                </a:lnSpc>
              </a:pPr>
              <a:r>
                <a:rPr lang="en-US" sz="504">
                  <a:solidFill>
                    <a:srgbClr val="4F81BD"/>
                  </a:solidFill>
                  <a:latin typeface="Calibri (MS)"/>
                  <a:ea typeface="Calibri (MS)"/>
                  <a:cs typeface="Calibri (MS)"/>
                  <a:sym typeface="Calibri (MS)"/>
                </a:rPr>
                <a:t>        btnCerrar.addActionListener(e -&gt; volverAlLogin());</a:t>
              </a:r>
            </a:p>
            <a:p>
              <a:pPr algn="l">
                <a:lnSpc>
                  <a:spcPts val="605"/>
                </a:lnSpc>
              </a:pPr>
              <a:r>
                <a:rPr lang="en-US" sz="504">
                  <a:solidFill>
                    <a:srgbClr val="4F81BD"/>
                  </a:solidFill>
                  <a:latin typeface="Calibri (MS)"/>
                  <a:ea typeface="Calibri (MS)"/>
                  <a:cs typeface="Calibri (MS)"/>
                  <a:sym typeface="Calibri (MS)"/>
                </a:rPr>
                <a:t>        btnConvertir.addActionListener(e -&gt; convertir());</a:t>
              </a:r>
            </a:p>
            <a:p>
              <a:pPr algn="l">
                <a:lnSpc>
                  <a:spcPts val="605"/>
                </a:lnSpc>
              </a:pPr>
              <a:r>
                <a:rPr lang="en-US" sz="504">
                  <a:solidFill>
                    <a:srgbClr val="4F81BD"/>
                  </a:solidFill>
                  <a:latin typeface="Calibri (MS)"/>
                  <a:ea typeface="Calibri (MS)"/>
                  <a:cs typeface="Calibri (MS)"/>
                  <a:sym typeface="Calibri (MS)"/>
                </a:rPr>
                <a:t>        txtValor.addActionListener(e -&gt; convertir());</a:t>
              </a:r>
            </a:p>
            <a:p>
              <a:pPr algn="l">
                <a:lnSpc>
                  <a:spcPts val="605"/>
                </a:lnSpc>
              </a:pPr>
              <a:r>
                <a:rPr lang="en-US" sz="504">
                  <a:solidFill>
                    <a:srgbClr val="4F81BD"/>
                  </a:solidFill>
                  <a:latin typeface="Calibri (MS)"/>
                  <a:ea typeface="Calibri (MS)"/>
                  <a:cs typeface="Calibri (MS)"/>
                  <a:sym typeface="Calibri (MS)"/>
                </a:rPr>
                <a:t>        btnIntercambiar.addActionListener(e -&gt; intercambiar());</a:t>
              </a:r>
            </a:p>
            <a:p>
              <a:pPr algn="l">
                <a:lnSpc>
                  <a:spcPts val="605"/>
                </a:lnSpc>
              </a:pPr>
              <a:r>
                <a:rPr lang="en-US" sz="504">
                  <a:solidFill>
                    <a:srgbClr val="4F81BD"/>
                  </a:solidFill>
                  <a:latin typeface="Calibri (MS)"/>
                  <a:ea typeface="Calibri (MS)"/>
                  <a:cs typeface="Calibri (MS)"/>
                  <a:sym typeface="Calibri (MS)"/>
                </a:rPr>
                <a:t>        cmbCategoria.addActionListener(e -&gt; {</a:t>
              </a:r>
            </a:p>
            <a:p>
              <a:pPr algn="l">
                <a:lnSpc>
                  <a:spcPts val="605"/>
                </a:lnSpc>
              </a:pPr>
              <a:r>
                <a:rPr lang="en-US" sz="504">
                  <a:solidFill>
                    <a:srgbClr val="4F81BD"/>
                  </a:solidFill>
                  <a:latin typeface="Calibri (MS)"/>
                  <a:ea typeface="Calibri (MS)"/>
                  <a:cs typeface="Calibri (MS)"/>
                  <a:sym typeface="Calibri (MS)"/>
                </a:rPr>
                <a:t>            if (!cargando) {</a:t>
              </a:r>
            </a:p>
            <a:p>
              <a:pPr algn="l">
                <a:lnSpc>
                  <a:spcPts val="605"/>
                </a:lnSpc>
              </a:pPr>
              <a:r>
                <a:rPr lang="en-US" sz="504">
                  <a:solidFill>
                    <a:srgbClr val="4F81BD"/>
                  </a:solidFill>
                  <a:latin typeface="Calibri (MS)"/>
                  <a:ea typeface="Calibri (MS)"/>
                  <a:cs typeface="Calibri (MS)"/>
                  <a:sym typeface="Calibri (MS)"/>
                </a:rPr>
                <a:t>                cargarUnidades();</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getRootPane().setDefaultButton(btnConvertir);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habilitar(false);</a:t>
              </a:r>
            </a:p>
            <a:p>
              <a:pPr algn="l">
                <a:lnSpc>
                  <a:spcPts val="605"/>
                </a:lnSpc>
              </a:pPr>
              <a:r>
                <a:rPr lang="en-US" sz="504">
                  <a:solidFill>
                    <a:srgbClr val="4F81BD"/>
                  </a:solidFill>
                  <a:latin typeface="Calibri (MS)"/>
                  <a:ea typeface="Calibri (MS)"/>
                  <a:cs typeface="Calibri (MS)"/>
                  <a:sym typeface="Calibri (MS)"/>
                </a:rPr>
                <a:t>        pack();</a:t>
              </a:r>
            </a:p>
            <a:p>
              <a:pPr algn="l">
                <a:lnSpc>
                  <a:spcPts val="605"/>
                </a:lnSpc>
              </a:pPr>
              <a:r>
                <a:rPr lang="en-US" sz="504">
                  <a:solidFill>
                    <a:srgbClr val="4F81BD"/>
                  </a:solidFill>
                  <a:latin typeface="Calibri (MS)"/>
                  <a:ea typeface="Calibri (MS)"/>
                  <a:cs typeface="Calibri (MS)"/>
                  <a:sym typeface="Calibri (MS)"/>
                </a:rPr>
                <a:t>        setLocationRelativeTo(null);</a:t>
              </a:r>
            </a:p>
            <a:p>
              <a:pPr algn="l">
                <a:lnSpc>
                  <a:spcPts val="605"/>
                </a:lnSpc>
              </a:pPr>
              <a:r>
                <a:rPr lang="en-US" sz="504">
                  <a:solidFill>
                    <a:srgbClr val="4F81BD"/>
                  </a:solidFill>
                  <a:latin typeface="Calibri (MS)"/>
                  <a:ea typeface="Calibri (MS)"/>
                  <a:cs typeface="Calibri (MS)"/>
                  <a:sym typeface="Calibri (MS)"/>
                </a:rPr>
                <a:t>        cargarCategorias();</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fila(JPanel p, GridBagConstraints c, int fila, String texto, java.awt.Component campo) {</a:t>
              </a:r>
            </a:p>
            <a:p>
              <a:pPr algn="l">
                <a:lnSpc>
                  <a:spcPts val="605"/>
                </a:lnSpc>
              </a:pPr>
              <a:r>
                <a:rPr lang="en-US" sz="504">
                  <a:solidFill>
                    <a:srgbClr val="4F81BD"/>
                  </a:solidFill>
                  <a:latin typeface="Calibri (MS)"/>
                  <a:ea typeface="Calibri (MS)"/>
                  <a:cs typeface="Calibri (MS)"/>
                  <a:sym typeface="Calibri (MS)"/>
                </a:rPr>
                <a:t>        c.gridx = 0;</a:t>
              </a:r>
            </a:p>
            <a:p>
              <a:pPr algn="l">
                <a:lnSpc>
                  <a:spcPts val="605"/>
                </a:lnSpc>
              </a:pPr>
              <a:r>
                <a:rPr lang="en-US" sz="504">
                  <a:solidFill>
                    <a:srgbClr val="4F81BD"/>
                  </a:solidFill>
                  <a:latin typeface="Calibri (MS)"/>
                  <a:ea typeface="Calibri (MS)"/>
                  <a:cs typeface="Calibri (MS)"/>
                  <a:sym typeface="Calibri (MS)"/>
                </a:rPr>
                <a:t>        c.gridy = fila;</a:t>
              </a:r>
            </a:p>
            <a:p>
              <a:pPr algn="l">
                <a:lnSpc>
                  <a:spcPts val="605"/>
                </a:lnSpc>
              </a:pPr>
              <a:r>
                <a:rPr lang="en-US" sz="504">
                  <a:solidFill>
                    <a:srgbClr val="4F81BD"/>
                  </a:solidFill>
                  <a:latin typeface="Calibri (MS)"/>
                  <a:ea typeface="Calibri (MS)"/>
                  <a:cs typeface="Calibri (MS)"/>
                  <a:sym typeface="Calibri (MS)"/>
                </a:rPr>
                <a:t>        p.add(Estilo.etiqueta(texto), c);</a:t>
              </a:r>
            </a:p>
            <a:p>
              <a:pPr algn="l">
                <a:lnSpc>
                  <a:spcPts val="605"/>
                </a:lnSpc>
              </a:pPr>
              <a:r>
                <a:rPr lang="en-US" sz="504">
                  <a:solidFill>
                    <a:srgbClr val="4F81BD"/>
                  </a:solidFill>
                  <a:latin typeface="Calibri (MS)"/>
                  <a:ea typeface="Calibri (MS)"/>
                  <a:cs typeface="Calibri (MS)"/>
                  <a:sym typeface="Calibri (MS)"/>
                </a:rPr>
                <a:t>        c.gridx = 1;</a:t>
              </a:r>
            </a:p>
            <a:p>
              <a:pPr algn="l">
                <a:lnSpc>
                  <a:spcPts val="605"/>
                </a:lnSpc>
              </a:pPr>
              <a:r>
                <a:rPr lang="en-US" sz="504">
                  <a:solidFill>
                    <a:srgbClr val="4F81BD"/>
                  </a:solidFill>
                  <a:latin typeface="Calibri (MS)"/>
                  <a:ea typeface="Calibri (MS)"/>
                  <a:cs typeface="Calibri (MS)"/>
                  <a:sym typeface="Calibri (MS)"/>
                </a:rPr>
                <a:t>        p.add(campo, c);</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habilitar(boolean si) {</a:t>
              </a:r>
            </a:p>
            <a:p>
              <a:pPr algn="l">
                <a:lnSpc>
                  <a:spcPts val="605"/>
                </a:lnSpc>
              </a:pPr>
              <a:r>
                <a:rPr lang="en-US" sz="504">
                  <a:solidFill>
                    <a:srgbClr val="4F81BD"/>
                  </a:solidFill>
                  <a:latin typeface="Calibri (MS)"/>
                  <a:ea typeface="Calibri (MS)"/>
                  <a:cs typeface="Calibri (MS)"/>
                  <a:sym typeface="Calibri (MS)"/>
                </a:rPr>
                <a:t>        cmbCategoria.setEnabled(si);</a:t>
              </a:r>
            </a:p>
            <a:p>
              <a:pPr algn="l">
                <a:lnSpc>
                  <a:spcPts val="605"/>
                </a:lnSpc>
              </a:pPr>
              <a:r>
                <a:rPr lang="en-US" sz="504">
                  <a:solidFill>
                    <a:srgbClr val="4F81BD"/>
                  </a:solidFill>
                  <a:latin typeface="Calibri (MS)"/>
                  <a:ea typeface="Calibri (MS)"/>
                  <a:cs typeface="Calibri (MS)"/>
                  <a:sym typeface="Calibri (MS)"/>
                </a:rPr>
                <a:t>        cmbOrigen.setEnabled(si);</a:t>
              </a:r>
            </a:p>
            <a:p>
              <a:pPr algn="l">
                <a:lnSpc>
                  <a:spcPts val="605"/>
                </a:lnSpc>
              </a:pPr>
              <a:r>
                <a:rPr lang="en-US" sz="504">
                  <a:solidFill>
                    <a:srgbClr val="4F81BD"/>
                  </a:solidFill>
                  <a:latin typeface="Calibri (MS)"/>
                  <a:ea typeface="Calibri (MS)"/>
                  <a:cs typeface="Calibri (MS)"/>
                  <a:sym typeface="Calibri (MS)"/>
                </a:rPr>
                <a:t>        cmbDestino.setEnabled(si);</a:t>
              </a:r>
            </a:p>
            <a:p>
              <a:pPr algn="l">
                <a:lnSpc>
                  <a:spcPts val="605"/>
                </a:lnSpc>
              </a:pPr>
              <a:r>
                <a:rPr lang="en-US" sz="504">
                  <a:solidFill>
                    <a:srgbClr val="4F81BD"/>
                  </a:solidFill>
                  <a:latin typeface="Calibri (MS)"/>
                  <a:ea typeface="Calibri (MS)"/>
                  <a:cs typeface="Calibri (MS)"/>
                  <a:sym typeface="Calibri (MS)"/>
                </a:rPr>
                <a:t>        txtValor.setEnabled(si);</a:t>
              </a:r>
            </a:p>
            <a:p>
              <a:pPr algn="l">
                <a:lnSpc>
                  <a:spcPts val="605"/>
                </a:lnSpc>
              </a:pPr>
              <a:r>
                <a:rPr lang="en-US" sz="504">
                  <a:solidFill>
                    <a:srgbClr val="4F81BD"/>
                  </a:solidFill>
                  <a:latin typeface="Calibri (MS)"/>
                  <a:ea typeface="Calibri (MS)"/>
                  <a:cs typeface="Calibri (MS)"/>
                  <a:sym typeface="Calibri (MS)"/>
                </a:rPr>
                <a:t>        btnConvertir.setEnabled(si);</a:t>
              </a:r>
            </a:p>
            <a:p>
              <a:pPr algn="l">
                <a:lnSpc>
                  <a:spcPts val="605"/>
                </a:lnSpc>
              </a:pPr>
              <a:r>
                <a:rPr lang="en-US" sz="504">
                  <a:solidFill>
                    <a:srgbClr val="4F81BD"/>
                  </a:solidFill>
                  <a:latin typeface="Calibri (MS)"/>
                  <a:ea typeface="Calibri (MS)"/>
                  <a:cs typeface="Calibri (MS)"/>
                  <a:sym typeface="Calibri (MS)"/>
                </a:rPr>
                <a:t>        btnIntercambiar.setEnabled(si);</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estado(String texto, Color color) {</a:t>
              </a:r>
            </a:p>
            <a:p>
              <a:pPr algn="l">
                <a:lnSpc>
                  <a:spcPts val="605"/>
                </a:lnSpc>
              </a:pPr>
              <a:r>
                <a:rPr lang="en-US" sz="504">
                  <a:solidFill>
                    <a:srgbClr val="4F81BD"/>
                  </a:solidFill>
                  <a:latin typeface="Calibri (MS)"/>
                  <a:ea typeface="Calibri (MS)"/>
                  <a:cs typeface="Calibri (MS)"/>
                  <a:sym typeface="Calibri (MS)"/>
                </a:rPr>
                <a:t>        lblEstado.setForeground(color);</a:t>
              </a:r>
            </a:p>
            <a:p>
              <a:pPr algn="l">
                <a:lnSpc>
                  <a:spcPts val="605"/>
                </a:lnSpc>
              </a:pPr>
              <a:r>
                <a:rPr lang="en-US" sz="504">
                  <a:solidFill>
                    <a:srgbClr val="4F81BD"/>
                  </a:solidFill>
                  <a:latin typeface="Calibri (MS)"/>
                  <a:ea typeface="Calibri (MS)"/>
                  <a:cs typeface="Calibri (MS)"/>
                  <a:sym typeface="Calibri (MS)"/>
                </a:rPr>
                <a:t>        lblEstado.setText(texto);</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volverAlLogin() {</a:t>
              </a:r>
            </a:p>
            <a:p>
              <a:pPr algn="l">
                <a:lnSpc>
                  <a:spcPts val="605"/>
                </a:lnSpc>
              </a:pPr>
              <a:r>
                <a:rPr lang="en-US" sz="504">
                  <a:solidFill>
                    <a:srgbClr val="4F81BD"/>
                  </a:solidFill>
                  <a:latin typeface="Calibri (MS)"/>
                  <a:ea typeface="Calibri (MS)"/>
                  <a:cs typeface="Calibri (MS)"/>
                  <a:sym typeface="Calibri (MS)"/>
                </a:rPr>
                <a:t>        controlador.cerrarSesion();</a:t>
              </a:r>
            </a:p>
            <a:p>
              <a:pPr algn="l">
                <a:lnSpc>
                  <a:spcPts val="605"/>
                </a:lnSpc>
              </a:pPr>
              <a:r>
                <a:rPr lang="en-US" sz="504">
                  <a:solidFill>
                    <a:srgbClr val="4F81BD"/>
                  </a:solidFill>
                  <a:latin typeface="Calibri (MS)"/>
                  <a:ea typeface="Calibri (MS)"/>
                  <a:cs typeface="Calibri (MS)"/>
                  <a:sym typeface="Calibri (MS)"/>
                </a:rPr>
                <a:t>        new LoginFrame().setVisible(true);</a:t>
              </a:r>
            </a:p>
            <a:p>
              <a:pPr algn="l">
                <a:lnSpc>
                  <a:spcPts val="605"/>
                </a:lnSpc>
              </a:pPr>
              <a:r>
                <a:rPr lang="en-US" sz="504">
                  <a:solidFill>
                    <a:srgbClr val="4F81BD"/>
                  </a:solidFill>
                  <a:latin typeface="Calibri (MS)"/>
                  <a:ea typeface="Calibri (MS)"/>
                  <a:cs typeface="Calibri (MS)"/>
                  <a:sym typeface="Calibri (MS)"/>
                </a:rPr>
                <a:t>        dispose();</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Muestra el error; si el token ya no sirve, avisa y regresa al login. */</a:t>
              </a:r>
            </a:p>
            <a:p>
              <a:pPr algn="l">
                <a:lnSpc>
                  <a:spcPts val="605"/>
                </a:lnSpc>
              </a:pPr>
              <a:r>
                <a:rPr lang="en-US" sz="504">
                  <a:solidFill>
                    <a:srgbClr val="4F81BD"/>
                  </a:solidFill>
                  <a:latin typeface="Calibri (MS)"/>
                  <a:ea typeface="Calibri (MS)"/>
                  <a:cs typeface="Calibri (MS)"/>
                  <a:sym typeface="Calibri (MS)"/>
                </a:rPr>
                <a:t>    private void manejarError(RespuestaServicio r) {</a:t>
              </a:r>
            </a:p>
            <a:p>
              <a:pPr algn="l">
                <a:lnSpc>
                  <a:spcPts val="605"/>
                </a:lnSpc>
              </a:pPr>
              <a:r>
                <a:rPr lang="en-US" sz="504">
                  <a:solidFill>
                    <a:srgbClr val="4F81BD"/>
                  </a:solidFill>
                  <a:latin typeface="Calibri (MS)"/>
                  <a:ea typeface="Calibri (MS)"/>
                  <a:cs typeface="Calibri (MS)"/>
                  <a:sym typeface="Calibri (MS)"/>
                </a:rPr>
                <a:t>        estado("[" + r.getCodigo() + "] " + r.getMensaje(), Estilo.ERROR);</a:t>
              </a:r>
            </a:p>
            <a:p>
              <a:pPr algn="l">
                <a:lnSpc>
                  <a:spcPts val="605"/>
                </a:lnSpc>
              </a:pPr>
              <a:r>
                <a:rPr lang="en-US" sz="504">
                  <a:solidFill>
                    <a:srgbClr val="4F81BD"/>
                  </a:solidFill>
                  <a:latin typeface="Calibri (MS)"/>
                  <a:ea typeface="Calibri (MS)"/>
                  <a:cs typeface="Calibri (MS)"/>
                  <a:sym typeface="Calibri (MS)"/>
                </a:rPr>
                <a:t>        if (r.requiereNuevoLogin()) {</a:t>
              </a:r>
            </a:p>
            <a:p>
              <a:pPr algn="l">
                <a:lnSpc>
                  <a:spcPts val="605"/>
                </a:lnSpc>
              </a:pPr>
              <a:r>
                <a:rPr lang="en-US" sz="504">
                  <a:solidFill>
                    <a:srgbClr val="4F81BD"/>
                  </a:solidFill>
                  <a:latin typeface="Calibri (MS)"/>
                  <a:ea typeface="Calibri (MS)"/>
                  <a:cs typeface="Calibri (MS)"/>
                  <a:sym typeface="Calibri (MS)"/>
                </a:rPr>
                <a:t>            JOptionPane.showMessageDialog(this, "Su sesión terminó. Inicie sesión nuevamente.",</a:t>
              </a:r>
            </a:p>
            <a:p>
              <a:pPr algn="l">
                <a:lnSpc>
                  <a:spcPts val="605"/>
                </a:lnSpc>
              </a:pPr>
              <a:r>
                <a:rPr lang="en-US" sz="504">
                  <a:solidFill>
                    <a:srgbClr val="4F81BD"/>
                  </a:solidFill>
                  <a:latin typeface="Calibri (MS)"/>
                  <a:ea typeface="Calibri (MS)"/>
                  <a:cs typeface="Calibri (MS)"/>
                  <a:sym typeface="Calibri (MS)"/>
                </a:rPr>
                <a:t>                    "Sesión", JOptionPane.WARNING_MESSAGE);</a:t>
              </a:r>
            </a:p>
            <a:p>
              <a:pPr algn="l">
                <a:lnSpc>
                  <a:spcPts val="605"/>
                </a:lnSpc>
              </a:pPr>
              <a:r>
                <a:rPr lang="en-US" sz="504">
                  <a:solidFill>
                    <a:srgbClr val="4F81BD"/>
                  </a:solidFill>
                  <a:latin typeface="Calibri (MS)"/>
                  <a:ea typeface="Calibri (MS)"/>
                  <a:cs typeface="Calibri (MS)"/>
                  <a:sym typeface="Calibri (MS)"/>
                </a:rPr>
                <a:t>            volverAlLogin();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 catalogo (CU-02 / CU-03)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cargarCategorias() {</a:t>
              </a:r>
            </a:p>
            <a:p>
              <a:pPr algn="l">
                <a:lnSpc>
                  <a:spcPts val="605"/>
                </a:lnSpc>
              </a:pPr>
              <a:r>
                <a:rPr lang="en-US" sz="504">
                  <a:solidFill>
                    <a:srgbClr val="4F81BD"/>
                  </a:solidFill>
                  <a:latin typeface="Calibri (MS)"/>
                  <a:ea typeface="Calibri (MS)"/>
                  <a:cs typeface="Calibri (MS)"/>
                  <a:sym typeface="Calibri (MS)"/>
                </a:rPr>
                <a:t>        estado("Cargando catálogo...", Estilo.AZUL);</a:t>
              </a:r>
            </a:p>
            <a:p>
              <a:pPr algn="l">
                <a:lnSpc>
                  <a:spcPts val="605"/>
                </a:lnSpc>
              </a:pPr>
              <a:r>
                <a:rPr lang="en-US" sz="504">
                  <a:solidFill>
                    <a:srgbClr val="4F81BD"/>
                  </a:solidFill>
                  <a:latin typeface="Calibri (MS)"/>
                  <a:ea typeface="Calibri (MS)"/>
                  <a:cs typeface="Calibri (MS)"/>
                  <a:sym typeface="Calibri (MS)"/>
                </a:rPr>
                <a:t>        new SwingWorker&lt;RespuestaServicio, Void&gt;() {</a:t>
              </a:r>
            </a:p>
            <a:p>
              <a:pPr algn="l">
                <a:lnSpc>
                  <a:spcPts val="605"/>
                </a:lnSpc>
              </a:pPr>
              <a:r>
                <a:rPr lang="en-US" sz="504">
                  <a:solidFill>
                    <a:srgbClr val="4F81BD"/>
                  </a:solidFill>
                  <a:latin typeface="Calibri (MS)"/>
                  <a:ea typeface="Calibri (MS)"/>
                  <a:cs typeface="Calibri (MS)"/>
                  <a:sym typeface="Calibri (MS)"/>
                </a:rPr>
                <a:t>            @Override</a:t>
              </a:r>
            </a:p>
            <a:p>
              <a:pPr algn="l">
                <a:lnSpc>
                  <a:spcPts val="605"/>
                </a:lnSpc>
              </a:pPr>
              <a:r>
                <a:rPr lang="en-US" sz="504">
                  <a:solidFill>
                    <a:srgbClr val="4F81BD"/>
                  </a:solidFill>
                  <a:latin typeface="Calibri (MS)"/>
                  <a:ea typeface="Calibri (MS)"/>
                  <a:cs typeface="Calibri (MS)"/>
                  <a:sym typeface="Calibri (MS)"/>
                </a:rPr>
                <a:t>            protected RespuestaServicio doInBackground() {</a:t>
              </a:r>
            </a:p>
            <a:p>
              <a:pPr algn="l">
                <a:lnSpc>
                  <a:spcPts val="605"/>
                </a:lnSpc>
              </a:pPr>
              <a:r>
                <a:rPr lang="en-US" sz="504">
                  <a:solidFill>
                    <a:srgbClr val="4F81BD"/>
                  </a:solidFill>
                  <a:latin typeface="Calibri (MS)"/>
                  <a:ea typeface="Calibri (MS)"/>
                  <a:cs typeface="Calibri (MS)"/>
                  <a:sym typeface="Calibri (MS)"/>
                </a:rPr>
                <a:t>                return controlador.categorias();</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@Override</a:t>
              </a:r>
            </a:p>
            <a:p>
              <a:pPr algn="l">
                <a:lnSpc>
                  <a:spcPts val="605"/>
                </a:lnSpc>
              </a:pPr>
              <a:r>
                <a:rPr lang="en-US" sz="504">
                  <a:solidFill>
                    <a:srgbClr val="4F81BD"/>
                  </a:solidFill>
                  <a:latin typeface="Calibri (MS)"/>
                  <a:ea typeface="Calibri (MS)"/>
                  <a:cs typeface="Calibri (MS)"/>
                  <a:sym typeface="Calibri (MS)"/>
                </a:rPr>
                <a:t>            protected void done() {</a:t>
              </a:r>
            </a:p>
            <a:p>
              <a:pPr algn="l">
                <a:lnSpc>
                  <a:spcPts val="605"/>
                </a:lnSpc>
              </a:pPr>
              <a:r>
                <a:rPr lang="en-US" sz="504">
                  <a:solidFill>
                    <a:srgbClr val="4F81BD"/>
                  </a:solidFill>
                  <a:latin typeface="Calibri (MS)"/>
                  <a:ea typeface="Calibri (MS)"/>
                  <a:cs typeface="Calibri (MS)"/>
                  <a:sym typeface="Calibri (MS)"/>
                </a:rPr>
                <a:t>                try {</a:t>
              </a:r>
            </a:p>
            <a:p>
              <a:pPr algn="l">
                <a:lnSpc>
                  <a:spcPts val="605"/>
                </a:lnSpc>
              </a:pPr>
              <a:r>
                <a:rPr lang="en-US" sz="504">
                  <a:solidFill>
                    <a:srgbClr val="4F81BD"/>
                  </a:solidFill>
                  <a:latin typeface="Calibri (MS)"/>
                  <a:ea typeface="Calibri (MS)"/>
                  <a:cs typeface="Calibri (MS)"/>
                  <a:sym typeface="Calibri (MS)"/>
                </a:rPr>
                <a:t>                    RespuestaServicio r = get();</a:t>
              </a:r>
            </a:p>
            <a:p>
              <a:pPr algn="l">
                <a:lnSpc>
                  <a:spcPts val="605"/>
                </a:lnSpc>
              </a:pPr>
              <a:r>
                <a:rPr lang="en-US" sz="504">
                  <a:solidFill>
                    <a:srgbClr val="4F81BD"/>
                  </a:solidFill>
                  <a:latin typeface="Calibri (MS)"/>
                  <a:ea typeface="Calibri (MS)"/>
                  <a:cs typeface="Calibri (MS)"/>
                  <a:sym typeface="Calibri (MS)"/>
                </a:rPr>
                <a:t>                    if (!r.esExitosa()) {</a:t>
              </a:r>
            </a:p>
            <a:p>
              <a:pPr algn="l">
                <a:lnSpc>
                  <a:spcPts val="605"/>
                </a:lnSpc>
              </a:pPr>
              <a:r>
                <a:rPr lang="en-US" sz="504">
                  <a:solidFill>
                    <a:srgbClr val="4F81BD"/>
                  </a:solidFill>
                  <a:latin typeface="Calibri (MS)"/>
                  <a:ea typeface="Calibri (MS)"/>
                  <a:cs typeface="Calibri (MS)"/>
                  <a:sym typeface="Calibri (MS)"/>
                </a:rPr>
                <a:t>                        manejarError(r);</a:t>
              </a:r>
            </a:p>
            <a:p>
              <a:pPr algn="l">
                <a:lnSpc>
                  <a:spcPts val="605"/>
                </a:lnSpc>
              </a:pPr>
              <a:r>
                <a:rPr lang="en-US" sz="504">
                  <a:solidFill>
                    <a:srgbClr val="4F81BD"/>
                  </a:solidFill>
                  <a:latin typeface="Calibri (MS)"/>
                  <a:ea typeface="Calibri (MS)"/>
                  <a:cs typeface="Calibri (MS)"/>
                  <a:sym typeface="Calibri (MS)"/>
                </a:rPr>
                <a:t>                        return;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cargando = true;</a:t>
              </a:r>
            </a:p>
            <a:p>
              <a:pPr algn="l">
                <a:lnSpc>
                  <a:spcPts val="605"/>
                </a:lnSpc>
              </a:pPr>
              <a:r>
                <a:rPr lang="en-US" sz="504">
                  <a:solidFill>
                    <a:srgbClr val="4F81BD"/>
                  </a:solidFill>
                  <a:latin typeface="Calibri (MS)"/>
                  <a:ea typeface="Calibri (MS)"/>
                  <a:cs typeface="Calibri (MS)"/>
                  <a:sym typeface="Calibri (MS)"/>
                </a:rPr>
                <a:t>                    cmbCategoria.removeAllItems();</a:t>
              </a:r>
            </a:p>
            <a:p>
              <a:pPr algn="l">
                <a:lnSpc>
                  <a:spcPts val="605"/>
                </a:lnSpc>
              </a:pPr>
              <a:r>
                <a:rPr lang="en-US" sz="504">
                  <a:solidFill>
                    <a:srgbClr val="4F81BD"/>
                  </a:solidFill>
                  <a:latin typeface="Calibri (MS)"/>
                  <a:ea typeface="Calibri (MS)"/>
                  <a:cs typeface="Calibri (MS)"/>
                  <a:sym typeface="Calibri (MS)"/>
                </a:rPr>
                <a:t>                    r.getDatos().forEach(cmbCategoria::addItem);</a:t>
              </a:r>
            </a:p>
            <a:p>
              <a:pPr algn="l">
                <a:lnSpc>
                  <a:spcPts val="605"/>
                </a:lnSpc>
              </a:pPr>
              <a:r>
                <a:rPr lang="en-US" sz="504">
                  <a:solidFill>
                    <a:srgbClr val="4F81BD"/>
                  </a:solidFill>
                  <a:latin typeface="Calibri (MS)"/>
                  <a:ea typeface="Calibri (MS)"/>
                  <a:cs typeface="Calibri (MS)"/>
                  <a:sym typeface="Calibri (MS)"/>
                </a:rPr>
                <a:t>                    cargando = false;</a:t>
              </a:r>
            </a:p>
            <a:p>
              <a:pPr algn="l">
                <a:lnSpc>
                  <a:spcPts val="605"/>
                </a:lnSpc>
              </a:pPr>
              <a:r>
                <a:rPr lang="en-US" sz="504">
                  <a:solidFill>
                    <a:srgbClr val="4F81BD"/>
                  </a:solidFill>
                  <a:latin typeface="Calibri (MS)"/>
                  <a:ea typeface="Calibri (MS)"/>
                  <a:cs typeface="Calibri (MS)"/>
                  <a:sym typeface="Calibri (MS)"/>
                </a:rPr>
                <a:t>                    cargarUnidades();</a:t>
              </a:r>
            </a:p>
            <a:p>
              <a:pPr algn="l">
                <a:lnSpc>
                  <a:spcPts val="605"/>
                </a:lnSpc>
              </a:pPr>
              <a:r>
                <a:rPr lang="en-US" sz="504">
                  <a:solidFill>
                    <a:srgbClr val="4F81BD"/>
                  </a:solidFill>
                  <a:latin typeface="Calibri (MS)"/>
                  <a:ea typeface="Calibri (MS)"/>
                  <a:cs typeface="Calibri (MS)"/>
                  <a:sym typeface="Calibri (MS)"/>
                </a:rPr>
                <a:t>                } catch (Exception ex) {</a:t>
              </a:r>
            </a:p>
            <a:p>
              <a:pPr algn="l">
                <a:lnSpc>
                  <a:spcPts val="605"/>
                </a:lnSpc>
              </a:pPr>
              <a:r>
                <a:rPr lang="en-US" sz="504">
                  <a:solidFill>
                    <a:srgbClr val="4F81BD"/>
                  </a:solidFill>
                  <a:latin typeface="Calibri (MS)"/>
                  <a:ea typeface="Calibri (MS)"/>
                  <a:cs typeface="Calibri (MS)"/>
                  <a:sym typeface="Calibri (MS)"/>
                </a:rPr>
                <a:t>                    estado("Error inesperado: " + ex.getMessage(), Estilo.ERROR);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}.execute();</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cargarUnidades() {</a:t>
              </a:r>
            </a:p>
            <a:p>
              <a:pPr algn="l">
                <a:lnSpc>
                  <a:spcPts val="605"/>
                </a:lnSpc>
              </a:pPr>
              <a:r>
                <a:rPr lang="en-US" sz="504">
                  <a:solidFill>
                    <a:srgbClr val="4F81BD"/>
                  </a:solidFill>
                  <a:latin typeface="Calibri (MS)"/>
                  <a:ea typeface="Calibri (MS)"/>
                  <a:cs typeface="Calibri (MS)"/>
                  <a:sym typeface="Calibri (MS)"/>
                </a:rPr>
                <a:t>        final String categoria = (String) cmbCategoria.getSelectedItem();</a:t>
              </a:r>
            </a:p>
          </p:txBody>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ConversionFrame</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conversión (CU-02, CU-03 y CU-04).</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1592580"/>
            <a:chOff x="0" y="0"/>
            <a:chExt cx="12278360" cy="2123440"/>
          </a:xfrm>
        </p:grpSpPr>
        <p:sp>
          <p:nvSpPr>
            <p:cNvPr name="Freeform 18" id="18"/>
            <p:cNvSpPr/>
            <p:nvPr/>
          </p:nvSpPr>
          <p:spPr>
            <a:xfrm flipH="false" flipV="false" rot="0">
              <a:off x="0" y="0"/>
              <a:ext cx="12278360" cy="2123440"/>
            </a:xfrm>
            <a:custGeom>
              <a:avLst/>
              <a:gdLst/>
              <a:ahLst/>
              <a:cxnLst/>
              <a:rect r="r" b="b" t="t" l="l"/>
              <a:pathLst>
                <a:path h="2123440" w="12278360">
                  <a:moveTo>
                    <a:pt x="0" y="0"/>
                  </a:moveTo>
                  <a:lnTo>
                    <a:pt x="12278360" y="0"/>
                  </a:lnTo>
                  <a:lnTo>
                    <a:pt x="12278360" y="2123440"/>
                  </a:lnTo>
                  <a:lnTo>
                    <a:pt x="0" y="212344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2161540"/>
            </a:xfrm>
            <a:prstGeom prst="rect">
              <a:avLst/>
            </a:prstGeom>
          </p:spPr>
          <p:txBody>
            <a:bodyPr anchor="t" rtlCol="false" tIns="50800" lIns="50800" bIns="50800" rIns="50800"/>
            <a:lstStyle/>
            <a:p>
              <a:pPr algn="l">
                <a:lnSpc>
                  <a:spcPts val="605"/>
                </a:lnSpc>
              </a:pPr>
              <a:r>
                <a:rPr lang="en-US" sz="504">
                  <a:solidFill>
                    <a:srgbClr val="4F81BD"/>
                  </a:solidFill>
                  <a:latin typeface="Calibri (MS)"/>
                  <a:ea typeface="Calibri (MS)"/>
                  <a:cs typeface="Calibri (MS)"/>
                  <a:sym typeface="Calibri (MS)"/>
                </a:rPr>
                <a:t>        if (categoria == null) {</a:t>
              </a:r>
            </a:p>
            <a:p>
              <a:pPr algn="l">
                <a:lnSpc>
                  <a:spcPts val="605"/>
                </a:lnSpc>
              </a:pPr>
              <a:r>
                <a:rPr lang="en-US" sz="504">
                  <a:solidFill>
                    <a:srgbClr val="4F81BD"/>
                  </a:solidFill>
                  <a:latin typeface="Calibri (MS)"/>
                  <a:ea typeface="Calibri (MS)"/>
                  <a:cs typeface="Calibri (MS)"/>
                  <a:sym typeface="Calibri (MS)"/>
                </a:rPr>
                <a:t>            return;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habilitar(false);</a:t>
              </a:r>
            </a:p>
            <a:p>
              <a:pPr algn="l">
                <a:lnSpc>
                  <a:spcPts val="605"/>
                </a:lnSpc>
              </a:pPr>
              <a:r>
                <a:rPr lang="en-US" sz="504">
                  <a:solidFill>
                    <a:srgbClr val="4F81BD"/>
                  </a:solidFill>
                  <a:latin typeface="Calibri (MS)"/>
                  <a:ea typeface="Calibri (MS)"/>
                  <a:cs typeface="Calibri (MS)"/>
                  <a:sym typeface="Calibri (MS)"/>
                </a:rPr>
                <a:t>        estado("Cargando unidades de " + categoria + "...", Estilo.AZUL);</a:t>
              </a:r>
            </a:p>
            <a:p>
              <a:pPr algn="l">
                <a:lnSpc>
                  <a:spcPts val="605"/>
                </a:lnSpc>
              </a:pPr>
              <a:r>
                <a:rPr lang="en-US" sz="504">
                  <a:solidFill>
                    <a:srgbClr val="4F81BD"/>
                  </a:solidFill>
                  <a:latin typeface="Calibri (MS)"/>
                  <a:ea typeface="Calibri (MS)"/>
                  <a:cs typeface="Calibri (MS)"/>
                  <a:sym typeface="Calibri (MS)"/>
                </a:rPr>
                <a:t>        new SwingWorker&lt;RespuestaServicio, Void&gt;() {</a:t>
              </a:r>
            </a:p>
            <a:p>
              <a:pPr algn="l">
                <a:lnSpc>
                  <a:spcPts val="605"/>
                </a:lnSpc>
              </a:pPr>
              <a:r>
                <a:rPr lang="en-US" sz="504">
                  <a:solidFill>
                    <a:srgbClr val="4F81BD"/>
                  </a:solidFill>
                  <a:latin typeface="Calibri (MS)"/>
                  <a:ea typeface="Calibri (MS)"/>
                  <a:cs typeface="Calibri (MS)"/>
                  <a:sym typeface="Calibri (MS)"/>
                </a:rPr>
                <a:t>            @Override</a:t>
              </a:r>
            </a:p>
            <a:p>
              <a:pPr algn="l">
                <a:lnSpc>
                  <a:spcPts val="605"/>
                </a:lnSpc>
              </a:pPr>
              <a:r>
                <a:rPr lang="en-US" sz="504">
                  <a:solidFill>
                    <a:srgbClr val="4F81BD"/>
                  </a:solidFill>
                  <a:latin typeface="Calibri (MS)"/>
                  <a:ea typeface="Calibri (MS)"/>
                  <a:cs typeface="Calibri (MS)"/>
                  <a:sym typeface="Calibri (MS)"/>
                </a:rPr>
                <a:t>            protected RespuestaServicio doInBackground() {</a:t>
              </a:r>
            </a:p>
            <a:p>
              <a:pPr algn="l">
                <a:lnSpc>
                  <a:spcPts val="605"/>
                </a:lnSpc>
              </a:pPr>
              <a:r>
                <a:rPr lang="en-US" sz="504">
                  <a:solidFill>
                    <a:srgbClr val="4F81BD"/>
                  </a:solidFill>
                  <a:latin typeface="Calibri (MS)"/>
                  <a:ea typeface="Calibri (MS)"/>
                  <a:cs typeface="Calibri (MS)"/>
                  <a:sym typeface="Calibri (MS)"/>
                </a:rPr>
                <a:t>                return controlador.unidades(categoria);</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@Override</a:t>
              </a:r>
            </a:p>
            <a:p>
              <a:pPr algn="l">
                <a:lnSpc>
                  <a:spcPts val="605"/>
                </a:lnSpc>
              </a:pPr>
              <a:r>
                <a:rPr lang="en-US" sz="504">
                  <a:solidFill>
                    <a:srgbClr val="4F81BD"/>
                  </a:solidFill>
                  <a:latin typeface="Calibri (MS)"/>
                  <a:ea typeface="Calibri (MS)"/>
                  <a:cs typeface="Calibri (MS)"/>
                  <a:sym typeface="Calibri (MS)"/>
                </a:rPr>
                <a:t>            protected void done() {</a:t>
              </a:r>
            </a:p>
            <a:p>
              <a:pPr algn="l">
                <a:lnSpc>
                  <a:spcPts val="605"/>
                </a:lnSpc>
              </a:pPr>
              <a:r>
                <a:rPr lang="en-US" sz="504">
                  <a:solidFill>
                    <a:srgbClr val="4F81BD"/>
                  </a:solidFill>
                  <a:latin typeface="Calibri (MS)"/>
                  <a:ea typeface="Calibri (MS)"/>
                  <a:cs typeface="Calibri (MS)"/>
                  <a:sym typeface="Calibri (MS)"/>
                </a:rPr>
                <a:t>                try {</a:t>
              </a:r>
            </a:p>
            <a:p>
              <a:pPr algn="l">
                <a:lnSpc>
                  <a:spcPts val="605"/>
                </a:lnSpc>
              </a:pPr>
              <a:r>
                <a:rPr lang="en-US" sz="504">
                  <a:solidFill>
                    <a:srgbClr val="4F81BD"/>
                  </a:solidFill>
                  <a:latin typeface="Calibri (MS)"/>
                  <a:ea typeface="Calibri (MS)"/>
                  <a:cs typeface="Calibri (MS)"/>
                  <a:sym typeface="Calibri (MS)"/>
                </a:rPr>
                <a:t>                    RespuestaServicio r = get();</a:t>
              </a:r>
            </a:p>
            <a:p>
              <a:pPr algn="l">
                <a:lnSpc>
                  <a:spcPts val="605"/>
                </a:lnSpc>
              </a:pPr>
              <a:r>
                <a:rPr lang="en-US" sz="504">
                  <a:solidFill>
                    <a:srgbClr val="4F81BD"/>
                  </a:solidFill>
                  <a:latin typeface="Calibri (MS)"/>
                  <a:ea typeface="Calibri (MS)"/>
                  <a:cs typeface="Calibri (MS)"/>
                  <a:sym typeface="Calibri (MS)"/>
                </a:rPr>
                <a:t>                    if (!r.esExitosa()) {</a:t>
              </a:r>
            </a:p>
            <a:p>
              <a:pPr algn="l">
                <a:lnSpc>
                  <a:spcPts val="605"/>
                </a:lnSpc>
              </a:pPr>
              <a:r>
                <a:rPr lang="en-US" sz="504">
                  <a:solidFill>
                    <a:srgbClr val="4F81BD"/>
                  </a:solidFill>
                  <a:latin typeface="Calibri (MS)"/>
                  <a:ea typeface="Calibri (MS)"/>
                  <a:cs typeface="Calibri (MS)"/>
                  <a:sym typeface="Calibri (MS)"/>
                </a:rPr>
                <a:t>                        manejarError(r);</a:t>
              </a:r>
            </a:p>
            <a:p>
              <a:pPr algn="l">
                <a:lnSpc>
                  <a:spcPts val="605"/>
                </a:lnSpc>
              </a:pPr>
              <a:r>
                <a:rPr lang="en-US" sz="504">
                  <a:solidFill>
                    <a:srgbClr val="4F81BD"/>
                  </a:solidFill>
                  <a:latin typeface="Calibri (MS)"/>
                  <a:ea typeface="Calibri (MS)"/>
                  <a:cs typeface="Calibri (MS)"/>
                  <a:sym typeface="Calibri (MS)"/>
                </a:rPr>
                <a:t>                        cmbCategoria.setEnabled(true);</a:t>
              </a:r>
            </a:p>
            <a:p>
              <a:pPr algn="l">
                <a:lnSpc>
                  <a:spcPts val="605"/>
                </a:lnSpc>
              </a:pPr>
              <a:r>
                <a:rPr lang="en-US" sz="504">
                  <a:solidFill>
                    <a:srgbClr val="4F81BD"/>
                  </a:solidFill>
                  <a:latin typeface="Calibri (MS)"/>
                  <a:ea typeface="Calibri (MS)"/>
                  <a:cs typeface="Calibri (MS)"/>
                  <a:sym typeface="Calibri (MS)"/>
                </a:rPr>
                <a:t>                        return;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cmbOrigen.removeAllItems();</a:t>
              </a:r>
            </a:p>
            <a:p>
              <a:pPr algn="l">
                <a:lnSpc>
                  <a:spcPts val="605"/>
                </a:lnSpc>
              </a:pPr>
              <a:r>
                <a:rPr lang="en-US" sz="504">
                  <a:solidFill>
                    <a:srgbClr val="4F81BD"/>
                  </a:solidFill>
                  <a:latin typeface="Calibri (MS)"/>
                  <a:ea typeface="Calibri (MS)"/>
                  <a:cs typeface="Calibri (MS)"/>
                  <a:sym typeface="Calibri (MS)"/>
                </a:rPr>
                <a:t>                    cmbDestino.removeAllItems();</a:t>
              </a:r>
            </a:p>
            <a:p>
              <a:pPr algn="l">
                <a:lnSpc>
                  <a:spcPts val="605"/>
                </a:lnSpc>
              </a:pPr>
              <a:r>
                <a:rPr lang="en-US" sz="504">
                  <a:solidFill>
                    <a:srgbClr val="4F81BD"/>
                  </a:solidFill>
                  <a:latin typeface="Calibri (MS)"/>
                  <a:ea typeface="Calibri (MS)"/>
                  <a:cs typeface="Calibri (MS)"/>
                  <a:sym typeface="Calibri (MS)"/>
                </a:rPr>
                <a:t>                    r.getDatos().forEach(u -&gt; {</a:t>
              </a:r>
            </a:p>
            <a:p>
              <a:pPr algn="l">
                <a:lnSpc>
                  <a:spcPts val="605"/>
                </a:lnSpc>
              </a:pPr>
              <a:r>
                <a:rPr lang="en-US" sz="504">
                  <a:solidFill>
                    <a:srgbClr val="4F81BD"/>
                  </a:solidFill>
                  <a:latin typeface="Calibri (MS)"/>
                  <a:ea typeface="Calibri (MS)"/>
                  <a:cs typeface="Calibri (MS)"/>
                  <a:sym typeface="Calibri (MS)"/>
                </a:rPr>
                <a:t>                        cmbOrigen.addItem(u);</a:t>
              </a:r>
            </a:p>
            <a:p>
              <a:pPr algn="l">
                <a:lnSpc>
                  <a:spcPts val="605"/>
                </a:lnSpc>
              </a:pPr>
              <a:r>
                <a:rPr lang="en-US" sz="504">
                  <a:solidFill>
                    <a:srgbClr val="4F81BD"/>
                  </a:solidFill>
                  <a:latin typeface="Calibri (MS)"/>
                  <a:ea typeface="Calibri (MS)"/>
                  <a:cs typeface="Calibri (MS)"/>
                  <a:sym typeface="Calibri (MS)"/>
                </a:rPr>
                <a:t>                        cmbDestino.addItem(u);</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if (cmbDestino.getItemCount() &gt; 1) {</a:t>
              </a:r>
            </a:p>
            <a:p>
              <a:pPr algn="l">
                <a:lnSpc>
                  <a:spcPts val="605"/>
                </a:lnSpc>
              </a:pPr>
              <a:r>
                <a:rPr lang="en-US" sz="504">
                  <a:solidFill>
                    <a:srgbClr val="4F81BD"/>
                  </a:solidFill>
                  <a:latin typeface="Calibri (MS)"/>
                  <a:ea typeface="Calibri (MS)"/>
                  <a:cs typeface="Calibri (MS)"/>
                  <a:sym typeface="Calibri (MS)"/>
                </a:rPr>
                <a:t>                        cmbDestino.setSelectedIndex(1);</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lblResultado.setText("Resultado");</a:t>
              </a:r>
            </a:p>
            <a:p>
              <a:pPr algn="l">
                <a:lnSpc>
                  <a:spcPts val="605"/>
                </a:lnSpc>
              </a:pPr>
              <a:r>
                <a:rPr lang="en-US" sz="504">
                  <a:solidFill>
                    <a:srgbClr val="4F81BD"/>
                  </a:solidFill>
                  <a:latin typeface="Calibri (MS)"/>
                  <a:ea typeface="Calibri (MS)"/>
                  <a:cs typeface="Calibri (MS)"/>
                  <a:sym typeface="Calibri (MS)"/>
                </a:rPr>
                <a:t>                    estado(" ", Estilo.AZUL);</a:t>
              </a:r>
            </a:p>
            <a:p>
              <a:pPr algn="l">
                <a:lnSpc>
                  <a:spcPts val="605"/>
                </a:lnSpc>
              </a:pPr>
              <a:r>
                <a:rPr lang="en-US" sz="504">
                  <a:solidFill>
                    <a:srgbClr val="4F81BD"/>
                  </a:solidFill>
                  <a:latin typeface="Calibri (MS)"/>
                  <a:ea typeface="Calibri (MS)"/>
                  <a:cs typeface="Calibri (MS)"/>
                  <a:sym typeface="Calibri (MS)"/>
                </a:rPr>
                <a:t>                    habilitar(true);</a:t>
              </a:r>
            </a:p>
            <a:p>
              <a:pPr algn="l">
                <a:lnSpc>
                  <a:spcPts val="605"/>
                </a:lnSpc>
              </a:pPr>
              <a:r>
                <a:rPr lang="en-US" sz="504">
                  <a:solidFill>
                    <a:srgbClr val="4F81BD"/>
                  </a:solidFill>
                  <a:latin typeface="Calibri (MS)"/>
                  <a:ea typeface="Calibri (MS)"/>
                  <a:cs typeface="Calibri (MS)"/>
                  <a:sym typeface="Calibri (MS)"/>
                </a:rPr>
                <a:t>                } catch (Exception ex) {</a:t>
              </a:r>
            </a:p>
            <a:p>
              <a:pPr algn="l">
                <a:lnSpc>
                  <a:spcPts val="605"/>
                </a:lnSpc>
              </a:pPr>
              <a:r>
                <a:rPr lang="en-US" sz="504">
                  <a:solidFill>
                    <a:srgbClr val="4F81BD"/>
                  </a:solidFill>
                  <a:latin typeface="Calibri (MS)"/>
                  <a:ea typeface="Calibri (MS)"/>
                  <a:cs typeface="Calibri (MS)"/>
                  <a:sym typeface="Calibri (MS)"/>
                </a:rPr>
                <a:t>                    estado("Error inesperado: " + ex.getMessage(), Estilo.ERROR);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}.execute();</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intercambiar() {</a:t>
              </a:r>
            </a:p>
            <a:p>
              <a:pPr algn="l">
                <a:lnSpc>
                  <a:spcPts val="605"/>
                </a:lnSpc>
              </a:pPr>
              <a:r>
                <a:rPr lang="en-US" sz="504">
                  <a:solidFill>
                    <a:srgbClr val="4F81BD"/>
                  </a:solidFill>
                  <a:latin typeface="Calibri (MS)"/>
                  <a:ea typeface="Calibri (MS)"/>
                  <a:cs typeface="Calibri (MS)"/>
                  <a:sym typeface="Calibri (MS)"/>
                </a:rPr>
                <a:t>        Object o = cmbOrigen.getSelectedItem();</a:t>
              </a:r>
            </a:p>
            <a:p>
              <a:pPr algn="l">
                <a:lnSpc>
                  <a:spcPts val="605"/>
                </a:lnSpc>
              </a:pPr>
              <a:r>
                <a:rPr lang="en-US" sz="504">
                  <a:solidFill>
                    <a:srgbClr val="4F81BD"/>
                  </a:solidFill>
                  <a:latin typeface="Calibri (MS)"/>
                  <a:ea typeface="Calibri (MS)"/>
                  <a:cs typeface="Calibri (MS)"/>
                  <a:sym typeface="Calibri (MS)"/>
                </a:rPr>
                <a:t>        cmbOrigen.setSelectedItem(cmbDestino.getSelectedItem());</a:t>
              </a:r>
            </a:p>
            <a:p>
              <a:pPr algn="l">
                <a:lnSpc>
                  <a:spcPts val="605"/>
                </a:lnSpc>
              </a:pPr>
              <a:r>
                <a:rPr lang="en-US" sz="504">
                  <a:solidFill>
                    <a:srgbClr val="4F81BD"/>
                  </a:solidFill>
                  <a:latin typeface="Calibri (MS)"/>
                  <a:ea typeface="Calibri (MS)"/>
                  <a:cs typeface="Calibri (MS)"/>
                  <a:sym typeface="Calibri (MS)"/>
                </a:rPr>
                <a:t>        cmbDestino.setSelectedItem(o);</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 conversion (CU-04)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private void convertir() {</a:t>
              </a:r>
            </a:p>
            <a:p>
              <a:pPr algn="l">
                <a:lnSpc>
                  <a:spcPts val="605"/>
                </a:lnSpc>
              </a:pPr>
              <a:r>
                <a:rPr lang="en-US" sz="504">
                  <a:solidFill>
                    <a:srgbClr val="4F81BD"/>
                  </a:solidFill>
                  <a:latin typeface="Calibri (MS)"/>
                  <a:ea typeface="Calibri (MS)"/>
                  <a:cs typeface="Calibri (MS)"/>
                  <a:sym typeface="Calibri (MS)"/>
                </a:rPr>
                <a:t>        final String categoria = (String) cmbCategoria.getSelectedItem();</a:t>
              </a:r>
            </a:p>
            <a:p>
              <a:pPr algn="l">
                <a:lnSpc>
                  <a:spcPts val="605"/>
                </a:lnSpc>
              </a:pPr>
              <a:r>
                <a:rPr lang="en-US" sz="504">
                  <a:solidFill>
                    <a:srgbClr val="4F81BD"/>
                  </a:solidFill>
                  <a:latin typeface="Calibri (MS)"/>
                  <a:ea typeface="Calibri (MS)"/>
                  <a:cs typeface="Calibri (MS)"/>
                  <a:sym typeface="Calibri (MS)"/>
                </a:rPr>
                <a:t>        final String origen = (String) cmbOrigen.getSelectedItem();</a:t>
              </a:r>
            </a:p>
            <a:p>
              <a:pPr algn="l">
                <a:lnSpc>
                  <a:spcPts val="605"/>
                </a:lnSpc>
              </a:pPr>
              <a:r>
                <a:rPr lang="en-US" sz="504">
                  <a:solidFill>
                    <a:srgbClr val="4F81BD"/>
                  </a:solidFill>
                  <a:latin typeface="Calibri (MS)"/>
                  <a:ea typeface="Calibri (MS)"/>
                  <a:cs typeface="Calibri (MS)"/>
                  <a:sym typeface="Calibri (MS)"/>
                </a:rPr>
                <a:t>        final String destino = (String) cmbDestino.getSelectedItem();</a:t>
              </a:r>
            </a:p>
            <a:p>
              <a:pPr algn="l">
                <a:lnSpc>
                  <a:spcPts val="605"/>
                </a:lnSpc>
              </a:pPr>
              <a:r>
                <a:rPr lang="en-US" sz="504">
                  <a:solidFill>
                    <a:srgbClr val="4F81BD"/>
                  </a:solidFill>
                  <a:latin typeface="Calibri (MS)"/>
                  <a:ea typeface="Calibri (MS)"/>
                  <a:cs typeface="Calibri (MS)"/>
                  <a:sym typeface="Calibri (MS)"/>
                </a:rPr>
                <a:t>        final double valor;</a:t>
              </a:r>
            </a:p>
            <a:p>
              <a:pPr algn="l">
                <a:lnSpc>
                  <a:spcPts val="605"/>
                </a:lnSpc>
              </a:pPr>
              <a:r>
                <a:rPr lang="en-US" sz="504">
                  <a:solidFill>
                    <a:srgbClr val="4F81BD"/>
                  </a:solidFill>
                  <a:latin typeface="Calibri (MS)"/>
                  <a:ea typeface="Calibri (MS)"/>
                  <a:cs typeface="Calibri (MS)"/>
                  <a:sym typeface="Calibri (MS)"/>
                </a:rPr>
                <a:t>        try {</a:t>
              </a:r>
            </a:p>
            <a:p>
              <a:pPr algn="l">
                <a:lnSpc>
                  <a:spcPts val="605"/>
                </a:lnSpc>
              </a:pPr>
              <a:r>
                <a:rPr lang="en-US" sz="504">
                  <a:solidFill>
                    <a:srgbClr val="4F81BD"/>
                  </a:solidFill>
                  <a:latin typeface="Calibri (MS)"/>
                  <a:ea typeface="Calibri (MS)"/>
                  <a:cs typeface="Calibri (MS)"/>
                  <a:sym typeface="Calibri (MS)"/>
                </a:rPr>
                <a:t>            valor = Double.parseDouble(txtValor.getText().trim().replace(',', '.'));</a:t>
              </a:r>
            </a:p>
            <a:p>
              <a:pPr algn="l">
                <a:lnSpc>
                  <a:spcPts val="605"/>
                </a:lnSpc>
              </a:pPr>
              <a:r>
                <a:rPr lang="en-US" sz="504">
                  <a:solidFill>
                    <a:srgbClr val="4F81BD"/>
                  </a:solidFill>
                  <a:latin typeface="Calibri (MS)"/>
                  <a:ea typeface="Calibri (MS)"/>
                  <a:cs typeface="Calibri (MS)"/>
                  <a:sym typeface="Calibri (MS)"/>
                </a:rPr>
                <a:t>            if (Double.isNaN(valor) || Double.isInfinite(valor)) {</a:t>
              </a:r>
            </a:p>
            <a:p>
              <a:pPr algn="l">
                <a:lnSpc>
                  <a:spcPts val="605"/>
                </a:lnSpc>
              </a:pPr>
              <a:r>
                <a:rPr lang="en-US" sz="504">
                  <a:solidFill>
                    <a:srgbClr val="4F81BD"/>
                  </a:solidFill>
                  <a:latin typeface="Calibri (MS)"/>
                  <a:ea typeface="Calibri (MS)"/>
                  <a:cs typeface="Calibri (MS)"/>
                  <a:sym typeface="Calibri (MS)"/>
                </a:rPr>
                <a:t>                throw new NumberFormatException();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catch (NumberFormatException e) {</a:t>
              </a:r>
            </a:p>
            <a:p>
              <a:pPr algn="l">
                <a:lnSpc>
                  <a:spcPts val="605"/>
                </a:lnSpc>
              </a:pPr>
              <a:r>
                <a:rPr lang="en-US" sz="504">
                  <a:solidFill>
                    <a:srgbClr val="4F81BD"/>
                  </a:solidFill>
                  <a:latin typeface="Calibri (MS)"/>
                  <a:ea typeface="Calibri (MS)"/>
                  <a:cs typeface="Calibri (MS)"/>
                  <a:sym typeface="Calibri (MS)"/>
                </a:rPr>
                <a:t>            estado("Ingrese un número válido (ejemplo: 12.5).", Estilo.ERROR);</a:t>
              </a:r>
            </a:p>
            <a:p>
              <a:pPr algn="l">
                <a:lnSpc>
                  <a:spcPts val="605"/>
                </a:lnSpc>
              </a:pPr>
              <a:r>
                <a:rPr lang="en-US" sz="504">
                  <a:solidFill>
                    <a:srgbClr val="4F81BD"/>
                  </a:solidFill>
                  <a:latin typeface="Calibri (MS)"/>
                  <a:ea typeface="Calibri (MS)"/>
                  <a:cs typeface="Calibri (MS)"/>
                  <a:sym typeface="Calibri (MS)"/>
                </a:rPr>
                <a:t>            return;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if (categoria == null || origen == null || destino == null) {</a:t>
              </a:r>
            </a:p>
            <a:p>
              <a:pPr algn="l">
                <a:lnSpc>
                  <a:spcPts val="605"/>
                </a:lnSpc>
              </a:pPr>
              <a:r>
                <a:rPr lang="en-US" sz="504">
                  <a:solidFill>
                    <a:srgbClr val="4F81BD"/>
                  </a:solidFill>
                  <a:latin typeface="Calibri (MS)"/>
                  <a:ea typeface="Calibri (MS)"/>
                  <a:cs typeface="Calibri (MS)"/>
                  <a:sym typeface="Calibri (MS)"/>
                </a:rPr>
                <a:t>            estado("Seleccione la categoría y las unidades.", Estilo.ERROR);</a:t>
              </a:r>
            </a:p>
            <a:p>
              <a:pPr algn="l">
                <a:lnSpc>
                  <a:spcPts val="605"/>
                </a:lnSpc>
              </a:pPr>
              <a:r>
                <a:rPr lang="en-US" sz="504">
                  <a:solidFill>
                    <a:srgbClr val="4F81BD"/>
                  </a:solidFill>
                  <a:latin typeface="Calibri (MS)"/>
                  <a:ea typeface="Calibri (MS)"/>
                  <a:cs typeface="Calibri (MS)"/>
                  <a:sym typeface="Calibri (MS)"/>
                </a:rPr>
                <a:t>            return;</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btnConvertir.setEnabled(false);</a:t>
              </a:r>
            </a:p>
            <a:p>
              <a:pPr algn="l">
                <a:lnSpc>
                  <a:spcPts val="605"/>
                </a:lnSpc>
              </a:pPr>
              <a:r>
                <a:rPr lang="en-US" sz="504">
                  <a:solidFill>
                    <a:srgbClr val="4F81BD"/>
                  </a:solidFill>
                  <a:latin typeface="Calibri (MS)"/>
                  <a:ea typeface="Calibri (MS)"/>
                  <a:cs typeface="Calibri (MS)"/>
                  <a:sym typeface="Calibri (MS)"/>
                </a:rPr>
                <a:t>        estado("Convirtiendo...", Estilo.AZUL);</a:t>
              </a:r>
            </a:p>
            <a:p>
              <a:pPr algn="l">
                <a:lnSpc>
                  <a:spcPts val="605"/>
                </a:lnSpc>
              </a:pPr>
              <a:r>
                <a:rPr lang="en-US" sz="504">
                  <a:solidFill>
                    <a:srgbClr val="4F81BD"/>
                  </a:solidFill>
                  <a:latin typeface="Calibri (MS)"/>
                  <a:ea typeface="Calibri (MS)"/>
                  <a:cs typeface="Calibri (MS)"/>
                  <a:sym typeface="Calibri (MS)"/>
                </a:rPr>
                <a:t>        new SwingWorker&lt;RespuestaServicio, Void&gt;() {</a:t>
              </a:r>
            </a:p>
            <a:p>
              <a:pPr algn="l">
                <a:lnSpc>
                  <a:spcPts val="605"/>
                </a:lnSpc>
              </a:pPr>
              <a:r>
                <a:rPr lang="en-US" sz="504">
                  <a:solidFill>
                    <a:srgbClr val="4F81BD"/>
                  </a:solidFill>
                  <a:latin typeface="Calibri (MS)"/>
                  <a:ea typeface="Calibri (MS)"/>
                  <a:cs typeface="Calibri (MS)"/>
                  <a:sym typeface="Calibri (MS)"/>
                </a:rPr>
                <a:t>            @Override</a:t>
              </a:r>
            </a:p>
            <a:p>
              <a:pPr algn="l">
                <a:lnSpc>
                  <a:spcPts val="605"/>
                </a:lnSpc>
              </a:pPr>
              <a:r>
                <a:rPr lang="en-US" sz="504">
                  <a:solidFill>
                    <a:srgbClr val="4F81BD"/>
                  </a:solidFill>
                  <a:latin typeface="Calibri (MS)"/>
                  <a:ea typeface="Calibri (MS)"/>
                  <a:cs typeface="Calibri (MS)"/>
                  <a:sym typeface="Calibri (MS)"/>
                </a:rPr>
                <a:t>            protected RespuestaServicio doInBackground() {</a:t>
              </a:r>
            </a:p>
            <a:p>
              <a:pPr algn="l">
                <a:lnSpc>
                  <a:spcPts val="605"/>
                </a:lnSpc>
              </a:pPr>
              <a:r>
                <a:rPr lang="en-US" sz="504">
                  <a:solidFill>
                    <a:srgbClr val="4F81BD"/>
                  </a:solidFill>
                  <a:latin typeface="Calibri (MS)"/>
                  <a:ea typeface="Calibri (MS)"/>
                  <a:cs typeface="Calibri (MS)"/>
                  <a:sym typeface="Calibri (MS)"/>
                </a:rPr>
                <a:t>                return controlador.convertir(categoria, valor, origen, destino);</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@Override</a:t>
              </a:r>
            </a:p>
            <a:p>
              <a:pPr algn="l">
                <a:lnSpc>
                  <a:spcPts val="605"/>
                </a:lnSpc>
              </a:pPr>
              <a:r>
                <a:rPr lang="en-US" sz="504">
                  <a:solidFill>
                    <a:srgbClr val="4F81BD"/>
                  </a:solidFill>
                  <a:latin typeface="Calibri (MS)"/>
                  <a:ea typeface="Calibri (MS)"/>
                  <a:cs typeface="Calibri (MS)"/>
                  <a:sym typeface="Calibri (MS)"/>
                </a:rPr>
                <a:t>            protected void done() {</a:t>
              </a:r>
            </a:p>
            <a:p>
              <a:pPr algn="l">
                <a:lnSpc>
                  <a:spcPts val="605"/>
                </a:lnSpc>
              </a:pPr>
              <a:r>
                <a:rPr lang="en-US" sz="504">
                  <a:solidFill>
                    <a:srgbClr val="4F81BD"/>
                  </a:solidFill>
                  <a:latin typeface="Calibri (MS)"/>
                  <a:ea typeface="Calibri (MS)"/>
                  <a:cs typeface="Calibri (MS)"/>
                  <a:sym typeface="Calibri (MS)"/>
                </a:rPr>
                <a:t>                btnConvertir.setEnabled(true);</a:t>
              </a:r>
            </a:p>
            <a:p>
              <a:pPr algn="l">
                <a:lnSpc>
                  <a:spcPts val="605"/>
                </a:lnSpc>
              </a:pPr>
              <a:r>
                <a:rPr lang="en-US" sz="504">
                  <a:solidFill>
                    <a:srgbClr val="4F81BD"/>
                  </a:solidFill>
                  <a:latin typeface="Calibri (MS)"/>
                  <a:ea typeface="Calibri (MS)"/>
                  <a:cs typeface="Calibri (MS)"/>
                  <a:sym typeface="Calibri (MS)"/>
                </a:rPr>
                <a:t>                try {</a:t>
              </a:r>
            </a:p>
            <a:p>
              <a:pPr algn="l">
                <a:lnSpc>
                  <a:spcPts val="605"/>
                </a:lnSpc>
              </a:pPr>
              <a:r>
                <a:rPr lang="en-US" sz="504">
                  <a:solidFill>
                    <a:srgbClr val="4F81BD"/>
                  </a:solidFill>
                  <a:latin typeface="Calibri (MS)"/>
                  <a:ea typeface="Calibri (MS)"/>
                  <a:cs typeface="Calibri (MS)"/>
                  <a:sym typeface="Calibri (MS)"/>
                </a:rPr>
                <a:t>                    RespuestaServicio r = get();</a:t>
              </a:r>
            </a:p>
            <a:p>
              <a:pPr algn="l">
                <a:lnSpc>
                  <a:spcPts val="605"/>
                </a:lnSpc>
              </a:pPr>
              <a:r>
                <a:rPr lang="en-US" sz="504">
                  <a:solidFill>
                    <a:srgbClr val="4F81BD"/>
                  </a:solidFill>
                  <a:latin typeface="Calibri (MS)"/>
                  <a:ea typeface="Calibri (MS)"/>
                  <a:cs typeface="Calibri (MS)"/>
                  <a:sym typeface="Calibri (MS)"/>
                </a:rPr>
                <a:t>                    if (r.esExitosa() &amp;&amp; r.getResultado() != null) {</a:t>
              </a:r>
            </a:p>
            <a:p>
              <a:pPr algn="l">
                <a:lnSpc>
                  <a:spcPts val="605"/>
                </a:lnSpc>
              </a:pPr>
              <a:r>
                <a:rPr lang="en-US" sz="504">
                  <a:solidFill>
                    <a:srgbClr val="4F81BD"/>
                  </a:solidFill>
                  <a:latin typeface="Calibri (MS)"/>
                  <a:ea typeface="Calibri (MS)"/>
                  <a:cs typeface="Calibri (MS)"/>
                  <a:sym typeface="Calibri (MS)"/>
                </a:rPr>
                <a:t>                        lblResultado.setText(ControladorConversiones.formatear(valor) + " " + r.getUnidadOrigen() + " = "</a:t>
              </a:r>
            </a:p>
            <a:p>
              <a:pPr algn="l">
                <a:lnSpc>
                  <a:spcPts val="605"/>
                </a:lnSpc>
              </a:pPr>
              <a:r>
                <a:rPr lang="en-US" sz="504">
                  <a:solidFill>
                    <a:srgbClr val="4F81BD"/>
                  </a:solidFill>
                  <a:latin typeface="Calibri (MS)"/>
                  <a:ea typeface="Calibri (MS)"/>
                  <a:cs typeface="Calibri (MS)"/>
                  <a:sym typeface="Calibri (MS)"/>
                </a:rPr>
                <a:t>                                + ControladorConversiones.formatear(r.getResultado()) + " " + r.getUnidadDestino());</a:t>
              </a:r>
            </a:p>
            <a:p>
              <a:pPr algn="l">
                <a:lnSpc>
                  <a:spcPts val="605"/>
                </a:lnSpc>
              </a:pPr>
              <a:r>
                <a:rPr lang="en-US" sz="504">
                  <a:solidFill>
                    <a:srgbClr val="4F81BD"/>
                  </a:solidFill>
                  <a:latin typeface="Calibri (MS)"/>
                  <a:ea typeface="Calibri (MS)"/>
                  <a:cs typeface="Calibri (MS)"/>
                  <a:sym typeface="Calibri (MS)"/>
                </a:rPr>
                <a:t>                        estado(r.getMensaje(), Estilo.EXITO);</a:t>
              </a:r>
            </a:p>
            <a:p>
              <a:pPr algn="l">
                <a:lnSpc>
                  <a:spcPts val="605"/>
                </a:lnSpc>
              </a:pPr>
              <a:r>
                <a:rPr lang="en-US" sz="504">
                  <a:solidFill>
                    <a:srgbClr val="4F81BD"/>
                  </a:solidFill>
                  <a:latin typeface="Calibri (MS)"/>
                  <a:ea typeface="Calibri (MS)"/>
                  <a:cs typeface="Calibri (MS)"/>
                  <a:sym typeface="Calibri (MS)"/>
                </a:rPr>
                <a:t>                    } else {</a:t>
              </a:r>
            </a:p>
            <a:p>
              <a:pPr algn="l">
                <a:lnSpc>
                  <a:spcPts val="605"/>
                </a:lnSpc>
              </a:pPr>
              <a:r>
                <a:rPr lang="en-US" sz="504">
                  <a:solidFill>
                    <a:srgbClr val="4F81BD"/>
                  </a:solidFill>
                  <a:latin typeface="Calibri (MS)"/>
                  <a:ea typeface="Calibri (MS)"/>
                  <a:cs typeface="Calibri (MS)"/>
                  <a:sym typeface="Calibri (MS)"/>
                </a:rPr>
                <a:t>                        manejarError(r);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catch (Exception ex) {</a:t>
              </a:r>
            </a:p>
            <a:p>
              <a:pPr algn="l">
                <a:lnSpc>
                  <a:spcPts val="605"/>
                </a:lnSpc>
              </a:pPr>
              <a:r>
                <a:rPr lang="en-US" sz="504">
                  <a:solidFill>
                    <a:srgbClr val="4F81BD"/>
                  </a:solidFill>
                  <a:latin typeface="Calibri (MS)"/>
                  <a:ea typeface="Calibri (MS)"/>
                  <a:cs typeface="Calibri (MS)"/>
                  <a:sym typeface="Calibri (MS)"/>
                </a:rPr>
                <a:t>                    estado("Error inesperado: " + ex.getMessage(), Estilo.ERROR);</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}.execute();</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a:t>
              </a:r>
            </a:p>
            <a:p>
              <a:pPr algn="l">
                <a:lnSpc>
                  <a:spcPts val="605"/>
                </a:lnSpc>
              </a:pPr>
              <a:r>
                <a:rPr lang="en-US" sz="504">
                  <a:solidFill>
                    <a:srgbClr val="4F81BD"/>
                  </a:solidFill>
                  <a:latin typeface="Calibri (MS)"/>
                  <a:ea typeface="Calibri (MS)"/>
                  <a:cs typeface="Calibri (MS)"/>
                  <a:sym typeface="Calibri (MS)"/>
                </a:rPr>
                <a:t>    // Acceso para pruebas</a:t>
              </a:r>
            </a:p>
            <a:p>
              <a:pPr algn="l">
                <a:lnSpc>
                  <a:spcPts val="605"/>
                </a:lnSpc>
              </a:pPr>
              <a:r>
                <a:rPr lang="en-US" sz="504">
                  <a:solidFill>
                    <a:srgbClr val="4F81BD"/>
                  </a:solidFill>
                  <a:latin typeface="Calibri (MS)"/>
                  <a:ea typeface="Calibri (MS)"/>
                  <a:cs typeface="Calibri (MS)"/>
                  <a:sym typeface="Calibri (MS)"/>
                </a:rPr>
                <a:t>    JComboBox&lt;String&gt; comboCategoria() { return cmbCategoria; }</a:t>
              </a:r>
            </a:p>
            <a:p>
              <a:pPr algn="l">
                <a:lnSpc>
                  <a:spcPts val="605"/>
                </a:lnSpc>
              </a:pPr>
              <a:r>
                <a:rPr lang="en-US" sz="504">
                  <a:solidFill>
                    <a:srgbClr val="4F81BD"/>
                  </a:solidFill>
                  <a:latin typeface="Calibri (MS)"/>
                  <a:ea typeface="Calibri (MS)"/>
                  <a:cs typeface="Calibri (MS)"/>
                  <a:sym typeface="Calibri (MS)"/>
                </a:rPr>
                <a:t>    JComboBox&lt;String&gt; comboOrigen() { return cmbOrigen; }</a:t>
              </a:r>
            </a:p>
            <a:p>
              <a:pPr algn="l">
                <a:lnSpc>
                  <a:spcPts val="605"/>
                </a:lnSpc>
              </a:pPr>
              <a:r>
                <a:rPr lang="en-US" sz="504">
                  <a:solidFill>
                    <a:srgbClr val="4F81BD"/>
                  </a:solidFill>
                  <a:latin typeface="Calibri (MS)"/>
                  <a:ea typeface="Calibri (MS)"/>
                  <a:cs typeface="Calibri (MS)"/>
                  <a:sym typeface="Calibri (MS)"/>
                </a:rPr>
                <a:t>    JComboBox&lt;String&gt; comboDestino() { return cmbDestino; }</a:t>
              </a:r>
            </a:p>
            <a:p>
              <a:pPr algn="l">
                <a:lnSpc>
                  <a:spcPts val="605"/>
                </a:lnSpc>
              </a:pPr>
              <a:r>
                <a:rPr lang="en-US" sz="504">
                  <a:solidFill>
                    <a:srgbClr val="4F81BD"/>
                  </a:solidFill>
                  <a:latin typeface="Calibri (MS)"/>
                  <a:ea typeface="Calibri (MS)"/>
                  <a:cs typeface="Calibri (MS)"/>
                  <a:sym typeface="Calibri (MS)"/>
                </a:rPr>
                <a:t>    JTextField campoValor() { return txtValor; }</a:t>
              </a:r>
            </a:p>
            <a:p>
              <a:pPr algn="l">
                <a:lnSpc>
                  <a:spcPts val="605"/>
                </a:lnSpc>
              </a:pPr>
              <a:r>
                <a:rPr lang="en-US" sz="504">
                  <a:solidFill>
                    <a:srgbClr val="4F81BD"/>
                  </a:solidFill>
                  <a:latin typeface="Calibri (MS)"/>
                  <a:ea typeface="Calibri (MS)"/>
                  <a:cs typeface="Calibri (MS)"/>
                  <a:sym typeface="Calibri (MS)"/>
                </a:rPr>
                <a:t>    JLabel etiquetaResultado() { return lblResultado; }</a:t>
              </a:r>
            </a:p>
            <a:p>
              <a:pPr algn="l">
                <a:lnSpc>
                  <a:spcPts val="605"/>
                </a:lnSpc>
              </a:pPr>
              <a:r>
                <a:rPr lang="en-US" sz="504">
                  <a:solidFill>
                    <a:srgbClr val="4F81BD"/>
                  </a:solidFill>
                  <a:latin typeface="Calibri (MS)"/>
                  <a:ea typeface="Calibri (MS)"/>
                  <a:cs typeface="Calibri (MS)"/>
                  <a:sym typeface="Calibri (MS)"/>
                </a:rPr>
                <a:t>    JLabel etiquetaEstado() { return lblEstado; }</a:t>
              </a:r>
            </a:p>
            <a:p>
              <a:pPr algn="l">
                <a:lnSpc>
                  <a:spcPts val="605"/>
                </a:lnSpc>
              </a:pPr>
              <a:r>
                <a:rPr lang="en-US" sz="504">
                  <a:solidFill>
                    <a:srgbClr val="4F81BD"/>
                  </a:solidFill>
                  <a:latin typeface="Calibri (MS)"/>
                  <a:ea typeface="Calibri (MS)"/>
                  <a:cs typeface="Calibri (MS)"/>
                  <a:sym typeface="Calibri (MS)"/>
                </a:rPr>
                <a:t>    JButton botonConvertir() { return btnConvertir; }</a:t>
              </a:r>
            </a:p>
            <a:p>
              <a:pPr algn="l">
                <a:lnSpc>
                  <a:spcPts val="605"/>
                </a:lnSpc>
              </a:pPr>
              <a:r>
                <a:rPr lang="en-US" sz="504">
                  <a:solidFill>
                    <a:srgbClr val="4F81BD"/>
                  </a:solidFill>
                  <a:latin typeface="Calibri (MS)"/>
                  <a:ea typeface="Calibri (MS)"/>
                  <a:cs typeface="Calibri (MS)"/>
                  <a:sym typeface="Calibri (MS)"/>
                </a:rPr>
                <a:t>}</a:t>
              </a:r>
            </a:p>
          </p:txBody>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login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6656461" y="2880360"/>
            <a:ext cx="6163799" cy="6720840"/>
            <a:chOff x="0" y="0"/>
            <a:chExt cx="8218399" cy="8961120"/>
          </a:xfrm>
        </p:grpSpPr>
        <p:sp>
          <p:nvSpPr>
            <p:cNvPr name="Freeform 18" id="18" descr="esc_login.png"/>
            <p:cNvSpPr/>
            <p:nvPr/>
          </p:nvSpPr>
          <p:spPr>
            <a:xfrm flipH="false" flipV="false" rot="0">
              <a:off x="0" y="0"/>
              <a:ext cx="8218424" cy="8961120"/>
            </a:xfrm>
            <a:custGeom>
              <a:avLst/>
              <a:gdLst/>
              <a:ahLst/>
              <a:cxnLst/>
              <a:rect r="r" b="b" t="t" l="l"/>
              <a:pathLst>
                <a:path h="8961120" w="8218424">
                  <a:moveTo>
                    <a:pt x="0" y="0"/>
                  </a:moveTo>
                  <a:lnTo>
                    <a:pt x="8218424" y="0"/>
                  </a:lnTo>
                  <a:lnTo>
                    <a:pt x="8218424" y="8961120"/>
                  </a:lnTo>
                  <a:lnTo>
                    <a:pt x="0" y="8961120"/>
                  </a:lnTo>
                  <a:lnTo>
                    <a:pt x="0" y="0"/>
                  </a:lnTo>
                  <a:close/>
                </a:path>
              </a:pathLst>
            </a:custGeom>
            <a:blipFill>
              <a:blip r:embed="rId3"/>
              <a:stretch>
                <a:fillRect l="0" t="0" r="0" b="0"/>
              </a:stretch>
            </a:blipFill>
          </p:spPr>
          <p:txBody>
            <a:bodyPr/>
            <a:p/>
          </p:txBody>
        </p:sp>
      </p:gr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Conversor</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6707391" y="2880360"/>
            <a:ext cx="6061929" cy="6720840"/>
            <a:chOff x="0" y="0"/>
            <a:chExt cx="8082572" cy="8961120"/>
          </a:xfrm>
        </p:grpSpPr>
        <p:sp>
          <p:nvSpPr>
            <p:cNvPr name="Freeform 18" id="18" descr="esc_conversion.png"/>
            <p:cNvSpPr/>
            <p:nvPr/>
          </p:nvSpPr>
          <p:spPr>
            <a:xfrm flipH="false" flipV="false" rot="0">
              <a:off x="0" y="0"/>
              <a:ext cx="8082534" cy="8961120"/>
            </a:xfrm>
            <a:custGeom>
              <a:avLst/>
              <a:gdLst/>
              <a:ahLst/>
              <a:cxnLst/>
              <a:rect r="r" b="b" t="t" l="l"/>
              <a:pathLst>
                <a:path h="8961120" w="8082534">
                  <a:moveTo>
                    <a:pt x="0" y="0"/>
                  </a:moveTo>
                  <a:lnTo>
                    <a:pt x="8082534" y="0"/>
                  </a:lnTo>
                  <a:lnTo>
                    <a:pt x="8082534" y="8961120"/>
                  </a:lnTo>
                  <a:lnTo>
                    <a:pt x="0" y="8961120"/>
                  </a:lnTo>
                  <a:lnTo>
                    <a:pt x="0" y="0"/>
                  </a:lnTo>
                  <a:close/>
                </a:path>
              </a:pathLst>
            </a:custGeom>
            <a:blipFill>
              <a:blip r:embed="rId3"/>
              <a:stretch>
                <a:fillRect l="0" t="0" r="0" b="0"/>
              </a:stretch>
            </a:blipFill>
          </p:spPr>
          <p:txBody>
            <a:bodyPr/>
            <a:p/>
          </p:txBody>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206271" y="2880360"/>
            <a:ext cx="7338498" cy="6583680"/>
            <a:chOff x="0" y="0"/>
            <a:chExt cx="9784664" cy="8778240"/>
          </a:xfrm>
        </p:grpSpPr>
        <p:sp>
          <p:nvSpPr>
            <p:cNvPr name="Freeform 17" id="17"/>
            <p:cNvSpPr/>
            <p:nvPr/>
          </p:nvSpPr>
          <p:spPr>
            <a:xfrm flipH="false" flipV="false" rot="0">
              <a:off x="0" y="0"/>
              <a:ext cx="9784715" cy="8778240"/>
            </a:xfrm>
            <a:custGeom>
              <a:avLst/>
              <a:gdLst/>
              <a:ahLst/>
              <a:cxnLst/>
              <a:rect r="r" b="b" t="t" l="l"/>
              <a:pathLst>
                <a:path h="8778240" w="9784715">
                  <a:moveTo>
                    <a:pt x="0" y="0"/>
                  </a:moveTo>
                  <a:lnTo>
                    <a:pt x="9784715" y="0"/>
                  </a:lnTo>
                  <a:lnTo>
                    <a:pt x="9784715" y="8778240"/>
                  </a:lnTo>
                  <a:lnTo>
                    <a:pt x="0" y="8778240"/>
                  </a:lnTo>
                  <a:lnTo>
                    <a:pt x="0" y="0"/>
                  </a:lnTo>
                  <a:close/>
                </a:path>
              </a:pathLst>
            </a:custGeom>
            <a:blipFill>
              <a:blip r:embed="rId3"/>
              <a:stretch>
                <a:fillRect l="-781" t="0" r="-781" b="0"/>
              </a:stretch>
            </a:blipFill>
          </p:spPr>
          <p:txBody>
            <a:bodyPr/>
            <a:p/>
          </p:txBody>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1.5 	CREACIÓN DEL PROYECTO – CLIENTE WEB</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Para el cliente web se creó una aplicación web (WAR) con servlets y páginas HTML/JS, que se despliega en Payara. El navegador nunca ve el token: queda en la sesión del servidor.</a:t>
            </a:r>
          </a:p>
          <a:p>
            <a:pPr algn="just" marL="352901" indent="-176451" lvl="1">
              <a:lnSpc>
                <a:spcPts val="2503"/>
              </a:lnSpc>
              <a:buFont typeface="Arial"/>
              <a:buChar char="•"/>
            </a:pPr>
            <a:r>
              <a:rPr lang="en-US" sz="1950">
                <a:solidFill>
                  <a:srgbClr val="3D3D3D"/>
                </a:solidFill>
                <a:latin typeface="Cambria"/>
                <a:ea typeface="Cambria"/>
                <a:cs typeface="Cambria"/>
                <a:sym typeface="Cambria"/>
              </a:rPr>
              <a:t>Estructura MVC: modelo (RestClient), controlador (servlets) y vista (HTML, CSS y JS).</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LoginServlet</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del inicio de sesión.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008370"/>
            <a:chOff x="0" y="0"/>
            <a:chExt cx="12278360" cy="8011160"/>
          </a:xfrm>
        </p:grpSpPr>
        <p:sp>
          <p:nvSpPr>
            <p:cNvPr name="Freeform 18" id="18"/>
            <p:cNvSpPr/>
            <p:nvPr/>
          </p:nvSpPr>
          <p:spPr>
            <a:xfrm flipH="false" flipV="false" rot="0">
              <a:off x="0" y="0"/>
              <a:ext cx="12278360" cy="8011160"/>
            </a:xfrm>
            <a:custGeom>
              <a:avLst/>
              <a:gdLst/>
              <a:ahLst/>
              <a:cxnLst/>
              <a:rect r="r" b="b" t="t" l="l"/>
              <a:pathLst>
                <a:path h="8011160" w="12278360">
                  <a:moveTo>
                    <a:pt x="0" y="0"/>
                  </a:moveTo>
                  <a:lnTo>
                    <a:pt x="12278360" y="0"/>
                  </a:lnTo>
                  <a:lnTo>
                    <a:pt x="12278360" y="8011160"/>
                  </a:lnTo>
                  <a:lnTo>
                    <a:pt x="0" y="801116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049260"/>
            </a:xfrm>
            <a:prstGeom prst="rect">
              <a:avLst/>
            </a:prstGeom>
          </p:spPr>
          <p:txBody>
            <a:bodyPr anchor="t" rtlCol="false" tIns="50800" lIns="50800" bIns="50800" rIns="50800"/>
            <a:lstStyle/>
            <a:p>
              <a:pPr algn="l">
                <a:lnSpc>
                  <a:spcPts val="1390"/>
                </a:lnSpc>
              </a:pPr>
              <a:r>
                <a:rPr lang="en-US" sz="1159">
                  <a:solidFill>
                    <a:srgbClr val="4F81BD"/>
                  </a:solidFill>
                  <a:latin typeface="Calibri (MS)"/>
                  <a:ea typeface="Calibri (MS)"/>
                  <a:cs typeface="Calibri (MS)"/>
                  <a:sym typeface="Calibri (MS)"/>
                </a:rPr>
                <a:t>package ec.edu.monster.clienteweb.controlador;</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import ec.edu.monster.clienteweb.modelo.RespuestaServicio;</a:t>
              </a:r>
            </a:p>
            <a:p>
              <a:pPr algn="l">
                <a:lnSpc>
                  <a:spcPts val="1390"/>
                </a:lnSpc>
              </a:pPr>
              <a:r>
                <a:rPr lang="en-US" sz="1159">
                  <a:solidFill>
                    <a:srgbClr val="4F81BD"/>
                  </a:solidFill>
                  <a:latin typeface="Calibri (MS)"/>
                  <a:ea typeface="Calibri (MS)"/>
                  <a:cs typeface="Calibri (MS)"/>
                  <a:sym typeface="Calibri (MS)"/>
                </a:rPr>
                <a:t>import jakarta.servlet.annotation.WebServlet;</a:t>
              </a:r>
            </a:p>
            <a:p>
              <a:pPr algn="l">
                <a:lnSpc>
                  <a:spcPts val="1390"/>
                </a:lnSpc>
              </a:pPr>
              <a:r>
                <a:rPr lang="en-US" sz="1159">
                  <a:solidFill>
                    <a:srgbClr val="4F81BD"/>
                  </a:solidFill>
                  <a:latin typeface="Calibri (MS)"/>
                  <a:ea typeface="Calibri (MS)"/>
                  <a:cs typeface="Calibri (MS)"/>
                  <a:sym typeface="Calibri (MS)"/>
                </a:rPr>
                <a:t>import jakarta.servlet.http.HttpServlet;</a:t>
              </a:r>
            </a:p>
            <a:p>
              <a:pPr algn="l">
                <a:lnSpc>
                  <a:spcPts val="1390"/>
                </a:lnSpc>
              </a:pPr>
              <a:r>
                <a:rPr lang="en-US" sz="1159">
                  <a:solidFill>
                    <a:srgbClr val="4F81BD"/>
                  </a:solidFill>
                  <a:latin typeface="Calibri (MS)"/>
                  <a:ea typeface="Calibri (MS)"/>
                  <a:cs typeface="Calibri (MS)"/>
                  <a:sym typeface="Calibri (MS)"/>
                </a:rPr>
                <a:t>import jakarta.servlet.http.HttpServletRequest;</a:t>
              </a:r>
            </a:p>
            <a:p>
              <a:pPr algn="l">
                <a:lnSpc>
                  <a:spcPts val="1390"/>
                </a:lnSpc>
              </a:pPr>
              <a:r>
                <a:rPr lang="en-US" sz="1159">
                  <a:solidFill>
                    <a:srgbClr val="4F81BD"/>
                  </a:solidFill>
                  <a:latin typeface="Calibri (MS)"/>
                  <a:ea typeface="Calibri (MS)"/>
                  <a:cs typeface="Calibri (MS)"/>
                  <a:sym typeface="Calibri (MS)"/>
                </a:rPr>
                <a:t>import jakarta.servlet.http.HttpServletResponse;</a:t>
              </a:r>
            </a:p>
            <a:p>
              <a:pPr algn="l">
                <a:lnSpc>
                  <a:spcPts val="1390"/>
                </a:lnSpc>
              </a:pPr>
              <a:r>
                <a:rPr lang="en-US" sz="1159">
                  <a:solidFill>
                    <a:srgbClr val="4F81BD"/>
                  </a:solidFill>
                  <a:latin typeface="Calibri (MS)"/>
                  <a:ea typeface="Calibri (MS)"/>
                  <a:cs typeface="Calibri (MS)"/>
                  <a:sym typeface="Calibri (MS)"/>
                </a:rPr>
                <a:t>import jakarta.servlet.http.HttpSession;</a:t>
              </a:r>
            </a:p>
            <a:p>
              <a:pPr algn="l">
                <a:lnSpc>
                  <a:spcPts val="1390"/>
                </a:lnSpc>
              </a:pPr>
              <a:r>
                <a:rPr lang="en-US" sz="1159">
                  <a:solidFill>
                    <a:srgbClr val="4F81BD"/>
                  </a:solidFill>
                  <a:latin typeface="Calibri (MS)"/>
                  <a:ea typeface="Calibri (MS)"/>
                  <a:cs typeface="Calibri (MS)"/>
                  <a:sym typeface="Calibri (MS)"/>
                </a:rPr>
                <a:t>import java.io.IOException;</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 CU-01: inicia sesión en REST y guarda el token en la sesión del servidor web. */</a:t>
              </a:r>
            </a:p>
            <a:p>
              <a:pPr algn="l">
                <a:lnSpc>
                  <a:spcPts val="1390"/>
                </a:lnSpc>
              </a:pPr>
              <a:r>
                <a:rPr lang="en-US" sz="1159">
                  <a:solidFill>
                    <a:srgbClr val="4F81BD"/>
                  </a:solidFill>
                  <a:latin typeface="Calibri (MS)"/>
                  <a:ea typeface="Calibri (MS)"/>
                  <a:cs typeface="Calibri (MS)"/>
                  <a:sym typeface="Calibri (MS)"/>
                </a:rPr>
                <a:t>@WebServlet("/api/login")</a:t>
              </a:r>
            </a:p>
            <a:p>
              <a:pPr algn="l">
                <a:lnSpc>
                  <a:spcPts val="1390"/>
                </a:lnSpc>
              </a:pPr>
              <a:r>
                <a:rPr lang="en-US" sz="1159">
                  <a:solidFill>
                    <a:srgbClr val="4F81BD"/>
                  </a:solidFill>
                  <a:latin typeface="Calibri (MS)"/>
                  <a:ea typeface="Calibri (MS)"/>
                  <a:cs typeface="Calibri (MS)"/>
                  <a:sym typeface="Calibri (MS)"/>
                </a:rPr>
                <a:t>public class LoginServlet extends HttpServlet {</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    @Override</a:t>
              </a:r>
            </a:p>
            <a:p>
              <a:pPr algn="l">
                <a:lnSpc>
                  <a:spcPts val="1390"/>
                </a:lnSpc>
              </a:pPr>
              <a:r>
                <a:rPr lang="en-US" sz="1159">
                  <a:solidFill>
                    <a:srgbClr val="4F81BD"/>
                  </a:solidFill>
                  <a:latin typeface="Calibri (MS)"/>
                  <a:ea typeface="Calibri (MS)"/>
                  <a:cs typeface="Calibri (MS)"/>
                  <a:sym typeface="Calibri (MS)"/>
                </a:rPr>
                <a:t>    protected void doPost(HttpServletRequest req, HttpServletResponse resp) throws IOException {</a:t>
              </a:r>
            </a:p>
            <a:p>
              <a:pPr algn="l">
                <a:lnSpc>
                  <a:spcPts val="1390"/>
                </a:lnSpc>
              </a:pPr>
              <a:r>
                <a:rPr lang="en-US" sz="1159">
                  <a:solidFill>
                    <a:srgbClr val="4F81BD"/>
                  </a:solidFill>
                  <a:latin typeface="Calibri (MS)"/>
                  <a:ea typeface="Calibri (MS)"/>
                  <a:cs typeface="Calibri (MS)"/>
                  <a:sym typeface="Calibri (MS)"/>
                </a:rPr>
                <a:t>        req.setCharacterEncoding("UTF-8");</a:t>
              </a:r>
            </a:p>
            <a:p>
              <a:pPr algn="l">
                <a:lnSpc>
                  <a:spcPts val="1390"/>
                </a:lnSpc>
              </a:pPr>
              <a:r>
                <a:rPr lang="en-US" sz="1159">
                  <a:solidFill>
                    <a:srgbClr val="4F81BD"/>
                  </a:solidFill>
                  <a:latin typeface="Calibri (MS)"/>
                  <a:ea typeface="Calibri (MS)"/>
                  <a:cs typeface="Calibri (MS)"/>
                  <a:sym typeface="Calibri (MS)"/>
                </a:rPr>
                <a:t>        String servidor = req.getParameter("servidor") == null ? "" : req.getParameter("servidor").trim();</a:t>
              </a:r>
            </a:p>
            <a:p>
              <a:pPr algn="l">
                <a:lnSpc>
                  <a:spcPts val="1390"/>
                </a:lnSpc>
              </a:pPr>
              <a:r>
                <a:rPr lang="en-US" sz="1159">
                  <a:solidFill>
                    <a:srgbClr val="4F81BD"/>
                  </a:solidFill>
                  <a:latin typeface="Calibri (MS)"/>
                  <a:ea typeface="Calibri (MS)"/>
                  <a:cs typeface="Calibri (MS)"/>
                  <a:sym typeface="Calibri (MS)"/>
                </a:rPr>
                <a:t>        if (!servidor.isEmpty() &amp;&amp; !Servicios.urlValida(servidor)) {</a:t>
              </a:r>
            </a:p>
            <a:p>
              <a:pPr algn="l">
                <a:lnSpc>
                  <a:spcPts val="1390"/>
                </a:lnSpc>
              </a:pPr>
              <a:r>
                <a:rPr lang="en-US" sz="1159">
                  <a:solidFill>
                    <a:srgbClr val="4F81BD"/>
                  </a:solidFill>
                  <a:latin typeface="Calibri (MS)"/>
                  <a:ea typeface="Calibri (MS)"/>
                  <a:cs typeface="Calibri (MS)"/>
                  <a:sym typeface="Calibri (MS)"/>
                </a:rPr>
                <a:t>            Json.escribir(resp, HttpServletResponse.SC_BAD_REQUEST, Json.de(RespuestaServicio.errorLocal(</a:t>
              </a:r>
            </a:p>
            <a:p>
              <a:pPr algn="l">
                <a:lnSpc>
                  <a:spcPts val="1390"/>
                </a:lnSpc>
              </a:pPr>
              <a:r>
                <a:rPr lang="en-US" sz="1159">
                  <a:solidFill>
                    <a:srgbClr val="4F81BD"/>
                  </a:solidFill>
                  <a:latin typeface="Calibri (MS)"/>
                  <a:ea typeface="Calibri (MS)"/>
                  <a:cs typeface="Calibri (MS)"/>
                  <a:sym typeface="Calibri (MS)"/>
                </a:rPr>
                <a:t>                    "DATA-001", "La dirección del servidor debe ser una URL HTTP o HTTPS válida")));</a:t>
              </a:r>
            </a:p>
            <a:p>
              <a:pPr algn="l">
                <a:lnSpc>
                  <a:spcPts val="1390"/>
                </a:lnSpc>
              </a:pPr>
              <a:r>
                <a:rPr lang="en-US" sz="1159">
                  <a:solidFill>
                    <a:srgbClr val="4F81BD"/>
                  </a:solidFill>
                  <a:latin typeface="Calibri (MS)"/>
                  <a:ea typeface="Calibri (MS)"/>
                  <a:cs typeface="Calibri (MS)"/>
                  <a:sym typeface="Calibri (MS)"/>
                </a:rPr>
                <a:t>            return;</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        RespuestaServicio r = (servidor.isEmpty() ? Servicios.cliente(getServletContext())</a:t>
              </a:r>
            </a:p>
            <a:p>
              <a:pPr algn="l">
                <a:lnSpc>
                  <a:spcPts val="1390"/>
                </a:lnSpc>
              </a:pPr>
              <a:r>
                <a:rPr lang="en-US" sz="1159">
                  <a:solidFill>
                    <a:srgbClr val="4F81BD"/>
                  </a:solidFill>
                  <a:latin typeface="Calibri (MS)"/>
                  <a:ea typeface="Calibri (MS)"/>
                  <a:cs typeface="Calibri (MS)"/>
                  <a:sym typeface="Calibri (MS)"/>
                </a:rPr>
                <a:t>                : Servicios.cliente(getServletContext(), servidor))</a:t>
              </a:r>
            </a:p>
            <a:p>
              <a:pPr algn="l">
                <a:lnSpc>
                  <a:spcPts val="1390"/>
                </a:lnSpc>
              </a:pPr>
              <a:r>
                <a:rPr lang="en-US" sz="1159">
                  <a:solidFill>
                    <a:srgbClr val="4F81BD"/>
                  </a:solidFill>
                  <a:latin typeface="Calibri (MS)"/>
                  <a:ea typeface="Calibri (MS)"/>
                  <a:cs typeface="Calibri (MS)"/>
                  <a:sym typeface="Calibri (MS)"/>
                </a:rPr>
                <a:t>                .login(req.getParameter("usuario"), req.getParameter("clave"));</a:t>
              </a:r>
            </a:p>
            <a:p>
              <a:pPr algn="l">
                <a:lnSpc>
                  <a:spcPts val="1390"/>
                </a:lnSpc>
              </a:pPr>
              <a:r>
                <a:rPr lang="en-US" sz="1159">
                  <a:solidFill>
                    <a:srgbClr val="4F81BD"/>
                  </a:solidFill>
                  <a:latin typeface="Calibri (MS)"/>
                  <a:ea typeface="Calibri (MS)"/>
                  <a:cs typeface="Calibri (MS)"/>
                  <a:sym typeface="Calibri (MS)"/>
                </a:rPr>
                <a:t>        if (r.esExitosa() &amp;&amp; r.getToken() != null) {</a:t>
              </a:r>
            </a:p>
            <a:p>
              <a:pPr algn="l">
                <a:lnSpc>
                  <a:spcPts val="1390"/>
                </a:lnSpc>
              </a:pPr>
              <a:r>
                <a:rPr lang="en-US" sz="1159">
                  <a:solidFill>
                    <a:srgbClr val="4F81BD"/>
                  </a:solidFill>
                  <a:latin typeface="Calibri (MS)"/>
                  <a:ea typeface="Calibri (MS)"/>
                  <a:cs typeface="Calibri (MS)"/>
                  <a:sym typeface="Calibri (MS)"/>
                </a:rPr>
                <a:t>            HttpSession anterior = req.getSession(false);</a:t>
              </a:r>
            </a:p>
            <a:p>
              <a:pPr algn="l">
                <a:lnSpc>
                  <a:spcPts val="1390"/>
                </a:lnSpc>
              </a:pPr>
              <a:r>
                <a:rPr lang="en-US" sz="1159">
                  <a:solidFill>
                    <a:srgbClr val="4F81BD"/>
                  </a:solidFill>
                  <a:latin typeface="Calibri (MS)"/>
                  <a:ea typeface="Calibri (MS)"/>
                  <a:cs typeface="Calibri (MS)"/>
                  <a:sym typeface="Calibri (MS)"/>
                </a:rPr>
                <a:t>            if (anterior != null) {</a:t>
              </a:r>
            </a:p>
            <a:p>
              <a:pPr algn="l">
                <a:lnSpc>
                  <a:spcPts val="1390"/>
                </a:lnSpc>
              </a:pPr>
              <a:r>
                <a:rPr lang="en-US" sz="1159">
                  <a:solidFill>
                    <a:srgbClr val="4F81BD"/>
                  </a:solidFill>
                  <a:latin typeface="Calibri (MS)"/>
                  <a:ea typeface="Calibri (MS)"/>
                  <a:cs typeface="Calibri (MS)"/>
                  <a:sym typeface="Calibri (MS)"/>
                </a:rPr>
                <a:t>                anterior.invalidate(); // nueva sesion en cada login</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            HttpSession nueva = req.getSession(true);</a:t>
              </a:r>
            </a:p>
            <a:p>
              <a:pPr algn="l">
                <a:lnSpc>
                  <a:spcPts val="1390"/>
                </a:lnSpc>
              </a:pPr>
              <a:r>
                <a:rPr lang="en-US" sz="1159">
                  <a:solidFill>
                    <a:srgbClr val="4F81BD"/>
                  </a:solidFill>
                  <a:latin typeface="Calibri (MS)"/>
                  <a:ea typeface="Calibri (MS)"/>
                  <a:cs typeface="Calibri (MS)"/>
                  <a:sym typeface="Calibri (MS)"/>
                </a:rPr>
                <a:t>            nueva.setAttribute(Servicios.ATRIBUTO_TOKEN, r.getToken());</a:t>
              </a:r>
            </a:p>
            <a:p>
              <a:pPr algn="l">
                <a:lnSpc>
                  <a:spcPts val="1390"/>
                </a:lnSpc>
              </a:pPr>
              <a:r>
                <a:rPr lang="en-US" sz="1159">
                  <a:solidFill>
                    <a:srgbClr val="4F81BD"/>
                  </a:solidFill>
                  <a:latin typeface="Calibri (MS)"/>
                  <a:ea typeface="Calibri (MS)"/>
                  <a:cs typeface="Calibri (MS)"/>
                  <a:sym typeface="Calibri (MS)"/>
                </a:rPr>
                <a:t>            if (!servidor.isEmpty()) {</a:t>
              </a:r>
            </a:p>
            <a:p>
              <a:pPr algn="l">
                <a:lnSpc>
                  <a:spcPts val="1390"/>
                </a:lnSpc>
              </a:pPr>
              <a:r>
                <a:rPr lang="en-US" sz="1159">
                  <a:solidFill>
                    <a:srgbClr val="4F81BD"/>
                  </a:solidFill>
                  <a:latin typeface="Calibri (MS)"/>
                  <a:ea typeface="Calibri (MS)"/>
                  <a:cs typeface="Calibri (MS)"/>
                  <a:sym typeface="Calibri (MS)"/>
                </a:rPr>
                <a:t>                nueva.setAttribute(Servicios.ATRIBUTO_SERVIDOR, servidor);</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            Json.escribir(resp, HttpServletResponse.SC_OK, Json.de(r));</a:t>
              </a:r>
            </a:p>
            <a:p>
              <a:pPr algn="l">
                <a:lnSpc>
                  <a:spcPts val="1390"/>
                </a:lnSpc>
              </a:pPr>
              <a:r>
                <a:rPr lang="en-US" sz="1159">
                  <a:solidFill>
                    <a:srgbClr val="4F81BD"/>
                  </a:solidFill>
                  <a:latin typeface="Calibri (MS)"/>
                  <a:ea typeface="Calibri (MS)"/>
                  <a:cs typeface="Calibri (MS)"/>
                  <a:sym typeface="Calibri (MS)"/>
                </a:rPr>
                <a:t>        } else {</a:t>
              </a:r>
            </a:p>
            <a:p>
              <a:pPr algn="l">
                <a:lnSpc>
                  <a:spcPts val="1390"/>
                </a:lnSpc>
              </a:pPr>
              <a:r>
                <a:rPr lang="en-US" sz="1159">
                  <a:solidFill>
                    <a:srgbClr val="4F81BD"/>
                  </a:solidFill>
                  <a:latin typeface="Calibri (MS)"/>
                  <a:ea typeface="Calibri (MS)"/>
                  <a:cs typeface="Calibri (MS)"/>
                  <a:sym typeface="Calibri (MS)"/>
                </a:rPr>
                <a:t>            int http = RespuestaServicio.COD_RED.equals(r.getCodigo())</a:t>
              </a:r>
            </a:p>
            <a:p>
              <a:pPr algn="l">
                <a:lnSpc>
                  <a:spcPts val="1390"/>
                </a:lnSpc>
              </a:pPr>
              <a:r>
                <a:rPr lang="en-US" sz="1159">
                  <a:solidFill>
                    <a:srgbClr val="4F81BD"/>
                  </a:solidFill>
                  <a:latin typeface="Calibri (MS)"/>
                  <a:ea typeface="Calibri (MS)"/>
                  <a:cs typeface="Calibri (MS)"/>
                  <a:sym typeface="Calibri (MS)"/>
                </a:rPr>
                <a:t>                    ? HttpServletResponse.SC_BAD_GATEWAY : HttpServletResponse.SC_UNAUTHORIZED;</a:t>
              </a:r>
            </a:p>
            <a:p>
              <a:pPr algn="l">
                <a:lnSpc>
                  <a:spcPts val="1390"/>
                </a:lnSpc>
              </a:pPr>
              <a:r>
                <a:rPr lang="en-US" sz="1159">
                  <a:solidFill>
                    <a:srgbClr val="4F81BD"/>
                  </a:solidFill>
                  <a:latin typeface="Calibri (MS)"/>
                  <a:ea typeface="Calibri (MS)"/>
                  <a:cs typeface="Calibri (MS)"/>
                  <a:sym typeface="Calibri (MS)"/>
                </a:rPr>
                <a:t>            Json.escribir(resp, http, Json.de(r));</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    }</a:t>
              </a:r>
            </a:p>
            <a:p>
              <a:pPr algn="l">
                <a:lnSpc>
                  <a:spcPts val="1390"/>
                </a:lnSpc>
              </a:pPr>
              <a:r>
                <a:rPr lang="en-US" sz="1159">
                  <a:solidFill>
                    <a:srgbClr val="4F81BD"/>
                  </a:solidFill>
                  <a:latin typeface="Calibri (MS)"/>
                  <a:ea typeface="Calibri (MS)"/>
                  <a:cs typeface="Calibri (MS)"/>
                  <a:sym typeface="Calibri (MS)"/>
                </a:rPr>
                <a:t>}</a:t>
              </a:r>
            </a:p>
          </p:txBody>
        </p:sp>
      </p:gr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ConvertirServlet</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de la conversión.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700"/>
                </a:lnSpc>
              </a:pPr>
              <a:r>
                <a:rPr lang="en-US" sz="1416">
                  <a:solidFill>
                    <a:srgbClr val="4F81BD"/>
                  </a:solidFill>
                  <a:latin typeface="Calibri (MS)"/>
                  <a:ea typeface="Calibri (MS)"/>
                  <a:cs typeface="Calibri (MS)"/>
                  <a:sym typeface="Calibri (MS)"/>
                </a:rPr>
                <a:t>package ec.edu.monster.clienteweb.controlador;</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import ec.edu.monster.clienteweb.modelo.RespuestaServicio;</a:t>
              </a:r>
            </a:p>
            <a:p>
              <a:pPr algn="l">
                <a:lnSpc>
                  <a:spcPts val="1700"/>
                </a:lnSpc>
              </a:pPr>
              <a:r>
                <a:rPr lang="en-US" sz="1416">
                  <a:solidFill>
                    <a:srgbClr val="4F81BD"/>
                  </a:solidFill>
                  <a:latin typeface="Calibri (MS)"/>
                  <a:ea typeface="Calibri (MS)"/>
                  <a:cs typeface="Calibri (MS)"/>
                  <a:sym typeface="Calibri (MS)"/>
                </a:rPr>
                <a:t>import jakarta.servlet.annotation.WebServlet;</a:t>
              </a:r>
            </a:p>
            <a:p>
              <a:pPr algn="l">
                <a:lnSpc>
                  <a:spcPts val="1700"/>
                </a:lnSpc>
              </a:pPr>
              <a:r>
                <a:rPr lang="en-US" sz="1416">
                  <a:solidFill>
                    <a:srgbClr val="4F81BD"/>
                  </a:solidFill>
                  <a:latin typeface="Calibri (MS)"/>
                  <a:ea typeface="Calibri (MS)"/>
                  <a:cs typeface="Calibri (MS)"/>
                  <a:sym typeface="Calibri (MS)"/>
                </a:rPr>
                <a:t>import jakarta.servlet.http.HttpServlet;</a:t>
              </a:r>
            </a:p>
            <a:p>
              <a:pPr algn="l">
                <a:lnSpc>
                  <a:spcPts val="1700"/>
                </a:lnSpc>
              </a:pPr>
              <a:r>
                <a:rPr lang="en-US" sz="1416">
                  <a:solidFill>
                    <a:srgbClr val="4F81BD"/>
                  </a:solidFill>
                  <a:latin typeface="Calibri (MS)"/>
                  <a:ea typeface="Calibri (MS)"/>
                  <a:cs typeface="Calibri (MS)"/>
                  <a:sym typeface="Calibri (MS)"/>
                </a:rPr>
                <a:t>import jakarta.servlet.http.HttpServletRequest;</a:t>
              </a:r>
            </a:p>
            <a:p>
              <a:pPr algn="l">
                <a:lnSpc>
                  <a:spcPts val="1700"/>
                </a:lnSpc>
              </a:pPr>
              <a:r>
                <a:rPr lang="en-US" sz="1416">
                  <a:solidFill>
                    <a:srgbClr val="4F81BD"/>
                  </a:solidFill>
                  <a:latin typeface="Calibri (MS)"/>
                  <a:ea typeface="Calibri (MS)"/>
                  <a:cs typeface="Calibri (MS)"/>
                  <a:sym typeface="Calibri (MS)"/>
                </a:rPr>
                <a:t>import jakarta.servlet.http.HttpServletResponse;</a:t>
              </a:r>
            </a:p>
            <a:p>
              <a:pPr algn="l">
                <a:lnSpc>
                  <a:spcPts val="1700"/>
                </a:lnSpc>
              </a:pPr>
              <a:r>
                <a:rPr lang="en-US" sz="1416">
                  <a:solidFill>
                    <a:srgbClr val="4F81BD"/>
                  </a:solidFill>
                  <a:latin typeface="Calibri (MS)"/>
                  <a:ea typeface="Calibri (MS)"/>
                  <a:cs typeface="Calibri (MS)"/>
                  <a:sym typeface="Calibri (MS)"/>
                </a:rPr>
                <a:t>import java.io.IOException;</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CU-04: realiza una conversión llamando al servicio REST de la categoría elegida. */</a:t>
              </a:r>
            </a:p>
            <a:p>
              <a:pPr algn="l">
                <a:lnSpc>
                  <a:spcPts val="1700"/>
                </a:lnSpc>
              </a:pPr>
              <a:r>
                <a:rPr lang="en-US" sz="1416">
                  <a:solidFill>
                    <a:srgbClr val="4F81BD"/>
                  </a:solidFill>
                  <a:latin typeface="Calibri (MS)"/>
                  <a:ea typeface="Calibri (MS)"/>
                  <a:cs typeface="Calibri (MS)"/>
                  <a:sym typeface="Calibri (MS)"/>
                </a:rPr>
                <a:t>@WebServlet("/api/convertir")</a:t>
              </a:r>
            </a:p>
            <a:p>
              <a:pPr algn="l">
                <a:lnSpc>
                  <a:spcPts val="1700"/>
                </a:lnSpc>
              </a:pPr>
              <a:r>
                <a:rPr lang="en-US" sz="1416">
                  <a:solidFill>
                    <a:srgbClr val="4F81BD"/>
                  </a:solidFill>
                  <a:latin typeface="Calibri (MS)"/>
                  <a:ea typeface="Calibri (MS)"/>
                  <a:cs typeface="Calibri (MS)"/>
                  <a:sym typeface="Calibri (MS)"/>
                </a:rPr>
                <a:t>public class ConvertirServlet extends HttpServlet {</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@Override</a:t>
              </a:r>
            </a:p>
            <a:p>
              <a:pPr algn="l">
                <a:lnSpc>
                  <a:spcPts val="1700"/>
                </a:lnSpc>
              </a:pPr>
              <a:r>
                <a:rPr lang="en-US" sz="1416">
                  <a:solidFill>
                    <a:srgbClr val="4F81BD"/>
                  </a:solidFill>
                  <a:latin typeface="Calibri (MS)"/>
                  <a:ea typeface="Calibri (MS)"/>
                  <a:cs typeface="Calibri (MS)"/>
                  <a:sym typeface="Calibri (MS)"/>
                </a:rPr>
                <a:t>    protected void doPost(HttpServletRequest req, HttpServletResponse resp) throws IOException {</a:t>
              </a:r>
            </a:p>
            <a:p>
              <a:pPr algn="l">
                <a:lnSpc>
                  <a:spcPts val="1700"/>
                </a:lnSpc>
              </a:pPr>
              <a:r>
                <a:rPr lang="en-US" sz="1416">
                  <a:solidFill>
                    <a:srgbClr val="4F81BD"/>
                  </a:solidFill>
                  <a:latin typeface="Calibri (MS)"/>
                  <a:ea typeface="Calibri (MS)"/>
                  <a:cs typeface="Calibri (MS)"/>
                  <a:sym typeface="Calibri (MS)"/>
                </a:rPr>
                <a:t>        req.setCharacterEncoding("UTF-8");</a:t>
              </a:r>
            </a:p>
            <a:p>
              <a:pPr algn="l">
                <a:lnSpc>
                  <a:spcPts val="1700"/>
                </a:lnSpc>
              </a:pPr>
              <a:r>
                <a:rPr lang="en-US" sz="1416">
                  <a:solidFill>
                    <a:srgbClr val="4F81BD"/>
                  </a:solidFill>
                  <a:latin typeface="Calibri (MS)"/>
                  <a:ea typeface="Calibri (MS)"/>
                  <a:cs typeface="Calibri (MS)"/>
                  <a:sym typeface="Calibri (MS)"/>
                </a:rPr>
                <a:t>        String token = Servicios.exigirSesion(req, resp);</a:t>
              </a:r>
            </a:p>
            <a:p>
              <a:pPr algn="l">
                <a:lnSpc>
                  <a:spcPts val="1700"/>
                </a:lnSpc>
              </a:pPr>
              <a:r>
                <a:rPr lang="en-US" sz="1416">
                  <a:solidFill>
                    <a:srgbClr val="4F81BD"/>
                  </a:solidFill>
                  <a:latin typeface="Calibri (MS)"/>
                  <a:ea typeface="Calibri (MS)"/>
                  <a:cs typeface="Calibri (MS)"/>
                  <a:sym typeface="Calibri (MS)"/>
                </a:rPr>
                <a:t>        if (token == null) {</a:t>
              </a:r>
            </a:p>
            <a:p>
              <a:pPr algn="l">
                <a:lnSpc>
                  <a:spcPts val="1700"/>
                </a:lnSpc>
              </a:pPr>
              <a:r>
                <a:rPr lang="en-US" sz="1416">
                  <a:solidFill>
                    <a:srgbClr val="4F81BD"/>
                  </a:solidFill>
                  <a:latin typeface="Calibri (MS)"/>
                  <a:ea typeface="Calibri (MS)"/>
                  <a:cs typeface="Calibri (MS)"/>
                  <a:sym typeface="Calibri (MS)"/>
                </a:rPr>
                <a:t>            return;</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double valor;</a:t>
              </a:r>
            </a:p>
            <a:p>
              <a:pPr algn="l">
                <a:lnSpc>
                  <a:spcPts val="1700"/>
                </a:lnSpc>
              </a:pPr>
              <a:r>
                <a:rPr lang="en-US" sz="1416">
                  <a:solidFill>
                    <a:srgbClr val="4F81BD"/>
                  </a:solidFill>
                  <a:latin typeface="Calibri (MS)"/>
                  <a:ea typeface="Calibri (MS)"/>
                  <a:cs typeface="Calibri (MS)"/>
                  <a:sym typeface="Calibri (MS)"/>
                </a:rPr>
                <a:t>        try {</a:t>
              </a:r>
            </a:p>
            <a:p>
              <a:pPr algn="l">
                <a:lnSpc>
                  <a:spcPts val="1700"/>
                </a:lnSpc>
              </a:pPr>
              <a:r>
                <a:rPr lang="en-US" sz="1416">
                  <a:solidFill>
                    <a:srgbClr val="4F81BD"/>
                  </a:solidFill>
                  <a:latin typeface="Calibri (MS)"/>
                  <a:ea typeface="Calibri (MS)"/>
                  <a:cs typeface="Calibri (MS)"/>
                  <a:sym typeface="Calibri (MS)"/>
                </a:rPr>
                <a:t>            String v = req.getParameter("valor");</a:t>
              </a:r>
            </a:p>
            <a:p>
              <a:pPr algn="l">
                <a:lnSpc>
                  <a:spcPts val="1700"/>
                </a:lnSpc>
              </a:pPr>
              <a:r>
                <a:rPr lang="en-US" sz="1416">
                  <a:solidFill>
                    <a:srgbClr val="4F81BD"/>
                  </a:solidFill>
                  <a:latin typeface="Calibri (MS)"/>
                  <a:ea typeface="Calibri (MS)"/>
                  <a:cs typeface="Calibri (MS)"/>
                  <a:sym typeface="Calibri (MS)"/>
                </a:rPr>
                <a:t>            valor = Double.parseDouble(v == null ? "" : v.trim().replace(',', '.'));</a:t>
              </a:r>
            </a:p>
            <a:p>
              <a:pPr algn="l">
                <a:lnSpc>
                  <a:spcPts val="1700"/>
                </a:lnSpc>
              </a:pPr>
              <a:r>
                <a:rPr lang="en-US" sz="1416">
                  <a:solidFill>
                    <a:srgbClr val="4F81BD"/>
                  </a:solidFill>
                  <a:latin typeface="Calibri (MS)"/>
                  <a:ea typeface="Calibri (MS)"/>
                  <a:cs typeface="Calibri (MS)"/>
                  <a:sym typeface="Calibri (MS)"/>
                </a:rPr>
                <a:t>            if (Double.isNaN(valor) || Double.isInfinite(valor)) {</a:t>
              </a:r>
            </a:p>
            <a:p>
              <a:pPr algn="l">
                <a:lnSpc>
                  <a:spcPts val="1700"/>
                </a:lnSpc>
              </a:pPr>
              <a:r>
                <a:rPr lang="en-US" sz="1416">
                  <a:solidFill>
                    <a:srgbClr val="4F81BD"/>
                  </a:solidFill>
                  <a:latin typeface="Calibri (MS)"/>
                  <a:ea typeface="Calibri (MS)"/>
                  <a:cs typeface="Calibri (MS)"/>
                  <a:sym typeface="Calibri (MS)"/>
                </a:rPr>
                <a:t>                throw new NumberFormatException();</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 catch (NumberFormatException e) {</a:t>
              </a:r>
            </a:p>
            <a:p>
              <a:pPr algn="l">
                <a:lnSpc>
                  <a:spcPts val="1700"/>
                </a:lnSpc>
              </a:pPr>
              <a:r>
                <a:rPr lang="en-US" sz="1416">
                  <a:solidFill>
                    <a:srgbClr val="4F81BD"/>
                  </a:solidFill>
                  <a:latin typeface="Calibri (MS)"/>
                  <a:ea typeface="Calibri (MS)"/>
                  <a:cs typeface="Calibri (MS)"/>
                  <a:sym typeface="Calibri (MS)"/>
                </a:rPr>
                <a:t>            Servicios.responder(req, resp, RespuestaServicio.errorLocal("DATA-001", "El valor debe ser numérico"));</a:t>
              </a:r>
            </a:p>
            <a:p>
              <a:pPr algn="l">
                <a:lnSpc>
                  <a:spcPts val="1700"/>
                </a:lnSpc>
              </a:pPr>
              <a:r>
                <a:rPr lang="en-US" sz="1416">
                  <a:solidFill>
                    <a:srgbClr val="4F81BD"/>
                  </a:solidFill>
                  <a:latin typeface="Calibri (MS)"/>
                  <a:ea typeface="Calibri (MS)"/>
                  <a:cs typeface="Calibri (MS)"/>
                  <a:sym typeface="Calibri (MS)"/>
                </a:rPr>
                <a:t>            return;</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        RespuestaServicio r = Servicios.cliente(getServletContext(), req).convertir(</a:t>
              </a:r>
            </a:p>
            <a:p>
              <a:pPr algn="l">
                <a:lnSpc>
                  <a:spcPts val="1700"/>
                </a:lnSpc>
              </a:pPr>
              <a:r>
                <a:rPr lang="en-US" sz="1416">
                  <a:solidFill>
                    <a:srgbClr val="4F81BD"/>
                  </a:solidFill>
                  <a:latin typeface="Calibri (MS)"/>
                  <a:ea typeface="Calibri (MS)"/>
                  <a:cs typeface="Calibri (MS)"/>
                  <a:sym typeface="Calibri (MS)"/>
                </a:rPr>
                <a:t>                req.getParameter("categoria"), valor, req.getParameter("origen"), req.getParameter("destino"), token);</a:t>
              </a:r>
            </a:p>
            <a:p>
              <a:pPr algn="l">
                <a:lnSpc>
                  <a:spcPts val="1700"/>
                </a:lnSpc>
              </a:pPr>
              <a:r>
                <a:rPr lang="en-US" sz="1416">
                  <a:solidFill>
                    <a:srgbClr val="4F81BD"/>
                  </a:solidFill>
                  <a:latin typeface="Calibri (MS)"/>
                  <a:ea typeface="Calibri (MS)"/>
                  <a:cs typeface="Calibri (MS)"/>
                  <a:sym typeface="Calibri (MS)"/>
                </a:rPr>
                <a:t>        Servicios.responder(req, resp, r);</a:t>
              </a:r>
            </a:p>
            <a:p>
              <a:pPr algn="l">
                <a:lnSpc>
                  <a:spcPts val="1700"/>
                </a:lnSpc>
              </a:pPr>
              <a:r>
                <a:rPr lang="en-US" sz="1416">
                  <a:solidFill>
                    <a:srgbClr val="4F81BD"/>
                  </a:solidFill>
                  <a:latin typeface="Calibri (MS)"/>
                  <a:ea typeface="Calibri (MS)"/>
                  <a:cs typeface="Calibri (MS)"/>
                  <a:sym typeface="Calibri (MS)"/>
                </a:rPr>
                <a:t>    }</a:t>
              </a:r>
            </a:p>
            <a:p>
              <a:pPr algn="l">
                <a:lnSpc>
                  <a:spcPts val="1700"/>
                </a:lnSpc>
              </a:pPr>
              <a:r>
                <a:rPr lang="en-US" sz="1416">
                  <a:solidFill>
                    <a:srgbClr val="4F81BD"/>
                  </a:solidFill>
                  <a:latin typeface="Calibri (MS)"/>
                  <a:ea typeface="Calibri (MS)"/>
                  <a:cs typeface="Calibri (MS)"/>
                  <a:sym typeface="Calibri (MS)"/>
                </a:rPr>
                <a:t>}</a:t>
              </a:r>
            </a:p>
          </p:txBody>
        </p:sp>
      </p:gr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login</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1800753" y="3270776"/>
            <a:ext cx="11178303" cy="6284723"/>
            <a:chOff x="0" y="0"/>
            <a:chExt cx="9240520" cy="5195252"/>
          </a:xfrm>
        </p:grpSpPr>
        <p:sp>
          <p:nvSpPr>
            <p:cNvPr name="Freeform 18" id="18"/>
            <p:cNvSpPr/>
            <p:nvPr/>
          </p:nvSpPr>
          <p:spPr>
            <a:xfrm flipH="false" flipV="false" rot="0">
              <a:off x="0" y="0"/>
              <a:ext cx="9240520" cy="5195316"/>
            </a:xfrm>
            <a:custGeom>
              <a:avLst/>
              <a:gdLst/>
              <a:ahLst/>
              <a:cxnLst/>
              <a:rect r="r" b="b" t="t" l="l"/>
              <a:pathLst>
                <a:path h="5195316" w="9240520">
                  <a:moveTo>
                    <a:pt x="0" y="0"/>
                  </a:moveTo>
                  <a:lnTo>
                    <a:pt x="9240520" y="0"/>
                  </a:lnTo>
                  <a:lnTo>
                    <a:pt x="9240520" y="5195316"/>
                  </a:lnTo>
                  <a:lnTo>
                    <a:pt x="0" y="5195316"/>
                  </a:lnTo>
                  <a:lnTo>
                    <a:pt x="0" y="0"/>
                  </a:lnTo>
                  <a:close/>
                </a:path>
              </a:pathLst>
            </a:custGeom>
            <a:blipFill>
              <a:blip r:embed="rId3"/>
              <a:stretch>
                <a:fillRect l="0" t="0" r="0" b="1"/>
              </a:stretch>
            </a:blipFill>
          </p:spPr>
          <p:txBody>
            <a:bodyPr/>
            <a:p/>
          </p:txBody>
        </p:sp>
      </p:gr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4892069" cy="6658013"/>
          </a:xfrm>
          <a:prstGeom prst="rect">
            <a:avLst/>
          </a:prstGeom>
        </p:spPr>
        <p:txBody>
          <a:bodyPr anchor="t" rtlCol="false" tIns="0" lIns="0" bIns="0" rIns="0">
            <a:spAutoFit/>
          </a:bodyPr>
          <a:lstStyle/>
          <a:p>
            <a:pPr algn="just" marL="352901" indent="-176451" lvl="1">
              <a:lnSpc>
                <a:spcPts val="2503"/>
              </a:lnSpc>
              <a:buFont typeface="Arial"/>
              <a:buChar char="•"/>
            </a:pPr>
            <a:r>
              <a:rPr lang="en-US" sz="1950">
                <a:solidFill>
                  <a:srgbClr val="3D3D3D"/>
                </a:solidFill>
                <a:latin typeface="Cambria"/>
                <a:ea typeface="Cambria"/>
                <a:cs typeface="Cambria"/>
                <a:sym typeface="Cambria"/>
              </a:rPr>
              <a:t>Vista Conversor</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5431983" y="2826039"/>
            <a:ext cx="5490295" cy="7084251"/>
            <a:chOff x="0" y="0"/>
            <a:chExt cx="6944868" cy="8961120"/>
          </a:xfrm>
        </p:grpSpPr>
        <p:sp>
          <p:nvSpPr>
            <p:cNvPr name="Freeform 18" id="18" descr="conversor_demo.png"/>
            <p:cNvSpPr/>
            <p:nvPr/>
          </p:nvSpPr>
          <p:spPr>
            <a:xfrm flipH="false" flipV="false" rot="0">
              <a:off x="0" y="0"/>
              <a:ext cx="6944868" cy="8961120"/>
            </a:xfrm>
            <a:custGeom>
              <a:avLst/>
              <a:gdLst/>
              <a:ahLst/>
              <a:cxnLst/>
              <a:rect r="r" b="b" t="t" l="l"/>
              <a:pathLst>
                <a:path h="8961120" w="6944868">
                  <a:moveTo>
                    <a:pt x="0" y="0"/>
                  </a:moveTo>
                  <a:lnTo>
                    <a:pt x="6944868" y="0"/>
                  </a:lnTo>
                  <a:lnTo>
                    <a:pt x="6944868" y="8961120"/>
                  </a:lnTo>
                  <a:lnTo>
                    <a:pt x="0" y="8961120"/>
                  </a:lnTo>
                  <a:lnTo>
                    <a:pt x="0" y="0"/>
                  </a:lnTo>
                  <a:close/>
                </a:path>
              </a:pathLst>
            </a:custGeom>
            <a:blipFill>
              <a:blip r:embed="rId3"/>
              <a:stretch>
                <a:fillRect l="0" t="0" r="0" b="0"/>
              </a:stretch>
            </a:blipFill>
          </p:spPr>
          <p:txBody>
            <a:bodyPr/>
            <a:p/>
          </p:txBody>
        </p:sp>
      </p:gr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6" id="16"/>
          <p:cNvGrpSpPr/>
          <p:nvPr/>
        </p:nvGrpSpPr>
        <p:grpSpPr>
          <a:xfrm rot="0">
            <a:off x="6035040" y="3220517"/>
            <a:ext cx="7680960" cy="5903366"/>
            <a:chOff x="0" y="0"/>
            <a:chExt cx="10241280" cy="7871155"/>
          </a:xfrm>
        </p:grpSpPr>
        <p:sp>
          <p:nvSpPr>
            <p:cNvPr name="Freeform 17" id="17"/>
            <p:cNvSpPr/>
            <p:nvPr/>
          </p:nvSpPr>
          <p:spPr>
            <a:xfrm flipH="false" flipV="false" rot="0">
              <a:off x="0" y="0"/>
              <a:ext cx="10241280" cy="7871206"/>
            </a:xfrm>
            <a:custGeom>
              <a:avLst/>
              <a:gdLst/>
              <a:ahLst/>
              <a:cxnLst/>
              <a:rect r="r" b="b" t="t" l="l"/>
              <a:pathLst>
                <a:path h="7871206" w="10241280">
                  <a:moveTo>
                    <a:pt x="0" y="0"/>
                  </a:moveTo>
                  <a:lnTo>
                    <a:pt x="10241280" y="0"/>
                  </a:lnTo>
                  <a:lnTo>
                    <a:pt x="10241280" y="7871206"/>
                  </a:lnTo>
                  <a:lnTo>
                    <a:pt x="0" y="7871206"/>
                  </a:lnTo>
                  <a:lnTo>
                    <a:pt x="0" y="0"/>
                  </a:lnTo>
                  <a:close/>
                </a:path>
              </a:pathLst>
            </a:custGeom>
            <a:blipFill>
              <a:blip r:embed="rId3"/>
              <a:stretch>
                <a:fillRect l="0" t="-40563" r="0" b="-40563"/>
              </a:stretch>
            </a:blipFill>
          </p:spPr>
          <p:txBody>
            <a:bodyPr/>
            <a:p/>
          </p:txBody>
        </p:sp>
      </p:grpSp>
      <p:sp>
        <p:nvSpPr>
          <p:cNvPr name="TextBox 18" id="18"/>
          <p:cNvSpPr txBox="true"/>
          <p:nvPr/>
        </p:nvSpPr>
        <p:spPr>
          <a:xfrm rot="0">
            <a:off x="777221" y="2897486"/>
            <a:ext cx="4892069" cy="6658013"/>
          </a:xfrm>
          <a:prstGeom prst="rect">
            <a:avLst/>
          </a:prstGeom>
        </p:spPr>
        <p:txBody>
          <a:bodyPr anchor="t" rtlCol="false" tIns="0" lIns="0" bIns="0" rIns="0">
            <a:spAutoFit/>
          </a:bodyPr>
          <a:lstStyle/>
          <a:p>
            <a:pPr algn="just" marL="441127" indent="-220563" lvl="1">
              <a:lnSpc>
                <a:spcPts val="3129"/>
              </a:lnSpc>
              <a:buFont typeface="Arial"/>
              <a:buChar char="•"/>
            </a:pPr>
            <a:r>
              <a:rPr lang="en-US" b="true" sz="2437">
                <a:solidFill>
                  <a:srgbClr val="3D3D3D"/>
                </a:solidFill>
                <a:latin typeface="Cambria Bold"/>
                <a:ea typeface="Cambria Bold"/>
                <a:cs typeface="Cambria Bold"/>
                <a:sym typeface="Cambria Bold"/>
              </a:rPr>
              <a:t>1.6 	CREACIÓN DEL PROYECTO – CLIENTE MÓVIL</a:t>
            </a:r>
          </a:p>
          <a:p>
            <a:pPr algn="just" marL="352901" indent="-176451" lvl="1">
              <a:lnSpc>
                <a:spcPts val="2503"/>
              </a:lnSpc>
            </a:pPr>
          </a:p>
          <a:p>
            <a:pPr algn="just" marL="352901" indent="-176451" lvl="1">
              <a:lnSpc>
                <a:spcPts val="2503"/>
              </a:lnSpc>
              <a:buFont typeface="Arial"/>
              <a:buChar char="•"/>
            </a:pPr>
            <a:r>
              <a:rPr lang="en-US" sz="1950">
                <a:solidFill>
                  <a:srgbClr val="3D3D3D"/>
                </a:solidFill>
                <a:latin typeface="Cambria"/>
                <a:ea typeface="Cambria"/>
                <a:cs typeface="Cambria"/>
                <a:sym typeface="Cambria"/>
              </a:rPr>
              <a:t>Para el cliente móvil se creó un proyecto Android nativo (Java) en Android Studio con Gradle.</a:t>
            </a:r>
          </a:p>
          <a:p>
            <a:pPr algn="just" marL="352901" indent="-176451" lvl="1">
              <a:lnSpc>
                <a:spcPts val="2503"/>
              </a:lnSpc>
              <a:buFont typeface="Arial"/>
              <a:buChar char="•"/>
            </a:pPr>
            <a:r>
              <a:rPr lang="en-US" sz="1950">
                <a:solidFill>
                  <a:srgbClr val="3D3D3D"/>
                </a:solidFill>
                <a:latin typeface="Cambria"/>
                <a:ea typeface="Cambria"/>
                <a:cs typeface="Cambria"/>
                <a:sym typeface="Cambria"/>
              </a:rPr>
              <a:t>Estructura MVC: modelo (RestClient, RespuestaServicio), controlador (ControladorConversiones, SesionApp) y vista (LoginActivity, ConversionActivity y layouts XML).</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9789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ec.edu.monster.clientemovil.controlador;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import ec.edu.monster.clientemovil.modelo.RespuestaServicio;</a:t>
              </a:r>
            </a:p>
            <a:p>
              <a:pPr algn="l">
                <a:lnSpc>
                  <a:spcPts val="1800"/>
                </a:lnSpc>
              </a:pPr>
              <a:r>
                <a:rPr lang="en-US" sz="1500">
                  <a:solidFill>
                    <a:srgbClr val="4F81BD"/>
                  </a:solidFill>
                  <a:latin typeface="Calibri (MS)"/>
                  <a:ea typeface="Calibri (MS)"/>
                  <a:cs typeface="Calibri (MS)"/>
                  <a:sym typeface="Calibri (MS)"/>
                </a:rPr>
                <a:t>import ec.edu.monster.clientemovil.modelo.RestClient;</a:t>
              </a:r>
            </a:p>
            <a:p>
              <a:pPr algn="l">
                <a:lnSpc>
                  <a:spcPts val="1800"/>
                </a:lnSpc>
              </a:pPr>
              <a:r>
                <a:rPr lang="en-US" sz="1500">
                  <a:solidFill>
                    <a:srgbClr val="4F81BD"/>
                  </a:solidFill>
                  <a:latin typeface="Calibri (MS)"/>
                  <a:ea typeface="Calibri (MS)"/>
                  <a:cs typeface="Calibri (MS)"/>
                  <a:sym typeface="Calibri (MS)"/>
                </a:rPr>
                <a:t>import java.math.BigDecimal;</a:t>
              </a:r>
            </a:p>
            <a:p>
              <a:pPr algn="l">
                <a:lnSpc>
                  <a:spcPts val="1800"/>
                </a:lnSpc>
              </a:pPr>
              <a:r>
                <a:rPr lang="en-US" sz="1500">
                  <a:solidFill>
                    <a:srgbClr val="4F81BD"/>
                  </a:solidFill>
                  <a:latin typeface="Calibri (MS)"/>
                  <a:ea typeface="Calibri (MS)"/>
                  <a:cs typeface="Calibri (MS)"/>
                  <a:sym typeface="Calibri (MS)"/>
                </a:rPr>
                <a:t>import java.math.RoundingMode;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Controlador del cliente movil: guarda el token de la sesion, llama al</a:t>
              </a:r>
            </a:p>
            <a:p>
              <a:pPr algn="l">
                <a:lnSpc>
                  <a:spcPts val="1800"/>
                </a:lnSpc>
              </a:pPr>
              <a:r>
                <a:rPr lang="en-US" sz="1500">
                  <a:solidFill>
                    <a:srgbClr val="4F81BD"/>
                  </a:solidFill>
                  <a:latin typeface="Calibri (MS)"/>
                  <a:ea typeface="Calibri (MS)"/>
                  <a:cs typeface="Calibri (MS)"/>
                  <a:sym typeface="Calibri (MS)"/>
                </a:rPr>
                <a:t> * servicio REST y descarta el token cuando el servidor lo rechaza.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class ControladorConversiones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final RestClient cliente;</a:t>
              </a:r>
            </a:p>
            <a:p>
              <a:pPr algn="l">
                <a:lnSpc>
                  <a:spcPts val="1800"/>
                </a:lnSpc>
              </a:pPr>
              <a:r>
                <a:rPr lang="en-US" sz="1500">
                  <a:solidFill>
                    <a:srgbClr val="4F81BD"/>
                  </a:solidFill>
                  <a:latin typeface="Calibri (MS)"/>
                  <a:ea typeface="Calibri (MS)"/>
                  <a:cs typeface="Calibri (MS)"/>
                  <a:sym typeface="Calibri (MS)"/>
                </a:rPr>
                <a:t>    private String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ControladorConversiones(RestClient cliente) {</a:t>
              </a:r>
            </a:p>
            <a:p>
              <a:pPr algn="l">
                <a:lnSpc>
                  <a:spcPts val="1800"/>
                </a:lnSpc>
              </a:pPr>
              <a:r>
                <a:rPr lang="en-US" sz="1500">
                  <a:solidFill>
                    <a:srgbClr val="4F81BD"/>
                  </a:solidFill>
                  <a:latin typeface="Calibri (MS)"/>
                  <a:ea typeface="Calibri (MS)"/>
                  <a:cs typeface="Calibri (MS)"/>
                  <a:sym typeface="Calibri (MS)"/>
                </a:rPr>
                <a:t>        this.cliente = cliente;</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URL del servidor por defecto (para que la vista no toque el modelo). */</a:t>
              </a:r>
            </a:p>
            <a:p>
              <a:pPr algn="l">
                <a:lnSpc>
                  <a:spcPts val="1800"/>
                </a:lnSpc>
              </a:pPr>
              <a:r>
                <a:rPr lang="en-US" sz="1500">
                  <a:solidFill>
                    <a:srgbClr val="4F81BD"/>
                  </a:solidFill>
                  <a:latin typeface="Calibri (MS)"/>
                  <a:ea typeface="Calibri (MS)"/>
                  <a:cs typeface="Calibri (MS)"/>
                  <a:sym typeface="Calibri (MS)"/>
                </a:rPr>
                <a:t>    public static String urlPorDefecto() {</a:t>
              </a:r>
            </a:p>
            <a:p>
              <a:pPr algn="l">
                <a:lnSpc>
                  <a:spcPts val="1800"/>
                </a:lnSpc>
              </a:pPr>
              <a:r>
                <a:rPr lang="en-US" sz="1500">
                  <a:solidFill>
                    <a:srgbClr val="4F81BD"/>
                  </a:solidFill>
                  <a:latin typeface="Calibri (MS)"/>
                  <a:ea typeface="Calibri (MS)"/>
                  <a:cs typeface="Calibri (MS)"/>
                  <a:sym typeface="Calibri (MS)"/>
                </a:rPr>
                <a:t>        return RestClient.URL_POR_DEFECTO;</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p:txBody>
        </p:sp>
      </p:gr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5543550"/>
            <a:chOff x="0" y="0"/>
            <a:chExt cx="12278360" cy="7391400"/>
          </a:xfrm>
        </p:grpSpPr>
        <p:sp>
          <p:nvSpPr>
            <p:cNvPr name="Freeform 18" id="18"/>
            <p:cNvSpPr/>
            <p:nvPr/>
          </p:nvSpPr>
          <p:spPr>
            <a:xfrm flipH="false" flipV="false" rot="0">
              <a:off x="0" y="0"/>
              <a:ext cx="12278360" cy="7391400"/>
            </a:xfrm>
            <a:custGeom>
              <a:avLst/>
              <a:gdLst/>
              <a:ahLst/>
              <a:cxnLst/>
              <a:rect r="r" b="b" t="t" l="l"/>
              <a:pathLst>
                <a:path h="7391400" w="12278360">
                  <a:moveTo>
                    <a:pt x="0" y="0"/>
                  </a:moveTo>
                  <a:lnTo>
                    <a:pt x="12278360" y="0"/>
                  </a:lnTo>
                  <a:lnTo>
                    <a:pt x="12278360" y="7391400"/>
                  </a:lnTo>
                  <a:lnTo>
                    <a:pt x="0" y="7391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7429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 Crea el controlador ya conectado a la URL indicada. */</a:t>
              </a:r>
            </a:p>
            <a:p>
              <a:pPr algn="l">
                <a:lnSpc>
                  <a:spcPts val="1800"/>
                </a:lnSpc>
              </a:pPr>
              <a:r>
                <a:rPr lang="en-US" sz="1500">
                  <a:solidFill>
                    <a:srgbClr val="4F81BD"/>
                  </a:solidFill>
                  <a:latin typeface="Calibri (MS)"/>
                  <a:ea typeface="Calibri (MS)"/>
                  <a:cs typeface="Calibri (MS)"/>
                  <a:sym typeface="Calibri (MS)"/>
                </a:rPr>
                <a:t>    public static ControladorConversiones conectar(String url) {</a:t>
              </a:r>
            </a:p>
            <a:p>
              <a:pPr algn="l">
                <a:lnSpc>
                  <a:spcPts val="1800"/>
                </a:lnSpc>
              </a:pPr>
              <a:r>
                <a:rPr lang="en-US" sz="1500">
                  <a:solidFill>
                    <a:srgbClr val="4F81BD"/>
                  </a:solidFill>
                  <a:latin typeface="Calibri (MS)"/>
                  <a:ea typeface="Calibri (MS)"/>
                  <a:cs typeface="Calibri (MS)"/>
                  <a:sym typeface="Calibri (MS)"/>
                </a:rPr>
                <a:t>        return new ControladorConversiones(new RestClient(url));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String getUrl() {</a:t>
              </a:r>
            </a:p>
            <a:p>
              <a:pPr algn="l">
                <a:lnSpc>
                  <a:spcPts val="1800"/>
                </a:lnSpc>
              </a:pPr>
              <a:r>
                <a:rPr lang="en-US" sz="1500">
                  <a:solidFill>
                    <a:srgbClr val="4F81BD"/>
                  </a:solidFill>
                  <a:latin typeface="Calibri (MS)"/>
                  <a:ea typeface="Calibri (MS)"/>
                  <a:cs typeface="Calibri (MS)"/>
                  <a:sym typeface="Calibri (MS)"/>
                </a:rPr>
                <a:t>        return cliente.getBaseUrl();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boolean haySesion() {</a:t>
              </a:r>
            </a:p>
            <a:p>
              <a:pPr algn="l">
                <a:lnSpc>
                  <a:spcPts val="1800"/>
                </a:lnSpc>
              </a:pPr>
              <a:r>
                <a:rPr lang="en-US" sz="1500">
                  <a:solidFill>
                    <a:srgbClr val="4F81BD"/>
                  </a:solidFill>
                  <a:latin typeface="Calibri (MS)"/>
                  <a:ea typeface="Calibri (MS)"/>
                  <a:cs typeface="Calibri (MS)"/>
                  <a:sym typeface="Calibri (MS)"/>
                </a:rPr>
                <a:t>        return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iniciarSesion(String usuario, String clave) {</a:t>
              </a:r>
            </a:p>
            <a:p>
              <a:pPr algn="l">
                <a:lnSpc>
                  <a:spcPts val="1800"/>
                </a:lnSpc>
              </a:pPr>
              <a:r>
                <a:rPr lang="en-US" sz="1500">
                  <a:solidFill>
                    <a:srgbClr val="4F81BD"/>
                  </a:solidFill>
                  <a:latin typeface="Calibri (MS)"/>
                  <a:ea typeface="Calibri (MS)"/>
                  <a:cs typeface="Calibri (MS)"/>
                  <a:sym typeface="Calibri (MS)"/>
                </a:rPr>
                <a:t>        RespuestaServicio r = cliente.login(usuario, clave);</a:t>
              </a:r>
            </a:p>
            <a:p>
              <a:pPr algn="l">
                <a:lnSpc>
                  <a:spcPts val="1800"/>
                </a:lnSpc>
              </a:pPr>
              <a:r>
                <a:rPr lang="en-US" sz="1500">
                  <a:solidFill>
                    <a:srgbClr val="4F81BD"/>
                  </a:solidFill>
                  <a:latin typeface="Calibri (MS)"/>
                  <a:ea typeface="Calibri (MS)"/>
                  <a:cs typeface="Calibri (MS)"/>
                  <a:sym typeface="Calibri (MS)"/>
                </a:rPr>
                <a:t>        token = (r.esExitosa() &amp;&amp; r.getToken() != null) ? r.getToken() : null;</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void cerrarSesion()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categorias() {</a:t>
              </a:r>
            </a:p>
            <a:p>
              <a:pPr algn="l">
                <a:lnSpc>
                  <a:spcPts val="1800"/>
                </a:lnSpc>
              </a:pPr>
              <a:r>
                <a:rPr lang="en-US" sz="1500">
                  <a:solidFill>
                    <a:srgbClr val="4F81BD"/>
                  </a:solidFill>
                  <a:latin typeface="Calibri (MS)"/>
                  <a:ea typeface="Calibri (MS)"/>
                  <a:cs typeface="Calibri (MS)"/>
                  <a:sym typeface="Calibri (MS)"/>
                </a:rPr>
                <a:t>        return revisar(cliente.obtenerCategorias(token));</a:t>
              </a:r>
            </a:p>
          </p:txBody>
        </p:sp>
      </p:gr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ControladorConversiones</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Controlador: guarda el token y llama al servicio.</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3 de 3.</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3219450"/>
            <a:chOff x="0" y="0"/>
            <a:chExt cx="12278360" cy="4292600"/>
          </a:xfrm>
        </p:grpSpPr>
        <p:sp>
          <p:nvSpPr>
            <p:cNvPr name="Freeform 18" id="18"/>
            <p:cNvSpPr/>
            <p:nvPr/>
          </p:nvSpPr>
          <p:spPr>
            <a:xfrm flipH="false" flipV="false" rot="0">
              <a:off x="0" y="0"/>
              <a:ext cx="12278360" cy="4292600"/>
            </a:xfrm>
            <a:custGeom>
              <a:avLst/>
              <a:gdLst/>
              <a:ahLst/>
              <a:cxnLst/>
              <a:rect r="r" b="b" t="t" l="l"/>
              <a:pathLst>
                <a:path h="4292600" w="12278360">
                  <a:moveTo>
                    <a:pt x="0" y="0"/>
                  </a:moveTo>
                  <a:lnTo>
                    <a:pt x="12278360" y="0"/>
                  </a:lnTo>
                  <a:lnTo>
                    <a:pt x="12278360" y="4292600"/>
                  </a:lnTo>
                  <a:lnTo>
                    <a:pt x="0" y="42926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43307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unidades(String categoria) {</a:t>
              </a:r>
            </a:p>
            <a:p>
              <a:pPr algn="l">
                <a:lnSpc>
                  <a:spcPts val="1800"/>
                </a:lnSpc>
              </a:pPr>
              <a:r>
                <a:rPr lang="en-US" sz="1500">
                  <a:solidFill>
                    <a:srgbClr val="4F81BD"/>
                  </a:solidFill>
                  <a:latin typeface="Calibri (MS)"/>
                  <a:ea typeface="Calibri (MS)"/>
                  <a:cs typeface="Calibri (MS)"/>
                  <a:sym typeface="Calibri (MS)"/>
                </a:rPr>
                <a:t>        return revisar(cliente.obtenerUnidades(token, categoria));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RespuestaServicio convertir(String categoria, double valor, String origen, String destino) {</a:t>
              </a:r>
            </a:p>
            <a:p>
              <a:pPr algn="l">
                <a:lnSpc>
                  <a:spcPts val="1800"/>
                </a:lnSpc>
              </a:pPr>
              <a:r>
                <a:rPr lang="en-US" sz="1500">
                  <a:solidFill>
                    <a:srgbClr val="4F81BD"/>
                  </a:solidFill>
                  <a:latin typeface="Calibri (MS)"/>
                  <a:ea typeface="Calibri (MS)"/>
                  <a:cs typeface="Calibri (MS)"/>
                  <a:sym typeface="Calibri (MS)"/>
                </a:rPr>
                <a:t>        return revisar(cliente.convertir(categoria, valor, origen, destino, token));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Si el servidor dice que el token no sirve, se cierra la sesion local. */</a:t>
              </a:r>
            </a:p>
            <a:p>
              <a:pPr algn="l">
                <a:lnSpc>
                  <a:spcPts val="1800"/>
                </a:lnSpc>
              </a:pPr>
              <a:r>
                <a:rPr lang="en-US" sz="1500">
                  <a:solidFill>
                    <a:srgbClr val="4F81BD"/>
                  </a:solidFill>
                  <a:latin typeface="Calibri (MS)"/>
                  <a:ea typeface="Calibri (MS)"/>
                  <a:cs typeface="Calibri (MS)"/>
                  <a:sym typeface="Calibri (MS)"/>
                </a:rPr>
                <a:t>    private RespuestaServicio revisar(RespuestaServicio r) {</a:t>
              </a:r>
            </a:p>
            <a:p>
              <a:pPr algn="l">
                <a:lnSpc>
                  <a:spcPts val="1800"/>
                </a:lnSpc>
              </a:pPr>
              <a:r>
                <a:rPr lang="en-US" sz="1500">
                  <a:solidFill>
                    <a:srgbClr val="4F81BD"/>
                  </a:solidFill>
                  <a:latin typeface="Calibri (MS)"/>
                  <a:ea typeface="Calibri (MS)"/>
                  <a:cs typeface="Calibri (MS)"/>
                  <a:sym typeface="Calibri (MS)"/>
                </a:rPr>
                <a:t>        if (r.requiereNuevoLogin()) {</a:t>
              </a:r>
            </a:p>
            <a:p>
              <a:pPr algn="l">
                <a:lnSpc>
                  <a:spcPts val="1800"/>
                </a:lnSpc>
              </a:pPr>
              <a:r>
                <a:rPr lang="en-US" sz="1500">
                  <a:solidFill>
                    <a:srgbClr val="4F81BD"/>
                  </a:solidFill>
                  <a:latin typeface="Calibri (MS)"/>
                  <a:ea typeface="Calibri (MS)"/>
                  <a:cs typeface="Calibri (MS)"/>
                  <a:sym typeface="Calibri (MS)"/>
                </a:rPr>
                <a:t>            token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return 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Numero sin notacion cientifica y sin ceros sobrantes. */</a:t>
              </a:r>
            </a:p>
            <a:p>
              <a:pPr algn="l">
                <a:lnSpc>
                  <a:spcPts val="1800"/>
                </a:lnSpc>
              </a:pPr>
              <a:r>
                <a:rPr lang="en-US" sz="1500">
                  <a:solidFill>
                    <a:srgbClr val="4F81BD"/>
                  </a:solidFill>
                  <a:latin typeface="Calibri (MS)"/>
                  <a:ea typeface="Calibri (MS)"/>
                  <a:cs typeface="Calibri (MS)"/>
                  <a:sym typeface="Calibri (MS)"/>
                </a:rPr>
                <a:t>    public static String formatear(double valor) {</a:t>
              </a:r>
            </a:p>
            <a:p>
              <a:pPr algn="l">
                <a:lnSpc>
                  <a:spcPts val="1800"/>
                </a:lnSpc>
              </a:pPr>
              <a:r>
                <a:rPr lang="en-US" sz="1500">
                  <a:solidFill>
                    <a:srgbClr val="4F81BD"/>
                  </a:solidFill>
                  <a:latin typeface="Calibri (MS)"/>
                  <a:ea typeface="Calibri (MS)"/>
                  <a:cs typeface="Calibri (MS)"/>
                  <a:sym typeface="Calibri (MS)"/>
                </a:rPr>
                <a:t>        BigDecimal b = BigDecimal.valueOf(valor).setScale(10, RoundingMode.HALF_UP).stripTrailingZeros();</a:t>
              </a:r>
            </a:p>
            <a:p>
              <a:pPr algn="l">
                <a:lnSpc>
                  <a:spcPts val="1800"/>
                </a:lnSpc>
              </a:pPr>
              <a:r>
                <a:rPr lang="en-US" sz="1500">
                  <a:solidFill>
                    <a:srgbClr val="4F81BD"/>
                  </a:solidFill>
                  <a:latin typeface="Calibri (MS)"/>
                  <a:ea typeface="Calibri (MS)"/>
                  <a:cs typeface="Calibri (MS)"/>
                  <a:sym typeface="Calibri (MS)"/>
                </a:rPr>
                <a:t>        return b.scale() &lt; 0 ? b.setScale(0).toPlainString() : b.toPlainString();</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SesionApp</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Guarda en memoria el controlador para compartirlo entre pantallas.</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877050"/>
            <a:chOff x="0" y="0"/>
            <a:chExt cx="12278360" cy="9169400"/>
          </a:xfrm>
        </p:grpSpPr>
        <p:sp>
          <p:nvSpPr>
            <p:cNvPr name="Freeform 18" id="18"/>
            <p:cNvSpPr/>
            <p:nvPr/>
          </p:nvSpPr>
          <p:spPr>
            <a:xfrm flipH="false" flipV="false" rot="0">
              <a:off x="0" y="0"/>
              <a:ext cx="12278360" cy="9169400"/>
            </a:xfrm>
            <a:custGeom>
              <a:avLst/>
              <a:gdLst/>
              <a:ahLst/>
              <a:cxnLst/>
              <a:rect r="r" b="b" t="t" l="l"/>
              <a:pathLst>
                <a:path h="9169400" w="12278360">
                  <a:moveTo>
                    <a:pt x="0" y="0"/>
                  </a:moveTo>
                  <a:lnTo>
                    <a:pt x="12278360" y="0"/>
                  </a:lnTo>
                  <a:lnTo>
                    <a:pt x="12278360" y="9169400"/>
                  </a:lnTo>
                  <a:lnTo>
                    <a:pt x="0" y="91694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9207500"/>
            </a:xfrm>
            <a:prstGeom prst="rect">
              <a:avLst/>
            </a:prstGeom>
          </p:spPr>
          <p:txBody>
            <a:bodyPr anchor="t" rtlCol="false" tIns="50800" lIns="50800" bIns="50800" rIns="50800"/>
            <a:lstStyle/>
            <a:p>
              <a:pPr algn="l">
                <a:lnSpc>
                  <a:spcPts val="1800"/>
                </a:lnSpc>
              </a:pPr>
              <a:r>
                <a:rPr lang="en-US" sz="1500">
                  <a:solidFill>
                    <a:srgbClr val="4F81BD"/>
                  </a:solidFill>
                  <a:latin typeface="Calibri (MS)"/>
                  <a:ea typeface="Calibri (MS)"/>
                  <a:cs typeface="Calibri (MS)"/>
                  <a:sym typeface="Calibri (MS)"/>
                </a:rPr>
                <a:t>package ec.edu.monster.clientemovil.controlador;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a:p>
              <a:pPr algn="l">
                <a:lnSpc>
                  <a:spcPts val="1800"/>
                </a:lnSpc>
              </a:pPr>
              <a:r>
                <a:rPr lang="en-US" sz="1500">
                  <a:solidFill>
                    <a:srgbClr val="4F81BD"/>
                  </a:solidFill>
                  <a:latin typeface="Calibri (MS)"/>
                  <a:ea typeface="Calibri (MS)"/>
                  <a:cs typeface="Calibri (MS)"/>
                  <a:sym typeface="Calibri (MS)"/>
                </a:rPr>
                <a:t> * Guarda en memoria el controlador de la sesion para compartirlo entre pantallas.</a:t>
              </a:r>
            </a:p>
            <a:p>
              <a:pPr algn="l">
                <a:lnSpc>
                  <a:spcPts val="1800"/>
                </a:lnSpc>
              </a:pPr>
              <a:r>
                <a:rPr lang="en-US" sz="1500">
                  <a:solidFill>
                    <a:srgbClr val="4F81BD"/>
                  </a:solidFill>
                  <a:latin typeface="Calibri (MS)"/>
                  <a:ea typeface="Calibri (MS)"/>
                  <a:cs typeface="Calibri (MS)"/>
                  <a:sym typeface="Calibri (MS)"/>
                </a:rPr>
                <a:t> * El token vive solo mientras la aplicacion esta abierta.</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public final class SesionApp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static ControladorConversiones 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private SesionApp()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 Crea un controlador nuevo apuntando a la URL indicada. */</a:t>
              </a:r>
            </a:p>
            <a:p>
              <a:pPr algn="l">
                <a:lnSpc>
                  <a:spcPts val="1800"/>
                </a:lnSpc>
              </a:pPr>
              <a:r>
                <a:rPr lang="en-US" sz="1500">
                  <a:solidFill>
                    <a:srgbClr val="4F81BD"/>
                  </a:solidFill>
                  <a:latin typeface="Calibri (MS)"/>
                  <a:ea typeface="Calibri (MS)"/>
                  <a:cs typeface="Calibri (MS)"/>
                  <a:sym typeface="Calibri (MS)"/>
                </a:rPr>
                <a:t>    public static synchronized ControladorConversiones iniciar(String url) {</a:t>
              </a:r>
            </a:p>
            <a:p>
              <a:pPr algn="l">
                <a:lnSpc>
                  <a:spcPts val="1800"/>
                </a:lnSpc>
              </a:pPr>
              <a:r>
                <a:rPr lang="en-US" sz="1500">
                  <a:solidFill>
                    <a:srgbClr val="4F81BD"/>
                  </a:solidFill>
                  <a:latin typeface="Calibri (MS)"/>
                  <a:ea typeface="Calibri (MS)"/>
                  <a:cs typeface="Calibri (MS)"/>
                  <a:sym typeface="Calibri (MS)"/>
                </a:rPr>
                <a:t>        controlador = ControladorConversiones.conectar(url);</a:t>
              </a:r>
            </a:p>
            <a:p>
              <a:pPr algn="l">
                <a:lnSpc>
                  <a:spcPts val="1800"/>
                </a:lnSpc>
              </a:pPr>
              <a:r>
                <a:rPr lang="en-US" sz="1500">
                  <a:solidFill>
                    <a:srgbClr val="4F81BD"/>
                  </a:solidFill>
                  <a:latin typeface="Calibri (MS)"/>
                  <a:ea typeface="Calibri (MS)"/>
                  <a:cs typeface="Calibri (MS)"/>
                  <a:sym typeface="Calibri (MS)"/>
                </a:rPr>
                <a:t>        return 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synchronized ControladorConversiones actual() {</a:t>
              </a:r>
            </a:p>
            <a:p>
              <a:pPr algn="l">
                <a:lnSpc>
                  <a:spcPts val="1800"/>
                </a:lnSpc>
              </a:pPr>
              <a:r>
                <a:rPr lang="en-US" sz="1500">
                  <a:solidFill>
                    <a:srgbClr val="4F81BD"/>
                  </a:solidFill>
                  <a:latin typeface="Calibri (MS)"/>
                  <a:ea typeface="Calibri (MS)"/>
                  <a:cs typeface="Calibri (MS)"/>
                  <a:sym typeface="Calibri (MS)"/>
                </a:rPr>
                <a:t>        return controlador;</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synchronized boolean haySesion() {</a:t>
              </a:r>
            </a:p>
            <a:p>
              <a:pPr algn="l">
                <a:lnSpc>
                  <a:spcPts val="1800"/>
                </a:lnSpc>
              </a:pPr>
              <a:r>
                <a:rPr lang="en-US" sz="1500">
                  <a:solidFill>
                    <a:srgbClr val="4F81BD"/>
                  </a:solidFill>
                  <a:latin typeface="Calibri (MS)"/>
                  <a:ea typeface="Calibri (MS)"/>
                  <a:cs typeface="Calibri (MS)"/>
                  <a:sym typeface="Calibri (MS)"/>
                </a:rPr>
                <a:t>        return controlador != null &amp;&amp; controlador.haySesion();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public static synchronized void cerrar() {</a:t>
              </a:r>
            </a:p>
            <a:p>
              <a:pPr algn="l">
                <a:lnSpc>
                  <a:spcPts val="1800"/>
                </a:lnSpc>
              </a:pPr>
              <a:r>
                <a:rPr lang="en-US" sz="1500">
                  <a:solidFill>
                    <a:srgbClr val="4F81BD"/>
                  </a:solidFill>
                  <a:latin typeface="Calibri (MS)"/>
                  <a:ea typeface="Calibri (MS)"/>
                  <a:cs typeface="Calibri (MS)"/>
                  <a:sym typeface="Calibri (MS)"/>
                </a:rPr>
                <a:t>        if (controlador != null) {</a:t>
              </a:r>
            </a:p>
            <a:p>
              <a:pPr algn="l">
                <a:lnSpc>
                  <a:spcPts val="1800"/>
                </a:lnSpc>
              </a:pPr>
              <a:r>
                <a:rPr lang="en-US" sz="1500">
                  <a:solidFill>
                    <a:srgbClr val="4F81BD"/>
                  </a:solidFill>
                  <a:latin typeface="Calibri (MS)"/>
                  <a:ea typeface="Calibri (MS)"/>
                  <a:cs typeface="Calibri (MS)"/>
                  <a:sym typeface="Calibri (MS)"/>
                </a:rPr>
                <a:t>            controlador.cerrarSesion();</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        controlador = null;</a:t>
              </a:r>
            </a:p>
            <a:p>
              <a:pPr algn="l">
                <a:lnSpc>
                  <a:spcPts val="1800"/>
                </a:lnSpc>
              </a:pPr>
              <a:r>
                <a:rPr lang="en-US" sz="1500">
                  <a:solidFill>
                    <a:srgbClr val="4F81BD"/>
                  </a:solidFill>
                  <a:latin typeface="Calibri (MS)"/>
                  <a:ea typeface="Calibri (MS)"/>
                  <a:cs typeface="Calibri (MS)"/>
                  <a:sym typeface="Calibri (MS)"/>
                </a:rPr>
                <a:t>    }</a:t>
              </a:r>
            </a:p>
            <a:p>
              <a:pPr algn="l">
                <a:lnSpc>
                  <a:spcPts val="1800"/>
                </a:lnSpc>
              </a:pPr>
              <a:r>
                <a:rPr lang="en-US" sz="1500">
                  <a:solidFill>
                    <a:srgbClr val="4F81BD"/>
                  </a:solidFill>
                  <a:latin typeface="Calibri (MS)"/>
                  <a:ea typeface="Calibri (MS)"/>
                  <a:cs typeface="Calibri (MS)"/>
                  <a:sym typeface="Calibri (MS)"/>
                </a:rPr>
                <a:t>}</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LoginActivity</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1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473190"/>
            <a:chOff x="0" y="0"/>
            <a:chExt cx="12278360" cy="8630920"/>
          </a:xfrm>
        </p:grpSpPr>
        <p:sp>
          <p:nvSpPr>
            <p:cNvPr name="Freeform 18" id="18"/>
            <p:cNvSpPr/>
            <p:nvPr/>
          </p:nvSpPr>
          <p:spPr>
            <a:xfrm flipH="false" flipV="false" rot="0">
              <a:off x="0" y="0"/>
              <a:ext cx="12278360" cy="8630920"/>
            </a:xfrm>
            <a:custGeom>
              <a:avLst/>
              <a:gdLst/>
              <a:ahLst/>
              <a:cxnLst/>
              <a:rect r="r" b="b" t="t" l="l"/>
              <a:pathLst>
                <a:path h="8630920" w="12278360">
                  <a:moveTo>
                    <a:pt x="0" y="0"/>
                  </a:moveTo>
                  <a:lnTo>
                    <a:pt x="12278360" y="0"/>
                  </a:lnTo>
                  <a:lnTo>
                    <a:pt x="12278360" y="8630920"/>
                  </a:lnTo>
                  <a:lnTo>
                    <a:pt x="0" y="863092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38100"/>
              <a:ext cx="12278360" cy="8669020"/>
            </a:xfrm>
            <a:prstGeom prst="rect">
              <a:avLst/>
            </a:prstGeom>
          </p:spPr>
          <p:txBody>
            <a:bodyPr anchor="t" rtlCol="false" tIns="50800" lIns="50800" bIns="50800" rIns="50800"/>
            <a:lstStyle/>
            <a:p>
              <a:pPr algn="l">
                <a:lnSpc>
                  <a:spcPts val="1133"/>
                </a:lnSpc>
              </a:pPr>
              <a:r>
                <a:rPr lang="en-US" sz="944">
                  <a:solidFill>
                    <a:srgbClr val="4F81BD"/>
                  </a:solidFill>
                  <a:latin typeface="Calibri (MS)"/>
                  <a:ea typeface="Calibri (MS)"/>
                  <a:cs typeface="Calibri (MS)"/>
                  <a:sym typeface="Calibri (MS)"/>
                </a:rPr>
                <a:t>package ec.edu.monster.clientemovil.vista;</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import android.app.Activity;</a:t>
              </a:r>
            </a:p>
            <a:p>
              <a:pPr algn="l">
                <a:lnSpc>
                  <a:spcPts val="1133"/>
                </a:lnSpc>
              </a:pPr>
              <a:r>
                <a:rPr lang="en-US" sz="944">
                  <a:solidFill>
                    <a:srgbClr val="4F81BD"/>
                  </a:solidFill>
                  <a:latin typeface="Calibri (MS)"/>
                  <a:ea typeface="Calibri (MS)"/>
                  <a:cs typeface="Calibri (MS)"/>
                  <a:sym typeface="Calibri (MS)"/>
                </a:rPr>
                <a:t>import android.content.Context;</a:t>
              </a:r>
            </a:p>
            <a:p>
              <a:pPr algn="l">
                <a:lnSpc>
                  <a:spcPts val="1133"/>
                </a:lnSpc>
              </a:pPr>
              <a:r>
                <a:rPr lang="en-US" sz="944">
                  <a:solidFill>
                    <a:srgbClr val="4F81BD"/>
                  </a:solidFill>
                  <a:latin typeface="Calibri (MS)"/>
                  <a:ea typeface="Calibri (MS)"/>
                  <a:cs typeface="Calibri (MS)"/>
                  <a:sym typeface="Calibri (MS)"/>
                </a:rPr>
                <a:t>import android.content.Intent;</a:t>
              </a:r>
            </a:p>
            <a:p>
              <a:pPr algn="l">
                <a:lnSpc>
                  <a:spcPts val="1133"/>
                </a:lnSpc>
              </a:pPr>
              <a:r>
                <a:rPr lang="en-US" sz="944">
                  <a:solidFill>
                    <a:srgbClr val="4F81BD"/>
                  </a:solidFill>
                  <a:latin typeface="Calibri (MS)"/>
                  <a:ea typeface="Calibri (MS)"/>
                  <a:cs typeface="Calibri (MS)"/>
                  <a:sym typeface="Calibri (MS)"/>
                </a:rPr>
                <a:t>import android.content.SharedPreferences;</a:t>
              </a:r>
            </a:p>
            <a:p>
              <a:pPr algn="l">
                <a:lnSpc>
                  <a:spcPts val="1133"/>
                </a:lnSpc>
              </a:pPr>
              <a:r>
                <a:rPr lang="en-US" sz="944">
                  <a:solidFill>
                    <a:srgbClr val="4F81BD"/>
                  </a:solidFill>
                  <a:latin typeface="Calibri (MS)"/>
                  <a:ea typeface="Calibri (MS)"/>
                  <a:cs typeface="Calibri (MS)"/>
                  <a:sym typeface="Calibri (MS)"/>
                </a:rPr>
                <a:t>import android.graphics.Color;</a:t>
              </a:r>
            </a:p>
            <a:p>
              <a:pPr algn="l">
                <a:lnSpc>
                  <a:spcPts val="1133"/>
                </a:lnSpc>
              </a:pPr>
              <a:r>
                <a:rPr lang="en-US" sz="944">
                  <a:solidFill>
                    <a:srgbClr val="4F81BD"/>
                  </a:solidFill>
                  <a:latin typeface="Calibri (MS)"/>
                  <a:ea typeface="Calibri (MS)"/>
                  <a:cs typeface="Calibri (MS)"/>
                  <a:sym typeface="Calibri (MS)"/>
                </a:rPr>
                <a:t>import android.os.Bundle;</a:t>
              </a:r>
            </a:p>
            <a:p>
              <a:pPr algn="l">
                <a:lnSpc>
                  <a:spcPts val="1133"/>
                </a:lnSpc>
              </a:pPr>
              <a:r>
                <a:rPr lang="en-US" sz="944">
                  <a:solidFill>
                    <a:srgbClr val="4F81BD"/>
                  </a:solidFill>
                  <a:latin typeface="Calibri (MS)"/>
                  <a:ea typeface="Calibri (MS)"/>
                  <a:cs typeface="Calibri (MS)"/>
                  <a:sym typeface="Calibri (MS)"/>
                </a:rPr>
                <a:t>import android.view.View;</a:t>
              </a:r>
            </a:p>
            <a:p>
              <a:pPr algn="l">
                <a:lnSpc>
                  <a:spcPts val="1133"/>
                </a:lnSpc>
              </a:pPr>
              <a:r>
                <a:rPr lang="en-US" sz="944">
                  <a:solidFill>
                    <a:srgbClr val="4F81BD"/>
                  </a:solidFill>
                  <a:latin typeface="Calibri (MS)"/>
                  <a:ea typeface="Calibri (MS)"/>
                  <a:cs typeface="Calibri (MS)"/>
                  <a:sym typeface="Calibri (MS)"/>
                </a:rPr>
                <a:t>import android.view.inputmethod.EditorInfo;</a:t>
              </a:r>
            </a:p>
            <a:p>
              <a:pPr algn="l">
                <a:lnSpc>
                  <a:spcPts val="1133"/>
                </a:lnSpc>
              </a:pPr>
              <a:r>
                <a:rPr lang="en-US" sz="944">
                  <a:solidFill>
                    <a:srgbClr val="4F81BD"/>
                  </a:solidFill>
                  <a:latin typeface="Calibri (MS)"/>
                  <a:ea typeface="Calibri (MS)"/>
                  <a:cs typeface="Calibri (MS)"/>
                  <a:sym typeface="Calibri (MS)"/>
                </a:rPr>
                <a:t>import android.widget.Button;</a:t>
              </a:r>
            </a:p>
            <a:p>
              <a:pPr algn="l">
                <a:lnSpc>
                  <a:spcPts val="1133"/>
                </a:lnSpc>
              </a:pPr>
              <a:r>
                <a:rPr lang="en-US" sz="944">
                  <a:solidFill>
                    <a:srgbClr val="4F81BD"/>
                  </a:solidFill>
                  <a:latin typeface="Calibri (MS)"/>
                  <a:ea typeface="Calibri (MS)"/>
                  <a:cs typeface="Calibri (MS)"/>
                  <a:sym typeface="Calibri (MS)"/>
                </a:rPr>
                <a:t>import android.widget.EditText;</a:t>
              </a:r>
            </a:p>
            <a:p>
              <a:pPr algn="l">
                <a:lnSpc>
                  <a:spcPts val="1133"/>
                </a:lnSpc>
              </a:pPr>
              <a:r>
                <a:rPr lang="en-US" sz="944">
                  <a:solidFill>
                    <a:srgbClr val="4F81BD"/>
                  </a:solidFill>
                  <a:latin typeface="Calibri (MS)"/>
                  <a:ea typeface="Calibri (MS)"/>
                  <a:cs typeface="Calibri (MS)"/>
                  <a:sym typeface="Calibri (MS)"/>
                </a:rPr>
                <a:t>import android.widget.TextView;</a:t>
              </a:r>
            </a:p>
            <a:p>
              <a:pPr algn="l">
                <a:lnSpc>
                  <a:spcPts val="1133"/>
                </a:lnSpc>
              </a:pPr>
              <a:r>
                <a:rPr lang="en-US" sz="944">
                  <a:solidFill>
                    <a:srgbClr val="4F81BD"/>
                  </a:solidFill>
                  <a:latin typeface="Calibri (MS)"/>
                  <a:ea typeface="Calibri (MS)"/>
                  <a:cs typeface="Calibri (MS)"/>
                  <a:sym typeface="Calibri (MS)"/>
                </a:rPr>
                <a:t>import ec.edu.monster.clientemovil.R;</a:t>
              </a:r>
            </a:p>
            <a:p>
              <a:pPr algn="l">
                <a:lnSpc>
                  <a:spcPts val="1133"/>
                </a:lnSpc>
              </a:pPr>
              <a:r>
                <a:rPr lang="en-US" sz="944">
                  <a:solidFill>
                    <a:srgbClr val="4F81BD"/>
                  </a:solidFill>
                  <a:latin typeface="Calibri (MS)"/>
                  <a:ea typeface="Calibri (MS)"/>
                  <a:cs typeface="Calibri (MS)"/>
                  <a:sym typeface="Calibri (MS)"/>
                </a:rPr>
                <a:t>import ec.edu.monster.clientemovil.controlador.ControladorConversiones;</a:t>
              </a:r>
            </a:p>
            <a:p>
              <a:pPr algn="l">
                <a:lnSpc>
                  <a:spcPts val="1133"/>
                </a:lnSpc>
              </a:pPr>
              <a:r>
                <a:rPr lang="en-US" sz="944">
                  <a:solidFill>
                    <a:srgbClr val="4F81BD"/>
                  </a:solidFill>
                  <a:latin typeface="Calibri (MS)"/>
                  <a:ea typeface="Calibri (MS)"/>
                  <a:cs typeface="Calibri (MS)"/>
                  <a:sym typeface="Calibri (MS)"/>
                </a:rPr>
                <a:t>import ec.edu.monster.clientemovil.controlador.SesionApp;</a:t>
              </a:r>
            </a:p>
            <a:p>
              <a:pPr algn="l">
                <a:lnSpc>
                  <a:spcPts val="1133"/>
                </a:lnSpc>
              </a:pPr>
              <a:r>
                <a:rPr lang="en-US" sz="944">
                  <a:solidFill>
                    <a:srgbClr val="4F81BD"/>
                  </a:solidFill>
                  <a:latin typeface="Calibri (MS)"/>
                  <a:ea typeface="Calibri (MS)"/>
                  <a:cs typeface="Calibri (MS)"/>
                  <a:sym typeface="Calibri (MS)"/>
                </a:rPr>
                <a:t>import ec.edu.monster.clientemovil.modelo.RespuestaServicio;</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Pantalla de inicio de sesion (CU-01). */</a:t>
              </a:r>
            </a:p>
            <a:p>
              <a:pPr algn="l">
                <a:lnSpc>
                  <a:spcPts val="1133"/>
                </a:lnSpc>
              </a:pPr>
              <a:r>
                <a:rPr lang="en-US" sz="944">
                  <a:solidFill>
                    <a:srgbClr val="4F81BD"/>
                  </a:solidFill>
                  <a:latin typeface="Calibri (MS)"/>
                  <a:ea typeface="Calibri (MS)"/>
                  <a:cs typeface="Calibri (MS)"/>
                  <a:sym typeface="Calibri (MS)"/>
                </a:rPr>
                <a:t>public class LoginActivity extends Activity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private static final String PREFS = "conuni";</a:t>
              </a:r>
            </a:p>
            <a:p>
              <a:pPr algn="l">
                <a:lnSpc>
                  <a:spcPts val="1133"/>
                </a:lnSpc>
              </a:pPr>
              <a:r>
                <a:rPr lang="en-US" sz="944">
                  <a:solidFill>
                    <a:srgbClr val="4F81BD"/>
                  </a:solidFill>
                  <a:latin typeface="Calibri (MS)"/>
                  <a:ea typeface="Calibri (MS)"/>
                  <a:cs typeface="Calibri (MS)"/>
                  <a:sym typeface="Calibri (MS)"/>
                </a:rPr>
                <a:t>    private static final String CLAVE_SERVIDOR = "servidor";</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private EditText txtServidor;</a:t>
              </a:r>
            </a:p>
            <a:p>
              <a:pPr algn="l">
                <a:lnSpc>
                  <a:spcPts val="1133"/>
                </a:lnSpc>
              </a:pPr>
              <a:r>
                <a:rPr lang="en-US" sz="944">
                  <a:solidFill>
                    <a:srgbClr val="4F81BD"/>
                  </a:solidFill>
                  <a:latin typeface="Calibri (MS)"/>
                  <a:ea typeface="Calibri (MS)"/>
                  <a:cs typeface="Calibri (MS)"/>
                  <a:sym typeface="Calibri (MS)"/>
                </a:rPr>
                <a:t>    private EditText txtUsuario;</a:t>
              </a:r>
            </a:p>
            <a:p>
              <a:pPr algn="l">
                <a:lnSpc>
                  <a:spcPts val="1133"/>
                </a:lnSpc>
              </a:pPr>
              <a:r>
                <a:rPr lang="en-US" sz="944">
                  <a:solidFill>
                    <a:srgbClr val="4F81BD"/>
                  </a:solidFill>
                  <a:latin typeface="Calibri (MS)"/>
                  <a:ea typeface="Calibri (MS)"/>
                  <a:cs typeface="Calibri (MS)"/>
                  <a:sym typeface="Calibri (MS)"/>
                </a:rPr>
                <a:t>    private EditText txtClave;</a:t>
              </a:r>
            </a:p>
            <a:p>
              <a:pPr algn="l">
                <a:lnSpc>
                  <a:spcPts val="1133"/>
                </a:lnSpc>
              </a:pPr>
              <a:r>
                <a:rPr lang="en-US" sz="944">
                  <a:solidFill>
                    <a:srgbClr val="4F81BD"/>
                  </a:solidFill>
                  <a:latin typeface="Calibri (MS)"/>
                  <a:ea typeface="Calibri (MS)"/>
                  <a:cs typeface="Calibri (MS)"/>
                  <a:sym typeface="Calibri (MS)"/>
                </a:rPr>
                <a:t>    private Button btnIngresar;</a:t>
              </a:r>
            </a:p>
            <a:p>
              <a:pPr algn="l">
                <a:lnSpc>
                  <a:spcPts val="1133"/>
                </a:lnSpc>
              </a:pPr>
              <a:r>
                <a:rPr lang="en-US" sz="944">
                  <a:solidFill>
                    <a:srgbClr val="4F81BD"/>
                  </a:solidFill>
                  <a:latin typeface="Calibri (MS)"/>
                  <a:ea typeface="Calibri (MS)"/>
                  <a:cs typeface="Calibri (MS)"/>
                  <a:sym typeface="Calibri (MS)"/>
                </a:rPr>
                <a:t>    private TextView lblEstado;</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@Override</a:t>
              </a:r>
            </a:p>
            <a:p>
              <a:pPr algn="l">
                <a:lnSpc>
                  <a:spcPts val="1133"/>
                </a:lnSpc>
              </a:pPr>
              <a:r>
                <a:rPr lang="en-US" sz="944">
                  <a:solidFill>
                    <a:srgbClr val="4F81BD"/>
                  </a:solidFill>
                  <a:latin typeface="Calibri (MS)"/>
                  <a:ea typeface="Calibri (MS)"/>
                  <a:cs typeface="Calibri (MS)"/>
                  <a:sym typeface="Calibri (MS)"/>
                </a:rPr>
                <a:t>    protected void onCreate(Bundle savedInstanceState) {</a:t>
              </a:r>
            </a:p>
            <a:p>
              <a:pPr algn="l">
                <a:lnSpc>
                  <a:spcPts val="1133"/>
                </a:lnSpc>
              </a:pPr>
              <a:r>
                <a:rPr lang="en-US" sz="944">
                  <a:solidFill>
                    <a:srgbClr val="4F81BD"/>
                  </a:solidFill>
                  <a:latin typeface="Calibri (MS)"/>
                  <a:ea typeface="Calibri (MS)"/>
                  <a:cs typeface="Calibri (MS)"/>
                  <a:sym typeface="Calibri (MS)"/>
                </a:rPr>
                <a:t>        super.onCreate(savedInstanceState);</a:t>
              </a:r>
            </a:p>
            <a:p>
              <a:pPr algn="l">
                <a:lnSpc>
                  <a:spcPts val="1133"/>
                </a:lnSpc>
              </a:pPr>
              <a:r>
                <a:rPr lang="en-US" sz="944">
                  <a:solidFill>
                    <a:srgbClr val="4F81BD"/>
                  </a:solidFill>
                  <a:latin typeface="Calibri (MS)"/>
                  <a:ea typeface="Calibri (MS)"/>
                  <a:cs typeface="Calibri (MS)"/>
                  <a:sym typeface="Calibri (MS)"/>
                </a:rPr>
                <a:t>        setContentView(R.layout.activity_login);</a:t>
              </a:r>
            </a:p>
            <a:p>
              <a:pPr algn="l">
                <a:lnSpc>
                  <a:spcPts val="1133"/>
                </a:lnSpc>
              </a:pPr>
              <a:r>
                <a:rPr lang="en-US" sz="944">
                  <a:solidFill>
                    <a:srgbClr val="4F81BD"/>
                  </a:solidFill>
                  <a:latin typeface="Calibri (MS)"/>
                  <a:ea typeface="Calibri (MS)"/>
                  <a:cs typeface="Calibri (MS)"/>
                  <a:sym typeface="Calibri (MS)"/>
                </a:rPr>
                <a:t>        txtServidor = findViewById(R.id.txtServidor);</a:t>
              </a:r>
            </a:p>
            <a:p>
              <a:pPr algn="l">
                <a:lnSpc>
                  <a:spcPts val="1133"/>
                </a:lnSpc>
              </a:pPr>
              <a:r>
                <a:rPr lang="en-US" sz="944">
                  <a:solidFill>
                    <a:srgbClr val="4F81BD"/>
                  </a:solidFill>
                  <a:latin typeface="Calibri (MS)"/>
                  <a:ea typeface="Calibri (MS)"/>
                  <a:cs typeface="Calibri (MS)"/>
                  <a:sym typeface="Calibri (MS)"/>
                </a:rPr>
                <a:t>        txtUsuario = findViewById(R.id.txtUsuario);</a:t>
              </a:r>
            </a:p>
            <a:p>
              <a:pPr algn="l">
                <a:lnSpc>
                  <a:spcPts val="1133"/>
                </a:lnSpc>
              </a:pPr>
              <a:r>
                <a:rPr lang="en-US" sz="944">
                  <a:solidFill>
                    <a:srgbClr val="4F81BD"/>
                  </a:solidFill>
                  <a:latin typeface="Calibri (MS)"/>
                  <a:ea typeface="Calibri (MS)"/>
                  <a:cs typeface="Calibri (MS)"/>
                  <a:sym typeface="Calibri (MS)"/>
                </a:rPr>
                <a:t>        txtClave = findViewById(R.id.txtClave);</a:t>
              </a:r>
            </a:p>
            <a:p>
              <a:pPr algn="l">
                <a:lnSpc>
                  <a:spcPts val="1133"/>
                </a:lnSpc>
              </a:pPr>
              <a:r>
                <a:rPr lang="en-US" sz="944">
                  <a:solidFill>
                    <a:srgbClr val="4F81BD"/>
                  </a:solidFill>
                  <a:latin typeface="Calibri (MS)"/>
                  <a:ea typeface="Calibri (MS)"/>
                  <a:cs typeface="Calibri (MS)"/>
                  <a:sym typeface="Calibri (MS)"/>
                </a:rPr>
                <a:t>        btnIngresar = findViewById(R.id.btnIngresar);</a:t>
              </a:r>
            </a:p>
            <a:p>
              <a:pPr algn="l">
                <a:lnSpc>
                  <a:spcPts val="1133"/>
                </a:lnSpc>
              </a:pPr>
              <a:r>
                <a:rPr lang="en-US" sz="944">
                  <a:solidFill>
                    <a:srgbClr val="4F81BD"/>
                  </a:solidFill>
                  <a:latin typeface="Calibri (MS)"/>
                  <a:ea typeface="Calibri (MS)"/>
                  <a:cs typeface="Calibri (MS)"/>
                  <a:sym typeface="Calibri (MS)"/>
                </a:rPr>
                <a:t>        lblEstado = findViewById(R.id.lblEstado);</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SharedPreferences prefs = getSharedPreferences(PREFS, Context.MODE_PRIVATE);</a:t>
              </a:r>
            </a:p>
            <a:p>
              <a:pPr algn="l">
                <a:lnSpc>
                  <a:spcPts val="1133"/>
                </a:lnSpc>
              </a:pPr>
              <a:r>
                <a:rPr lang="en-US" sz="944">
                  <a:solidFill>
                    <a:srgbClr val="4F81BD"/>
                  </a:solidFill>
                  <a:latin typeface="Calibri (MS)"/>
                  <a:ea typeface="Calibri (MS)"/>
                  <a:cs typeface="Calibri (MS)"/>
                  <a:sym typeface="Calibri (MS)"/>
                </a:rPr>
                <a:t>        txtServidor.setText(prefs.getString(CLAVE_SERVIDOR, ControladorConversiones.urlPorDefecto()));</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TextView lblServidor = findViewById(R.id.lblServidor);</a:t>
              </a:r>
            </a:p>
            <a:p>
              <a:pPr algn="l">
                <a:lnSpc>
                  <a:spcPts val="1133"/>
                </a:lnSpc>
              </a:pPr>
              <a:r>
                <a:rPr lang="en-US" sz="944">
                  <a:solidFill>
                    <a:srgbClr val="4F81BD"/>
                  </a:solidFill>
                  <a:latin typeface="Calibri (MS)"/>
                  <a:ea typeface="Calibri (MS)"/>
                  <a:cs typeface="Calibri (MS)"/>
                  <a:sym typeface="Calibri (MS)"/>
                </a:rPr>
                <a:t>        lblServidor.setOnClickListener(v -&gt; {</a:t>
              </a:r>
            </a:p>
            <a:p>
              <a:pPr algn="l">
                <a:lnSpc>
                  <a:spcPts val="1133"/>
                </a:lnSpc>
              </a:pPr>
              <a:r>
                <a:rPr lang="en-US" sz="944">
                  <a:solidFill>
                    <a:srgbClr val="4F81BD"/>
                  </a:solidFill>
                  <a:latin typeface="Calibri (MS)"/>
                  <a:ea typeface="Calibri (MS)"/>
                  <a:cs typeface="Calibri (MS)"/>
                  <a:sym typeface="Calibri (MS)"/>
                </a:rPr>
                <a:t>            boolean mostrar = txtServidor.getVisibility() != View.VISIBLE;</a:t>
              </a:r>
            </a:p>
            <a:p>
              <a:pPr algn="l">
                <a:lnSpc>
                  <a:spcPts val="1133"/>
                </a:lnSpc>
              </a:pPr>
              <a:r>
                <a:rPr lang="en-US" sz="944">
                  <a:solidFill>
                    <a:srgbClr val="4F81BD"/>
                  </a:solidFill>
                  <a:latin typeface="Calibri (MS)"/>
                  <a:ea typeface="Calibri (MS)"/>
                  <a:cs typeface="Calibri (MS)"/>
                  <a:sym typeface="Calibri (MS)"/>
                </a:rPr>
                <a:t>            txtServidor.setVisibility(mostrar ? View.VISIBLE : View.GONE);</a:t>
              </a:r>
            </a:p>
            <a:p>
              <a:pPr algn="l">
                <a:lnSpc>
                  <a:spcPts val="1133"/>
                </a:lnSpc>
              </a:pPr>
              <a:r>
                <a:rPr lang="en-US" sz="944">
                  <a:solidFill>
                    <a:srgbClr val="4F81BD"/>
                  </a:solidFill>
                  <a:latin typeface="Calibri (MS)"/>
                  <a:ea typeface="Calibri (MS)"/>
                  <a:cs typeface="Calibri (MS)"/>
                  <a:sym typeface="Calibri (MS)"/>
                </a:rPr>
                <a:t>            lblServidor.setText(mostrar ? R.string.servidor : null);</a:t>
              </a:r>
            </a:p>
            <a:p>
              <a:pPr algn="l">
                <a:lnSpc>
                  <a:spcPts val="1133"/>
                </a:lnSpc>
              </a:pPr>
              <a:r>
                <a:rPr lang="en-US" sz="944">
                  <a:solidFill>
                    <a:srgbClr val="4F81BD"/>
                  </a:solidFill>
                  <a:latin typeface="Calibri (MS)"/>
                  <a:ea typeface="Calibri (MS)"/>
                  <a:cs typeface="Calibri (MS)"/>
                  <a:sym typeface="Calibri (MS)"/>
                </a:rPr>
                <a:t>            lblServidor.setCompoundDrawablesWithIntrinsicBounds(</a:t>
              </a:r>
            </a:p>
            <a:p>
              <a:pPr algn="l">
                <a:lnSpc>
                  <a:spcPts val="1133"/>
                </a:lnSpc>
              </a:pPr>
              <a:r>
                <a:rPr lang="en-US" sz="944">
                  <a:solidFill>
                    <a:srgbClr val="4F81BD"/>
                  </a:solidFill>
                  <a:latin typeface="Calibri (MS)"/>
                  <a:ea typeface="Calibri (MS)"/>
                  <a:cs typeface="Calibri (MS)"/>
                  <a:sym typeface="Calibri (MS)"/>
                </a:rPr>
                <a:t>                    mostrar ? R.drawable.ic_flecha_abajo : R.drawable.ic_flecha_der, 0, 0, 0);</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btnIngresar.setOnClickListener(v -&gt; ingresar());</a:t>
              </a:r>
            </a:p>
            <a:p>
              <a:pPr algn="l">
                <a:lnSpc>
                  <a:spcPts val="1133"/>
                </a:lnSpc>
              </a:pPr>
              <a:r>
                <a:rPr lang="en-US" sz="944">
                  <a:solidFill>
                    <a:srgbClr val="4F81BD"/>
                  </a:solidFill>
                  <a:latin typeface="Calibri (MS)"/>
                  <a:ea typeface="Calibri (MS)"/>
                  <a:cs typeface="Calibri (MS)"/>
                  <a:sym typeface="Calibri (MS)"/>
                </a:rPr>
                <a:t>        txtClave.setOnEditorActionListener((v, accion, ev) -&gt; {</a:t>
              </a:r>
            </a:p>
          </p:txBody>
        </p:sp>
      </p:gr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sp>
        <p:nvSpPr>
          <p:cNvPr name="TextBox 13" id="13"/>
          <p:cNvSpPr txBox="true"/>
          <p:nvPr/>
        </p:nvSpPr>
        <p:spPr>
          <a:xfrm rot="0">
            <a:off x="777221" y="2897486"/>
            <a:ext cx="3589049" cy="6658013"/>
          </a:xfrm>
          <a:prstGeom prst="rect">
            <a:avLst/>
          </a:prstGeom>
        </p:spPr>
        <p:txBody>
          <a:bodyPr anchor="t" rtlCol="false" tIns="0" lIns="0" bIns="0" rIns="0">
            <a:spAutoFit/>
          </a:bodyPr>
          <a:lstStyle/>
          <a:p>
            <a:pPr algn="just" marL="325755" indent="-162878" lvl="1">
              <a:lnSpc>
                <a:spcPts val="2311"/>
              </a:lnSpc>
              <a:buFont typeface="Arial"/>
              <a:buChar char="•"/>
            </a:pPr>
            <a:r>
              <a:rPr lang="en-US" sz="1800">
                <a:solidFill>
                  <a:srgbClr val="3D3D3D"/>
                </a:solidFill>
                <a:latin typeface="Cambria"/>
                <a:ea typeface="Cambria"/>
                <a:cs typeface="Cambria"/>
                <a:sym typeface="Cambria"/>
              </a:rPr>
              <a:t>LoginActivity</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Vista de inicio de sesión (CU-01).</a:t>
            </a:r>
          </a:p>
          <a:p>
            <a:pPr algn="just" marL="325755" indent="-162878" lvl="1">
              <a:lnSpc>
                <a:spcPts val="2311"/>
              </a:lnSpc>
              <a:buFont typeface="Arial"/>
              <a:buChar char="•"/>
            </a:pPr>
            <a:r>
              <a:rPr lang="en-US" sz="1800">
                <a:solidFill>
                  <a:srgbClr val="3D3D3D"/>
                </a:solidFill>
                <a:latin typeface="Cambria"/>
                <a:ea typeface="Cambria"/>
                <a:cs typeface="Cambria"/>
                <a:sym typeface="Cambria"/>
              </a:rPr>
              <a:t>Fragmento 2 de 2.</a:t>
            </a:r>
          </a:p>
        </p:txBody>
      </p:sp>
      <p:grpSp>
        <p:nvGrpSpPr>
          <p:cNvPr name="Group 14" id="14"/>
          <p:cNvGrpSpPr/>
          <p:nvPr/>
        </p:nvGrpSpPr>
        <p:grpSpPr>
          <a:xfrm rot="0">
            <a:off x="14058881" y="-16669"/>
            <a:ext cx="4245788" cy="10320338"/>
            <a:chOff x="0" y="0"/>
            <a:chExt cx="5661050" cy="13760450"/>
          </a:xfrm>
        </p:grpSpPr>
        <p:sp>
          <p:nvSpPr>
            <p:cNvPr name="Freeform 15" id="15"/>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6" id="16"/>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grpSp>
        <p:nvGrpSpPr>
          <p:cNvPr name="Group 17" id="17"/>
          <p:cNvGrpSpPr/>
          <p:nvPr/>
        </p:nvGrpSpPr>
        <p:grpSpPr>
          <a:xfrm rot="0">
            <a:off x="4653915" y="2802255"/>
            <a:ext cx="9208770" cy="6705600"/>
            <a:chOff x="0" y="0"/>
            <a:chExt cx="12278360" cy="8940800"/>
          </a:xfrm>
        </p:grpSpPr>
        <p:sp>
          <p:nvSpPr>
            <p:cNvPr name="Freeform 18" id="18"/>
            <p:cNvSpPr/>
            <p:nvPr/>
          </p:nvSpPr>
          <p:spPr>
            <a:xfrm flipH="false" flipV="false" rot="0">
              <a:off x="0" y="0"/>
              <a:ext cx="12278360" cy="8940800"/>
            </a:xfrm>
            <a:custGeom>
              <a:avLst/>
              <a:gdLst/>
              <a:ahLst/>
              <a:cxnLst/>
              <a:rect r="r" b="b" t="t" l="l"/>
              <a:pathLst>
                <a:path h="8940800" w="12278360">
                  <a:moveTo>
                    <a:pt x="0" y="0"/>
                  </a:moveTo>
                  <a:lnTo>
                    <a:pt x="12278360" y="0"/>
                  </a:lnTo>
                  <a:lnTo>
                    <a:pt x="12278360" y="8940800"/>
                  </a:lnTo>
                  <a:lnTo>
                    <a:pt x="0" y="8940800"/>
                  </a:lnTo>
                  <a:close/>
                </a:path>
              </a:pathLst>
            </a:custGeom>
            <a:solidFill>
              <a:srgbClr val="FFFFFF"/>
            </a:solidFill>
            <a:ln w="19050" cap="sq">
              <a:solidFill>
                <a:srgbClr val="4F81BD"/>
              </a:solidFill>
              <a:prstDash val="solid"/>
              <a:miter/>
            </a:ln>
          </p:spPr>
          <p:txBody>
            <a:bodyPr/>
            <a:p/>
          </p:txBody>
        </p:sp>
        <p:sp>
          <p:nvSpPr>
            <p:cNvPr name="TextBox 19" id="19"/>
            <p:cNvSpPr txBox="true"/>
            <p:nvPr/>
          </p:nvSpPr>
          <p:spPr>
            <a:xfrm>
              <a:off x="0" y="-28575"/>
              <a:ext cx="12278360" cy="8969375"/>
            </a:xfrm>
            <a:prstGeom prst="rect">
              <a:avLst/>
            </a:prstGeom>
          </p:spPr>
          <p:txBody>
            <a:bodyPr anchor="t" rtlCol="false" tIns="50800" lIns="50800" bIns="50800" rIns="50800"/>
            <a:lstStyle/>
            <a:p>
              <a:pPr algn="l">
                <a:lnSpc>
                  <a:spcPts val="1133"/>
                </a:lnSpc>
              </a:pPr>
              <a:r>
                <a:rPr lang="en-US" sz="944">
                  <a:solidFill>
                    <a:srgbClr val="4F81BD"/>
                  </a:solidFill>
                  <a:latin typeface="Calibri (MS)"/>
                  <a:ea typeface="Calibri (MS)"/>
                  <a:cs typeface="Calibri (MS)"/>
                  <a:sym typeface="Calibri (MS)"/>
                </a:rPr>
                <a:t>            if (accion == EditorInfo.IME_ACTION_DONE || accion == EditorInfo.IME_ACTION_GO) {</a:t>
              </a:r>
            </a:p>
            <a:p>
              <a:pPr algn="l">
                <a:lnSpc>
                  <a:spcPts val="1133"/>
                </a:lnSpc>
              </a:pPr>
              <a:r>
                <a:rPr lang="en-US" sz="944">
                  <a:solidFill>
                    <a:srgbClr val="4F81BD"/>
                  </a:solidFill>
                  <a:latin typeface="Calibri (MS)"/>
                  <a:ea typeface="Calibri (MS)"/>
                  <a:cs typeface="Calibri (MS)"/>
                  <a:sym typeface="Calibri (MS)"/>
                </a:rPr>
                <a:t>                ingresar();</a:t>
              </a:r>
            </a:p>
            <a:p>
              <a:pPr algn="l">
                <a:lnSpc>
                  <a:spcPts val="1133"/>
                </a:lnSpc>
              </a:pPr>
              <a:r>
                <a:rPr lang="en-US" sz="944">
                  <a:solidFill>
                    <a:srgbClr val="4F81BD"/>
                  </a:solidFill>
                  <a:latin typeface="Calibri (MS)"/>
                  <a:ea typeface="Calibri (MS)"/>
                  <a:cs typeface="Calibri (MS)"/>
                  <a:sym typeface="Calibri (MS)"/>
                </a:rPr>
                <a:t>                return true;</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return false;</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@Override</a:t>
              </a:r>
            </a:p>
            <a:p>
              <a:pPr algn="l">
                <a:lnSpc>
                  <a:spcPts val="1133"/>
                </a:lnSpc>
              </a:pPr>
              <a:r>
                <a:rPr lang="en-US" sz="944">
                  <a:solidFill>
                    <a:srgbClr val="4F81BD"/>
                  </a:solidFill>
                  <a:latin typeface="Calibri (MS)"/>
                  <a:ea typeface="Calibri (MS)"/>
                  <a:cs typeface="Calibri (MS)"/>
                  <a:sym typeface="Calibri (MS)"/>
                </a:rPr>
                <a:t>    protected void onStart() {</a:t>
              </a:r>
            </a:p>
            <a:p>
              <a:pPr algn="l">
                <a:lnSpc>
                  <a:spcPts val="1133"/>
                </a:lnSpc>
              </a:pPr>
              <a:r>
                <a:rPr lang="en-US" sz="944">
                  <a:solidFill>
                    <a:srgbClr val="4F81BD"/>
                  </a:solidFill>
                  <a:latin typeface="Calibri (MS)"/>
                  <a:ea typeface="Calibri (MS)"/>
                  <a:cs typeface="Calibri (MS)"/>
                  <a:sym typeface="Calibri (MS)"/>
                </a:rPr>
                <a:t>        super.onStart();</a:t>
              </a:r>
            </a:p>
            <a:p>
              <a:pPr algn="l">
                <a:lnSpc>
                  <a:spcPts val="1133"/>
                </a:lnSpc>
              </a:pPr>
              <a:r>
                <a:rPr lang="en-US" sz="944">
                  <a:solidFill>
                    <a:srgbClr val="4F81BD"/>
                  </a:solidFill>
                  <a:latin typeface="Calibri (MS)"/>
                  <a:ea typeface="Calibri (MS)"/>
                  <a:cs typeface="Calibri (MS)"/>
                  <a:sym typeface="Calibri (MS)"/>
                </a:rPr>
                <a:t>        if (SesionApp.haySesion()) {</a:t>
              </a:r>
            </a:p>
            <a:p>
              <a:pPr algn="l">
                <a:lnSpc>
                  <a:spcPts val="1133"/>
                </a:lnSpc>
              </a:pPr>
              <a:r>
                <a:rPr lang="en-US" sz="944">
                  <a:solidFill>
                    <a:srgbClr val="4F81BD"/>
                  </a:solidFill>
                  <a:latin typeface="Calibri (MS)"/>
                  <a:ea typeface="Calibri (MS)"/>
                  <a:cs typeface="Calibri (MS)"/>
                  <a:sym typeface="Calibri (MS)"/>
                </a:rPr>
                <a:t>            irAConversion();</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private void mostrar(String texto, int color) {</a:t>
              </a:r>
            </a:p>
            <a:p>
              <a:pPr algn="l">
                <a:lnSpc>
                  <a:spcPts val="1133"/>
                </a:lnSpc>
              </a:pPr>
              <a:r>
                <a:rPr lang="en-US" sz="944">
                  <a:solidFill>
                    <a:srgbClr val="4F81BD"/>
                  </a:solidFill>
                  <a:latin typeface="Calibri (MS)"/>
                  <a:ea typeface="Calibri (MS)"/>
                  <a:cs typeface="Calibri (MS)"/>
                  <a:sym typeface="Calibri (MS)"/>
                </a:rPr>
                <a:t>        lblEstado.setTextColor(color);</a:t>
              </a:r>
            </a:p>
            <a:p>
              <a:pPr algn="l">
                <a:lnSpc>
                  <a:spcPts val="1133"/>
                </a:lnSpc>
              </a:pPr>
              <a:r>
                <a:rPr lang="en-US" sz="944">
                  <a:solidFill>
                    <a:srgbClr val="4F81BD"/>
                  </a:solidFill>
                  <a:latin typeface="Calibri (MS)"/>
                  <a:ea typeface="Calibri (MS)"/>
                  <a:cs typeface="Calibri (MS)"/>
                  <a:sym typeface="Calibri (MS)"/>
                </a:rPr>
                <a:t>        lblEstado.setText(texto);</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private void ingresar() {</a:t>
              </a:r>
            </a:p>
            <a:p>
              <a:pPr algn="l">
                <a:lnSpc>
                  <a:spcPts val="1133"/>
                </a:lnSpc>
              </a:pPr>
              <a:r>
                <a:rPr lang="en-US" sz="944">
                  <a:solidFill>
                    <a:srgbClr val="4F81BD"/>
                  </a:solidFill>
                  <a:latin typeface="Calibri (MS)"/>
                  <a:ea typeface="Calibri (MS)"/>
                  <a:cs typeface="Calibri (MS)"/>
                  <a:sym typeface="Calibri (MS)"/>
                </a:rPr>
                <a:t>        final String url = txtServidor.getText().toString();</a:t>
              </a:r>
            </a:p>
            <a:p>
              <a:pPr algn="l">
                <a:lnSpc>
                  <a:spcPts val="1133"/>
                </a:lnSpc>
              </a:pPr>
              <a:r>
                <a:rPr lang="en-US" sz="944">
                  <a:solidFill>
                    <a:srgbClr val="4F81BD"/>
                  </a:solidFill>
                  <a:latin typeface="Calibri (MS)"/>
                  <a:ea typeface="Calibri (MS)"/>
                  <a:cs typeface="Calibri (MS)"/>
                  <a:sym typeface="Calibri (MS)"/>
                </a:rPr>
                <a:t>        final String usuario = txtUsuario.getText().toString();</a:t>
              </a:r>
            </a:p>
            <a:p>
              <a:pPr algn="l">
                <a:lnSpc>
                  <a:spcPts val="1133"/>
                </a:lnSpc>
              </a:pPr>
              <a:r>
                <a:rPr lang="en-US" sz="944">
                  <a:solidFill>
                    <a:srgbClr val="4F81BD"/>
                  </a:solidFill>
                  <a:latin typeface="Calibri (MS)"/>
                  <a:ea typeface="Calibri (MS)"/>
                  <a:cs typeface="Calibri (MS)"/>
                  <a:sym typeface="Calibri (MS)"/>
                </a:rPr>
                <a:t>        final String clave = txtClave.getText().toString();</a:t>
              </a:r>
            </a:p>
            <a:p>
              <a:pPr algn="l">
                <a:lnSpc>
                  <a:spcPts val="1133"/>
                </a:lnSpc>
              </a:pPr>
              <a:r>
                <a:rPr lang="en-US" sz="944">
                  <a:solidFill>
                    <a:srgbClr val="4F81BD"/>
                  </a:solidFill>
                  <a:latin typeface="Calibri (MS)"/>
                  <a:ea typeface="Calibri (MS)"/>
                  <a:cs typeface="Calibri (MS)"/>
                  <a:sym typeface="Calibri (MS)"/>
                </a:rPr>
                <a:t>        btnIngresar.setEnabled(false);</a:t>
              </a:r>
            </a:p>
            <a:p>
              <a:pPr algn="l">
                <a:lnSpc>
                  <a:spcPts val="1133"/>
                </a:lnSpc>
              </a:pPr>
              <a:r>
                <a:rPr lang="en-US" sz="944">
                  <a:solidFill>
                    <a:srgbClr val="4F81BD"/>
                  </a:solidFill>
                  <a:latin typeface="Calibri (MS)"/>
                  <a:ea typeface="Calibri (MS)"/>
                  <a:cs typeface="Calibri (MS)"/>
                  <a:sym typeface="Calibri (MS)"/>
                </a:rPr>
                <a:t>        mostrar("Conectando...", getResources().getColor(R.color.azul, getTheme()));</a:t>
              </a:r>
            </a:p>
            <a:p>
              <a:pPr algn="l">
                <a:lnSpc>
                  <a:spcPts val="1133"/>
                </a:lnSpc>
              </a:pPr>
              <a:r>
                <a:rPr lang="en-US" sz="944">
                  <a:solidFill>
                    <a:srgbClr val="4F81BD"/>
                  </a:solidFill>
                  <a:latin typeface="Calibri (MS)"/>
                  <a:ea typeface="Calibri (MS)"/>
                  <a:cs typeface="Calibri (MS)"/>
                  <a:sym typeface="Calibri (MS)"/>
                </a:rPr>
                <a:t>        new Thread(() -&gt; {</a:t>
              </a:r>
            </a:p>
            <a:p>
              <a:pPr algn="l">
                <a:lnSpc>
                  <a:spcPts val="1133"/>
                </a:lnSpc>
              </a:pPr>
              <a:r>
                <a:rPr lang="en-US" sz="944">
                  <a:solidFill>
                    <a:srgbClr val="4F81BD"/>
                  </a:solidFill>
                  <a:latin typeface="Calibri (MS)"/>
                  <a:ea typeface="Calibri (MS)"/>
                  <a:cs typeface="Calibri (MS)"/>
                  <a:sym typeface="Calibri (MS)"/>
                </a:rPr>
                <a:t>            ControladorConversiones c = SesionApp.iniciar(url);</a:t>
              </a:r>
            </a:p>
            <a:p>
              <a:pPr algn="l">
                <a:lnSpc>
                  <a:spcPts val="1133"/>
                </a:lnSpc>
              </a:pPr>
              <a:r>
                <a:rPr lang="en-US" sz="944">
                  <a:solidFill>
                    <a:srgbClr val="4F81BD"/>
                  </a:solidFill>
                  <a:latin typeface="Calibri (MS)"/>
                  <a:ea typeface="Calibri (MS)"/>
                  <a:cs typeface="Calibri (MS)"/>
                  <a:sym typeface="Calibri (MS)"/>
                </a:rPr>
                <a:t>            RespuestaServicio r = c.iniciarSesion(usuario, clave);</a:t>
              </a:r>
            </a:p>
            <a:p>
              <a:pPr algn="l">
                <a:lnSpc>
                  <a:spcPts val="1133"/>
                </a:lnSpc>
              </a:pPr>
              <a:r>
                <a:rPr lang="en-US" sz="944">
                  <a:solidFill>
                    <a:srgbClr val="4F81BD"/>
                  </a:solidFill>
                  <a:latin typeface="Calibri (MS)"/>
                  <a:ea typeface="Calibri (MS)"/>
                  <a:cs typeface="Calibri (MS)"/>
                  <a:sym typeface="Calibri (MS)"/>
                </a:rPr>
                <a:t>            runOnUiThread(() -&gt; {</a:t>
              </a:r>
            </a:p>
            <a:p>
              <a:pPr algn="l">
                <a:lnSpc>
                  <a:spcPts val="1133"/>
                </a:lnSpc>
              </a:pPr>
              <a:r>
                <a:rPr lang="en-US" sz="944">
                  <a:solidFill>
                    <a:srgbClr val="4F81BD"/>
                  </a:solidFill>
                  <a:latin typeface="Calibri (MS)"/>
                  <a:ea typeface="Calibri (MS)"/>
                  <a:cs typeface="Calibri (MS)"/>
                  <a:sym typeface="Calibri (MS)"/>
                </a:rPr>
                <a:t>                if (isFinishing()) {</a:t>
              </a:r>
            </a:p>
            <a:p>
              <a:pPr algn="l">
                <a:lnSpc>
                  <a:spcPts val="1133"/>
                </a:lnSpc>
              </a:pPr>
              <a:r>
                <a:rPr lang="en-US" sz="944">
                  <a:solidFill>
                    <a:srgbClr val="4F81BD"/>
                  </a:solidFill>
                  <a:latin typeface="Calibri (MS)"/>
                  <a:ea typeface="Calibri (MS)"/>
                  <a:cs typeface="Calibri (MS)"/>
                  <a:sym typeface="Calibri (MS)"/>
                </a:rPr>
                <a:t>                    return;</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btnIngresar.setEnabled(true);</a:t>
              </a:r>
            </a:p>
            <a:p>
              <a:pPr algn="l">
                <a:lnSpc>
                  <a:spcPts val="1133"/>
                </a:lnSpc>
              </a:pPr>
              <a:r>
                <a:rPr lang="en-US" sz="944">
                  <a:solidFill>
                    <a:srgbClr val="4F81BD"/>
                  </a:solidFill>
                  <a:latin typeface="Calibri (MS)"/>
                  <a:ea typeface="Calibri (MS)"/>
                  <a:cs typeface="Calibri (MS)"/>
                  <a:sym typeface="Calibri (MS)"/>
                </a:rPr>
                <a:t>                if (r.esExitosa()) {</a:t>
              </a:r>
            </a:p>
            <a:p>
              <a:pPr algn="l">
                <a:lnSpc>
                  <a:spcPts val="1133"/>
                </a:lnSpc>
              </a:pPr>
              <a:r>
                <a:rPr lang="en-US" sz="944">
                  <a:solidFill>
                    <a:srgbClr val="4F81BD"/>
                  </a:solidFill>
                  <a:latin typeface="Calibri (MS)"/>
                  <a:ea typeface="Calibri (MS)"/>
                  <a:cs typeface="Calibri (MS)"/>
                  <a:sym typeface="Calibri (MS)"/>
                </a:rPr>
                <a:t>                    getSharedPreferences(PREFS, Context.MODE_PRIVATE).edit()</a:t>
              </a:r>
            </a:p>
            <a:p>
              <a:pPr algn="l">
                <a:lnSpc>
                  <a:spcPts val="1133"/>
                </a:lnSpc>
              </a:pPr>
              <a:r>
                <a:rPr lang="en-US" sz="944">
                  <a:solidFill>
                    <a:srgbClr val="4F81BD"/>
                  </a:solidFill>
                  <a:latin typeface="Calibri (MS)"/>
                  <a:ea typeface="Calibri (MS)"/>
                  <a:cs typeface="Calibri (MS)"/>
                  <a:sym typeface="Calibri (MS)"/>
                </a:rPr>
                <a:t>                            .putString(CLAVE_SERVIDOR, c.getUrl()).apply();</a:t>
              </a:r>
            </a:p>
            <a:p>
              <a:pPr algn="l">
                <a:lnSpc>
                  <a:spcPts val="1133"/>
                </a:lnSpc>
              </a:pPr>
              <a:r>
                <a:rPr lang="en-US" sz="944">
                  <a:solidFill>
                    <a:srgbClr val="4F81BD"/>
                  </a:solidFill>
                  <a:latin typeface="Calibri (MS)"/>
                  <a:ea typeface="Calibri (MS)"/>
                  <a:cs typeface="Calibri (MS)"/>
                  <a:sym typeface="Calibri (MS)"/>
                </a:rPr>
                <a:t>                    txtClave.setText("");</a:t>
              </a:r>
            </a:p>
            <a:p>
              <a:pPr algn="l">
                <a:lnSpc>
                  <a:spcPts val="1133"/>
                </a:lnSpc>
              </a:pPr>
              <a:r>
                <a:rPr lang="en-US" sz="944">
                  <a:solidFill>
                    <a:srgbClr val="4F81BD"/>
                  </a:solidFill>
                  <a:latin typeface="Calibri (MS)"/>
                  <a:ea typeface="Calibri (MS)"/>
                  <a:cs typeface="Calibri (MS)"/>
                  <a:sym typeface="Calibri (MS)"/>
                </a:rPr>
                <a:t>                    irAConversion();</a:t>
              </a:r>
            </a:p>
            <a:p>
              <a:pPr algn="l">
                <a:lnSpc>
                  <a:spcPts val="1133"/>
                </a:lnSpc>
              </a:pPr>
              <a:r>
                <a:rPr lang="en-US" sz="944">
                  <a:solidFill>
                    <a:srgbClr val="4F81BD"/>
                  </a:solidFill>
                  <a:latin typeface="Calibri (MS)"/>
                  <a:ea typeface="Calibri (MS)"/>
                  <a:cs typeface="Calibri (MS)"/>
                  <a:sym typeface="Calibri (MS)"/>
                </a:rPr>
                <a:t>                } else {</a:t>
              </a:r>
            </a:p>
            <a:p>
              <a:pPr algn="l">
                <a:lnSpc>
                  <a:spcPts val="1133"/>
                </a:lnSpc>
              </a:pPr>
              <a:r>
                <a:rPr lang="en-US" sz="944">
                  <a:solidFill>
                    <a:srgbClr val="4F81BD"/>
                  </a:solidFill>
                  <a:latin typeface="Calibri (MS)"/>
                  <a:ea typeface="Calibri (MS)"/>
                  <a:cs typeface="Calibri (MS)"/>
                  <a:sym typeface="Calibri (MS)"/>
                </a:rPr>
                <a:t>                    SesionApp.cerrar();</a:t>
              </a:r>
            </a:p>
            <a:p>
              <a:pPr algn="l">
                <a:lnSpc>
                  <a:spcPts val="1133"/>
                </a:lnSpc>
              </a:pPr>
              <a:r>
                <a:rPr lang="en-US" sz="944">
                  <a:solidFill>
                    <a:srgbClr val="4F81BD"/>
                  </a:solidFill>
                  <a:latin typeface="Calibri (MS)"/>
                  <a:ea typeface="Calibri (MS)"/>
                  <a:cs typeface="Calibri (MS)"/>
                  <a:sym typeface="Calibri (MS)"/>
                </a:rPr>
                <a:t>                    mostrar("[" + r.getCodigo() + "] " + r.getMensaje(), Color.parseColor("#B00020"));</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}).start();</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    private void irAConversion() {</a:t>
              </a:r>
            </a:p>
            <a:p>
              <a:pPr algn="l">
                <a:lnSpc>
                  <a:spcPts val="1133"/>
                </a:lnSpc>
              </a:pPr>
              <a:r>
                <a:rPr lang="en-US" sz="944">
                  <a:solidFill>
                    <a:srgbClr val="4F81BD"/>
                  </a:solidFill>
                  <a:latin typeface="Calibri (MS)"/>
                  <a:ea typeface="Calibri (MS)"/>
                  <a:cs typeface="Calibri (MS)"/>
                  <a:sym typeface="Calibri (MS)"/>
                </a:rPr>
                <a:t>        startActivity(new Intent(this, ConversionActivity.class));</a:t>
              </a:r>
            </a:p>
            <a:p>
              <a:pPr algn="l">
                <a:lnSpc>
                  <a:spcPts val="1133"/>
                </a:lnSpc>
              </a:pPr>
              <a:r>
                <a:rPr lang="en-US" sz="944">
                  <a:solidFill>
                    <a:srgbClr val="4F81BD"/>
                  </a:solidFill>
                  <a:latin typeface="Calibri (MS)"/>
                  <a:ea typeface="Calibri (MS)"/>
                  <a:cs typeface="Calibri (MS)"/>
                  <a:sym typeface="Calibri (MS)"/>
                </a:rPr>
                <a:t>        finish();</a:t>
              </a:r>
            </a:p>
            <a:p>
              <a:pPr algn="l">
                <a:lnSpc>
                  <a:spcPts val="1133"/>
                </a:lnSpc>
              </a:pPr>
              <a:r>
                <a:rPr lang="en-US" sz="944">
                  <a:solidFill>
                    <a:srgbClr val="4F81BD"/>
                  </a:solidFill>
                  <a:latin typeface="Calibri (MS)"/>
                  <a:ea typeface="Calibri (MS)"/>
                  <a:cs typeface="Calibri (MS)"/>
                  <a:sym typeface="Calibri (MS)"/>
                </a:rPr>
                <a:t>    }</a:t>
              </a:r>
            </a:p>
            <a:p>
              <a:pPr algn="l">
                <a:lnSpc>
                  <a:spcPts val="1133"/>
                </a:lnSpc>
              </a:pPr>
              <a:r>
                <a:rPr lang="en-US" sz="944">
                  <a:solidFill>
                    <a:srgbClr val="4F81BD"/>
                  </a:solidFill>
                  <a:latin typeface="Calibri (MS)"/>
                  <a:ea typeface="Calibri (MS)"/>
                  <a:cs typeface="Calibri (MS)"/>
                  <a:sym typeface="Calibri (MS)"/>
                </a:rPr>
                <a:t>}</a:t>
              </a:r>
            </a:p>
          </p:txBody>
        </p:sp>
      </p:gr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6096930" y="2800807"/>
            <a:ext cx="3486743" cy="7359879"/>
          </a:xfrm>
          <a:custGeom>
            <a:avLst/>
            <a:gdLst/>
            <a:ahLst/>
            <a:cxnLst/>
            <a:rect r="r" b="b" t="t" l="l"/>
            <a:pathLst>
              <a:path h="7359879" w="3486743">
                <a:moveTo>
                  <a:pt x="0" y="0"/>
                </a:moveTo>
                <a:lnTo>
                  <a:pt x="3486742" y="0"/>
                </a:lnTo>
                <a:lnTo>
                  <a:pt x="3486742" y="7359880"/>
                </a:lnTo>
                <a:lnTo>
                  <a:pt x="0" y="7359880"/>
                </a:lnTo>
                <a:lnTo>
                  <a:pt x="0" y="0"/>
                </a:lnTo>
                <a:close/>
              </a:path>
            </a:pathLst>
          </a:custGeom>
          <a:blipFill>
            <a:blip r:embed="rId3"/>
            <a:stretch>
              <a:fillRect l="0" t="0" r="0" b="0"/>
            </a:stretch>
          </a:blipFill>
        </p:spPr>
        <p:txBody>
          <a:bodyPr/>
          <a:p/>
        </p:txBody>
      </p:sp>
      <p:sp>
        <p:nvSpPr>
          <p:cNvPr name="TextBox 17" id="17"/>
          <p:cNvSpPr txBox="true"/>
          <p:nvPr/>
        </p:nvSpPr>
        <p:spPr>
          <a:xfrm rot="0">
            <a:off x="871785" y="6033834"/>
            <a:ext cx="4892069" cy="446913"/>
          </a:xfrm>
          <a:prstGeom prst="rect">
            <a:avLst/>
          </a:prstGeom>
        </p:spPr>
        <p:txBody>
          <a:bodyPr anchor="t" rtlCol="false" tIns="0" lIns="0" bIns="0" rIns="0">
            <a:spAutoFit/>
          </a:bodyPr>
          <a:lstStyle/>
          <a:p>
            <a:pPr algn="just" marL="497678" indent="-248839" lvl="1">
              <a:lnSpc>
                <a:spcPts val="3530"/>
              </a:lnSpc>
              <a:buFont typeface="Arial"/>
              <a:buChar char="•"/>
            </a:pPr>
            <a:r>
              <a:rPr lang="en-US" b="true" sz="2749">
                <a:solidFill>
                  <a:srgbClr val="3D3D3D"/>
                </a:solidFill>
                <a:latin typeface="Cambria Bold"/>
                <a:ea typeface="Cambria Bold"/>
                <a:cs typeface="Cambria Bold"/>
                <a:sym typeface="Cambria Bold"/>
              </a:rPr>
              <a:t>Vista login</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DESARROLLO</a:t>
              </a:r>
            </a:p>
          </p:txBody>
        </p:sp>
      </p:grpSp>
      <p:grpSp>
        <p:nvGrpSpPr>
          <p:cNvPr name="Group 13" id="13"/>
          <p:cNvGrpSpPr/>
          <p:nvPr/>
        </p:nvGrpSpPr>
        <p:grpSpPr>
          <a:xfrm rot="0">
            <a:off x="14058881" y="-16669"/>
            <a:ext cx="4245788" cy="10320338"/>
            <a:chOff x="0" y="0"/>
            <a:chExt cx="5661050" cy="13760450"/>
          </a:xfrm>
        </p:grpSpPr>
        <p:sp>
          <p:nvSpPr>
            <p:cNvPr name="Freeform 14" id="14"/>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5" id="15"/>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00"/>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a:p>
              <a:pPr algn="l" marL="325755" indent="-162878" lvl="1">
                <a:lnSpc>
                  <a:spcPts val="2160"/>
                </a:lnSpc>
              </a:pPr>
            </a:p>
          </p:txBody>
        </p:sp>
      </p:grpSp>
      <p:sp>
        <p:nvSpPr>
          <p:cNvPr name="Freeform 16" id="16"/>
          <p:cNvSpPr/>
          <p:nvPr/>
        </p:nvSpPr>
        <p:spPr>
          <a:xfrm flipH="false" flipV="false" rot="0">
            <a:off x="6712565" y="2568083"/>
            <a:ext cx="3486743" cy="7359879"/>
          </a:xfrm>
          <a:custGeom>
            <a:avLst/>
            <a:gdLst/>
            <a:ahLst/>
            <a:cxnLst/>
            <a:rect r="r" b="b" t="t" l="l"/>
            <a:pathLst>
              <a:path h="7359879" w="3486743">
                <a:moveTo>
                  <a:pt x="0" y="0"/>
                </a:moveTo>
                <a:lnTo>
                  <a:pt x="3486743" y="0"/>
                </a:lnTo>
                <a:lnTo>
                  <a:pt x="3486743" y="7359879"/>
                </a:lnTo>
                <a:lnTo>
                  <a:pt x="0" y="7359879"/>
                </a:lnTo>
                <a:lnTo>
                  <a:pt x="0" y="0"/>
                </a:lnTo>
                <a:close/>
              </a:path>
            </a:pathLst>
          </a:custGeom>
          <a:blipFill>
            <a:blip r:embed="rId3"/>
            <a:stretch>
              <a:fillRect l="0" t="0" r="0" b="0"/>
            </a:stretch>
          </a:blipFill>
        </p:spPr>
        <p:txBody>
          <a:bodyPr/>
          <a:p/>
        </p:txBody>
      </p:sp>
      <p:sp>
        <p:nvSpPr>
          <p:cNvPr name="TextBox 17" id="17"/>
          <p:cNvSpPr txBox="true"/>
          <p:nvPr/>
        </p:nvSpPr>
        <p:spPr>
          <a:xfrm rot="0">
            <a:off x="871785" y="5925925"/>
            <a:ext cx="4892069" cy="392964"/>
          </a:xfrm>
          <a:prstGeom prst="rect">
            <a:avLst/>
          </a:prstGeom>
        </p:spPr>
        <p:txBody>
          <a:bodyPr anchor="t" rtlCol="false" tIns="0" lIns="0" bIns="0" rIns="0">
            <a:spAutoFit/>
          </a:bodyPr>
          <a:lstStyle/>
          <a:p>
            <a:pPr algn="just" marL="443386" indent="-221693" lvl="1">
              <a:lnSpc>
                <a:spcPts val="3145"/>
              </a:lnSpc>
              <a:buFont typeface="Arial"/>
              <a:buChar char="•"/>
            </a:pPr>
            <a:r>
              <a:rPr lang="en-US" b="true" sz="2449">
                <a:solidFill>
                  <a:srgbClr val="3D3D3D"/>
                </a:solidFill>
                <a:latin typeface="Cambria Bold"/>
                <a:ea typeface="Cambria Bold"/>
                <a:cs typeface="Cambria Bold"/>
                <a:sym typeface="Cambria Bold"/>
              </a:rPr>
              <a:t>Vista Conversor de unidades</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CONCLUSIONES</a:t>
              </a:r>
            </a:p>
          </p:txBody>
        </p:sp>
      </p:grpSp>
      <p:grpSp>
        <p:nvGrpSpPr>
          <p:cNvPr name="Group 13" id="13"/>
          <p:cNvGrpSpPr/>
          <p:nvPr/>
        </p:nvGrpSpPr>
        <p:grpSpPr>
          <a:xfrm rot="0">
            <a:off x="871785" y="3270742"/>
            <a:ext cx="12883953" cy="5517452"/>
            <a:chOff x="0" y="0"/>
            <a:chExt cx="17178604" cy="7356602"/>
          </a:xfrm>
        </p:grpSpPr>
        <p:sp>
          <p:nvSpPr>
            <p:cNvPr name="Freeform 14" id="14"/>
            <p:cNvSpPr/>
            <p:nvPr/>
          </p:nvSpPr>
          <p:spPr>
            <a:xfrm flipH="false" flipV="false" rot="0">
              <a:off x="0" y="0"/>
              <a:ext cx="17178599" cy="7356600"/>
            </a:xfrm>
            <a:custGeom>
              <a:avLst/>
              <a:gdLst/>
              <a:ahLst/>
              <a:cxnLst/>
              <a:rect r="r" b="b" t="t" l="l"/>
              <a:pathLst>
                <a:path h="7356600" w="17178599">
                  <a:moveTo>
                    <a:pt x="0" y="0"/>
                  </a:moveTo>
                  <a:lnTo>
                    <a:pt x="17178599" y="0"/>
                  </a:lnTo>
                  <a:lnTo>
                    <a:pt x="17178599" y="7356600"/>
                  </a:lnTo>
                  <a:lnTo>
                    <a:pt x="0" y="7356600"/>
                  </a:lnTo>
                  <a:close/>
                </a:path>
              </a:pathLst>
            </a:custGeom>
            <a:blipFill>
              <a:blip r:embed="rId2">
                <a:alphaModFix amt="0"/>
              </a:blip>
              <a:stretch>
                <a:fillRect l="-4944" t="0" r="-4945" b="0"/>
              </a:stretch>
            </a:blipFill>
          </p:spPr>
          <p:txBody>
            <a:bodyPr/>
            <a:p/>
          </p:txBody>
        </p:sp>
        <p:sp>
          <p:nvSpPr>
            <p:cNvPr name="TextBox 15" id="15"/>
            <p:cNvSpPr txBox="true"/>
            <p:nvPr/>
          </p:nvSpPr>
          <p:spPr>
            <a:xfrm>
              <a:off x="0" y="-28575"/>
              <a:ext cx="17178604" cy="7385177"/>
            </a:xfrm>
            <a:prstGeom prst="rect">
              <a:avLst/>
            </a:prstGeom>
          </p:spPr>
          <p:txBody>
            <a:bodyPr anchor="ctr" rtlCol="false" tIns="0" lIns="0" bIns="0" rIns="0"/>
            <a:lstStyle/>
            <a:p>
              <a:pPr algn="just">
                <a:lnSpc>
                  <a:spcPts val="3659"/>
                </a:lnSpc>
              </a:pPr>
              <a:r>
                <a:rPr lang="en-US" sz="2850">
                  <a:solidFill>
                    <a:srgbClr val="3D3D3D"/>
                  </a:solidFill>
                  <a:latin typeface="Cambria"/>
                  <a:ea typeface="Cambria"/>
                  <a:cs typeface="Cambria"/>
                  <a:sym typeface="Cambria"/>
                </a:rPr>
                <a:t>La culminación de este proyecto evidencia la efectividad de una Arquitectura Orientada a Servicios (SOA) al integrar un servidor REST desarrollado en Java y alojado en Payara Server con cuatro clientes (consola, escritorio, web y móvil Android) que consumen el mismo contrato JSON. La seguridad se resolvió con tokens de vigencia limitada, validados en cada operación, y la respuesta estructurada con códigos de error permitió que todos los clientes traten los fallos de forma uniforme, aplicando el patrón MVC en cada uno de ellos.</a:t>
              </a:r>
            </a:p>
          </p:txBody>
        </p:sp>
      </p:grpSp>
      <p:grpSp>
        <p:nvGrpSpPr>
          <p:cNvPr name="Group 16" id="16"/>
          <p:cNvGrpSpPr/>
          <p:nvPr/>
        </p:nvGrpSpPr>
        <p:grpSpPr>
          <a:xfrm rot="0">
            <a:off x="14058881" y="-16669"/>
            <a:ext cx="4245788" cy="10320338"/>
            <a:chOff x="0" y="0"/>
            <a:chExt cx="5661050" cy="13760450"/>
          </a:xfrm>
        </p:grpSpPr>
        <p:sp>
          <p:nvSpPr>
            <p:cNvPr name="Freeform 17" id="17"/>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8" id="18"/>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RECOMENDACIONES</a:t>
              </a:r>
            </a:p>
            <a:p>
              <a:pPr algn="l" marL="325755" indent="-162878" lvl="1">
                <a:lnSpc>
                  <a:spcPts val="2160"/>
                </a:lnSpc>
              </a:pPr>
            </a:p>
          </p:txBody>
        </p:sp>
      </p:gr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798" y="685800"/>
            <a:ext cx="5554980" cy="142494"/>
            <a:chOff x="0" y="0"/>
            <a:chExt cx="7406640" cy="189992"/>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1A3260"/>
            </a:solidFill>
          </p:spPr>
          <p:txBody>
            <a:bodyPr/>
            <a:p/>
          </p:txBody>
        </p:sp>
      </p:grpSp>
      <p:grpSp>
        <p:nvGrpSpPr>
          <p:cNvPr name="Group 4" id="4"/>
          <p:cNvGrpSpPr/>
          <p:nvPr/>
        </p:nvGrpSpPr>
        <p:grpSpPr>
          <a:xfrm rot="0">
            <a:off x="12063222" y="680466"/>
            <a:ext cx="5554980" cy="147828"/>
            <a:chOff x="0" y="0"/>
            <a:chExt cx="7406640" cy="197104"/>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txBody>
            <a:bodyPr/>
            <a:p/>
          </p:txBody>
        </p:sp>
      </p:grpSp>
      <p:grpSp>
        <p:nvGrpSpPr>
          <p:cNvPr name="Group 6" id="6"/>
          <p:cNvGrpSpPr/>
          <p:nvPr/>
        </p:nvGrpSpPr>
        <p:grpSpPr>
          <a:xfrm rot="0">
            <a:off x="6362748"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4590B8"/>
            </a:solidFill>
          </p:spPr>
          <p:txBody>
            <a:bodyPr/>
            <a:p/>
          </p:txBody>
        </p:sp>
      </p:grpSp>
      <p:grpSp>
        <p:nvGrpSpPr>
          <p:cNvPr name="Group 8" id="8"/>
          <p:cNvGrpSpPr/>
          <p:nvPr/>
        </p:nvGrpSpPr>
        <p:grpSpPr>
          <a:xfrm rot="0">
            <a:off x="660425" y="921610"/>
            <a:ext cx="16964006" cy="1783947"/>
            <a:chOff x="0" y="0"/>
            <a:chExt cx="22618675" cy="2378596"/>
          </a:xfrm>
        </p:grpSpPr>
        <p:sp>
          <p:nvSpPr>
            <p:cNvPr name="Freeform 9" id="9"/>
            <p:cNvSpPr/>
            <p:nvPr/>
          </p:nvSpPr>
          <p:spPr>
            <a:xfrm flipH="false" flipV="false" rot="0">
              <a:off x="0" y="0"/>
              <a:ext cx="22618700" cy="2378583"/>
            </a:xfrm>
            <a:custGeom>
              <a:avLst/>
              <a:gdLst/>
              <a:ahLst/>
              <a:cxnLst/>
              <a:rect r="r" b="b" t="t" l="l"/>
              <a:pathLst>
                <a:path h="2378583" w="22618700">
                  <a:moveTo>
                    <a:pt x="0" y="0"/>
                  </a:moveTo>
                  <a:lnTo>
                    <a:pt x="22618700" y="0"/>
                  </a:lnTo>
                  <a:lnTo>
                    <a:pt x="22618700" y="2378583"/>
                  </a:lnTo>
                  <a:lnTo>
                    <a:pt x="0" y="2378583"/>
                  </a:lnTo>
                  <a:close/>
                </a:path>
              </a:pathLst>
            </a:custGeom>
            <a:solidFill>
              <a:srgbClr val="1A3260"/>
            </a:solidFill>
          </p:spPr>
          <p:txBody>
            <a:bodyPr/>
            <a:p/>
          </p:txBody>
        </p:sp>
      </p:grpSp>
      <p:grpSp>
        <p:nvGrpSpPr>
          <p:cNvPr name="Group 10" id="10"/>
          <p:cNvGrpSpPr/>
          <p:nvPr/>
        </p:nvGrpSpPr>
        <p:grpSpPr>
          <a:xfrm rot="0">
            <a:off x="871785" y="1053236"/>
            <a:ext cx="16544249" cy="1520552"/>
            <a:chOff x="0" y="0"/>
            <a:chExt cx="22058998" cy="2027403"/>
          </a:xfrm>
        </p:grpSpPr>
        <p:sp>
          <p:nvSpPr>
            <p:cNvPr name="Freeform 11" id="11"/>
            <p:cNvSpPr/>
            <p:nvPr/>
          </p:nvSpPr>
          <p:spPr>
            <a:xfrm flipH="false" flipV="false" rot="0">
              <a:off x="0" y="0"/>
              <a:ext cx="22059001" cy="2027400"/>
            </a:xfrm>
            <a:custGeom>
              <a:avLst/>
              <a:gdLst/>
              <a:ahLst/>
              <a:cxnLst/>
              <a:rect r="r" b="b" t="t" l="l"/>
              <a:pathLst>
                <a:path h="2027400" w="22059001">
                  <a:moveTo>
                    <a:pt x="0" y="0"/>
                  </a:moveTo>
                  <a:lnTo>
                    <a:pt x="22059001" y="0"/>
                  </a:lnTo>
                  <a:lnTo>
                    <a:pt x="22059001" y="2027400"/>
                  </a:lnTo>
                  <a:lnTo>
                    <a:pt x="0" y="2027400"/>
                  </a:lnTo>
                  <a:close/>
                </a:path>
              </a:pathLst>
            </a:custGeom>
            <a:blipFill>
              <a:blip r:embed="rId2">
                <a:alphaModFix amt="0"/>
              </a:blip>
              <a:stretch>
                <a:fillRect l="0" t="-162005" r="0" b="-162005"/>
              </a:stretch>
            </a:blipFill>
          </p:spPr>
          <p:txBody>
            <a:bodyPr/>
            <a:p/>
          </p:txBody>
        </p:sp>
        <p:sp>
          <p:nvSpPr>
            <p:cNvPr name="TextBox 12" id="12"/>
            <p:cNvSpPr txBox="true"/>
            <p:nvPr/>
          </p:nvSpPr>
          <p:spPr>
            <a:xfrm>
              <a:off x="0" y="-85725"/>
              <a:ext cx="22058998" cy="2113128"/>
            </a:xfrm>
            <a:prstGeom prst="rect">
              <a:avLst/>
            </a:prstGeom>
          </p:spPr>
          <p:txBody>
            <a:bodyPr anchor="b" rtlCol="false" tIns="0" lIns="0" bIns="0" rIns="0"/>
            <a:lstStyle/>
            <a:p>
              <a:pPr algn="l">
                <a:lnSpc>
                  <a:spcPts val="5040"/>
                </a:lnSpc>
              </a:pPr>
              <a:r>
                <a:rPr lang="en-US" sz="4200">
                  <a:solidFill>
                    <a:srgbClr val="FFFFFF"/>
                  </a:solidFill>
                  <a:latin typeface="Gill Sans Light"/>
                  <a:ea typeface="Gill Sans Light"/>
                  <a:cs typeface="Gill Sans Light"/>
                  <a:sym typeface="Gill Sans Light"/>
                </a:rPr>
                <a:t>RECOMENDACIONES</a:t>
              </a:r>
            </a:p>
          </p:txBody>
        </p:sp>
      </p:grpSp>
      <p:grpSp>
        <p:nvGrpSpPr>
          <p:cNvPr name="Group 13" id="13"/>
          <p:cNvGrpSpPr/>
          <p:nvPr/>
        </p:nvGrpSpPr>
        <p:grpSpPr>
          <a:xfrm rot="0">
            <a:off x="871804" y="3037989"/>
            <a:ext cx="12751203" cy="6436804"/>
            <a:chOff x="0" y="0"/>
            <a:chExt cx="17001604" cy="8582406"/>
          </a:xfrm>
        </p:grpSpPr>
        <p:sp>
          <p:nvSpPr>
            <p:cNvPr name="Freeform 14" id="14"/>
            <p:cNvSpPr/>
            <p:nvPr/>
          </p:nvSpPr>
          <p:spPr>
            <a:xfrm flipH="false" flipV="false" rot="0">
              <a:off x="0" y="0"/>
              <a:ext cx="17001599" cy="8582400"/>
            </a:xfrm>
            <a:custGeom>
              <a:avLst/>
              <a:gdLst/>
              <a:ahLst/>
              <a:cxnLst/>
              <a:rect r="r" b="b" t="t" l="l"/>
              <a:pathLst>
                <a:path h="8582400" w="17001599">
                  <a:moveTo>
                    <a:pt x="0" y="0"/>
                  </a:moveTo>
                  <a:lnTo>
                    <a:pt x="17001599" y="0"/>
                  </a:lnTo>
                  <a:lnTo>
                    <a:pt x="17001599" y="8582400"/>
                  </a:lnTo>
                  <a:lnTo>
                    <a:pt x="0" y="8582400"/>
                  </a:lnTo>
                  <a:close/>
                </a:path>
              </a:pathLst>
            </a:custGeom>
            <a:blipFill>
              <a:blip r:embed="rId2">
                <a:alphaModFix amt="0"/>
              </a:blip>
              <a:stretch>
                <a:fillRect l="-14767" t="0" r="-14767" b="0"/>
              </a:stretch>
            </a:blipFill>
          </p:spPr>
          <p:txBody>
            <a:bodyPr/>
            <a:p/>
          </p:txBody>
        </p:sp>
        <p:sp>
          <p:nvSpPr>
            <p:cNvPr name="TextBox 15" id="15"/>
            <p:cNvSpPr txBox="true"/>
            <p:nvPr/>
          </p:nvSpPr>
          <p:spPr>
            <a:xfrm>
              <a:off x="0" y="-28575"/>
              <a:ext cx="17001604" cy="8610981"/>
            </a:xfrm>
            <a:prstGeom prst="rect">
              <a:avLst/>
            </a:prstGeom>
          </p:spPr>
          <p:txBody>
            <a:bodyPr anchor="ctr" rtlCol="false" tIns="0" lIns="0" bIns="0" rIns="0"/>
            <a:lstStyle/>
            <a:p>
              <a:pPr algn="just">
                <a:lnSpc>
                  <a:spcPts val="3659"/>
                </a:lnSpc>
              </a:pPr>
              <a:r>
                <a:rPr lang="en-US" sz="2850">
                  <a:solidFill>
                    <a:srgbClr val="3D3D3D"/>
                  </a:solidFill>
                  <a:latin typeface="Cambria"/>
                  <a:ea typeface="Cambria"/>
                  <a:cs typeface="Cambria"/>
                  <a:sym typeface="Cambria"/>
                </a:rPr>
                <a:t>Integrar una base de datos (BDD) formal para reemplazar el manejo de credenciales en memoria y permitir el almacenamiento histórico de las conversiones de manera persistente y escalable.</a:t>
              </a:r>
            </a:p>
            <a:p>
              <a:pPr algn="just">
                <a:lnSpc>
                  <a:spcPts val="3659"/>
                </a:lnSpc>
              </a:pPr>
            </a:p>
            <a:p>
              <a:pPr algn="just">
                <a:lnSpc>
                  <a:spcPts val="3659"/>
                </a:lnSpc>
              </a:pPr>
              <a:r>
                <a:rPr lang="en-US" sz="2850">
                  <a:solidFill>
                    <a:srgbClr val="3D3D3D"/>
                  </a:solidFill>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a:t>
              </a:r>
            </a:p>
            <a:p>
              <a:pPr algn="just">
                <a:lnSpc>
                  <a:spcPts val="3659"/>
                </a:lnSpc>
              </a:pPr>
              <a:r>
                <a:rPr lang="en-US" sz="2850">
                  <a:solidFill>
                    <a:srgbClr val="3D3D3D"/>
                  </a:solidFill>
                  <a:latin typeface="Cambria"/>
                  <a:ea typeface="Cambria"/>
                  <a:cs typeface="Cambria"/>
                  <a:sym typeface="Cambria"/>
                </a:rPr>
                <a:t> </a:t>
              </a:r>
            </a:p>
            <a:p>
              <a:pPr algn="just">
                <a:lnSpc>
                  <a:spcPts val="3659"/>
                </a:lnSpc>
              </a:pPr>
              <a:r>
                <a:rPr lang="en-US" sz="2850">
                  <a:solidFill>
                    <a:srgbClr val="3D3D3D"/>
                  </a:solidFill>
                  <a:latin typeface="Cambria"/>
                  <a:ea typeface="Cambria"/>
                  <a:cs typeface="Cambria"/>
                  <a:sym typeface="Cambria"/>
                </a:rPr>
                <a:t>Agregar nuevas categorías (volumen, tiempo y área) implementando la interfaz Conversor, e incorporar pruebas y análisis estático automatizados para asegurar que las nuevas funcionalidades no rompan la compatibilidad con el contrato JSON expuesto.</a:t>
              </a:r>
            </a:p>
          </p:txBody>
        </p:sp>
      </p:grpSp>
      <p:grpSp>
        <p:nvGrpSpPr>
          <p:cNvPr name="Group 16" id="16"/>
          <p:cNvGrpSpPr/>
          <p:nvPr/>
        </p:nvGrpSpPr>
        <p:grpSpPr>
          <a:xfrm rot="0">
            <a:off x="14058881" y="-16669"/>
            <a:ext cx="4245788" cy="10320338"/>
            <a:chOff x="0" y="0"/>
            <a:chExt cx="5661050" cy="13760450"/>
          </a:xfrm>
        </p:grpSpPr>
        <p:sp>
          <p:nvSpPr>
            <p:cNvPr name="Freeform 17" id="17"/>
            <p:cNvSpPr/>
            <p:nvPr/>
          </p:nvSpPr>
          <p:spPr>
            <a:xfrm flipH="false" flipV="false" rot="0">
              <a:off x="0" y="0"/>
              <a:ext cx="5661025" cy="13760450"/>
            </a:xfrm>
            <a:custGeom>
              <a:avLst/>
              <a:gdLst/>
              <a:ahLst/>
              <a:cxnLst/>
              <a:rect r="r" b="b" t="t" l="l"/>
              <a:pathLst>
                <a:path h="13760450" w="5661025">
                  <a:moveTo>
                    <a:pt x="0" y="0"/>
                  </a:moveTo>
                  <a:lnTo>
                    <a:pt x="5661025" y="0"/>
                  </a:lnTo>
                  <a:lnTo>
                    <a:pt x="5661025" y="13760450"/>
                  </a:lnTo>
                  <a:lnTo>
                    <a:pt x="0" y="13760450"/>
                  </a:lnTo>
                  <a:close/>
                </a:path>
              </a:pathLst>
            </a:custGeom>
            <a:solidFill>
              <a:srgbClr val="1A3260"/>
            </a:solidFill>
            <a:ln w="33338" cap="sq">
              <a:solidFill>
                <a:srgbClr val="122446"/>
              </a:solidFill>
              <a:prstDash val="solid"/>
              <a:miter/>
            </a:ln>
          </p:spPr>
          <p:txBody>
            <a:bodyPr/>
            <a:p/>
          </p:txBody>
        </p:sp>
        <p:sp>
          <p:nvSpPr>
            <p:cNvPr name="TextBox 18" id="18"/>
            <p:cNvSpPr txBox="true"/>
            <p:nvPr/>
          </p:nvSpPr>
          <p:spPr>
            <a:xfrm>
              <a:off x="0" y="-38100"/>
              <a:ext cx="5661050" cy="13798550"/>
            </a:xfrm>
            <a:prstGeom prst="rect">
              <a:avLst/>
            </a:prstGeom>
          </p:spPr>
          <p:txBody>
            <a:bodyPr anchor="ctr" rtlCol="false" tIns="50800" lIns="50800" bIns="50800" rIns="50800"/>
            <a:lstStyle/>
            <a:p>
              <a:pPr algn="l">
                <a:lnSpc>
                  <a:spcPts val="2160"/>
                </a:lnSpc>
              </a:pP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DESARROLLO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OBJETIVO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SERVIDOR REST</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CONSOLA</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ESCRITORIO</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WEB</a:t>
              </a:r>
            </a:p>
            <a:p>
              <a:pPr algn="l" marL="1011555" indent="-337185" lvl="2">
                <a:lnSpc>
                  <a:spcPts val="2160"/>
                </a:lnSpc>
                <a:buFont typeface="Arial"/>
                <a:buChar char="⚬"/>
              </a:pPr>
              <a:r>
                <a:rPr lang="en-US" b="true" sz="1800">
                  <a:solidFill>
                    <a:srgbClr val="FFFFFF"/>
                  </a:solidFill>
                  <a:latin typeface="Gill Sans Bold"/>
                  <a:ea typeface="Gill Sans Bold"/>
                  <a:cs typeface="Gill Sans Bold"/>
                  <a:sym typeface="Gill Sans Bold"/>
                </a:rPr>
                <a:t>CREACIÓN DEL PROYECTO – CLIENTE MOVIL</a:t>
              </a:r>
            </a:p>
            <a:p>
              <a:pPr algn="l" marL="325755" indent="-162878" lvl="1">
                <a:lnSpc>
                  <a:spcPts val="2160"/>
                </a:lnSpc>
                <a:buFont typeface="Arial"/>
                <a:buChar char="•"/>
              </a:pPr>
              <a:r>
                <a:rPr lang="en-US" b="true" sz="1800">
                  <a:solidFill>
                    <a:srgbClr val="FFFFFF"/>
                  </a:solidFill>
                  <a:latin typeface="Gill Sans Bold"/>
                  <a:ea typeface="Gill Sans Bold"/>
                  <a:cs typeface="Gill Sans Bold"/>
                  <a:sym typeface="Gill Sans Bold"/>
                </a:rPr>
                <a:t>CONCLUSIONES</a:t>
              </a:r>
            </a:p>
            <a:p>
              <a:pPr algn="l" marL="325755" indent="-162878" lvl="1">
                <a:lnSpc>
                  <a:spcPts val="2160"/>
                </a:lnSpc>
                <a:buFont typeface="Arial"/>
                <a:buChar char="•"/>
              </a:pPr>
              <a:r>
                <a:rPr lang="en-US" b="true" sz="1800">
                  <a:solidFill>
                    <a:srgbClr val="FFFF00"/>
                  </a:solidFill>
                  <a:latin typeface="Gill Sans Bold"/>
                  <a:ea typeface="Gill Sans Bold"/>
                  <a:cs typeface="Gill Sans Bold"/>
                  <a:sym typeface="Gill Sans Bold"/>
                </a:rPr>
                <a:t>RECOMENDACIONES</a:t>
              </a:r>
            </a:p>
            <a:p>
              <a:pPr algn="l" marL="325755" indent="-162878" lvl="1">
                <a:lnSpc>
                  <a:spcPts val="21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DAHZOI_Z0lU</dc:identifier>
  <dcterms:modified xsi:type="dcterms:W3CDTF">2011-08-01T06:04:30Z</dcterms:modified>
  <cp:revision>1</cp:revision>
  <dc:title>INTEGRANTES: MIRANDA ALISON MORÁN LENIN VIVANCO GABRIEL</dc:title>
</cp:coreProperties>
</file>