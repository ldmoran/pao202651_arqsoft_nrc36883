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</p:sldIdLst>
  <p:sldSz cx="18288000" cy="10287000"/>
  <p:notesSz cx="6858000" cy="9144000"/>
  <p:embeddedFontLst>
    <p:embeddedFont>
      <p:font typeface="Gill Sans Light" charset="1" panose="020B0302020104020203"/>
      <p:regular r:id="rId92"/>
    </p:embeddedFont>
    <p:embeddedFont>
      <p:font typeface="Gill Sans Bold" charset="1" panose="020B0802020104020203"/>
      <p:regular r:id="rId93"/>
    </p:embeddedFont>
    <p:embeddedFont>
      <p:font typeface="Cambria Bold" charset="1" panose="02040803050406030204"/>
      <p:regular r:id="rId94"/>
    </p:embeddedFont>
    <p:embeddedFont>
      <p:font typeface="Cambria" charset="1" panose="02040503050406030204"/>
      <p:regular r:id="rId95"/>
    </p:embeddedFont>
    <p:embeddedFont>
      <p:font typeface="Calibri (MS)" charset="1" panose="020F0502020204030204"/>
      <p:regular r:id="rId9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font" Target="fonts/font92.fntdata"/><Relationship Id="rId93" Type="http://schemas.openxmlformats.org/officeDocument/2006/relationships/font" Target="fonts/font93.fntdata"/><Relationship Id="rId94" Type="http://schemas.openxmlformats.org/officeDocument/2006/relationships/font" Target="fonts/font94.fntdata"/><Relationship Id="rId95" Type="http://schemas.openxmlformats.org/officeDocument/2006/relationships/font" Target="fonts/font95.fntdata"/><Relationship Id="rId96" Type="http://schemas.openxmlformats.org/officeDocument/2006/relationships/font" Target="fonts/font9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3.jpe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9798" y="4628645"/>
            <a:ext cx="16894302" cy="4957201"/>
            <a:chOff x="0" y="0"/>
            <a:chExt cx="22525736" cy="66096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25737" cy="6609588"/>
            </a:xfrm>
            <a:custGeom>
              <a:avLst/>
              <a:gdLst/>
              <a:ahLst/>
              <a:cxnLst/>
              <a:rect r="r" b="b" t="t" l="l"/>
              <a:pathLst>
                <a:path h="6609588" w="22525737">
                  <a:moveTo>
                    <a:pt x="0" y="0"/>
                  </a:moveTo>
                  <a:lnTo>
                    <a:pt x="22525737" y="0"/>
                  </a:lnTo>
                  <a:lnTo>
                    <a:pt x="22525737" y="6609588"/>
                  </a:lnTo>
                  <a:lnTo>
                    <a:pt x="0" y="6609588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8836" y="4737849"/>
            <a:ext cx="16490328" cy="2367610"/>
            <a:chOff x="0" y="0"/>
            <a:chExt cx="21987104" cy="31568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87098" cy="3156818"/>
            </a:xfrm>
            <a:custGeom>
              <a:avLst/>
              <a:gdLst/>
              <a:ahLst/>
              <a:cxnLst/>
              <a:rect r="r" b="b" t="t" l="l"/>
              <a:pathLst>
                <a:path h="3156818" w="21987098">
                  <a:moveTo>
                    <a:pt x="0" y="0"/>
                  </a:moveTo>
                  <a:lnTo>
                    <a:pt x="21987098" y="0"/>
                  </a:lnTo>
                  <a:lnTo>
                    <a:pt x="21987098" y="3156818"/>
                  </a:lnTo>
                  <a:lnTo>
                    <a:pt x="0" y="31568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712" r="0" b="-857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21987104" cy="326158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MANUAL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CONVERSIÓN UNIDADES SOAP .NET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90267" y="6856076"/>
            <a:ext cx="6209443" cy="2675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INTEGRANTES: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•  MIRANDA ALISON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•  MORÁN LENIN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•  VIVANCO GABRIEL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79393" y="1074449"/>
            <a:ext cx="17471250" cy="3290888"/>
            <a:chOff x="0" y="0"/>
            <a:chExt cx="23295000" cy="4387850"/>
          </a:xfrm>
        </p:grpSpPr>
        <p:sp>
          <p:nvSpPr>
            <p:cNvPr name="Freeform 15" id="15" descr="Resultado de imagen para espe"/>
            <p:cNvSpPr/>
            <p:nvPr/>
          </p:nvSpPr>
          <p:spPr>
            <a:xfrm flipH="false" flipV="false" rot="0">
              <a:off x="0" y="0"/>
              <a:ext cx="23294975" cy="4387850"/>
            </a:xfrm>
            <a:custGeom>
              <a:avLst/>
              <a:gdLst/>
              <a:ahLst/>
              <a:cxnLst/>
              <a:rect r="r" b="b" t="t" l="l"/>
              <a:pathLst>
                <a:path h="4387850" w="23294975">
                  <a:moveTo>
                    <a:pt x="0" y="0"/>
                  </a:moveTo>
                  <a:lnTo>
                    <a:pt x="23294975" y="0"/>
                  </a:lnTo>
                  <a:lnTo>
                    <a:pt x="23294975" y="4387850"/>
                  </a:lnTo>
                  <a:lnTo>
                    <a:pt x="0" y="4387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644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647020" y="7950775"/>
            <a:ext cx="6209443" cy="180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FECHA:  29/10/2026</a:t>
            </a:r>
          </a:p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ING: </a:t>
            </a:r>
            <a:r>
              <a:rPr lang="en-US" sz="2400">
                <a:solidFill>
                  <a:srgbClr val="FFFFFF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CAMPAÑA MAURICIO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817941" y="9690097"/>
            <a:ext cx="378638" cy="575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21610"/>
            <a:ext cx="18288000" cy="9365390"/>
            <a:chOff x="0" y="0"/>
            <a:chExt cx="24384000" cy="124871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2487148"/>
            </a:xfrm>
            <a:custGeom>
              <a:avLst/>
              <a:gdLst/>
              <a:ahLst/>
              <a:cxnLst/>
              <a:rect r="r" b="b" t="t" l="l"/>
              <a:pathLst>
                <a:path h="124871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487148"/>
                  </a:lnTo>
                  <a:lnTo>
                    <a:pt x="0" y="1248714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63569" y="921610"/>
            <a:ext cx="5561219" cy="8417662"/>
            <a:chOff x="0" y="0"/>
            <a:chExt cx="7414958" cy="112235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14895" cy="11223498"/>
            </a:xfrm>
            <a:custGeom>
              <a:avLst/>
              <a:gdLst/>
              <a:ahLst/>
              <a:cxnLst/>
              <a:rect r="r" b="b" t="t" l="l"/>
              <a:pathLst>
                <a:path h="11223498" w="7414895">
                  <a:moveTo>
                    <a:pt x="0" y="0"/>
                  </a:moveTo>
                  <a:lnTo>
                    <a:pt x="7414895" y="0"/>
                  </a:lnTo>
                  <a:lnTo>
                    <a:pt x="7414895" y="11223498"/>
                  </a:lnTo>
                  <a:lnTo>
                    <a:pt x="0" y="11223498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94521" y="1052008"/>
            <a:ext cx="5084588" cy="8136379"/>
            <a:chOff x="0" y="0"/>
            <a:chExt cx="6779451" cy="108485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79452" cy="10848510"/>
            </a:xfrm>
            <a:custGeom>
              <a:avLst/>
              <a:gdLst/>
              <a:ahLst/>
              <a:cxnLst/>
              <a:rect r="r" b="b" t="t" l="l"/>
              <a:pathLst>
                <a:path h="10848510" w="6779452">
                  <a:moveTo>
                    <a:pt x="0" y="0"/>
                  </a:moveTo>
                  <a:lnTo>
                    <a:pt x="6779452" y="0"/>
                  </a:lnTo>
                  <a:lnTo>
                    <a:pt x="6779452" y="10848510"/>
                  </a:lnTo>
                  <a:lnTo>
                    <a:pt x="0" y="1084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5311" t="0" r="-15531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779451" cy="10877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8632" indent="-244316" lvl="1">
                <a:lnSpc>
                  <a:spcPts val="2916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  <a:p>
              <a:pPr algn="l" marL="899309" indent="-29977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OBJETIVO</a:t>
              </a:r>
            </a:p>
            <a:p>
              <a:pPr algn="l" marL="899309" indent="-29977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CREACIÓN DEL SERVIDOR SOAP EN .NET</a:t>
              </a:r>
            </a:p>
            <a:p>
              <a:pPr algn="l" marL="953601" indent="-317867" lvl="2">
                <a:lnSpc>
                  <a:spcPts val="2916"/>
                </a:lnSpc>
                <a:buFont typeface="Arial"/>
                <a:buChar char="⚬"/>
              </a:pPr>
              <a:r>
                <a:rPr lang="en-US" sz="27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CREACIÓN DEL PROYECTO – CLIENTE CONSOLA</a:t>
              </a:r>
            </a:p>
            <a:p>
              <a:pPr algn="l" marL="953601" indent="-317867" lvl="2">
                <a:lnSpc>
                  <a:spcPts val="2916"/>
                </a:lnSpc>
                <a:buFont typeface="Arial"/>
                <a:buChar char="⚬"/>
              </a:pPr>
              <a:r>
                <a:rPr lang="en-US" sz="27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CREACIÓN DEL PROYECTO – CLIENTE ESCRITORIO</a:t>
              </a:r>
            </a:p>
            <a:p>
              <a:pPr algn="l" marL="953601" indent="-317867" lvl="2">
                <a:lnSpc>
                  <a:spcPts val="2916"/>
                </a:lnSpc>
                <a:buFont typeface="Arial"/>
                <a:buChar char="⚬"/>
              </a:pPr>
              <a:r>
                <a:rPr lang="en-US" sz="27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CREACIÓN DEL PROYECTO – CLIENTE WEB</a:t>
              </a:r>
            </a:p>
            <a:p>
              <a:pPr algn="l" marL="953601" indent="-317867" lvl="2">
                <a:lnSpc>
                  <a:spcPts val="2916"/>
                </a:lnSpc>
                <a:buFont typeface="Arial"/>
                <a:buChar char="⚬"/>
              </a:pPr>
              <a:r>
                <a:rPr lang="en-US" sz="27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CREACIÓN DEL PROYECTO – CLIENTE MÓVIL</a:t>
              </a:r>
            </a:p>
            <a:p>
              <a:pPr algn="l" marL="488632" indent="-244316" lvl="1">
                <a:lnSpc>
                  <a:spcPts val="2916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CONCLUSIONES</a:t>
              </a:r>
            </a:p>
            <a:p>
              <a:pPr algn="l" marL="488632" indent="-244316" lvl="1">
                <a:lnSpc>
                  <a:spcPts val="2916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RECOMENDACIONES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7279" y="2903363"/>
            <a:ext cx="9734731" cy="4511211"/>
            <a:chOff x="0" y="0"/>
            <a:chExt cx="12979641" cy="6014949"/>
          </a:xfrm>
        </p:grpSpPr>
        <p:sp>
          <p:nvSpPr>
            <p:cNvPr name="Freeform 18" id="18" descr="Resultado de imagen para AGENDA PNG"/>
            <p:cNvSpPr/>
            <p:nvPr/>
          </p:nvSpPr>
          <p:spPr>
            <a:xfrm flipH="false" flipV="false" rot="0">
              <a:off x="0" y="0"/>
              <a:ext cx="12979654" cy="6014974"/>
            </a:xfrm>
            <a:custGeom>
              <a:avLst/>
              <a:gdLst/>
              <a:ahLst/>
              <a:cxnLst/>
              <a:rect r="r" b="b" t="t" l="l"/>
              <a:pathLst>
                <a:path h="6014974" w="12979654">
                  <a:moveTo>
                    <a:pt x="0" y="0"/>
                  </a:moveTo>
                  <a:lnTo>
                    <a:pt x="12979654" y="0"/>
                  </a:lnTo>
                  <a:lnTo>
                    <a:pt x="12979654" y="6014974"/>
                  </a:lnTo>
                  <a:lnTo>
                    <a:pt x="0" y="601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7817941" y="9690097"/>
            <a:ext cx="378638" cy="575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3270742"/>
            <a:ext cx="12883953" cy="5517452"/>
            <a:chOff x="0" y="0"/>
            <a:chExt cx="17178604" cy="73566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178599" cy="7356600"/>
            </a:xfrm>
            <a:custGeom>
              <a:avLst/>
              <a:gdLst/>
              <a:ahLst/>
              <a:cxnLst/>
              <a:rect r="r" b="b" t="t" l="l"/>
              <a:pathLst>
                <a:path h="7356600" w="17178599">
                  <a:moveTo>
                    <a:pt x="0" y="0"/>
                  </a:moveTo>
                  <a:lnTo>
                    <a:pt x="17178599" y="0"/>
                  </a:lnTo>
                  <a:lnTo>
                    <a:pt x="17178599" y="7356600"/>
                  </a:lnTo>
                  <a:lnTo>
                    <a:pt x="0" y="7356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44" t="0" r="-494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178604" cy="7394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488632" indent="-244316" lvl="1">
                <a:lnSpc>
                  <a:spcPts val="3466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3D3D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1.1	OBJETIVO</a:t>
              </a:r>
            </a:p>
            <a:p>
              <a:pPr algn="just" marL="488632" indent="-244316" lvl="1">
                <a:lnSpc>
                  <a:spcPts val="3466"/>
                </a:lnSpc>
              </a:pPr>
            </a:p>
            <a:p>
              <a:pPr algn="just" marL="673798" indent="-336899" lvl="1">
                <a:lnSpc>
                  <a:spcPts val="3466"/>
                </a:lnSpc>
                <a:buFont typeface="Arial"/>
                <a:buChar char="•"/>
              </a:pPr>
              <a:r>
                <a:rPr lang="en-US" sz="2700">
                  <a:solidFill>
                    <a:srgbClr val="3D3D3D"/>
                  </a:solidFill>
                  <a:latin typeface="Cambria"/>
                  <a:ea typeface="Cambria"/>
                  <a:cs typeface="Cambria"/>
                  <a:sym typeface="Cambria"/>
                </a:rPr>
                <a:t>Desarrollar e implementar un Web Service utilizando SOAP mediante .NET (CoreWCF) para realizar conversiones de unidades de longitud, masa y temperatura, consumido por clientes de consola, escritorio, web y móvil.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MÓVIL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43208" y="5078463"/>
            <a:ext cx="6247077" cy="4589694"/>
          </a:xfrm>
          <a:custGeom>
            <a:avLst/>
            <a:gdLst/>
            <a:ahLst/>
            <a:cxnLst/>
            <a:rect r="r" b="b" t="t" l="l"/>
            <a:pathLst>
              <a:path h="4589694" w="6247077">
                <a:moveTo>
                  <a:pt x="0" y="0"/>
                </a:moveTo>
                <a:lnTo>
                  <a:pt x="6247077" y="0"/>
                </a:lnTo>
                <a:lnTo>
                  <a:pt x="6247077" y="4589694"/>
                </a:lnTo>
                <a:lnTo>
                  <a:pt x="0" y="4589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815" t="0" r="0" b="-30772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008662" y="5078463"/>
            <a:ext cx="6371150" cy="4589694"/>
          </a:xfrm>
          <a:custGeom>
            <a:avLst/>
            <a:gdLst/>
            <a:ahLst/>
            <a:cxnLst/>
            <a:rect r="r" b="b" t="t" l="l"/>
            <a:pathLst>
              <a:path h="4589694" w="6371150">
                <a:moveTo>
                  <a:pt x="0" y="0"/>
                </a:moveTo>
                <a:lnTo>
                  <a:pt x="6371150" y="0"/>
                </a:lnTo>
                <a:lnTo>
                  <a:pt x="6371150" y="4589694"/>
                </a:lnTo>
                <a:lnTo>
                  <a:pt x="0" y="4589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01" t="-3655" r="-38686" b="-7493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60425" y="2667457"/>
            <a:ext cx="12696473" cy="218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3651" indent="-261826" lvl="1">
              <a:lnSpc>
                <a:spcPts val="3715"/>
              </a:lnSpc>
              <a:buFont typeface="Arial"/>
              <a:buChar char="•"/>
            </a:pPr>
            <a:r>
              <a:rPr lang="en-US" b="true" sz="2893">
                <a:solidFill>
                  <a:srgbClr val="3D3D3D"/>
                </a:solidFill>
                <a:latin typeface="Cambria Bold"/>
                <a:ea typeface="Cambria Bold"/>
                <a:cs typeface="Cambria Bold"/>
                <a:sym typeface="Cambria Bold"/>
              </a:rPr>
              <a:t>1.2.1 	Proyecto del servidor</a:t>
            </a:r>
          </a:p>
          <a:p>
            <a:pPr algn="just" marL="488632" indent="-244316" lvl="1">
              <a:lnSpc>
                <a:spcPts val="3466"/>
              </a:lnSpc>
            </a:pPr>
          </a:p>
          <a:p>
            <a:pPr algn="just" marL="488632" indent="-244316" lvl="1">
              <a:lnSpc>
                <a:spcPts val="3466"/>
              </a:lnSpc>
              <a:buFont typeface="Arial"/>
              <a:buChar char="•"/>
            </a:pPr>
            <a:r>
              <a:rPr lang="en-US" sz="27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En Visual Studio se crea un proyecto ASP.NET Core vacío con .NET 8 llamado ‘WS_ConUni_DotNet_GR07’, dentro de una solución del mismo nombre. No lleva base de datos: credenciales, catálogo y tokens viven en memoria.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009537" y="5234197"/>
            <a:ext cx="9733956" cy="4571280"/>
          </a:xfrm>
          <a:custGeom>
            <a:avLst/>
            <a:gdLst/>
            <a:ahLst/>
            <a:cxnLst/>
            <a:rect r="r" b="b" t="t" l="l"/>
            <a:pathLst>
              <a:path h="4571280" w="9733956">
                <a:moveTo>
                  <a:pt x="0" y="0"/>
                </a:moveTo>
                <a:lnTo>
                  <a:pt x="9733956" y="0"/>
                </a:lnTo>
                <a:lnTo>
                  <a:pt x="9733956" y="4571280"/>
                </a:lnTo>
                <a:lnTo>
                  <a:pt x="0" y="4571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10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9245" y="2956541"/>
            <a:ext cx="12696473" cy="218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3466"/>
              </a:lnSpc>
              <a:buFont typeface="Arial"/>
              <a:buChar char="•"/>
            </a:pPr>
            <a:r>
              <a:rPr lang="en-US" sz="27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 instalan los paquetes NuGet CoreWCF.Http y CoreWCF.Primitives (versión 1.9.1), que permiten publicar servicios SOAP con el modelo de WCF sobre ASP.NET Core.</a:t>
            </a:r>
          </a:p>
          <a:p>
            <a:pPr algn="just" marL="488632" indent="-244316" lvl="1">
              <a:lnSpc>
                <a:spcPts val="3466"/>
              </a:lnSpc>
              <a:buFont typeface="Arial"/>
              <a:buChar char="•"/>
            </a:pPr>
            <a:r>
              <a:rPr lang="en-US" sz="27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El espacio de nombres raíz es ec.edu.monster. El proyecto de pruebas (xUnit) hace referencia al proyecto del servidor.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WS_ConUni_DotNet_GR07.csproj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Proyecto del servidor: .NET 8 y paquetes CoreWCF.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2583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&lt;Project Sdk="Microsoft.NET.Sdk.Web"&gt;</a:t>
              </a:r>
            </a:p>
            <a:p>
              <a:pPr algn="l">
                <a:lnSpc>
                  <a:spcPts val="2579"/>
                </a:lnSpc>
              </a:pP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&lt;PropertyGroup&gt;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&lt;TargetFramework&gt;net8.0&lt;/TargetFramework&gt;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&lt;Nullable&gt;enable&lt;/Nullable&gt;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&lt;ImplicitUsings&gt;enable&lt;/ImplicitUsings&gt;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&lt;RootNamespace&gt;ec.edu.monster&lt;/RootNamespace&gt;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&lt;AssemblyName&gt;WS_ConUni_DotNet_GR07&lt;/AssemblyName&gt;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&lt;/PropertyGroup&gt;</a:t>
              </a:r>
            </a:p>
            <a:p>
              <a:pPr algn="l">
                <a:lnSpc>
                  <a:spcPts val="2579"/>
                </a:lnSpc>
              </a:pP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&lt;ItemGroup&gt;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&lt;PackageReference Include="CoreWCF.Http" Version="1.9.1" /&gt;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&lt;PackageReference Include="CoreWCF.Primitives" Version="1.9.1" /&gt;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&lt;/ItemGroup&gt;</a:t>
              </a:r>
            </a:p>
            <a:p>
              <a:pPr algn="l">
                <a:lnSpc>
                  <a:spcPts val="2579"/>
                </a:lnSpc>
              </a:pP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&lt;/Project&gt;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11430" y="2876550"/>
            <a:ext cx="4389139" cy="6724650"/>
            <a:chOff x="0" y="0"/>
            <a:chExt cx="5852185" cy="896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52160" cy="8966200"/>
            </a:xfrm>
            <a:custGeom>
              <a:avLst/>
              <a:gdLst/>
              <a:ahLst/>
              <a:cxnLst/>
              <a:rect r="r" b="b" t="t" l="l"/>
              <a:pathLst>
                <a:path h="89662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966200"/>
                  </a:lnTo>
                  <a:lnTo>
                    <a:pt x="0" y="896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406" r="0" b="-13406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77221" y="2897486"/>
            <a:ext cx="489206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1127" indent="-220563" lvl="1">
              <a:lnSpc>
                <a:spcPts val="3129"/>
              </a:lnSpc>
              <a:buFont typeface="Arial"/>
              <a:buChar char="•"/>
            </a:pPr>
            <a:r>
              <a:rPr lang="en-US" b="true" sz="2437">
                <a:solidFill>
                  <a:srgbClr val="3D3D3D"/>
                </a:solidFill>
                <a:latin typeface="Cambria Bold"/>
                <a:ea typeface="Cambria Bold"/>
                <a:cs typeface="Cambria Bold"/>
                <a:sym typeface="Cambria Bold"/>
              </a:rPr>
              <a:t>ESTRUCTURA</a:t>
            </a:r>
          </a:p>
          <a:p>
            <a:pPr algn="just" marL="352901" indent="-176451" lvl="1">
              <a:lnSpc>
                <a:spcPts val="2503"/>
              </a:lnSpc>
            </a:pPr>
          </a:p>
          <a:p>
            <a:pPr algn="just" marL="352901" indent="-176451" lvl="1">
              <a:lnSpc>
                <a:spcPts val="2503"/>
              </a:lnSpc>
              <a:buFont typeface="Arial"/>
              <a:buChar char="•"/>
            </a:pPr>
            <a:r>
              <a:rPr lang="en-US" sz="195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Las capas se organizan en carpetas: Controladores/WS (servicios SOAP), Controladores/ManejadoresWS, Seguridad, Servicios y Modelos/Utilidades. El patrón separa la exposición del servicio de la lógica de negocio.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1785" y="5234197"/>
            <a:ext cx="13084230" cy="4481349"/>
          </a:xfrm>
          <a:custGeom>
            <a:avLst/>
            <a:gdLst/>
            <a:ahLst/>
            <a:cxnLst/>
            <a:rect r="r" b="b" t="t" l="l"/>
            <a:pathLst>
              <a:path h="4481349" w="13084230">
                <a:moveTo>
                  <a:pt x="0" y="0"/>
                </a:moveTo>
                <a:lnTo>
                  <a:pt x="13084230" y="0"/>
                </a:lnTo>
                <a:lnTo>
                  <a:pt x="13084230" y="4481349"/>
                </a:lnTo>
                <a:lnTo>
                  <a:pt x="0" y="4481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9245" y="2956541"/>
            <a:ext cx="12696473" cy="218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3651" indent="-261826" lvl="1">
              <a:lnSpc>
                <a:spcPts val="3715"/>
              </a:lnSpc>
              <a:buFont typeface="Arial"/>
              <a:buChar char="•"/>
            </a:pPr>
            <a:r>
              <a:rPr lang="en-US" b="true" sz="2893">
                <a:solidFill>
                  <a:srgbClr val="3D3D3D"/>
                </a:solidFill>
                <a:latin typeface="Cambria Bold"/>
                <a:ea typeface="Cambria Bold"/>
                <a:cs typeface="Cambria Bold"/>
                <a:sym typeface="Cambria Bold"/>
              </a:rPr>
              <a:t>1.2.2 	Creación de los servicios web</a:t>
            </a:r>
          </a:p>
          <a:p>
            <a:pPr algn="just" marL="488632" indent="-244316" lvl="1">
              <a:lnSpc>
                <a:spcPts val="3466"/>
              </a:lnSpc>
            </a:pPr>
          </a:p>
          <a:p>
            <a:pPr algn="just" marL="488632" indent="-244316" lvl="1">
              <a:lnSpc>
                <a:spcPts val="3466"/>
              </a:lnSpc>
              <a:buFont typeface="Arial"/>
              <a:buChar char="•"/>
            </a:pPr>
            <a:r>
              <a:rPr lang="en-US" sz="27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Cada servicio SOAP se declara con una interfaz [ServiceContract] y una clase que la implementa. El espacio de nombres http://WebServices.monster.edu.ec/ se fija en el contrato para que el WSDL y los clientes no dependan de las carpetas.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WSLogin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Servicio de inicio de sesión (CU-01). Solo recibe el pedido y se lo pasa al manejador.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2583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CoreWCF;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ec.edu.monster.Controladores.ManejadoresWS;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ec.edu.monster.Controladores.WS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[ServiceContract(Name = "WSLogin", Namespace = Contrato.Namespace)]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interface IWSLogin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[OperationContract(Name = "login")]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RespuestaServicio Login(string usuario, string clave);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WSLogin : IWSLogin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readonly ManejadorLogin manejador = new();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RespuestaServicio Login(string usuario, string clave) =&gt;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manejador.Login(usuario, clave);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static class Contrato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const string Namespace = "http://WebServices.monster.edu.ec/";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WSCatalogo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Servicio del catálogo (CU-02 y CU-03): categorías y unidades de cada categoría.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144298"/>
            <a:chOff x="0" y="0"/>
            <a:chExt cx="12268200" cy="95257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525731"/>
            </a:xfrm>
            <a:custGeom>
              <a:avLst/>
              <a:gdLst/>
              <a:ahLst/>
              <a:cxnLst/>
              <a:rect r="r" b="b" t="t" l="l"/>
              <a:pathLst>
                <a:path h="9525731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525731"/>
                  </a:lnTo>
                  <a:lnTo>
                    <a:pt x="0" y="952573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56383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CoreWCF;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ec.edu.monster.Controladores.ManejadoresWS;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ec.edu.monster.Controladores.WS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[ServiceContract(Name = "WSCatalogo", Namespace = Contrato.Namespace)]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interface IWSCatalogo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[OperationContract(Name = "obtenerCategorias")]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RespuestaServicio ObtenerCategorias(string token);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[OperationContract(Name = "obtenerUnidades")]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RespuestaServicio ObtenerUnidades(string token, string categoria);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WSCatalogo : IWSCatalogo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readonly ManejadorCatalogo manejador = new();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RespuestaServicio ObtenerCategorias(string token) =&gt;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manejador.ObtenerCategorias(token);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RespuestaServicio ObtenerUnidades(string token, string categoria) =&gt;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manejador.ObtenerUnidades(token, categoria);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WSLongitud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Servicio de conversión de longitud (CU-04). WSMasa y WSTemperatura son iguales, con su categoría.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268200" cy="92678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CoreWCF;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ec.edu.monster.Controladores.ManejadoresWS;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ec.edu.monster.Modelos.Utilidades;</a:t>
              </a:r>
            </a:p>
            <a:p>
              <a:pPr algn="l">
                <a:lnSpc>
                  <a:spcPts val="2219"/>
                </a:lnSpc>
              </a:pP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ec.edu.monster.Controladores.WS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[ServiceContract(Name = "WSLongitud", Namespace = Contrato.Namespace)]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interface IWSLongitud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[OperationContract(Name = "convertirLongitud")]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RespuestaServicio ConvertirLongitud(double valor, string unidadOrigen, string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unidadDestino, string token);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219"/>
                </a:lnSpc>
              </a:pP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WSLongitud : IWSLongitud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readonly ManejadorConversion manejador = new();</a:t>
              </a:r>
            </a:p>
            <a:p>
              <a:pPr algn="l">
                <a:lnSpc>
                  <a:spcPts val="2219"/>
                </a:lnSpc>
              </a:pP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RespuestaServicio ConvertirLongitud(double valor, string unidadOrigen, string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unidadDestino, string token) =&gt;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manejador.Convertir("Longitud", valor, unidadOrigen, unidadDestino, token);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095429" y="5377767"/>
            <a:ext cx="6407890" cy="4166633"/>
          </a:xfrm>
          <a:custGeom>
            <a:avLst/>
            <a:gdLst/>
            <a:ahLst/>
            <a:cxnLst/>
            <a:rect r="r" b="b" t="t" l="l"/>
            <a:pathLst>
              <a:path h="4166633" w="6407890">
                <a:moveTo>
                  <a:pt x="0" y="0"/>
                </a:moveTo>
                <a:lnTo>
                  <a:pt x="6407891" y="0"/>
                </a:lnTo>
                <a:lnTo>
                  <a:pt x="6407891" y="4166633"/>
                </a:lnTo>
                <a:lnTo>
                  <a:pt x="0" y="4166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51138" y="2757365"/>
            <a:ext cx="12696473" cy="218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3651" indent="-261826" lvl="1">
              <a:lnSpc>
                <a:spcPts val="3715"/>
              </a:lnSpc>
              <a:buFont typeface="Arial"/>
              <a:buChar char="•"/>
            </a:pPr>
            <a:r>
              <a:rPr lang="en-US" b="true" sz="2893">
                <a:solidFill>
                  <a:srgbClr val="3D3D3D"/>
                </a:solidFill>
                <a:latin typeface="Cambria Bold"/>
                <a:ea typeface="Cambria Bold"/>
                <a:cs typeface="Cambria Bold"/>
                <a:sym typeface="Cambria Bold"/>
              </a:rPr>
              <a:t>1.2.3 	Autenticación</a:t>
            </a:r>
          </a:p>
          <a:p>
            <a:pPr algn="just" marL="488632" indent="-244316" lvl="1">
              <a:lnSpc>
                <a:spcPts val="3466"/>
              </a:lnSpc>
            </a:pPr>
          </a:p>
          <a:p>
            <a:pPr algn="just" marL="488632" indent="-244316" lvl="1">
              <a:lnSpc>
                <a:spcPts val="3466"/>
              </a:lnSpc>
              <a:buFont typeface="Arial"/>
              <a:buChar char="•"/>
            </a:pPr>
            <a:r>
              <a:rPr lang="en-US" sz="27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Las clases de la capa Seguridad validan las credenciales y administran los tokens: ServicioAutenticacion (usuario monster, clave monster9) y GestorTokens (GUID con vigencia de 30 minutos). Los manejadores validan siempre el token primero.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GestorTokens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Tokens activos en memoria: generar, validar y detectar expiración (AUTH-001 / AUTH-002).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System.Collections.Concurrent;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System.Globalization;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ec.edu.monster.Modelos.Utilidades.Enums;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ec.edu.monster.Modelos.Utilidades.Mapeadores;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ec.edu.monster.Seguridad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static class GestorTokens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const string VariableVigencia = "CONUNI_TOKEN_MINUTOS";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static readonly ConcurrentDictionary&lt;string, long&gt; Activos = new();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static long VigenciaMs()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valor = Environment.GetEnvironmentVariable(VariableVigencia);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(double.TryParse(valor, NumberStyles.Float, CultureInfo.InvariantCulture, out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minutos) &amp;&amp; minutos &gt; 0)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(long)(minutos * 60_000d);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30L * 60_000L;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static long Ahora() =&gt; DateTimeOffset.UtcNow.ToUnixTimeMilliseconds();</a:t>
              </a:r>
            </a:p>
            <a:p>
              <a:pPr algn="l">
                <a:lnSpc>
                  <a:spcPts val="197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GestorTokens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Tokens activos en memoria: generar, validar y detectar expiración (AUTH-001 / AUTH-002).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387353"/>
            <a:chOff x="0" y="0"/>
            <a:chExt cx="12268200" cy="98498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849804"/>
            </a:xfrm>
            <a:custGeom>
              <a:avLst/>
              <a:gdLst/>
              <a:ahLst/>
              <a:cxnLst/>
              <a:rect r="r" b="b" t="t" l="l"/>
              <a:pathLst>
                <a:path h="9849804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849804"/>
                  </a:lnTo>
                  <a:lnTo>
                    <a:pt x="0" y="984980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268200" cy="989742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string GenerarToken()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token = Guid.NewGuid().ToString();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Activos[token] = Ahora() + VigenciaMs();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token;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219"/>
                </a:lnSpc>
              </a:pP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CodigoResultado? Validar(string? token)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(string.IsNullOrWhiteSpace(token))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CodigoResultado.TokenInvalido;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clave = token.Trim();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(!Activos.TryGetValue(clave, out var expira))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CodigoResultado.TokenInvalido;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(Ahora() &gt; expira)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Activos.TryRemove(clave, out _);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CodigoResultado.SesionExpirada;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null;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21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GestorTokens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Tokens activos en memoria: generar, validar y detectar expiración (AUTH-001 / AUTH-002).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3 de 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2583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RespuestaServicio? Verificar(string? token)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codigo = Validar(token);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(codigo is null)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null;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codigo == CodigoResultado.SesionExpirada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? RespuestaMapeador.Error(codigo.Value, "Sesión expirada")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: RespuestaMapeador.Error(codigo.Value, "Token inválido");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579"/>
                </a:lnSpc>
              </a:pPr>
              <a:r>
                <a:rPr lang="en-US" sz="21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ServicioAutenticacion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Autentica contra las credenciales de la aplicación y entrega el token.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144298"/>
            <a:chOff x="0" y="0"/>
            <a:chExt cx="12268200" cy="95257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525731"/>
            </a:xfrm>
            <a:custGeom>
              <a:avLst/>
              <a:gdLst/>
              <a:ahLst/>
              <a:cxnLst/>
              <a:rect r="r" b="b" t="t" l="l"/>
              <a:pathLst>
                <a:path h="9525731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525731"/>
                  </a:lnTo>
                  <a:lnTo>
                    <a:pt x="0" y="952573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56383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ec.edu.monster.Modelos.Utilidades.Enums;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ec.edu.monster.Modelos.Utilidades.Mapeadores;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ec.edu.monster.Seguridad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static class ServicioAutenticacion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const string Usuario = "monster";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const string Clave = "monster9";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RespuestaServicio Autenticar(string? usuario, string? clave)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(string.IsNullOrWhiteSpace(usuario) || string.IsNullOrWhiteSpace(clave))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RespuestaMapeador.Error(CodigoResultado.DatosInconsistentes, "Usuario y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clave son obligatorios");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(Usuario == usuario.Trim() &amp;&amp; Clave == clave)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RespuestaMapeador.ExitoLogin(GestorTokens.GenerarToken());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RespuestaMapeador.Error(CodigoResultado.CredencialesIncorrectas, "Usuario o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clave incorrectos");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ManejadorLogin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Manejador del login: arma la respuesta estructurada.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530563"/>
            <a:chOff x="0" y="0"/>
            <a:chExt cx="12268200" cy="100407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10040751"/>
            </a:xfrm>
            <a:custGeom>
              <a:avLst/>
              <a:gdLst/>
              <a:ahLst/>
              <a:cxnLst/>
              <a:rect r="r" b="b" t="t" l="l"/>
              <a:pathLst>
                <a:path h="10040751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10040751"/>
                  </a:lnTo>
                  <a:lnTo>
                    <a:pt x="0" y="1004075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100788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ec.edu.monster.Modelos.Utilidades.Enums;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ec.edu.monster.Modelos.Utilidades.Mapeadores;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ec.edu.monster.Seguridad;</a:t>
              </a:r>
            </a:p>
            <a:p>
              <a:pPr algn="l">
                <a:lnSpc>
                  <a:spcPts val="2459"/>
                </a:lnSpc>
              </a:pP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ec.edu.monster.Controladores.ManejadoresWS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ManejadorLogin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RespuestaServicio Login(string? usuario, string? clave)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try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ServicioAutenticacion.Autenticar(usuario, clave);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catch (Exception)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RespuestaMapeador.Error(CodigoResultado.ErrorServidor, "Error interno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del servicio");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ManejadorCatalogo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Manejador del catálogo: valida el token y devuelve categorías y unidades.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ec.edu.monster.Modelos.Utilidades.Enums;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ec.edu.monster.Modelos.Utilidades.Mapeadores;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ec.edu.monster.Seguridad;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ec.edu.monster.Servicios;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ec.edu.monster.Controladores.ManejadoresWS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ManejadorCatalogo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RespuestaServicio ObtenerCategorias(string? token)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errorToken = GestorTokens.Verificar(token);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(errorToken is not null)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errorToken;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RespuestaMapeador.ExitoLista(CatalogoUnidades.Categorias());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RespuestaServicio ObtenerUnidades(string? token, string? categoria)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errorToken = GestorTokens.Verificar(token);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(errorToken is not null)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errorToken;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ManejadorCatalogo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Manejador del catálogo: valida el token y devuelve categorías y unidades.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16584" y="5143500"/>
            <a:ext cx="12297435" cy="3558972"/>
            <a:chOff x="0" y="0"/>
            <a:chExt cx="16396580" cy="4745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396581" cy="4745296"/>
            </a:xfrm>
            <a:custGeom>
              <a:avLst/>
              <a:gdLst/>
              <a:ahLst/>
              <a:cxnLst/>
              <a:rect r="r" b="b" t="t" l="l"/>
              <a:pathLst>
                <a:path h="4745296" w="16396581">
                  <a:moveTo>
                    <a:pt x="0" y="0"/>
                  </a:moveTo>
                  <a:lnTo>
                    <a:pt x="16396581" y="0"/>
                  </a:lnTo>
                  <a:lnTo>
                    <a:pt x="16396581" y="4745296"/>
                  </a:lnTo>
                  <a:lnTo>
                    <a:pt x="0" y="47452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6396580" cy="479292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conversor = CatalogoUnidades.BuscarCategoria(categoria);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(conversor is null)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RespuestaMapeador.Error(CodigoResultado.DatosInconsistentes, "Categoría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no soportada");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RespuestaMapeador.ExitoLista(conversor.Unidades);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ManejadorConversion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Manejador de conversiones: valida token, categoría, unidades y llama a la llamada de cálculo.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2583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System.Globalization;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ec.edu.monster.Modelos.Utilidades.Enums;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ec.edu.monster.Modelos.Utilidades.Mapeadores;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ec.edu.monster.Seguridad;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ec.edu.monster.Servicios;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ec.edu.monster.Controladores.ManejadoresWS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ManejadorConversion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RespuestaServicio Convertir(string categoria, double valor,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string? unidadOrigen, string? unidadDestino, string? token)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try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// CU-05: validar token (CU-08 / CU-09 si falla)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errorToken = GestorTokens.Verificar(token);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if (errorToken is not null)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return errorToken;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// CU-06: validar datos (CU-10 / CU-11 si falla)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conversor = CatalogoUnidades.BuscarCategoria(categoria);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if (conversor is null)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return RespuestaMapeador.Error(CodigoResultado.DatosInconsistentes,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"Categoría no soportada");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ManejadorConversion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Manejador de conversiones: valida token, categoría, unidades y llama a la llamada de cálculo.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277314"/>
            <a:chOff x="0" y="0"/>
            <a:chExt cx="12268200" cy="97030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703085"/>
            </a:xfrm>
            <a:custGeom>
              <a:avLst/>
              <a:gdLst/>
              <a:ahLst/>
              <a:cxnLst/>
              <a:rect r="r" b="b" t="t" l="l"/>
              <a:pathLst>
                <a:path h="9703085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703085"/>
                  </a:lnTo>
                  <a:lnTo>
                    <a:pt x="0" y="97030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74118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if (double.IsNaN(valor) || double.IsInfinity(valor))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return RespuestaMapeador.Error(CodigoResultado.DatosInconsistentes, "El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valor debe ser numérico");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if (string.IsNullOrWhiteSpace(unidadOrigen) ||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string.IsNullOrWhiteSpace(unidadDestino))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return RespuestaMapeador.Error(CodigoResultado.DatosInconsistentes,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"Las unidades de origen y destino son obligatorias");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origen = Texto.Normalizar(unidadOrigen)!;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destino = Texto.Normalizar(unidadDestino)!;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catOrigen = CatalogoUnidades.CategoriaDeUnidad(origen);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if (catOrigen is null)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return RespuestaMapeador.Error(CodigoResultado.UnidadNoSoportada, "Unidad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de origen no soportada");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catDestino = CatalogoUnidades.CategoriaDeUnidad(destino);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if (catDestino is null)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return RespuestaMapeador.Error(CodigoResultado.UnidadNoSoportada, "Unidad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de destino no soportada");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if (!ReferenceEquals(catOrigen, conversor) || !ReferenceEquals(catDestino,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conversor))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return RespuestaMapeador.Error(CodigoResultado.DatosInconsistentes,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"Las unidades no pertenecen a la categoría " + conversor.Categoria);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ManejadorConversion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Manejador de conversiones: valida token, categoría, unidades y llama a la llamada de cálculo.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3 de 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268200" cy="92678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// Calculo y CU-07: respuesta estructurada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resultado = Redondear(conversor.Convertir(valor, origen, destino));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RespuestaMapeador.ExitoConversion(resultado, origen, destino);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catch (Exception)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RespuestaMapeador.Error(CodigoResultado.ErrorServidor, "Error interno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del servicio");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219"/>
                </a:lnSpc>
              </a:pP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double Redondear(double v)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(v == 0.0)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0.0;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double.Parse(v.ToString("G12", CultureInfo.InvariantCulture),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CultureInfo.InvariantCulture);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CodigoResultado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Códigos de resultado de la respuesta (OK-200, AUTH-001, UNIT-001...).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144298"/>
            <a:chOff x="0" y="0"/>
            <a:chExt cx="12268200" cy="95257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525731"/>
            </a:xfrm>
            <a:custGeom>
              <a:avLst/>
              <a:gdLst/>
              <a:ahLst/>
              <a:cxnLst/>
              <a:rect r="r" b="b" t="t" l="l"/>
              <a:pathLst>
                <a:path h="9525731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525731"/>
                  </a:lnTo>
                  <a:lnTo>
                    <a:pt x="0" y="952573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56383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ec.edu.monster.Modelos.Utilidades.Enums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enum CodigoResultado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Ok200,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TokenInvalido,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SesionExpirada,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CredencialesIncorrectas,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UnidadNoSoportada,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DatosInconsistentes,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ErrorServidor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static class CodigoResultadoExtensiones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string Texto(this CodigoResultado codigo) =&gt; codigo switch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CodigoResultado.Ok200 =&gt; "OK-200",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CodigoResultado.TokenInvalido =&gt; "AUTH-001",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CodigoResultado.SesionExpirada =&gt; "AUTH-002",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CodigoResultado.CredencialesIncorrectas =&gt; "AUTH-003",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CodigoResultado.UnidadNoSoportada =&gt; "UNIT-001",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CodigoResultado.DatosInconsistentes =&gt; "DATA-001",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_ =&gt; "SRV-500"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RespuestaServicio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Respuesta estructurada que devuelven todas las operaciones (CU-07).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377494"/>
            <a:chOff x="0" y="0"/>
            <a:chExt cx="12268200" cy="98366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836658"/>
            </a:xfrm>
            <a:custGeom>
              <a:avLst/>
              <a:gdLst/>
              <a:ahLst/>
              <a:cxnLst/>
              <a:rect r="r" b="b" t="t" l="l"/>
              <a:pathLst>
                <a:path h="9836658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836658"/>
                  </a:lnTo>
                  <a:lnTo>
                    <a:pt x="0" y="983665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86523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System.Runtime.Serialization;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ec.edu.monster.Modelos.Utilidades.Enums;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ec.edu.monster.Modelos.Utilidades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[DataContract(Name = "respuestaServicio", Namespace = "http://WebServices.monster.edu.ec/")]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RespuestaServicio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[DataMember(Name = "estado", Order = 1)]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string? Estado { get; set; }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[DataMember(Name = "codigo", Order = 2)]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string? Codigo { get; set; }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[DataMember(Name = "mensaje", Order = 3)]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string? Mensaje { get; set; }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[DataMember(Name = "resultado", Order = 4, EmitDefaultValue = false)]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double? Resultado { get; set; }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[DataMember(Name = "unidadOrigen", Order = 5, EmitDefaultValue = false)]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string? UnidadOrigen { get; set; }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[DataMember(Name = "unidadDestino", Order = 6, EmitDefaultValue = false)]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string? UnidadDestino { get; set; }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[DataMember(Name = "token", Order = 7, EmitDefaultValue = false)]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string? Token { get; set; }</a:t>
              </a:r>
            </a:p>
            <a:p>
              <a:pPr algn="l">
                <a:lnSpc>
                  <a:spcPts val="1979"/>
                </a:lnSpc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87961"/>
            <a:ext cx="5447557" cy="142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98143" indent="-199072" lvl="1">
              <a:lnSpc>
                <a:spcPts val="2824"/>
              </a:lnSpc>
              <a:buFont typeface="Arial"/>
              <a:buChar char="•"/>
            </a:pPr>
            <a:r>
              <a:rPr lang="en-US" sz="2199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RespuestaServicio</a:t>
            </a:r>
          </a:p>
          <a:p>
            <a:pPr algn="just" marL="398143" indent="-199072" lvl="1">
              <a:lnSpc>
                <a:spcPts val="2824"/>
              </a:lnSpc>
              <a:buFont typeface="Arial"/>
              <a:buChar char="•"/>
            </a:pPr>
            <a:r>
              <a:rPr lang="en-US" sz="2199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Respuesta estructurada que devuelven todas las operaciones (CU-07).</a:t>
            </a:r>
          </a:p>
          <a:p>
            <a:pPr algn="just" marL="398143" indent="-199072" lvl="1">
              <a:lnSpc>
                <a:spcPts val="2824"/>
              </a:lnSpc>
              <a:buFont typeface="Arial"/>
              <a:buChar char="•"/>
            </a:pPr>
            <a:r>
              <a:rPr lang="en-US" sz="2199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47288" y="5435380"/>
            <a:ext cx="9201150" cy="2315990"/>
            <a:chOff x="0" y="0"/>
            <a:chExt cx="12268200" cy="30879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3087986"/>
            </a:xfrm>
            <a:custGeom>
              <a:avLst/>
              <a:gdLst/>
              <a:ahLst/>
              <a:cxnLst/>
              <a:rect r="r" b="b" t="t" l="l"/>
              <a:pathLst>
                <a:path h="3087986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3087986"/>
                  </a:lnTo>
                  <a:lnTo>
                    <a:pt x="0" y="308798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268200" cy="313561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[DataMember(Name = "datos", Order = 8)]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List&lt;string&gt; Datos { get; set; } = new();</a:t>
              </a:r>
            </a:p>
            <a:p>
              <a:pPr algn="l">
                <a:lnSpc>
                  <a:spcPts val="2339"/>
                </a:lnSpc>
              </a:pP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bool EsExitosa() =&gt; EstadoRespuesta.Ok.Texto() == Estado;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RespuestaMapeador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Único lugar donde se arma la respuesta: éxito y error.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144298"/>
            <a:chOff x="0" y="0"/>
            <a:chExt cx="12268200" cy="95257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525731"/>
            </a:xfrm>
            <a:custGeom>
              <a:avLst/>
              <a:gdLst/>
              <a:ahLst/>
              <a:cxnLst/>
              <a:rect r="r" b="b" t="t" l="l"/>
              <a:pathLst>
                <a:path h="9525731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525731"/>
                  </a:lnTo>
                  <a:lnTo>
                    <a:pt x="0" y="952573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56383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ec.edu.monster.Modelos.Utilidades.Enums;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ec.edu.monster.Modelos.Utilidades.Mapeadores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static class RespuestaMapeador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RespuestaServicio Exito(string mensaje) =&gt; new()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Estado = EstadoRespuesta.Ok.Texto(),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Codigo = CodigoResultado.Ok200.Texto(),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Mensaje = mensaje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RespuestaServicio ExitoLogin(string token)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r = Exito("Autenticación exitosa");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r.Token = token;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r;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RespuestaServicio ExitoLista(IEnumerable&lt;string&gt; datos)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r = Exito("Consulta realizada correctamente");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r.Datos = datos.ToList();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r;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099"/>
                </a:lnSpc>
              </a:pP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RespuestaMapeador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Único lugar donde se arma la respuesta: éxito y error.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12000" y="278320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268200" cy="92678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RespuestaServicio ExitoConversion(double resultado, string unidadOrigen,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string unidadDestino)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r = Exito("Conversión realizada correctamente");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r.Resultado = resultado;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r.UnidadOrigen = unidadOrigen;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r.UnidadDestino = unidadDestino;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r;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219"/>
                </a:lnSpc>
              </a:pP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RespuestaServicio Error(CodigoResultado codigo, string mensaje) =&gt; new()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Estado = EstadoRespuesta.Error.Texto(),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Codigo = codigo.Texto(),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Mensaje = mensaje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};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219"/>
                </a:lnSpc>
              </a:pPr>
              <a:r>
                <a:rPr lang="en-US" sz="18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17520" y="5850588"/>
            <a:ext cx="7680960" cy="3633321"/>
            <a:chOff x="0" y="0"/>
            <a:chExt cx="10241280" cy="48444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4844415"/>
            </a:xfrm>
            <a:custGeom>
              <a:avLst/>
              <a:gdLst/>
              <a:ahLst/>
              <a:cxnLst/>
              <a:rect r="r" b="b" t="t" l="l"/>
              <a:pathLst>
                <a:path h="484441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844415"/>
                  </a:lnTo>
                  <a:lnTo>
                    <a:pt x="0" y="4844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799" t="0" r="-7799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69245" y="2956541"/>
            <a:ext cx="12696473" cy="218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3651" indent="-261826" lvl="1">
              <a:lnSpc>
                <a:spcPts val="3715"/>
              </a:lnSpc>
              <a:buFont typeface="Arial"/>
              <a:buChar char="•"/>
            </a:pPr>
            <a:r>
              <a:rPr lang="en-US" b="true" sz="2893">
                <a:solidFill>
                  <a:srgbClr val="3D3D3D"/>
                </a:solidFill>
                <a:latin typeface="Cambria Bold"/>
                <a:ea typeface="Cambria Bold"/>
                <a:cs typeface="Cambria Bold"/>
                <a:sym typeface="Cambria Bold"/>
              </a:rPr>
              <a:t>1.2.4 	Lógica</a:t>
            </a:r>
          </a:p>
          <a:p>
            <a:pPr algn="just" marL="488632" indent="-244316" lvl="1">
              <a:lnSpc>
                <a:spcPts val="3466"/>
              </a:lnSpc>
            </a:pPr>
          </a:p>
          <a:p>
            <a:pPr algn="just" marL="488632" indent="-244316" lvl="1">
              <a:lnSpc>
                <a:spcPts val="3466"/>
              </a:lnSpc>
              <a:buFont typeface="Arial"/>
              <a:buChar char="•"/>
            </a:pPr>
            <a:r>
              <a:rPr lang="en-US" sz="27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Ahora se completa la lógica: los conversores exponen el cálculo (factores y fórmulas) mediante la interfaz IConversor y el catálogo puede registrar cualquier categoría sin limitarse a una en concreto.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IConversor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Interfaz que implementa cada categoría de conversión.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277314"/>
            <a:chOff x="0" y="0"/>
            <a:chExt cx="12268200" cy="97030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703085"/>
            </a:xfrm>
            <a:custGeom>
              <a:avLst/>
              <a:gdLst/>
              <a:ahLst/>
              <a:cxnLst/>
              <a:rect r="r" b="b" t="t" l="l"/>
              <a:pathLst>
                <a:path h="9703085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703085"/>
                  </a:lnTo>
                  <a:lnTo>
                    <a:pt x="0" y="97030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74118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System.Globalization;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System.Text;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ec.edu.monster.Servicios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interface IConversor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string Categoria { get; }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IReadOnlyList&lt;string&gt; Unidades { get; }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double Convertir(double valor, string origen, string destino);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static class Texto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string? Normalizar(string? texto)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(texto is null)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null;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descompuesto = texto.Trim().Normalize(NormalizationForm.FormD);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sb = new StringBuilder(descompuesto.Length);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foreach (var c in descompuesto)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if (CharUnicodeInfo.GetUnicodeCategory(c) != UnicodeCategory.NonSpacingMark)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sb.Append(c);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5585527" cy="156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4337" indent="-217169" lvl="1">
              <a:lnSpc>
                <a:spcPts val="3081"/>
              </a:lnSpc>
              <a:buFont typeface="Arial"/>
              <a:buChar char="•"/>
            </a:pPr>
            <a:r>
              <a:rPr lang="en-US" sz="2399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IConversor</a:t>
            </a:r>
          </a:p>
          <a:p>
            <a:pPr algn="just" marL="434337" indent="-217169" lvl="1">
              <a:lnSpc>
                <a:spcPts val="3081"/>
              </a:lnSpc>
              <a:buFont typeface="Arial"/>
              <a:buChar char="•"/>
            </a:pPr>
            <a:r>
              <a:rPr lang="en-US" sz="2399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Interfaz que implementa cada categoría de conversión.</a:t>
            </a:r>
          </a:p>
          <a:p>
            <a:pPr algn="just" marL="434337" indent="-217169" lvl="1">
              <a:lnSpc>
                <a:spcPts val="3081"/>
              </a:lnSpc>
              <a:buFont typeface="Arial"/>
              <a:buChar char="•"/>
            </a:pPr>
            <a:r>
              <a:rPr lang="en-US" sz="2399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54026" y="5725091"/>
            <a:ext cx="9201150" cy="1558722"/>
            <a:chOff x="0" y="0"/>
            <a:chExt cx="12268200" cy="2078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2078296"/>
            </a:xfrm>
            <a:custGeom>
              <a:avLst/>
              <a:gdLst/>
              <a:ahLst/>
              <a:cxnLst/>
              <a:rect r="r" b="b" t="t" l="l"/>
              <a:pathLst>
                <a:path h="2078296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2078296"/>
                  </a:lnTo>
                  <a:lnTo>
                    <a:pt x="0" y="20782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268200" cy="212592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sb.ToString().ToLowerInvariant();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699"/>
                </a:lnSpc>
              </a:pPr>
              <a:r>
                <a:rPr lang="en-US" sz="22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ConversorLongitud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Conversor de longitud: factores respecto al metro. ConversorMasa funciona igual (kilogramo).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2583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ec.edu.monster.Servicios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ConversorLongitud : IConversor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static readonly (string Unidad, double Metros)[] Factores =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("centimetros", 0.01),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("metros", 1.0),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("pies", 0.3048),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("yardas", 0.9144),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("millas", 1609.344)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static readonly Dictionary&lt;string, double&gt; Metros =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Factores.ToDictionary(f =&gt; f.Unidad, f =&gt; f.Metros);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string Categoria =&gt; "Longitud";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IReadOnlyList&lt;string&gt; Unidades { get; } = Factores.Select(f =&gt; f.Unidad).ToList();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double Convertir(double valor, string origen, string destino) =&gt;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valor * Metros[origen] / Metros[destino];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ConversorTemperatura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Conversor de temperatura: fórmulas entre Celsius, Fahrenheit, Kelvin, Newton y Réaumur.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277314"/>
            <a:chOff x="0" y="0"/>
            <a:chExt cx="12268200" cy="97030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703085"/>
            </a:xfrm>
            <a:custGeom>
              <a:avLst/>
              <a:gdLst/>
              <a:ahLst/>
              <a:cxnLst/>
              <a:rect r="r" b="b" t="t" l="l"/>
              <a:pathLst>
                <a:path h="9703085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703085"/>
                  </a:lnTo>
                  <a:lnTo>
                    <a:pt x="0" y="97030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74118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ec.edu.monster.Servicios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ConversorTemperatura : IConversor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string Categoria =&gt; "Temperatura";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IReadOnlyList&lt;string&gt; Unidades { get; } =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new List&lt;string&gt; { "celsius", "fahrenheit", "kelvin", "newton", "reaumur" };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double Convertir(double valor, string origen, string destino) =&gt;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DesdeCelsius(ACelsius(valor, origen), destino);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static double ACelsius(double v, string escala) =&gt; escala switch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"fahrenheit" =&gt; (v - 32.0) * 5.0 / 9.0,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"kelvin" =&gt; v - 273.15,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"newton" =&gt; v * 100.0 / 33.0,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"reaumur" =&gt; v * 5.0 / 4.0,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_ =&gt; v // celsius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static double DesdeCelsius(double c, string escala) =&gt; escala switch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"fahrenheit" =&gt; c * 9.0 / 5.0 + 32.0,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"kelvin" =&gt; c + 273.15,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"newton" =&gt; c * 33.0 / 100.0,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"reaumur" =&gt; c * 4.0 / 5.0,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_ =&gt; c // celsius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CatalogoUnidades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Catálogo de categorías y unidades: registra los conversores.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277314"/>
            <a:chOff x="0" y="0"/>
            <a:chExt cx="12268200" cy="97030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703085"/>
            </a:xfrm>
            <a:custGeom>
              <a:avLst/>
              <a:gdLst/>
              <a:ahLst/>
              <a:cxnLst/>
              <a:rect r="r" b="b" t="t" l="l"/>
              <a:pathLst>
                <a:path h="9703085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703085"/>
                  </a:lnTo>
                  <a:lnTo>
                    <a:pt x="0" y="97030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74118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ec.edu.monster.Servicios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static class CatalogoUnidades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static readonly List&lt;IConversor&gt; Conversores = new()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new ConversorLongitud(),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new ConversorMasa(),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new ConversorTemperatura()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void Registrar(IConversor conversor) =&gt; Conversores.Add(conversor);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IReadOnlyList&lt;string&gt; Categorias() =&gt; Conversores.Select(c =&gt;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c.Categoria).ToList();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IConversor? BuscarCategoria(string? nombre)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n = Texto.Normalizar(nombre);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(string.IsNullOrEmpty(n))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null;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Conversores.FirstOrDefault(c =&gt; Texto.Normalizar(c.Categoria) == n);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IConversor? CategoriaDeUnidad(string? unidadNormalizada) =&gt;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unidadNormalizada is null ? null : Conversores.FirstOrDefault(c =&gt;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c.Unidades.Contains(unidadNormalizada));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Program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Arranque del servidor: registra los cinco servicios SOAP y publica el WSDL.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CoreWCF;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CoreWCF.Configuration;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CoreWCF.Description;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ec.edu.monster.Controladores.WS;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// Servidor SOAP "Conversion de Unidades Monster" (GR07) - .NET 8 + CoreWCF.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// Sin base de datos: credenciales, catalogo y tokens viven en memoria.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 builder = WebApplication.CreateBuilder(args);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(string.IsNullOrWhiteSpace(Environment.GetEnvironmentVariable("ASPNETCORE_URLS"))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&amp;&amp; !args.Any(a =&gt; a.StartsWith("--urls", StringComparison.OrdinalIgnoreCase)))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builder.WebHost.UseUrls("http://localhost:5080");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builder.Services.AddServiceModelServices();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builder.Services.AddServiceModelMetadata();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builder.Services.AddSingleton&lt;IServiceBehavior, UseRequestHeadersForMetadataAddressBehavior&gt;();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 app = builder.Build();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app.UseServiceModel(sb =&gt;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sb.AddService&lt;WSLogin&gt;();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sb.AddServiceEndpoint&lt;WSLogin, IWSLogin&gt;(new BasicHttpBinding(), "/WSLogin");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sb.AddService&lt;WSCatalogo&gt;();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sb.AddServiceEndpoint&lt;WSCatalogo, IWSCatalogo&gt;(new BasicHttpBinding(), "/WSCatalogo");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sb.AddService&lt;WSLongitud&gt;();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sb.AddServiceEndpoint&lt;WSLongitud, IWSLongitud&gt;(new BasicHttpBinding(), "/WSLongitud");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sb.AddService&lt;WSMasa&gt;();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sb.AddServiceEndpoint&lt;WSMasa, IWSMasa&gt;(new BasicHttpBinding(), "/WSMasa");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Program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Arranque del servidor: registra los cinco servicios SOAP y publica el WSDL.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sb.AddService&lt;WSTemperatura&gt;();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sb.AddServiceEndpoint&lt;WSTemperatura, IWSTemperatura&gt;(new BasicHttpBinding(),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"/WSTemperatura");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 metadata = app.Services.GetRequiredService&lt;ServiceMetadataBehavior&gt;();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metadata.HttpGetEnabled = true;</a:t>
              </a:r>
            </a:p>
            <a:p>
              <a:pPr algn="l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9245" y="2956541"/>
            <a:ext cx="12696473" cy="218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3651" indent="-261826" lvl="1">
              <a:lnSpc>
                <a:spcPts val="3715"/>
              </a:lnSpc>
              <a:buFont typeface="Arial"/>
              <a:buChar char="•"/>
            </a:pPr>
            <a:r>
              <a:rPr lang="en-US" b="true" sz="2893">
                <a:solidFill>
                  <a:srgbClr val="3D3D3D"/>
                </a:solidFill>
                <a:latin typeface="Cambria Bold"/>
                <a:ea typeface="Cambria Bold"/>
                <a:cs typeface="Cambria Bold"/>
                <a:sym typeface="Cambria Bold"/>
              </a:rPr>
              <a:t>1.2.5 	Ejecución en servidor</a:t>
            </a:r>
          </a:p>
          <a:p>
            <a:pPr algn="just" marL="488632" indent="-244316" lvl="1">
              <a:lnSpc>
                <a:spcPts val="3466"/>
              </a:lnSpc>
            </a:pPr>
          </a:p>
          <a:p>
            <a:pPr algn="just" marL="488632" indent="-244316" lvl="1">
              <a:lnSpc>
                <a:spcPts val="3466"/>
              </a:lnSpc>
              <a:buFont typeface="Arial"/>
              <a:buChar char="•"/>
            </a:pPr>
            <a:r>
              <a:rPr lang="en-US" sz="27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 ejecuta con dotnet run (Kestrel escucha en http://localhost:5080) y se comprueba el WSDL en http://localhost:5080/WSLogin?wsdl. Incluye 21 pruebas automáticas, entre ellas una prueba SOAP real de extremo a extremo.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19587" y="5234197"/>
            <a:ext cx="10795788" cy="4691254"/>
            <a:chOff x="0" y="0"/>
            <a:chExt cx="10241280" cy="4450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4450334"/>
            </a:xfrm>
            <a:custGeom>
              <a:avLst/>
              <a:gdLst/>
              <a:ahLst/>
              <a:cxnLst/>
              <a:rect r="r" b="b" t="t" l="l"/>
              <a:pathLst>
                <a:path h="445033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450334"/>
                  </a:lnTo>
                  <a:lnTo>
                    <a:pt x="0" y="4450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489206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52901" indent="-176451" lvl="1">
              <a:lnSpc>
                <a:spcPts val="2503"/>
              </a:lnSpc>
              <a:buFont typeface="Arial"/>
              <a:buChar char="•"/>
            </a:pPr>
            <a:r>
              <a:rPr lang="en-US" sz="195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Resultado de dotnet test: se ejecutan las 21 pruebas del servidor (lógica, tokens y SOAP de extremo a extremo) y todas pasan.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20328" y="5161146"/>
            <a:ext cx="10341666" cy="3727805"/>
            <a:chOff x="0" y="0"/>
            <a:chExt cx="10414000" cy="37538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14000" cy="3753866"/>
            </a:xfrm>
            <a:custGeom>
              <a:avLst/>
              <a:gdLst/>
              <a:ahLst/>
              <a:cxnLst/>
              <a:rect r="r" b="b" t="t" l="l"/>
              <a:pathLst>
                <a:path h="3753866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3753866"/>
                  </a:lnTo>
                  <a:lnTo>
                    <a:pt x="0" y="3753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15825" y="2934157"/>
            <a:ext cx="4925267" cy="6582154"/>
          </a:xfrm>
          <a:custGeom>
            <a:avLst/>
            <a:gdLst/>
            <a:ahLst/>
            <a:cxnLst/>
            <a:rect r="r" b="b" t="t" l="l"/>
            <a:pathLst>
              <a:path h="6582154" w="4925267">
                <a:moveTo>
                  <a:pt x="0" y="0"/>
                </a:moveTo>
                <a:lnTo>
                  <a:pt x="4925267" y="0"/>
                </a:lnTo>
                <a:lnTo>
                  <a:pt x="4925267" y="6582154"/>
                </a:lnTo>
                <a:lnTo>
                  <a:pt x="0" y="6582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23558" y="7737113"/>
            <a:ext cx="8473192" cy="1949677"/>
          </a:xfrm>
          <a:custGeom>
            <a:avLst/>
            <a:gdLst/>
            <a:ahLst/>
            <a:cxnLst/>
            <a:rect r="r" b="b" t="t" l="l"/>
            <a:pathLst>
              <a:path h="1949677" w="8473192">
                <a:moveTo>
                  <a:pt x="0" y="0"/>
                </a:moveTo>
                <a:lnTo>
                  <a:pt x="8473192" y="0"/>
                </a:lnTo>
                <a:lnTo>
                  <a:pt x="8473192" y="1949677"/>
                </a:lnTo>
                <a:lnTo>
                  <a:pt x="0" y="1949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69798" y="3499749"/>
            <a:ext cx="6205014" cy="400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3651" indent="-261826" lvl="1">
              <a:lnSpc>
                <a:spcPts val="3715"/>
              </a:lnSpc>
              <a:buFont typeface="Arial"/>
              <a:buChar char="•"/>
            </a:pPr>
            <a:r>
              <a:rPr lang="en-US" b="true" sz="2893">
                <a:solidFill>
                  <a:srgbClr val="3D3D3D"/>
                </a:solidFill>
                <a:latin typeface="Cambria Bold"/>
                <a:ea typeface="Cambria Bold"/>
                <a:cs typeface="Cambria Bold"/>
                <a:sym typeface="Cambria Bold"/>
              </a:rPr>
              <a:t>1.3 	CREACIÓN DEL PROYECTO CLIENTE CONSOLA</a:t>
            </a:r>
          </a:p>
          <a:p>
            <a:pPr algn="just" marL="488632" indent="-244316" lvl="1">
              <a:lnSpc>
                <a:spcPts val="3466"/>
              </a:lnSpc>
            </a:pPr>
          </a:p>
          <a:p>
            <a:pPr algn="just" marL="488632" indent="-244316" lvl="1">
              <a:lnSpc>
                <a:spcPts val="3466"/>
              </a:lnSpc>
              <a:buFont typeface="Arial"/>
              <a:buChar char="•"/>
            </a:pPr>
            <a:r>
              <a:rPr lang="en-US" sz="27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Para el cliente consola se usó Visual Studio y se creó un proyecto de Aplicación de consola (C#, .NET 10).</a:t>
            </a:r>
          </a:p>
          <a:p>
            <a:pPr algn="just" marL="488632" indent="-244316" lvl="1">
              <a:lnSpc>
                <a:spcPts val="3466"/>
              </a:lnSpc>
              <a:buFont typeface="Arial"/>
              <a:buChar char="•"/>
            </a:pPr>
            <a:r>
              <a:rPr lang="en-US" sz="27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 asigna el nombre ClienteConsola. No usa librerías externas: el cliente arma el mensaje SOAP con HttpClient.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489206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52901" indent="-176451" lvl="1">
              <a:lnSpc>
                <a:spcPts val="2503"/>
              </a:lnSpc>
              <a:buFont typeface="Arial"/>
              <a:buChar char="•"/>
            </a:pPr>
            <a:r>
              <a:rPr lang="en-US" sz="195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Una vez creado el proyecto se organizan las carpetas Modelos, Controladores y Vistas (patrón MVC). El proyecto ClienteConsola.Pruebas valida el cliente SOAP.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026754" y="2876550"/>
            <a:ext cx="5434641" cy="6858000"/>
            <a:chOff x="0" y="0"/>
            <a:chExt cx="7246188" cy="914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46239" cy="9144000"/>
            </a:xfrm>
            <a:custGeom>
              <a:avLst/>
              <a:gdLst/>
              <a:ahLst/>
              <a:cxnLst/>
              <a:rect r="r" b="b" t="t" l="l"/>
              <a:pathLst>
                <a:path h="9144000" w="7246239">
                  <a:moveTo>
                    <a:pt x="0" y="0"/>
                  </a:moveTo>
                  <a:lnTo>
                    <a:pt x="7246239" y="0"/>
                  </a:lnTo>
                  <a:lnTo>
                    <a:pt x="7246239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SoapClient (modelo)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Arma el mensaje SOAP, lo envía por HTTP y lee la respuesta estructurada.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6.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System.Globalization;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System.Net.Http.Headers;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System.Security;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System.Text;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System.Xml;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System.Xml.Linq;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ec.edu.monster.ClienteConsola.Modelos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SoapClient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const string UrlPorDefecto = "http://localhost:5080/";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const string Ns = "http://WebServices.monster.edu.ec/";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readonly HttpClient http;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string UrlBase { get; 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SoapClient(string? urlBase, HttpClient? cliente = null)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u = string.IsNullOrWhiteSpace(urlBase) ? UrlPorDefecto : urlBase.Trim();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UrlBase = u.EndsWith('/') ? u : u + "/";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http = cliente ?? new HttpClient { Timeout = TimeSpan.FromSeconds(15) };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string UrlConfigurada()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p = Environment.GetEnvironmentVariable("CONUNI_URL");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string.IsNullOrWhiteSpace(p) ? UrlPorDefecto : p;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SoapClient (modelo)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Arma el mensaje SOAP, lo envía por HTTP y lee la respuesta estructurada.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6.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// ---------------- operaciones ----------------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Task&lt;RespuestaServicio&gt; Login(string usuario, string clave) =&gt;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Llamar("WSLogin", "login", ("usuario", usuario), ("clave", clave));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Task&lt;RespuestaServicio&gt; ObtenerCategorias(string? token) =&gt;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Llamar("WSCatalogo", "obtenerCategorias", ("token", token));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Task&lt;RespuestaServicio&gt; ObtenerUnidades(string? token, string categoria) =&gt;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Llamar("WSCatalogo", "obtenerUnidades", ("token", token), ("categoria", categoria));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Task&lt;RespuestaServicio&gt; Convertir(string categoria, double valor, string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origen, string destino, string? token)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(servicio, operacion) = (categoria ?? "").Trim().ToLowerInvariant() switch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"longitud" =&gt; ("WSLongitud", "convertirLongitud"),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"masa" =&gt; ("WSMasa", "convertirMasa"),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"temperatura" =&gt; ("WSTemperatura", "convertirTemperatura"),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_ =&gt; ("", "")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(servicio == "")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Task.FromResult(RespuestaServicio.ErrorLocal("DATA-001", "Categoría no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soportada"));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Llamar(servicio, operacion,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("valor", valor.ToString("R", CultureInfo.InvariantCulture)),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("unidadOrigen", origen), ("unidadDestino", destino), ("token", token));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SoapClient (modelo)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Arma el mensaje SOAP, lo envía por HTTP y lee la respuesta estructurada.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3 de 6.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// ---------------- SOAP ----------------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async Task&lt;RespuestaServicio&gt; Llamar(string servicio, string operacion, params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(string Nombre, string? Valor)[] parametros)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cuerpo = new StringBuilder();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foreach (var (nombre, valor) in parametros)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cuerpo.Append('&lt;').Append(nombre).Append('&gt;').Append(SecurityElement.Escape(va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lor ?? "")).Append("&lt;/").Append(nombre).Append('&gt;');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// El elemento de la operacion declara el espacio de nombres por defecto: los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parametros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// lo heredan, como espera el servidor.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sobre = "&lt;soapenv:Envelope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xmlns:soapenv=\"http://schemas.xmlsoap.org/soap/envelope/\"&gt;" +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$"&lt;soapenv:Header/&gt;&lt;soapenv:Body&gt;&lt;{operacion} xmlns=\"{Ns}\"&gt;{cuerpo}&lt;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/{operacion}&gt;&lt;/soapenv:Body&gt;&lt;/soapenv:Envelope&gt;";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using var peticion = new HttpRequestMessage(HttpMethod.Post, UrlBase + servicio)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Content = new StringContent(sobre, Encoding.UTF8, new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MediaTypeHeaderValue("text/xml"))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peticion.Headers.TryAddWithoutValidation("SOAPAction",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$"\"{Ns}{servicio}/{operacion}\"");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try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using var respuesta = await http.SendAsync(peticion);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xml = await respuesta.Content.ReadAsStringAsync();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Interpretar(xml, (int)respuesta.StatusCode, operacion);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SoapClient (modelo)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Arma el mensaje SOAP, lo envía por HTTP y lee la respuesta estructurada.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4 de 6.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catch (HttpRequestException)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ErrorDeRed();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catch (TaskCanceledException)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ErrorDeRed();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RespuestaServicio ErrorDeRed() =&gt;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RespuestaServicio.ErrorLocal(RespuestaServicio.CodRed,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$"No se pudo conectar con el servidor ({UrlBase}). Verifique que esté en ejecución.");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RespuestaServicio Interpretar(string xml, int estadoHttp, string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operacion = "")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try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configuracion = new XmlReaderSettings { DtdProcessing =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DtdProcessing.Prohibit, XmlResolver = null };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using var lector = XmlReader.Create(new StringReader(xml), configuracion);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doc = XDocument.Load(lector);</a:t>
              </a:r>
            </a:p>
            <a:p>
              <a:pPr algn="l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SoapClient (modelo)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Arma el mensaje SOAP, lo envía por HTTP y lee la respuesta estructurada.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5 de 6.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fallo = doc.Descendants().FirstOrDefault(e =&gt; e.Name.LocalName == "Fault");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if (fallo != null)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var texto = fallo.Descendants().FirstOrDefault(e =&gt; e.Name.LocalName ==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"faultstring")?.Value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    ?? fallo.Descendants().FirstOrDefault(e =&gt; e.Name.LocalName ==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        "Text")?.Value;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return RespuestaServicio.ErrorLocal("SRV-500", "Error del servidor" +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(texto == null ? "" : ": " + texto));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retorno = doc.Descendants().FirstOrDefault(e =&gt; e.Name.LocalName ==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operacion + "Result")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  ?? doc.Descendants().FirstOrDefault(e =&gt;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      e.Name.LocalName.EndsWith("Result"));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if (retorno == null)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return RespuestaServicio.ErrorLocal("SRV-500", $"Respuesta sin contenido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(HTTP {estadoHttp})");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r = new RespuestaServicio();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foreach (var e in retorno.Elements())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switch (e.Name.LocalName)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case "estado": r.Estado = e.Value; break;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case "codigo": r.Codigo = e.Value; break;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case "mensaje": r.Mensaje = e.Value; break;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case "resultado": r.Resultado = double.Parse(e.Value,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CultureInfo.InvariantCulture); break;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case "unidadOrigen": r.UnidadOrigen = e.Value; break;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case "unidadDestino": r.UnidadDestino = e.Value; break;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SoapClient (modelo)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Arma el mensaje SOAP, lo envía por HTTP y lee la respuesta estructurada.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6 de 6.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12000" y="2926061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268200" cy="92678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case "token": r.Token = e.Value; break;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case "datos": r.Datos.AddRange(e.Elements().Select(x =&gt; x.Value)); break;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}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r;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catch (Exception)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RespuestaServicio.ErrorLocal("SRV-500", "No se pudo leer la respuesta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del servidor");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ControladorSesion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Controlador de la sesión (CU-01).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048714"/>
            <a:chOff x="0" y="0"/>
            <a:chExt cx="12268200" cy="93982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398285"/>
            </a:xfrm>
            <a:custGeom>
              <a:avLst/>
              <a:gdLst/>
              <a:ahLst/>
              <a:cxnLst/>
              <a:rect r="r" b="b" t="t" l="l"/>
              <a:pathLst>
                <a:path h="9398285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398285"/>
                  </a:lnTo>
                  <a:lnTo>
                    <a:pt x="0" y="93982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43638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ec.edu.monster.ClienteConsola.Modelos;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ec.edu.monster.ClienteConsola.Controladores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ControladorSesion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readonly SoapClient cliente;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readonly Sesion sesion;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ControladorSesion(SoapClient cliente, Sesion sesion)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this.cliente = cliente;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this.sesion = sesion;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string Url =&gt; cliente.UrlBase;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bool HaySesion =&gt; sesion.Activa;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async Task&lt;RespuestaServicio&gt; IniciarSesion(string usuario, string clave)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r = await cliente.Login(usuario, clave);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(r.EsExitosa &amp;&amp; r.Token != null)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sesion.Iniciar(r.Token);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else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sesion.Cerrar();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87961"/>
            <a:ext cx="6476413" cy="141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4308" indent="-262154" lvl="1">
              <a:lnSpc>
                <a:spcPts val="3719"/>
              </a:lnSpc>
              <a:buFont typeface="Arial"/>
              <a:buChar char="•"/>
            </a:pPr>
            <a:r>
              <a:rPr lang="en-US" sz="2897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ControladorSesion</a:t>
            </a:r>
          </a:p>
          <a:p>
            <a:pPr algn="just" marL="524308" indent="-262154" lvl="1">
              <a:lnSpc>
                <a:spcPts val="3719"/>
              </a:lnSpc>
              <a:buFont typeface="Arial"/>
              <a:buChar char="•"/>
            </a:pPr>
            <a:r>
              <a:rPr lang="en-US" sz="2897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Controlador de la sesión (CU-01).</a:t>
            </a:r>
          </a:p>
          <a:p>
            <a:pPr algn="just" marL="524308" indent="-262154" lvl="1">
              <a:lnSpc>
                <a:spcPts val="3719"/>
              </a:lnSpc>
              <a:buFont typeface="Arial"/>
              <a:buChar char="•"/>
            </a:pPr>
            <a:r>
              <a:rPr lang="en-US" sz="2897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172957" y="5616449"/>
            <a:ext cx="9201150" cy="1990065"/>
            <a:chOff x="0" y="0"/>
            <a:chExt cx="12268200" cy="26534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2653420"/>
            </a:xfrm>
            <a:custGeom>
              <a:avLst/>
              <a:gdLst/>
              <a:ahLst/>
              <a:cxnLst/>
              <a:rect r="r" b="b" t="t" l="l"/>
              <a:pathLst>
                <a:path h="265342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2653420"/>
                  </a:lnTo>
                  <a:lnTo>
                    <a:pt x="0" y="26534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268200" cy="270104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r;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339"/>
                </a:lnSpc>
              </a:pP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void CerrarSesion() =&gt; sesion.Cerrar();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ControladorConversiones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Controlador del catálogo y las conversiones.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2583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System.Globalization;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ec.edu.monster.ClienteConsola.Modelos;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ec.edu.monster.ClienteConsola.Controladores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ControladorConversiones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readonly SoapClient cliente;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readonly Sesion sesion;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ControladorConversiones(SoapClient cliente, Sesion sesion)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this.cliente = cliente;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this.sesion = sesion;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async Task&lt;RespuestaServicio&gt; Categorias() =&gt;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Revisar(await cliente.ObtenerCategorias(sesion.Token));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async Task&lt;RespuestaServicio&gt; Unidades(string categoria) =&gt;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Revisar(await cliente.ObtenerUnidades(sesion.Token, categoria));</a:t>
              </a:r>
            </a:p>
            <a:p>
              <a:pPr algn="l">
                <a:lnSpc>
                  <a:spcPts val="2099"/>
                </a:lnSpc>
              </a:pP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async Task&lt;RespuestaServicio&gt; Convertir(string categoria, double valor, string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origen, string destino) =&gt;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Revisar(await cliente.Convertir(categoria, valor, origen, destino, sesion.Token));</a:t>
              </a:r>
            </a:p>
            <a:p>
              <a:pPr algn="l">
                <a:lnSpc>
                  <a:spcPts val="2099"/>
                </a:lnSpc>
              </a:pPr>
            </a:p>
          </p:txBody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ControladorConversiones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Controlador del catálogo y las conversiones.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268200" cy="92678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RespuestaServicio Revisar(RespuestaServicio r)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(r.RequiereNuevoLogin)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sesion.Cerrar();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r;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339"/>
                </a:lnSpc>
              </a:pP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string Formatear(double valor)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d = Math.Round((decimal)valor, 10, MidpointRounding.AwayFromZero);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d.ToString("0.##########", CultureInfo.InvariantCulture);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InterfazConsola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Menú principal que reparte el trabajo a las vistas.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048714"/>
            <a:chOff x="0" y="0"/>
            <a:chExt cx="12268200" cy="93982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398285"/>
            </a:xfrm>
            <a:custGeom>
              <a:avLst/>
              <a:gdLst/>
              <a:ahLst/>
              <a:cxnLst/>
              <a:rect r="r" b="b" t="t" l="l"/>
              <a:pathLst>
                <a:path h="9398285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398285"/>
                  </a:lnTo>
                  <a:lnTo>
                    <a:pt x="0" y="93982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43638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async Task Ejecutar()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io.Linea();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io.Marco("CONVERSIÓN DE UNIDADES MONSTER", "Cliente de consola (.NET)", "Servidor: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" + sesion.Url);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seguir = true;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while (seguir)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MostrarMenu();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var op = io.Leer("Opción: 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if (op == null)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break; // fin de la entrada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switch (op.Trim())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case "1":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await vistaSesion.IniciarSesion();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break;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case "2":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if (ExigirSesion())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await vistaConversion.VerCatalogo();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break;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case "3":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if (ExigirSesion())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await vistaConversion.Convertir();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}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InterfazConsola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Menú principal que reparte el trabajo a las vistas.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39663" y="2926061"/>
            <a:ext cx="9201150" cy="7277314"/>
            <a:chOff x="0" y="0"/>
            <a:chExt cx="12268200" cy="97030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703085"/>
            </a:xfrm>
            <a:custGeom>
              <a:avLst/>
              <a:gdLst/>
              <a:ahLst/>
              <a:cxnLst/>
              <a:rect r="r" b="b" t="t" l="l"/>
              <a:pathLst>
                <a:path h="9703085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703085"/>
                  </a:lnTo>
                  <a:lnTo>
                    <a:pt x="0" y="97030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74118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break;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case "4":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vistaSesion.CerrarSesion();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break;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case "0":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seguir = false;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break;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default: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io.Linea("  Opción no válida.");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break;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io.Linea("Hasta luego.");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void MostrarMenu()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io.Seccion("Menú  |  Sesión: " + (sesion.HaySesion ? "ACTIVA" : "no iniciada"));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(!sesion.HaySesion)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io.Linea("  1. Iniciar sesión");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else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io.Linea("  2. Ver catálogo (categorías y unidades)");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io.Linea("  3. Convertir");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io.Linea("  4. Cerrar sesión");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io.Linea("  0. Salir");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859"/>
                </a:lnSpc>
              </a:pPr>
            </a:p>
          </p:txBody>
        </p:sp>
      </p:grp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InterfazConsola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Menú principal que reparte el trabajo a las vistas.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3 de 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136743" y="5145669"/>
            <a:ext cx="9201150" cy="3568163"/>
            <a:chOff x="0" y="0"/>
            <a:chExt cx="12268200" cy="4757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4757550"/>
            </a:xfrm>
            <a:custGeom>
              <a:avLst/>
              <a:gdLst/>
              <a:ahLst/>
              <a:cxnLst/>
              <a:rect r="r" b="b" t="t" l="l"/>
              <a:pathLst>
                <a:path h="475755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4757550"/>
                  </a:lnTo>
                  <a:lnTo>
                    <a:pt x="0" y="47575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47956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bool ExigirSesion()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(!sesion.HaySesion)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io.Linea("  Debe iniciar sesión primero.");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 false;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true;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VistaConversion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de la conversión (CU-04).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2583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async Task Convertir()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cats = await controlador.Categorias();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(!cats.EsExitosa)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io.Error(cats);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categoria = io.Elegir("Categoría", cats.Datos);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(categoria == null)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un = await controlador.Unidades(categoria);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(!un.EsExitosa)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io.Error(un);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origen = io.Elegir("Unidad de origen", un.Datos);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(origen == null)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destino = io.Elegir("Unidad de destino", un.Datos);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(destino == null)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VistaConversion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de la conversión (CU-04).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valor = io.LeerNumero("Valor a convertir: 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(valor == null)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return;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r = await controlador.Convertir(categoria, valor.Value, origen, destino);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(r.EsExitosa &amp;&amp; r.Resultado != null)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io.Linea();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io.Marco("RESULTADO",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$"{ControladorConversiones.Formatear(valor.Value)} {r.UnidadOrigen}",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"=",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$"{ControladorConversiones.Formatear(r.Resultado.Value)} {r.UnidadDestino}");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io.Linea("  " + r.Mensaje);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else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io.Error(r);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Program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Clase principal: arma las piezas del MVC.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System.Text;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ec.edu.monster.ClienteConsola.Controladores;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ec.edu.monster.ClienteConsola.Modelos;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ec.edu.monster.ClienteConsola.Vistas;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// Cliente de consola de "Conversion de Unidades Monster". Aqui se arman las piezas del MVC: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// modelo (SoapClient, Sesion), controladores y vistas.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//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// URL del servidor: argumento 1, variable CONUNI_URL o http://localhost:5080/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Console.OutputEncoding = Encoding.UTF8;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Console.InputEncoding = Encoding.UTF8;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 url = args.Length &gt; 0 ? args[0] : SoapClient.UrlConfigurada();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 cliente = new SoapClient(url);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 sesion = new Sesion();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 controladorSesion = new ControladorSesion(cliente, sesion);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 controladorConversiones = new ControladorConversiones(cliente, sesion);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 io = new ConsolaIO(Console.In, Console.Out);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await new InterfazConsola(controladorSesion, new VistaSesion(controladorSesion, io),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new VistaConversion(controladorConversiones, io), io).Ejecutar();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489206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52901" indent="-176451" lvl="1">
              <a:lnSpc>
                <a:spcPts val="2503"/>
              </a:lnSpc>
              <a:buFont typeface="Arial"/>
              <a:buChar char="•"/>
            </a:pPr>
            <a:r>
              <a:rPr lang="en-US" sz="195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 puede verificar que el cliente funciona de forma correcta: se levanta el servidor, se inicia sesión (usuario monster) y aparece el menú con la sesión activa.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905500" y="3288878"/>
            <a:ext cx="7810500" cy="5652335"/>
            <a:chOff x="0" y="0"/>
            <a:chExt cx="10414000" cy="75364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14000" cy="7536434"/>
            </a:xfrm>
            <a:custGeom>
              <a:avLst/>
              <a:gdLst/>
              <a:ahLst/>
              <a:cxnLst/>
              <a:rect r="r" b="b" t="t" l="l"/>
              <a:pathLst>
                <a:path h="7536434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7536434"/>
                  </a:lnTo>
                  <a:lnTo>
                    <a:pt x="0" y="7536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489206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52901" indent="-176451" lvl="1">
              <a:lnSpc>
                <a:spcPts val="2503"/>
              </a:lnSpc>
              <a:buFont typeface="Arial"/>
              <a:buChar char="•"/>
            </a:pPr>
            <a:r>
              <a:rPr lang="en-US" sz="195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Conversión de ejemplo: 1 milla a metros.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64269" y="2876550"/>
            <a:ext cx="7092972" cy="6477000"/>
            <a:chOff x="0" y="0"/>
            <a:chExt cx="9457296" cy="863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57309" cy="8636000"/>
            </a:xfrm>
            <a:custGeom>
              <a:avLst/>
              <a:gdLst/>
              <a:ahLst/>
              <a:cxnLst/>
              <a:rect r="r" b="b" t="t" l="l"/>
              <a:pathLst>
                <a:path h="8636000" w="9457309">
                  <a:moveTo>
                    <a:pt x="0" y="0"/>
                  </a:moveTo>
                  <a:lnTo>
                    <a:pt x="9457309" y="0"/>
                  </a:lnTo>
                  <a:lnTo>
                    <a:pt x="9457309" y="8636000"/>
                  </a:lnTo>
                  <a:lnTo>
                    <a:pt x="0" y="863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19744" y="2705557"/>
            <a:ext cx="3643478" cy="7346017"/>
            <a:chOff x="0" y="0"/>
            <a:chExt cx="5678907" cy="114498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78932" cy="11449867"/>
            </a:xfrm>
            <a:custGeom>
              <a:avLst/>
              <a:gdLst/>
              <a:ahLst/>
              <a:cxnLst/>
              <a:rect r="r" b="b" t="t" l="l"/>
              <a:pathLst>
                <a:path h="11449867" w="5678932">
                  <a:moveTo>
                    <a:pt x="0" y="0"/>
                  </a:moveTo>
                  <a:lnTo>
                    <a:pt x="5678932" y="0"/>
                  </a:lnTo>
                  <a:lnTo>
                    <a:pt x="5678932" y="11449867"/>
                  </a:lnTo>
                  <a:lnTo>
                    <a:pt x="0" y="11449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330" r="0" b="-733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71785" y="4617644"/>
            <a:ext cx="6775189" cy="2986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1127" indent="-220563" lvl="1">
              <a:lnSpc>
                <a:spcPts val="3129"/>
              </a:lnSpc>
              <a:buFont typeface="Arial"/>
              <a:buChar char="•"/>
            </a:pPr>
            <a:r>
              <a:rPr lang="en-US" b="true" sz="2437">
                <a:solidFill>
                  <a:srgbClr val="3D3D3D"/>
                </a:solidFill>
                <a:latin typeface="Cambria Bold"/>
                <a:ea typeface="Cambria Bold"/>
                <a:cs typeface="Cambria Bold"/>
                <a:sym typeface="Cambria Bold"/>
              </a:rPr>
              <a:t>1.4 	CREACIÓN DEL PROYECTO – CLIENTE ESCRITORIO</a:t>
            </a:r>
          </a:p>
          <a:p>
            <a:pPr algn="just" marL="352901" indent="-176451" lvl="1">
              <a:lnSpc>
                <a:spcPts val="2503"/>
              </a:lnSpc>
            </a:pPr>
          </a:p>
          <a:p>
            <a:pPr algn="just" marL="352901" indent="-176451" lvl="1">
              <a:lnSpc>
                <a:spcPts val="2503"/>
              </a:lnSpc>
              <a:buFont typeface="Arial"/>
              <a:buChar char="•"/>
            </a:pPr>
            <a:r>
              <a:rPr lang="en-US" sz="195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Para el cliente de escritorio se creó una aplicación WPF (.NET 10) que aloja un BlazorWebView. La interfaz está en la biblioteca Razor compartida SistemaConversorUI.Shared.</a:t>
            </a:r>
          </a:p>
          <a:p>
            <a:pPr algn="just" marL="352901" indent="-176451" lvl="1">
              <a:lnSpc>
                <a:spcPts val="2503"/>
              </a:lnSpc>
              <a:buFont typeface="Arial"/>
              <a:buChar char="•"/>
            </a:pPr>
            <a:r>
              <a:rPr lang="en-US" sz="195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Estructura: ClienteEscritorio (ventana WPF) y SistemaConversorUI.Shared (SoapClient, SesionCliente, Login.razor, Conversor.razor y estilos).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MainWindow.xaml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Ventana del cliente de escritorio: aloja el BlazorWebView.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11642" y="4747317"/>
            <a:ext cx="9617609" cy="4058198"/>
            <a:chOff x="0" y="0"/>
            <a:chExt cx="12823479" cy="54109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23479" cy="5410931"/>
            </a:xfrm>
            <a:custGeom>
              <a:avLst/>
              <a:gdLst/>
              <a:ahLst/>
              <a:cxnLst/>
              <a:rect r="r" b="b" t="t" l="l"/>
              <a:pathLst>
                <a:path h="5410931" w="12823479">
                  <a:moveTo>
                    <a:pt x="0" y="0"/>
                  </a:moveTo>
                  <a:lnTo>
                    <a:pt x="12823479" y="0"/>
                  </a:lnTo>
                  <a:lnTo>
                    <a:pt x="12823479" y="5410931"/>
                  </a:lnTo>
                  <a:lnTo>
                    <a:pt x="0" y="541093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823479" cy="544903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&lt;Window x:Class="ClienteEscritorio.MainWindow"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xmlns="http://schemas.microsoft.com/winfx/2006/xaml/presentation"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xmlns:x="http://schemas.microsoft.com/winfx/2006/xaml"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xmlns:blazor="clr-namespace:Microsoft.AspNetCore.Components.WebView.Wpf;assembly=Micro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soft.AspNetCore.Components.WebView.Wpf"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xmlns:local="clr-namespace:ClienteEscritorio"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Title="Conversión de Unidades Monster" Height="760" Width="560" MinWidth="420"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MinHeight="600"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WindowStartupLocation="CenterScreen"&gt;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&lt;blazor:BlazorWebView x:Name="blazorWebView" HostPage="wwwroot\index.html"&gt;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&lt;blazor:BlazorWebView.RootComponents&gt;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&lt;blazor:RootComponent Selector="#app" ComponentType="{x:Type local:Main}" /&gt;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&lt;/blazor:BlazorWebView.RootComponents&gt;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&lt;/blazor:BlazorWebView&gt;</a:t>
              </a:r>
            </a:p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&lt;/Window&gt;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MainWindow.xaml.cs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Registra los servicios y entrega el proveedor al BlazorWebView.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25830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System.Windows;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ec.edu.monster.Cliente.Servicios;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Microsoft.Extensions.DependencyInjection;</a:t>
              </a:r>
            </a:p>
            <a:p>
              <a:pPr algn="l">
                <a:lnSpc>
                  <a:spcPts val="2459"/>
                </a:lnSpc>
              </a:pP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ClienteEscritorio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partial class MainWindow : Window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MainWindow()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InitializeComponent();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servicios = new ServiceCollection();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servicios.AddWpfBlazorWebView();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servicios.AgregarClienteMonster();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blazorWebView.Services = servicios.BuildServiceProvider();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459"/>
                </a:lnSpc>
              </a:pPr>
              <a:r>
                <a:rPr lang="en-US" sz="20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SesionCliente (compartida)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Guarda el token, llama al servicio SOAP y cierra la sesión local cuando el servidor lo rechaza.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277314"/>
            <a:chOff x="0" y="0"/>
            <a:chExt cx="12268200" cy="97030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703085"/>
            </a:xfrm>
            <a:custGeom>
              <a:avLst/>
              <a:gdLst/>
              <a:ahLst/>
              <a:cxnLst/>
              <a:rect r="r" b="b" t="t" l="l"/>
              <a:pathLst>
                <a:path h="9703085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703085"/>
                  </a:lnTo>
                  <a:lnTo>
                    <a:pt x="0" y="97030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268200" cy="974118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ec.edu.monster.Cliente.Modelos;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Microsoft.Extensions.DependencyInjection;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ec.edu.monster.Cliente.Servicios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class SesionCliente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readonly HttpClient? http;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SoapClient cliente;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SesionCliente(string? urlServidor = null, HttpClient? http = null)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this.http = http;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UrlServidor = string.IsNullOrWhiteSpace(urlServidor) ? SoapClient.UrlConfigurada()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: urlServidor;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cliente = new SoapClient(UrlServidor, http);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string UrlServidor { get; private set; }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string? Token { get; private set; }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bool HaySesion =&gt; Token != null;</a:t>
              </a:r>
            </a:p>
            <a:p>
              <a:pPr algn="l">
                <a:lnSpc>
                  <a:spcPts val="1859"/>
                </a:lnSpc>
              </a:pP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void CambiarServidor(string url)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UrlServidor = url;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cliente = new SoapClient(url, http);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Token = null;</a:t>
              </a:r>
            </a:p>
            <a:p>
              <a:pPr algn="l">
                <a:lnSpc>
                  <a:spcPts val="1859"/>
                </a:lnSpc>
              </a:pPr>
              <a:r>
                <a:rPr lang="en-US" sz="15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859"/>
                </a:lnSpc>
              </a:pPr>
            </a:p>
          </p:txBody>
        </p:sp>
      </p:grp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SesionCliente (compartida)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Guarda el token, llama al servicio SOAP y cierra la sesión local cuando el servidor lo rechaza.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7377494"/>
            <a:chOff x="0" y="0"/>
            <a:chExt cx="12268200" cy="98366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836658"/>
            </a:xfrm>
            <a:custGeom>
              <a:avLst/>
              <a:gdLst/>
              <a:ahLst/>
              <a:cxnLst/>
              <a:rect r="r" b="b" t="t" l="l"/>
              <a:pathLst>
                <a:path h="9836658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836658"/>
                  </a:lnTo>
                  <a:lnTo>
                    <a:pt x="0" y="983665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86523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async Task&lt;RespuestaServicio&gt; IniciarSesion(string usuario, string clave)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r = await cliente.Login(usuario, clave);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Token = r.EsExitosa ? r.Token : null;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r;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void CerrarSesion() =&gt; Token = null;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async Task&lt;RespuestaServicio&gt; Categorias() =&gt; Revisar(await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cliente.ObtenerCategorias(Token));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async Task&lt;RespuestaServicio&gt; Unidades(string categoria) =&gt;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Revisar(await cliente.ObtenerUnidades(Token, categoria));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async Task&lt;RespuestaServicio&gt; Convertir(string categoria, double valor, string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origen, string destino) =&gt;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Revisar(await cliente.Convertir(categoria, valor, origen, destino, Token));</a:t>
              </a:r>
            </a:p>
            <a:p>
              <a:pPr algn="l">
                <a:lnSpc>
                  <a:spcPts val="1979"/>
                </a:lnSpc>
              </a:pP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private RespuestaServicio Revisar(RespuestaServicio r)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if (r.RequiereNuevoLogin)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{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Token = null;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}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r;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979"/>
                </a:lnSpc>
              </a:pPr>
              <a:r>
                <a:rPr lang="en-US" sz="1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979"/>
                </a:lnSpc>
              </a:pPr>
            </a:p>
          </p:txBody>
        </p:sp>
      </p:grp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7028273" cy="151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699" indent="-215849" lvl="1">
              <a:lnSpc>
                <a:spcPts val="3062"/>
              </a:lnSpc>
              <a:buFont typeface="Arial"/>
              <a:buChar char="•"/>
            </a:pPr>
            <a:r>
              <a:rPr lang="en-US" sz="2385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SesionCliente (compartida)</a:t>
            </a:r>
          </a:p>
          <a:p>
            <a:pPr algn="just" marL="431699" indent="-215849" lvl="1">
              <a:lnSpc>
                <a:spcPts val="3062"/>
              </a:lnSpc>
              <a:buFont typeface="Arial"/>
              <a:buChar char="•"/>
            </a:pPr>
            <a:r>
              <a:rPr lang="en-US" sz="2385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Guarda el token, llama al servicio SOAP y cierra la sesión local cuando el servidor lo rechaza.</a:t>
            </a:r>
          </a:p>
          <a:p>
            <a:pPr algn="just" marL="431699" indent="-215849" lvl="1">
              <a:lnSpc>
                <a:spcPts val="3062"/>
              </a:lnSpc>
              <a:buFont typeface="Arial"/>
              <a:buChar char="•"/>
            </a:pPr>
            <a:r>
              <a:rPr lang="en-US" sz="2385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3 de 3.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81598" y="5362952"/>
            <a:ext cx="9201150" cy="2277358"/>
            <a:chOff x="0" y="0"/>
            <a:chExt cx="12268200" cy="30364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3036477"/>
            </a:xfrm>
            <a:custGeom>
              <a:avLst/>
              <a:gdLst/>
              <a:ahLst/>
              <a:cxnLst/>
              <a:rect r="r" b="b" t="t" l="l"/>
              <a:pathLst>
                <a:path h="3036477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3036477"/>
                  </a:lnTo>
                  <a:lnTo>
                    <a:pt x="0" y="3036477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268200" cy="308410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static class RegistroServicios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IServiceCollection AgregarClienteMonster(this IServiceCollection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servicios, string? urlServidor = null) =&gt;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servicios.AddScoped(_ =&gt; new SesionCliente(urlServidor));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2339"/>
                </a:lnSpc>
              </a:pPr>
              <a:r>
                <a:rPr lang="en-US" sz="19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Login.razor (compartida)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de inicio de sesión (CU-01): código de la página.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@code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string usuario =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string clave =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string servidor =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string mensaje =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string claseEstado =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bool ocupado;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protected override void OnInitialized()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servidor = Sesion.UrlServidor;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(Sesion.HaySesion)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Navegacion.NavigateTo("conversor");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async Task Teclado(KeyboardEventArgs e)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(e.Key == "Enter")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await Ingresar();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async Task Ingresar()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(ocupado)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Login.razor (compartida)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de inicio de sesión (CU-01): código de la página.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(string.IsNullOrWhiteSpace(usuario) || string.IsNullOrWhiteSpace(clave))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Mostrar("Ingrese usuario y clave.", "error");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ocupado = true;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Mostrar("Verificando...", "info");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(!string.IsNullOrWhiteSpace(servidor) &amp;&amp; servidor.Trim() != Sesion.UrlServidor)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Sesion.CambiarServidor(servidor.Trim());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var r = await Sesion.IniciarSesion(usuario, clave);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ocupado = false;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(r.EsExitosa)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Navegacion.NavigateTo("conversor");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Mostrar($"[{r.Codigo}] {r.Mensaje}", "error");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void Mostrar(string texto, string clase)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mensaje = texto;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claseEstado = clase;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Conversor.razor (compartida)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del catálogo y de la conversión (CU-02 a CU-04): código de la página.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4.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@code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List&lt;string&gt; categorias = new();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List&lt;string&gt; unidades = new();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string categoria =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string origen =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string destino =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string valorTexto =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string resultado = "Resultado";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string mensaje =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string claseEstado =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bool listo;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protected override async Task OnInitializedAsync()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(!Sesion.HaySesion)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Navegacion.NavigateTo("");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Mostrar("Cargando catálogo...", "info");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var r = await Sesion.Categorias();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(!await Revisar(r))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categorias = r.Datos;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categoria = categorias.FirstOrDefault() ??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await CargarUnidades();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Conversor.razor (compartida)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del catálogo y de la conversión (CU-02 a CU-04): código de la página.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4.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async Task CambiarCategoria(ChangeEventArgs e)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categoria = e.Value?.ToString() ??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await CargarUnidades();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async Task CargarUnidades()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listo = false;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Mostrar($"Cargando unidades de {categoria}...", "info");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var r = await Sesion.Unidades(categoria);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(!await Revisar(r))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unidades = r.Datos;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origen = unidades.FirstOrDefault() ?? "";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destino = unidades.Count &gt; 1 ? unidades[1] : origen;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resultado = "Resultado";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Mostrar("", "");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listo = true;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void Intercambiar() =&gt; (origen, destino) = (destino, origen);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async Task Teclado(KeyboardEventArgs e)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(e.Key == "Enter")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await Convertir();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Conversor.razor (compartida)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del catálogo y de la conversión (CU-02 a CU-04): código de la página.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3 de 4.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async Task Convertir()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var texto = valorTexto.Trim().Replace(',', '.');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(!double.TryParse(texto, NumberStyles.Float, CultureInfo.InvariantCulture, out var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valor)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|| double.IsNaN(valor) || double.IsInfinity(valor))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Mostrar("Ingrese un número válido (ejemplo: 12.5).", "error");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listo = false;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Mostrar("Convirtiendo...", "info");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var r = await Sesion.Convertir(categoria, valor, origen, destino);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listo = true;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(r.EsExitosa &amp;&amp; r.Resultado != null)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resultado = $"{Formatear(valor)} {r.UnidadOrigen} = {Formatear(r.Resultado.Value)}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{r.UnidadDestino}";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Mostrar(r.Mensaje ?? "", "exito");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(await Revisar(r))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Mostrar($"[{r.Codigo}] {r.Mensaje}", "error");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Conversor.razor (compartida)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del catálogo y de la conversión (CU-02 a CU-04): código de la página.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4 de 4.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Task&lt;bool&gt; Revisar(RespuestaServicio r)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(r.RequiereNuevoLogin)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Navegacion.NavigateTo("");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Task.FromResult(false);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if (!r.EsExitosa)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Mostrar($"[{r.Codigo}] {r.Mensaje}", "error");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Task.FromResult(false);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return Task.FromResult(true);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void CerrarSesion()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Sesion.CerrarSesion();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Navegacion.NavigateTo("");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void Mostrar(string texto, string clase)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mensaje = texto;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claseEstado = clase;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private static string Formatear(double valor) =&gt;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Math.Round((decimal)valor, 10, MidpointRounding.AwayFromZero).ToString("0.##########",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CultureInfo.InvariantCulture);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87961"/>
            <a:ext cx="4892069" cy="43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9581" indent="-239790" lvl="1">
              <a:lnSpc>
                <a:spcPts val="3402"/>
              </a:lnSpc>
              <a:buFont typeface="Arial"/>
              <a:buChar char="•"/>
            </a:pPr>
            <a:r>
              <a:rPr lang="en-US" sz="2649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93112" y="2876550"/>
            <a:ext cx="4882866" cy="6724650"/>
            <a:chOff x="0" y="0"/>
            <a:chExt cx="6510489" cy="896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4180" cy="8966200"/>
            </a:xfrm>
            <a:custGeom>
              <a:avLst/>
              <a:gdLst/>
              <a:ahLst/>
              <a:cxnLst/>
              <a:rect r="r" b="b" t="t" l="l"/>
              <a:pathLst>
                <a:path h="8966200" w="6774180">
                  <a:moveTo>
                    <a:pt x="0" y="0"/>
                  </a:moveTo>
                  <a:lnTo>
                    <a:pt x="6774180" y="0"/>
                  </a:lnTo>
                  <a:lnTo>
                    <a:pt x="6774180" y="8966200"/>
                  </a:lnTo>
                  <a:lnTo>
                    <a:pt x="0" y="896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76397" y="2915593"/>
            <a:ext cx="4892069" cy="82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1484" indent="-230742" lvl="1">
              <a:lnSpc>
                <a:spcPts val="3274"/>
              </a:lnSpc>
              <a:buFont typeface="Arial"/>
              <a:buChar char="•"/>
            </a:pPr>
            <a:r>
              <a:rPr lang="en-US" sz="2549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conversión de unidades: 100 celsius = 212 fahrenheit.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94204" y="2876550"/>
            <a:ext cx="5080683" cy="6724650"/>
            <a:chOff x="0" y="0"/>
            <a:chExt cx="6774244" cy="896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4180" cy="8966200"/>
            </a:xfrm>
            <a:custGeom>
              <a:avLst/>
              <a:gdLst/>
              <a:ahLst/>
              <a:cxnLst/>
              <a:rect r="r" b="b" t="t" l="l"/>
              <a:pathLst>
                <a:path h="8966200" w="6774180">
                  <a:moveTo>
                    <a:pt x="0" y="0"/>
                  </a:moveTo>
                  <a:lnTo>
                    <a:pt x="6774180" y="0"/>
                  </a:lnTo>
                  <a:lnTo>
                    <a:pt x="6774180" y="8966200"/>
                  </a:lnTo>
                  <a:lnTo>
                    <a:pt x="0" y="896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17211" y="2876550"/>
            <a:ext cx="6320428" cy="6591300"/>
            <a:chOff x="0" y="0"/>
            <a:chExt cx="8427237" cy="8788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27212" cy="8788400"/>
            </a:xfrm>
            <a:custGeom>
              <a:avLst/>
              <a:gdLst/>
              <a:ahLst/>
              <a:cxnLst/>
              <a:rect r="r" b="b" t="t" l="l"/>
              <a:pathLst>
                <a:path h="8788400" w="8427212">
                  <a:moveTo>
                    <a:pt x="0" y="0"/>
                  </a:moveTo>
                  <a:lnTo>
                    <a:pt x="8427212" y="0"/>
                  </a:lnTo>
                  <a:lnTo>
                    <a:pt x="8427212" y="8788400"/>
                  </a:lnTo>
                  <a:lnTo>
                    <a:pt x="0" y="878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545" r="0" b="-10545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77221" y="2897486"/>
            <a:ext cx="489206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1127" indent="-220563" lvl="1">
              <a:lnSpc>
                <a:spcPts val="3129"/>
              </a:lnSpc>
              <a:buFont typeface="Arial"/>
              <a:buChar char="•"/>
            </a:pPr>
            <a:r>
              <a:rPr lang="en-US" b="true" sz="2437">
                <a:solidFill>
                  <a:srgbClr val="3D3D3D"/>
                </a:solidFill>
                <a:latin typeface="Cambria Bold"/>
                <a:ea typeface="Cambria Bold"/>
                <a:cs typeface="Cambria Bold"/>
                <a:sym typeface="Cambria Bold"/>
              </a:rPr>
              <a:t>1.5 	CREACIÓN DEL PROYECTO – CLIENTE WEB</a:t>
            </a:r>
          </a:p>
          <a:p>
            <a:pPr algn="just" marL="352901" indent="-176451" lvl="1">
              <a:lnSpc>
                <a:spcPts val="2503"/>
              </a:lnSpc>
            </a:pPr>
          </a:p>
          <a:p>
            <a:pPr algn="just" marL="352901" indent="-176451" lvl="1">
              <a:lnSpc>
                <a:spcPts val="2503"/>
              </a:lnSpc>
              <a:buFont typeface="Arial"/>
              <a:buChar char="•"/>
            </a:pPr>
            <a:r>
              <a:rPr lang="en-US" sz="195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Para el cliente web se creó una aplicación Blazor Server (.NET 10) que reutiliza la biblioteca compartida. El navegador nunca habla SOAP ni conoce el token.</a:t>
            </a:r>
          </a:p>
          <a:p>
            <a:pPr algn="just" marL="352901" indent="-176451" lvl="1">
              <a:lnSpc>
                <a:spcPts val="2503"/>
              </a:lnSpc>
              <a:buFont typeface="Arial"/>
              <a:buChar char="•"/>
            </a:pPr>
            <a:r>
              <a:rPr lang="en-US" sz="195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Estructura: Program.cs (registro de servicios), Components (App, Routes) y wwwroot (web.css e imágenes del login).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Program (web)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Arranque del cliente web: registra la sesión del cliente y las páginas compartidas. Fragmento 1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ClienteWeb.Components;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ec.edu.monster.Cliente.Servicios;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// Cliente web de "Conversion de Unidades Monster" (Blazor Server). El navegador nunca habla SOAP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// ni conoce el token: este servidor web llama al servicio SOAP y guarda el token en la sesion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// (circuito) de cada usuario.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//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// URL del servicio SOAP: variable CONUNI_URL o http://localhost:5080/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 builder = WebApplication.CreateBuilder(args);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(string.IsNullOrWhiteSpace(Environment.GetEnvironmentVariable("ASPNETCORE_URLS"))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&amp;&amp; !args.Any(a =&gt; a.StartsWith("--urls", StringComparison.OrdinalIgnoreCase)))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builder.WebHost.UseUrls("http://localhost:5090");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builder.WebHost.UseStaticWebAssets(); // sirve _content/... de la libreria compartida en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cualquier entorno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builder.Services.AddRazorComponents()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.AddInteractiveServerComponents();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builder.Services.AgregarClienteMonster();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 app = builder.Build();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(!app.Environment.IsDevelopment())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app.UseExceptionHandler("/Error", createScopeForErrors: true);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app.UseStatusCodePagesWithReExecute("/not-found", createScopeForStatusCodePages: true);</a:t>
              </a:r>
            </a:p>
            <a:p>
              <a:pPr algn="l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Program (web)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Arranque del cliente web: registra la sesión del cliente y las páginas compartidas. Fragmento 2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2268200" cy="92773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app.UseAntiforgery();</a:t>
              </a:r>
            </a:p>
            <a:p>
              <a:pPr algn="l">
                <a:lnSpc>
                  <a:spcPts val="3179"/>
                </a:lnSpc>
              </a:pPr>
            </a:p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app.MapStaticAssets();</a:t>
              </a:r>
            </a:p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app.MapRazorComponents&lt;App&gt;()</a:t>
              </a:r>
            </a:p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.AddInteractiveServerRenderMode()</a:t>
              </a:r>
            </a:p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.AddAdditionalAssemblies(typeof(SesionCliente).Assembly);</a:t>
              </a:r>
            </a:p>
            <a:p>
              <a:pPr algn="l">
                <a:lnSpc>
                  <a:spcPts val="3179"/>
                </a:lnSpc>
              </a:pPr>
            </a:p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app.Run();</a:t>
              </a:r>
            </a:p>
          </p:txBody>
        </p:sp>
      </p:grp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App.razor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Documento base: estilos compartidos y fondo del login solo para la web.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&lt;!DOCTYPE html&gt;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&lt;html lang="es"&gt;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&lt;head&gt;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&lt;meta charset="utf-8"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&lt;meta name="viewport" content="width=device-width, initial-scale=1.0"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&lt;base href="/"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&lt;ResourcePreloader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&lt;link rel="stylesheet" href="@Assets["_content/SistemaConversorUI.Shared/css/monster.css"]"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&lt;link rel="stylesheet" href="@Assets["web.css"]"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&lt;ImportMap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&lt;HeadOutlet @rendermode="InteractiveServer"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&lt;/head&gt;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&lt;body class="con-fondo"&gt;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&lt;Routes @rendermode="InteractiveServer"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&lt;ReconnectModal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&lt;script src="@Assets["_framework/blazor.web.js"]"&gt;&lt;/script&gt;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&lt;/body&gt;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&lt;/html&gt;</a:t>
              </a:r>
            </a:p>
          </p:txBody>
        </p:sp>
      </p:grp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9798" y="5758381"/>
            <a:ext cx="2157922" cy="78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3386" indent="-221693" lvl="1">
              <a:lnSpc>
                <a:spcPts val="3145"/>
              </a:lnSpc>
              <a:buFont typeface="Arial"/>
              <a:buChar char="•"/>
            </a:pPr>
            <a:r>
              <a:rPr lang="en-US" sz="2449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 (navegador).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11544" y="3766415"/>
            <a:ext cx="9992494" cy="5618040"/>
            <a:chOff x="0" y="0"/>
            <a:chExt cx="9779000" cy="54980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79000" cy="5497957"/>
            </a:xfrm>
            <a:custGeom>
              <a:avLst/>
              <a:gdLst/>
              <a:ahLst/>
              <a:cxnLst/>
              <a:rect r="r" b="b" t="t" l="l"/>
              <a:pathLst>
                <a:path h="5497957" w="9779000">
                  <a:moveTo>
                    <a:pt x="0" y="0"/>
                  </a:moveTo>
                  <a:lnTo>
                    <a:pt x="9779000" y="0"/>
                  </a:lnTo>
                  <a:lnTo>
                    <a:pt x="9779000" y="5497957"/>
                  </a:lnTo>
                  <a:lnTo>
                    <a:pt x="0" y="5497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71785" y="3159565"/>
            <a:ext cx="4892069" cy="867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9581" indent="-239790" lvl="1">
              <a:lnSpc>
                <a:spcPts val="3402"/>
              </a:lnSpc>
              <a:buFont typeface="Arial"/>
              <a:buChar char="•"/>
            </a:pPr>
            <a:r>
              <a:rPr lang="en-US" sz="2649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conversión de unidades (navegador).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47158" y="2934157"/>
            <a:ext cx="5928419" cy="7017763"/>
            <a:chOff x="0" y="0"/>
            <a:chExt cx="7574407" cy="896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74407" cy="8966200"/>
            </a:xfrm>
            <a:custGeom>
              <a:avLst/>
              <a:gdLst/>
              <a:ahLst/>
              <a:cxnLst/>
              <a:rect r="r" b="b" t="t" l="l"/>
              <a:pathLst>
                <a:path h="8966200" w="7574407">
                  <a:moveTo>
                    <a:pt x="0" y="0"/>
                  </a:moveTo>
                  <a:lnTo>
                    <a:pt x="7574407" y="0"/>
                  </a:lnTo>
                  <a:lnTo>
                    <a:pt x="7574407" y="8966200"/>
                  </a:lnTo>
                  <a:lnTo>
                    <a:pt x="0" y="896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489206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1127" indent="-220563" lvl="1">
              <a:lnSpc>
                <a:spcPts val="3129"/>
              </a:lnSpc>
              <a:buFont typeface="Arial"/>
              <a:buChar char="•"/>
            </a:pPr>
            <a:r>
              <a:rPr lang="en-US" b="true" sz="2437">
                <a:solidFill>
                  <a:srgbClr val="3D3D3D"/>
                </a:solidFill>
                <a:latin typeface="Cambria Bold"/>
                <a:ea typeface="Cambria Bold"/>
                <a:cs typeface="Cambria Bold"/>
                <a:sym typeface="Cambria Bold"/>
              </a:rPr>
              <a:t>1.6 	CREACIÓN DEL PROYECTO – CLIENTE MÓVIL</a:t>
            </a:r>
          </a:p>
          <a:p>
            <a:pPr algn="just" marL="352901" indent="-176451" lvl="1">
              <a:lnSpc>
                <a:spcPts val="2503"/>
              </a:lnSpc>
            </a:pPr>
          </a:p>
          <a:p>
            <a:pPr algn="just" marL="352901" indent="-176451" lvl="1">
              <a:lnSpc>
                <a:spcPts val="2503"/>
              </a:lnSpc>
              <a:buFont typeface="Arial"/>
              <a:buChar char="•"/>
            </a:pPr>
            <a:r>
              <a:rPr lang="en-US" sz="195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Para el cliente móvil se creó una aplicación .NET MAUI Blazor Hybrid para Android (.NET 10) que reutiliza la interfaz compartida.</a:t>
            </a:r>
          </a:p>
          <a:p>
            <a:pPr algn="just" marL="352901" indent="-176451" lvl="1">
              <a:lnSpc>
                <a:spcPts val="2503"/>
              </a:lnSpc>
              <a:buFont typeface="Arial"/>
              <a:buChar char="•"/>
            </a:pPr>
            <a:r>
              <a:rPr lang="en-US" sz="195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Estructura: MauiProgram, MainPage (BlazorWebView) y Platforms/Android (manifiesto y actividad principal).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7279" y="3219450"/>
            <a:ext cx="5380282" cy="5905500"/>
            <a:chOff x="0" y="0"/>
            <a:chExt cx="7173709" cy="787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73722" cy="7874000"/>
            </a:xfrm>
            <a:custGeom>
              <a:avLst/>
              <a:gdLst/>
              <a:ahLst/>
              <a:cxnLst/>
              <a:rect r="r" b="b" t="t" l="l"/>
              <a:pathLst>
                <a:path h="7874000" w="7173722">
                  <a:moveTo>
                    <a:pt x="0" y="0"/>
                  </a:moveTo>
                  <a:lnTo>
                    <a:pt x="7173722" y="0"/>
                  </a:lnTo>
                  <a:lnTo>
                    <a:pt x="7173722" y="7874000"/>
                  </a:lnTo>
                  <a:lnTo>
                    <a:pt x="0" y="787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MauiProgram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Configura la aplicación y apunta al servidor (10.0.2.2 en el emulador).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ec.edu.monster.Cliente.Servicios;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Microsoft.Extensions.Logging;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namespace ClienteMovil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public static class MauiProgram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const string UrlServidorEmulador = "http://10.0.2.2:5080/";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public static MauiApp CreateMauiApp()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{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var builder = MauiApp.CreateBuilder();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builder.UseMauiApp&lt;App&gt;();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builder.Services.AddMauiBlazorWebView();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builder.Services.AgregarClienteMonster(UrlServidorEmulador);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#if DEBUG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builder.Logging.AddDebug();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#endif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return builder.Build();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}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ClienteMovil.csproj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Proyecto MAUI para Android y referencia a la interfaz compartida.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1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&lt;Project Sdk="Microsoft.NET.Sdk.Razor"&gt;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&lt;PropertyGroup&gt;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&lt;TargetFrameworks&gt;net10.0-android&lt;/TargetFrameworks&gt;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&lt;OutputType&gt;Exe&lt;/OutputType&gt;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&lt;RootNamespace&gt;ClienteMovil&lt;/RootNamespace&gt;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&lt;UseMaui&gt;true&lt;/UseMaui&gt;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&lt;SingleProject&gt;true&lt;/SingleProject&gt;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&lt;ImplicitUsings&gt;enable&lt;/ImplicitUsings&gt;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&lt;Nullable&gt;enable&lt;/Nullable&gt;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&lt;EnableDefaultCssItems&gt;false&lt;/EnableDefaultCssItems&gt;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&lt;ApplicationTitle&gt;Conversión Monster&lt;/ApplicationTitle&gt;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&lt;ApplicationId&gt;ec.edu.monster.clientemovil&lt;/ApplicationId&gt;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&lt;ApplicationDisplayVersion&gt;1.0&lt;/ApplicationDisplayVersion&gt;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&lt;ApplicationVersion&gt;1&lt;/ApplicationVersion&gt;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&lt;SupportedOSPlatformVersion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Condition="$([MSBuild]::GetTargetPlatformIdentifier('$(TargetFramework)')) ==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'android'"&gt;24.0&lt;/SupportedOSPlatformVersion&gt;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&lt;/PropertyGroup&gt;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&lt;ItemGroup&gt;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&lt;MauiIcon Include="Resources\AppIcon\appicon.svg" Color="#1F3864"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&lt;MauiSplashScreen Include="Resources\Splash\splash.svg" Color="#1F3864" BaseSize="128,128"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&lt;/ItemGroup&gt;</a:t>
              </a:r>
            </a:p>
            <a:p>
              <a:pPr algn="l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ClienteMovil.csproj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Proyecto MAUI para Android y referencia a la interfaz compartida.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Fragmento 2 de 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&lt;ItemGroup&gt;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&lt;PackageReference Include="Microsoft.Extensions.Logging.Debug" Version="10.0.13"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&lt;PackageReference Include="Microsoft.Maui.Controls" Version="$(MauiVersion)"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&lt;PackageReference Include="Microsoft.AspNetCore.Components.WebView.Maui"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Version="$(MauiVersion)"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&lt;ProjectReference Include="..\..\04.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CLIESC\SistemaConversorUI.Shared\SistemaConversorUI.Shared.csproj"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&lt;/ItemGroup&gt;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&lt;/Project&gt;</a:t>
              </a:r>
            </a:p>
          </p:txBody>
        </p:sp>
      </p:grp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7221" y="2897486"/>
            <a:ext cx="3589049" cy="665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AndroidManifest.xml</a:t>
            </a:r>
          </a:p>
          <a:p>
            <a:pPr algn="just" marL="325755" indent="-162878" lvl="1">
              <a:lnSpc>
                <a:spcPts val="2311"/>
              </a:lnSpc>
              <a:buFont typeface="Arial"/>
              <a:buChar char="•"/>
            </a:pPr>
            <a:r>
              <a:rPr lang="en-US" sz="180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Permisos de red y HTTP sin cifrar para el servidor de práctica.</a:t>
            </a:r>
          </a:p>
          <a:p>
            <a:pPr algn="just" marL="325755" indent="-162878" lvl="1">
              <a:lnSpc>
                <a:spcPts val="23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57725" y="2809875"/>
            <a:ext cx="9201150" cy="6915150"/>
            <a:chOff x="0" y="0"/>
            <a:chExt cx="12268200" cy="922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68200" cy="9220200"/>
            </a:xfrm>
            <a:custGeom>
              <a:avLst/>
              <a:gdLst/>
              <a:ahLst/>
              <a:cxnLst/>
              <a:rect r="r" b="b" t="t" l="l"/>
              <a:pathLst>
                <a:path h="92202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220200"/>
                  </a:lnTo>
                  <a:lnTo>
                    <a:pt x="0" y="92202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F81B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268200" cy="92487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&lt;?xml version="1.0" encoding="utf-8"?&gt;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&lt;manifest xmlns:android="http://schemas.android.com/apk/res/android"&gt;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&lt;!-- usesCleartextTraffic: el servidor SOAP de desarrollo se consulta por http, sin TLS. --&gt;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&lt;application android:allowBackup="true" android:icon="@mipmap/appicon"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android:roundIcon="@mipmap/appicon_round" android:supportsRtl="true"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android:usesCleartextTraffic="true"&gt;&lt;/application&gt;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&lt;uses-permission android:name="android.permission.ACCESS_NETWORK_STATE"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&lt;uses-permission android:name="android.permission.INTERNET" /&gt;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81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&lt;/manifest&gt;</a:t>
              </a:r>
            </a:p>
          </p:txBody>
        </p:sp>
      </p:grp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05617" y="5728487"/>
            <a:ext cx="6630334" cy="51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1969" indent="-275984" lvl="1">
              <a:lnSpc>
                <a:spcPts val="3916"/>
              </a:lnSpc>
              <a:buFont typeface="Arial"/>
              <a:buChar char="•"/>
            </a:pPr>
            <a:r>
              <a:rPr lang="en-US" sz="3049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 (emulador de Android).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06932" y="3033558"/>
            <a:ext cx="3260205" cy="6882655"/>
            <a:chOff x="0" y="0"/>
            <a:chExt cx="4247147" cy="896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47134" cy="8966200"/>
            </a:xfrm>
            <a:custGeom>
              <a:avLst/>
              <a:gdLst/>
              <a:ahLst/>
              <a:cxnLst/>
              <a:rect r="r" b="b" t="t" l="l"/>
              <a:pathLst>
                <a:path h="8966200" w="4247134">
                  <a:moveTo>
                    <a:pt x="0" y="0"/>
                  </a:moveTo>
                  <a:lnTo>
                    <a:pt x="4247134" y="0"/>
                  </a:lnTo>
                  <a:lnTo>
                    <a:pt x="4247134" y="8966200"/>
                  </a:lnTo>
                  <a:lnTo>
                    <a:pt x="0" y="896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DESARROLLO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95328" y="5613526"/>
            <a:ext cx="4892069" cy="82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1484" indent="-230742" lvl="1">
              <a:lnSpc>
                <a:spcPts val="3274"/>
              </a:lnSpc>
              <a:buFont typeface="Arial"/>
              <a:buChar char="•"/>
            </a:pPr>
            <a:r>
              <a:rPr lang="en-US" sz="2549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conversión de unidades: 250 centímetros = 2.5 metros.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402336" y="2876550"/>
            <a:ext cx="3323251" cy="7015754"/>
            <a:chOff x="0" y="0"/>
            <a:chExt cx="4247147" cy="896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47134" cy="8966200"/>
            </a:xfrm>
            <a:custGeom>
              <a:avLst/>
              <a:gdLst/>
              <a:ahLst/>
              <a:cxnLst/>
              <a:rect r="r" b="b" t="t" l="l"/>
              <a:pathLst>
                <a:path h="8966200" w="4247134">
                  <a:moveTo>
                    <a:pt x="0" y="0"/>
                  </a:moveTo>
                  <a:lnTo>
                    <a:pt x="4247134" y="0"/>
                  </a:lnTo>
                  <a:lnTo>
                    <a:pt x="4247134" y="8966200"/>
                  </a:lnTo>
                  <a:lnTo>
                    <a:pt x="0" y="896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CONCLUSIONES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785" y="3270742"/>
            <a:ext cx="12883953" cy="5517452"/>
            <a:chOff x="0" y="0"/>
            <a:chExt cx="17178604" cy="73566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178599" cy="7356600"/>
            </a:xfrm>
            <a:custGeom>
              <a:avLst/>
              <a:gdLst/>
              <a:ahLst/>
              <a:cxnLst/>
              <a:rect r="r" b="b" t="t" l="l"/>
              <a:pathLst>
                <a:path h="7356600" w="17178599">
                  <a:moveTo>
                    <a:pt x="0" y="0"/>
                  </a:moveTo>
                  <a:lnTo>
                    <a:pt x="17178599" y="0"/>
                  </a:lnTo>
                  <a:lnTo>
                    <a:pt x="17178599" y="7356600"/>
                  </a:lnTo>
                  <a:lnTo>
                    <a:pt x="0" y="7356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44" t="0" r="-494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7178604" cy="73851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659"/>
                </a:lnSpc>
              </a:pPr>
              <a:r>
                <a:rPr lang="en-US" sz="2850">
                  <a:solidFill>
                    <a:srgbClr val="3D3D3D"/>
                  </a:solidFill>
                  <a:latin typeface="Cambria"/>
                  <a:ea typeface="Cambria"/>
                  <a:cs typeface="Cambria"/>
                  <a:sym typeface="Cambria"/>
                </a:rPr>
                <a:t>La culminación de este proyecto evidencia la efectividad de una Arquitectura Orientada a Servicios (SOA) al integrar un servidor SOAP desarrollado en .NET (CoreWCF sobre ASP.NET Core) con cuatro clientes (consola, escritorio, web y móvil Android) que consumen el mismo contrato WSDL. La seguridad se resolvió con tokens de vigencia limitada, validados en cada operación, y la respuesta estructurada con códigos de error permitió que todos los clientes traten los fallos de forma uniforme, reutilizando una misma interfaz en escritorio, web y móvil.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798" y="685800"/>
            <a:ext cx="5554980" cy="142494"/>
            <a:chOff x="0" y="0"/>
            <a:chExt cx="7406640" cy="189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6640" cy="189992"/>
            </a:xfrm>
            <a:custGeom>
              <a:avLst/>
              <a:gdLst/>
              <a:ahLst/>
              <a:cxnLst/>
              <a:rect r="r" b="b" t="t" l="l"/>
              <a:pathLst>
                <a:path h="18999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3222" y="680466"/>
            <a:ext cx="5554980" cy="147828"/>
            <a:chOff x="0" y="0"/>
            <a:chExt cx="7406640" cy="1971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06640" cy="197104"/>
            </a:xfrm>
            <a:custGeom>
              <a:avLst/>
              <a:gdLst/>
              <a:ahLst/>
              <a:cxnLst/>
              <a:rect r="r" b="b" t="t" l="l"/>
              <a:pathLst>
                <a:path h="19710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362748" y="685800"/>
            <a:ext cx="5554980" cy="137160"/>
            <a:chOff x="0" y="0"/>
            <a:chExt cx="7406640" cy="182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06640" cy="182880"/>
            </a:xfrm>
            <a:custGeom>
              <a:avLst/>
              <a:gdLst/>
              <a:ahLst/>
              <a:cxnLst/>
              <a:rect r="r" b="b" t="t" l="l"/>
              <a:pathLst>
                <a:path h="18288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4590B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0425" y="921610"/>
            <a:ext cx="16964006" cy="1783947"/>
            <a:chOff x="0" y="0"/>
            <a:chExt cx="22618675" cy="2378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18700" cy="2378583"/>
            </a:xfrm>
            <a:custGeom>
              <a:avLst/>
              <a:gdLst/>
              <a:ahLst/>
              <a:cxnLst/>
              <a:rect r="r" b="b" t="t" l="l"/>
              <a:pathLst>
                <a:path h="2378583" w="22618700">
                  <a:moveTo>
                    <a:pt x="0" y="0"/>
                  </a:moveTo>
                  <a:lnTo>
                    <a:pt x="22618700" y="0"/>
                  </a:lnTo>
                  <a:lnTo>
                    <a:pt x="22618700" y="2378583"/>
                  </a:lnTo>
                  <a:lnTo>
                    <a:pt x="0" y="2378583"/>
                  </a:lnTo>
                  <a:close/>
                </a:path>
              </a:pathLst>
            </a:custGeom>
            <a:solidFill>
              <a:srgbClr val="1A32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71785" y="1053236"/>
            <a:ext cx="16544249" cy="1520552"/>
            <a:chOff x="0" y="0"/>
            <a:chExt cx="22058998" cy="202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59001" cy="2027400"/>
            </a:xfrm>
            <a:custGeom>
              <a:avLst/>
              <a:gdLst/>
              <a:ahLst/>
              <a:cxnLst/>
              <a:rect r="r" b="b" t="t" l="l"/>
              <a:pathLst>
                <a:path h="2027400" w="22059001">
                  <a:moveTo>
                    <a:pt x="0" y="0"/>
                  </a:moveTo>
                  <a:lnTo>
                    <a:pt x="22059001" y="0"/>
                  </a:lnTo>
                  <a:lnTo>
                    <a:pt x="22059001" y="2027400"/>
                  </a:lnTo>
                  <a:lnTo>
                    <a:pt x="0" y="2027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05" r="0" b="-1620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2058998" cy="21131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Gill Sans Light"/>
                  <a:ea typeface="Gill Sans Light"/>
                  <a:cs typeface="Gill Sans Light"/>
                  <a:sym typeface="Gill Sans Light"/>
                </a:rPr>
                <a:t>RECOMENDACIONES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1804" y="3037989"/>
            <a:ext cx="12751203" cy="6436804"/>
            <a:chOff x="0" y="0"/>
            <a:chExt cx="17001604" cy="85824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01599" cy="8582400"/>
            </a:xfrm>
            <a:custGeom>
              <a:avLst/>
              <a:gdLst/>
              <a:ahLst/>
              <a:cxnLst/>
              <a:rect r="r" b="b" t="t" l="l"/>
              <a:pathLst>
                <a:path h="8582400" w="17001599">
                  <a:moveTo>
                    <a:pt x="0" y="0"/>
                  </a:moveTo>
                  <a:lnTo>
                    <a:pt x="17001599" y="0"/>
                  </a:lnTo>
                  <a:lnTo>
                    <a:pt x="17001599" y="8582400"/>
                  </a:lnTo>
                  <a:lnTo>
                    <a:pt x="0" y="8582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767" t="0" r="-1476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7001604" cy="8610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659"/>
                </a:lnSpc>
              </a:pPr>
              <a:r>
                <a:rPr lang="en-US" sz="2850">
                  <a:solidFill>
                    <a:srgbClr val="3D3D3D"/>
                  </a:solidFill>
                  <a:latin typeface="Cambria"/>
                  <a:ea typeface="Cambria"/>
                  <a:cs typeface="Cambria"/>
                  <a:sym typeface="Cambria"/>
                </a:rPr>
                <a:t>Integrar una base de datos (BDD) formal para reemplazar el manejo en memoria de credenciales y permitir el almacenamiento histórico de las conversiones de manera persistente y escalable.</a:t>
              </a:r>
            </a:p>
            <a:p>
              <a:pPr algn="just">
                <a:lnSpc>
                  <a:spcPts val="3659"/>
                </a:lnSpc>
              </a:pPr>
            </a:p>
            <a:p>
              <a:pPr algn="just">
                <a:lnSpc>
                  <a:spcPts val="3659"/>
                </a:lnSpc>
              </a:pPr>
              <a:r>
                <a:rPr lang="en-US" sz="2850">
                  <a:solidFill>
                    <a:srgbClr val="3D3D3D"/>
                  </a:solidFill>
                  <a:latin typeface="Cambria"/>
                  <a:ea typeface="Cambria"/>
                  <a:cs typeface="Cambria"/>
                  <a:sym typeface="Cambria"/>
                </a:rPr>
                <a:t>Integrar protocolos de cifrado a nivel de mensaje (WS-Security) y el uso de HTTPS en entornos de producción para proteger la integridad del token de seguridad y los datos sensibles durante el tránsito en la red.</a:t>
              </a:r>
            </a:p>
            <a:p>
              <a:pPr algn="just">
                <a:lnSpc>
                  <a:spcPts val="3659"/>
                </a:lnSpc>
              </a:pPr>
              <a:r>
                <a:rPr lang="en-US" sz="2850">
                  <a:solidFill>
                    <a:srgbClr val="3D3D3D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</a:p>
            <a:p>
              <a:pPr algn="just">
                <a:lnSpc>
                  <a:spcPts val="3659"/>
                </a:lnSpc>
              </a:pPr>
              <a:r>
                <a:rPr lang="en-US" sz="2850">
                  <a:solidFill>
                    <a:srgbClr val="3D3D3D"/>
                  </a:solidFill>
                  <a:latin typeface="Cambria"/>
                  <a:ea typeface="Cambria"/>
                  <a:cs typeface="Cambria"/>
                  <a:sym typeface="Cambria"/>
                </a:rPr>
                <a:t>Agregar nuevas categorías (volumen, tiempo y área) implementando la interfaz IConversor, e incorporar pruebas y análisis estático automatizados para asegurar que las nuevas funcionalidades no rompan la compatibilidad con el contrato WSDL expuesto.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058881" y="-16669"/>
            <a:ext cx="4245788" cy="10320338"/>
            <a:chOff x="0" y="0"/>
            <a:chExt cx="5661050" cy="137604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1025" cy="13760450"/>
            </a:xfrm>
            <a:custGeom>
              <a:avLst/>
              <a:gdLst/>
              <a:ahLst/>
              <a:cxnLst/>
              <a:rect r="r" b="b" t="t" l="l"/>
              <a:pathLst>
                <a:path h="13760450" w="5661025">
                  <a:moveTo>
                    <a:pt x="0" y="0"/>
                  </a:moveTo>
                  <a:lnTo>
                    <a:pt x="5661025" y="0"/>
                  </a:lnTo>
                  <a:lnTo>
                    <a:pt x="5661025" y="13760450"/>
                  </a:lnTo>
                  <a:lnTo>
                    <a:pt x="0" y="13760450"/>
                  </a:lnTo>
                  <a:close/>
                </a:path>
              </a:pathLst>
            </a:custGeom>
            <a:solidFill>
              <a:srgbClr val="1A3260"/>
            </a:solidFill>
            <a:ln w="33338" cap="sq">
              <a:solidFill>
                <a:srgbClr val="122446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661050" cy="1379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60"/>
                </a:lnSpc>
              </a:pP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DESARROLLO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OBJETIVO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SERVIDOR SOAP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CONSOLA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ESCRITORIO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WEB</a:t>
              </a:r>
            </a:p>
            <a:p>
              <a:pPr algn="l" marL="1011555" indent="-337185" lvl="2">
                <a:lnSpc>
                  <a:spcPts val="2160"/>
                </a:lnSpc>
                <a:buFont typeface="Arial"/>
                <a:buChar char="⚬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CREACIÓN DEL PROYECTO – CLIENTE MOVIL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FF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CONCLUSIONES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FFFF00"/>
                  </a:solidFill>
                  <a:latin typeface="Gill Sans Bold"/>
                  <a:ea typeface="Gill Sans Bold"/>
                  <a:cs typeface="Gill Sans Bold"/>
                  <a:sym typeface="Gill Sans Bold"/>
                </a:rPr>
                <a:t>RECOMENDACIONES</a:t>
              </a:r>
            </a:p>
            <a:p>
              <a:pPr algn="l" marL="325755" indent="-162878" lvl="1">
                <a:lnSpc>
                  <a:spcPts val="21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DAHZOko_Xms</dc:identifier>
  <dcterms:modified xsi:type="dcterms:W3CDTF">2011-08-01T06:04:30Z</dcterms:modified>
  <cp:revision>1</cp:revision>
  <dc:title>DESARROLLO OBJETIVO CREACIÓN DEL SERVIDOR SOAP CREACIÓN DEL PROYECTO – CLIENTE CONSOLA CREACIÓN DEL PROYECTO – CLIENTE ESCRITORIO CREACIÓN DEL PROYECTO – CLIENTE WEB CREACIÓN DEL PROYECTO – CLIENTE MOVIL CONCLUSIONES RECOMENDACIONES</dc:title>
</cp:coreProperties>
</file>