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x="18288000" cy="10287000"/>
  <p:notesSz cx="6858000" cy="9144000"/>
  <p:embeddedFontLst>
    <p:embeddedFont>
      <p:font typeface="Gill Sans Light" charset="1" panose="020B0302020104020203"/>
      <p:regular r:id="rId87"/>
    </p:embeddedFont>
    <p:embeddedFont>
      <p:font typeface="Gill Sans Bold" charset="1" panose="020B0802020104020203"/>
      <p:regular r:id="rId88"/>
    </p:embeddedFont>
    <p:embeddedFont>
      <p:font typeface="Cambria Bold" charset="1" panose="02040803050406030204"/>
      <p:regular r:id="rId89"/>
    </p:embeddedFont>
    <p:embeddedFont>
      <p:font typeface="Cambria" charset="1" panose="02040503050406030204"/>
      <p:regular r:id="rId90"/>
    </p:embeddedFont>
    <p:embeddedFont>
      <p:font typeface="Calibri (MS)" charset="1" panose="020F0502020204030204"/>
      <p:regular r:id="rId9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font" Target="fonts/font87.fntdata"/><Relationship Id="rId88" Type="http://schemas.openxmlformats.org/officeDocument/2006/relationships/font" Target="fonts/font88.fntdata"/><Relationship Id="rId89" Type="http://schemas.openxmlformats.org/officeDocument/2006/relationships/font" Target="fonts/font89.fntdata"/><Relationship Id="rId90" Type="http://schemas.openxmlformats.org/officeDocument/2006/relationships/font" Target="fonts/font90.fntdata"/><Relationship Id="rId91" Type="http://schemas.openxmlformats.org/officeDocument/2006/relationships/font" Target="fonts/font9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9798" y="4628645"/>
            <a:ext cx="16894302" cy="4957201"/>
            <a:chOff x="0" y="0"/>
            <a:chExt cx="22525736" cy="6609601"/>
          </a:xfrm>
        </p:grpSpPr>
        <p:sp>
          <p:nvSpPr>
            <p:cNvPr name="Freeform 9" id="9"/>
            <p:cNvSpPr/>
            <p:nvPr/>
          </p:nvSpPr>
          <p:spPr>
            <a:xfrm flipH="false" flipV="false" rot="0">
              <a:off x="0" y="0"/>
              <a:ext cx="22525737" cy="6609588"/>
            </a:xfrm>
            <a:custGeom>
              <a:avLst/>
              <a:gdLst/>
              <a:ahLst/>
              <a:cxnLst/>
              <a:rect r="r" b="b" t="t" l="l"/>
              <a:pathLst>
                <a:path h="6609588" w="22525737">
                  <a:moveTo>
                    <a:pt x="0" y="0"/>
                  </a:moveTo>
                  <a:lnTo>
                    <a:pt x="22525737" y="0"/>
                  </a:lnTo>
                  <a:lnTo>
                    <a:pt x="22525737" y="6609588"/>
                  </a:lnTo>
                  <a:lnTo>
                    <a:pt x="0" y="6609588"/>
                  </a:lnTo>
                  <a:close/>
                </a:path>
              </a:pathLst>
            </a:custGeom>
            <a:solidFill>
              <a:srgbClr val="1A3260"/>
            </a:solidFill>
          </p:spPr>
        </p:sp>
      </p:grpSp>
      <p:grpSp>
        <p:nvGrpSpPr>
          <p:cNvPr name="Group 10" id="10"/>
          <p:cNvGrpSpPr/>
          <p:nvPr/>
        </p:nvGrpSpPr>
        <p:grpSpPr>
          <a:xfrm rot="0">
            <a:off x="898836" y="4737849"/>
            <a:ext cx="16490328" cy="2367610"/>
            <a:chOff x="0" y="0"/>
            <a:chExt cx="21987104" cy="3156814"/>
          </a:xfrm>
        </p:grpSpPr>
        <p:sp>
          <p:nvSpPr>
            <p:cNvPr name="Freeform 11" id="11"/>
            <p:cNvSpPr/>
            <p:nvPr/>
          </p:nvSpPr>
          <p:spPr>
            <a:xfrm flipH="false" flipV="false" rot="0">
              <a:off x="0" y="0"/>
              <a:ext cx="21987098" cy="3156818"/>
            </a:xfrm>
            <a:custGeom>
              <a:avLst/>
              <a:gdLst/>
              <a:ahLst/>
              <a:cxnLst/>
              <a:rect r="r" b="b" t="t" l="l"/>
              <a:pathLst>
                <a:path h="3156818" w="21987098">
                  <a:moveTo>
                    <a:pt x="0" y="0"/>
                  </a:moveTo>
                  <a:lnTo>
                    <a:pt x="21987098" y="0"/>
                  </a:lnTo>
                  <a:lnTo>
                    <a:pt x="21987098" y="3156818"/>
                  </a:lnTo>
                  <a:lnTo>
                    <a:pt x="0" y="3156818"/>
                  </a:lnTo>
                  <a:close/>
                </a:path>
              </a:pathLst>
            </a:custGeom>
            <a:blipFill>
              <a:blip r:embed="rId2">
                <a:alphaModFix amt="0"/>
              </a:blip>
              <a:stretch>
                <a:fillRect l="0" t="-85712" r="0" b="-85712"/>
              </a:stretch>
            </a:blipFill>
          </p:spPr>
        </p:sp>
        <p:sp>
          <p:nvSpPr>
            <p:cNvPr name="TextBox 12" id="12"/>
            <p:cNvSpPr txBox="true"/>
            <p:nvPr/>
          </p:nvSpPr>
          <p:spPr>
            <a:xfrm>
              <a:off x="0" y="-104775"/>
              <a:ext cx="21987104" cy="3261589"/>
            </a:xfrm>
            <a:prstGeom prst="rect">
              <a:avLst/>
            </a:prstGeom>
          </p:spPr>
          <p:txBody>
            <a:bodyPr anchor="b" rtlCol="false" tIns="0" lIns="0" bIns="0" rIns="0"/>
            <a:lstStyle/>
            <a:p>
              <a:pPr algn="ctr">
                <a:lnSpc>
                  <a:spcPts val="6480"/>
                </a:lnSpc>
              </a:pPr>
              <a:r>
                <a:rPr lang="en-US" sz="5400">
                  <a:solidFill>
                    <a:srgbClr val="FFFFFF"/>
                  </a:solidFill>
                  <a:latin typeface="Gill Sans Light"/>
                  <a:ea typeface="Gill Sans Light"/>
                  <a:cs typeface="Gill Sans Light"/>
                  <a:sym typeface="Gill Sans Light"/>
                </a:rPr>
                <a:t>MANUAL</a:t>
              </a:r>
            </a:p>
            <a:p>
              <a:pPr algn="ctr">
                <a:lnSpc>
                  <a:spcPts val="6480"/>
                </a:lnSpc>
              </a:pPr>
              <a:r>
                <a:rPr lang="en-US" sz="5400">
                  <a:solidFill>
                    <a:srgbClr val="FFFFFF"/>
                  </a:solidFill>
                  <a:latin typeface="Gill Sans Light"/>
                  <a:ea typeface="Gill Sans Light"/>
                  <a:cs typeface="Gill Sans Light"/>
                  <a:sym typeface="Gill Sans Light"/>
                </a:rPr>
                <a:t>CONVERSIÓN UNIDADES SOAP JAVA</a:t>
              </a:r>
            </a:p>
          </p:txBody>
        </p:sp>
      </p:grpSp>
      <p:sp>
        <p:nvSpPr>
          <p:cNvPr name="TextBox 13" id="13"/>
          <p:cNvSpPr txBox="true"/>
          <p:nvPr/>
        </p:nvSpPr>
        <p:spPr>
          <a:xfrm rot="0">
            <a:off x="990267" y="6856076"/>
            <a:ext cx="6209443" cy="1857375"/>
          </a:xfrm>
          <a:prstGeom prst="rect">
            <a:avLst/>
          </a:prstGeom>
        </p:spPr>
        <p:txBody>
          <a:bodyPr anchor="t" rtlCol="false" tIns="0" lIns="0" bIns="0" rIns="0">
            <a:spAutoFit/>
          </a:bodyPr>
          <a:lstStyle/>
          <a:p>
            <a:pPr algn="l">
              <a:lnSpc>
                <a:spcPts val="2879"/>
              </a:lnSpc>
            </a:pPr>
          </a:p>
          <a:p>
            <a:pPr algn="l">
              <a:lnSpc>
                <a:spcPts val="2879"/>
              </a:lnSpc>
            </a:pPr>
            <a:r>
              <a:rPr lang="en-US" sz="2400" b="true">
                <a:solidFill>
                  <a:srgbClr val="FFFFFF"/>
                </a:solidFill>
                <a:latin typeface="Gill Sans Bold"/>
                <a:ea typeface="Gill Sans Bold"/>
                <a:cs typeface="Gill Sans Bold"/>
                <a:sym typeface="Gill Sans Bold"/>
              </a:rPr>
              <a:t>INTEGRANTES:</a:t>
            </a:r>
            <a:r>
              <a:rPr lang="en-US" sz="2400">
                <a:solidFill>
                  <a:srgbClr val="FFFFFF"/>
                </a:solidFill>
                <a:latin typeface="Gill Sans Light"/>
                <a:ea typeface="Gill Sans Light"/>
                <a:cs typeface="Gill Sans Light"/>
                <a:sym typeface="Gill Sans Light"/>
              </a:rPr>
              <a:t> 	</a:t>
            </a:r>
          </a:p>
          <a:p>
            <a:pPr algn="l" marL="518160" indent="-259080" lvl="1">
              <a:lnSpc>
                <a:spcPts val="2879"/>
              </a:lnSpc>
              <a:buFont typeface="Arial"/>
              <a:buChar char="•"/>
            </a:pPr>
            <a:r>
              <a:rPr lang="en-US" sz="2400">
                <a:solidFill>
                  <a:srgbClr val="FFFFFF"/>
                </a:solidFill>
                <a:latin typeface="Gill Sans Light"/>
                <a:ea typeface="Gill Sans Light"/>
                <a:cs typeface="Gill Sans Light"/>
                <a:sym typeface="Gill Sans Light"/>
              </a:rPr>
              <a:t>MIRANDA ALISON					</a:t>
            </a:r>
          </a:p>
          <a:p>
            <a:pPr algn="l" marL="518160" indent="-259080" lvl="1">
              <a:lnSpc>
                <a:spcPts val="2879"/>
              </a:lnSpc>
              <a:buFont typeface="Arial"/>
              <a:buChar char="•"/>
            </a:pPr>
            <a:r>
              <a:rPr lang="en-US" sz="2400">
                <a:solidFill>
                  <a:srgbClr val="FFFFFF"/>
                </a:solidFill>
                <a:latin typeface="Gill Sans Light"/>
                <a:ea typeface="Gill Sans Light"/>
                <a:cs typeface="Gill Sans Light"/>
                <a:sym typeface="Gill Sans Light"/>
              </a:rPr>
              <a:t>MORÁN LENIN			         	</a:t>
            </a:r>
          </a:p>
          <a:p>
            <a:pPr algn="l" marL="518160" indent="-259080" lvl="1">
              <a:lnSpc>
                <a:spcPts val="2879"/>
              </a:lnSpc>
              <a:buFont typeface="Arial"/>
              <a:buChar char="•"/>
            </a:pPr>
            <a:r>
              <a:rPr lang="en-US" sz="2400">
                <a:solidFill>
                  <a:srgbClr val="FFFFFF"/>
                </a:solidFill>
                <a:latin typeface="Gill Sans Light"/>
                <a:ea typeface="Gill Sans Light"/>
                <a:cs typeface="Gill Sans Light"/>
                <a:sym typeface="Gill Sans Light"/>
              </a:rPr>
              <a:t>VIVANCO GABRIEL</a:t>
            </a:r>
          </a:p>
        </p:txBody>
      </p:sp>
      <p:grpSp>
        <p:nvGrpSpPr>
          <p:cNvPr name="Group 14" id="14"/>
          <p:cNvGrpSpPr/>
          <p:nvPr/>
        </p:nvGrpSpPr>
        <p:grpSpPr>
          <a:xfrm rot="0">
            <a:off x="479393" y="1074449"/>
            <a:ext cx="17471250" cy="3290888"/>
            <a:chOff x="0" y="0"/>
            <a:chExt cx="23295000" cy="4387850"/>
          </a:xfrm>
        </p:grpSpPr>
        <p:sp>
          <p:nvSpPr>
            <p:cNvPr name="Freeform 15" id="15" descr="Resultado de imagen para espe"/>
            <p:cNvSpPr/>
            <p:nvPr/>
          </p:nvSpPr>
          <p:spPr>
            <a:xfrm flipH="false" flipV="false" rot="0">
              <a:off x="0" y="0"/>
              <a:ext cx="23294975" cy="4387850"/>
            </a:xfrm>
            <a:custGeom>
              <a:avLst/>
              <a:gdLst/>
              <a:ahLst/>
              <a:cxnLst/>
              <a:rect r="r" b="b" t="t" l="l"/>
              <a:pathLst>
                <a:path h="4387850" w="23294975">
                  <a:moveTo>
                    <a:pt x="0" y="0"/>
                  </a:moveTo>
                  <a:lnTo>
                    <a:pt x="23294975" y="0"/>
                  </a:lnTo>
                  <a:lnTo>
                    <a:pt x="23294975" y="4387850"/>
                  </a:lnTo>
                  <a:lnTo>
                    <a:pt x="0" y="4387850"/>
                  </a:lnTo>
                  <a:lnTo>
                    <a:pt x="0" y="0"/>
                  </a:lnTo>
                  <a:close/>
                </a:path>
              </a:pathLst>
            </a:custGeom>
            <a:blipFill>
              <a:blip r:embed="rId3"/>
              <a:stretch>
                <a:fillRect l="0" t="0" r="-4644" b="0"/>
              </a:stretch>
            </a:blipFill>
          </p:spPr>
        </p:sp>
      </p:grpSp>
      <p:sp>
        <p:nvSpPr>
          <p:cNvPr name="TextBox 16" id="16"/>
          <p:cNvSpPr txBox="true"/>
          <p:nvPr/>
        </p:nvSpPr>
        <p:spPr>
          <a:xfrm rot="0">
            <a:off x="13647020" y="7950775"/>
            <a:ext cx="6209443" cy="771525"/>
          </a:xfrm>
          <a:prstGeom prst="rect">
            <a:avLst/>
          </a:prstGeom>
        </p:spPr>
        <p:txBody>
          <a:bodyPr anchor="t" rtlCol="false" tIns="0" lIns="0" bIns="0" rIns="0">
            <a:spAutoFit/>
          </a:bodyPr>
          <a:lstStyle/>
          <a:p>
            <a:pPr algn="l">
              <a:lnSpc>
                <a:spcPts val="2879"/>
              </a:lnSpc>
            </a:pPr>
            <a:r>
              <a:rPr lang="en-US" b="true" sz="2400">
                <a:solidFill>
                  <a:srgbClr val="FFFFFF"/>
                </a:solidFill>
                <a:latin typeface="Gill Sans Bold"/>
                <a:ea typeface="Gill Sans Bold"/>
                <a:cs typeface="Gill Sans Bold"/>
                <a:sym typeface="Gill Sans Bold"/>
              </a:rPr>
              <a:t>FECHA:  29/10/2026</a:t>
            </a:r>
          </a:p>
          <a:p>
            <a:pPr algn="l">
              <a:lnSpc>
                <a:spcPts val="2879"/>
              </a:lnSpc>
            </a:pPr>
            <a:r>
              <a:rPr lang="en-US" b="true" sz="2400">
                <a:solidFill>
                  <a:srgbClr val="FFFFFF"/>
                </a:solidFill>
                <a:latin typeface="Gill Sans Bold"/>
                <a:ea typeface="Gill Sans Bold"/>
                <a:cs typeface="Gill Sans Bold"/>
                <a:sym typeface="Gill Sans Bold"/>
              </a:rPr>
              <a:t>ING: </a:t>
            </a:r>
            <a:r>
              <a:rPr lang="en-US" sz="2400">
                <a:solidFill>
                  <a:srgbClr val="FFFFFF"/>
                </a:solidFill>
                <a:latin typeface="Gill Sans Light"/>
                <a:ea typeface="Gill Sans Light"/>
                <a:cs typeface="Gill Sans Light"/>
                <a:sym typeface="Gill Sans Light"/>
              </a:rPr>
              <a:t>CAMPAÑA MAURICIO</a:t>
            </a:r>
          </a:p>
        </p:txBody>
      </p:sp>
      <p:sp>
        <p:nvSpPr>
          <p:cNvPr name="TextBox 17" id="17"/>
          <p:cNvSpPr txBox="true"/>
          <p:nvPr/>
        </p:nvSpPr>
        <p:spPr>
          <a:xfrm rot="0">
            <a:off x="17817941" y="9690097"/>
            <a:ext cx="378638" cy="575443"/>
          </a:xfrm>
          <a:prstGeom prst="rect">
            <a:avLst/>
          </a:prstGeom>
        </p:spPr>
        <p:txBody>
          <a:bodyPr anchor="t" rtlCol="false" tIns="0" lIns="0" bIns="0" rIns="0">
            <a:spAutoFit/>
          </a:bodyPr>
          <a:lstStyle/>
          <a:p>
            <a:pPr algn="l">
              <a:lnSpc>
                <a:spcPts val="3600"/>
              </a:lnSpc>
            </a:pPr>
            <a:r>
              <a:rPr lang="en-US" sz="3000">
                <a:solidFill>
                  <a:srgbClr val="000000"/>
                </a:solidFill>
                <a:latin typeface="Gill Sans Light"/>
                <a:ea typeface="Gill Sans Light"/>
                <a:cs typeface="Gill Sans Light"/>
                <a:sym typeface="Gill Sans Light"/>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0" y="921610"/>
            <a:ext cx="18288000" cy="9365390"/>
            <a:chOff x="0" y="0"/>
            <a:chExt cx="24384000" cy="12487186"/>
          </a:xfrm>
        </p:grpSpPr>
        <p:sp>
          <p:nvSpPr>
            <p:cNvPr name="Freeform 11" id="11"/>
            <p:cNvSpPr/>
            <p:nvPr/>
          </p:nvSpPr>
          <p:spPr>
            <a:xfrm flipH="false" flipV="false" rot="0">
              <a:off x="0" y="0"/>
              <a:ext cx="24384000" cy="12487148"/>
            </a:xfrm>
            <a:custGeom>
              <a:avLst/>
              <a:gdLst/>
              <a:ahLst/>
              <a:cxnLst/>
              <a:rect r="r" b="b" t="t" l="l"/>
              <a:pathLst>
                <a:path h="12487148" w="24384000">
                  <a:moveTo>
                    <a:pt x="0" y="0"/>
                  </a:moveTo>
                  <a:lnTo>
                    <a:pt x="24384000" y="0"/>
                  </a:lnTo>
                  <a:lnTo>
                    <a:pt x="24384000" y="12487148"/>
                  </a:lnTo>
                  <a:lnTo>
                    <a:pt x="0" y="12487148"/>
                  </a:lnTo>
                  <a:close/>
                </a:path>
              </a:pathLst>
            </a:custGeom>
            <a:solidFill>
              <a:srgbClr val="FFFFFF"/>
            </a:solidFill>
          </p:spPr>
        </p:sp>
      </p:grpSp>
      <p:grpSp>
        <p:nvGrpSpPr>
          <p:cNvPr name="Group 12" id="12"/>
          <p:cNvGrpSpPr/>
          <p:nvPr/>
        </p:nvGrpSpPr>
        <p:grpSpPr>
          <a:xfrm rot="0">
            <a:off x="663569" y="921610"/>
            <a:ext cx="5561219" cy="8417662"/>
            <a:chOff x="0" y="0"/>
            <a:chExt cx="7414958" cy="11223549"/>
          </a:xfrm>
        </p:grpSpPr>
        <p:sp>
          <p:nvSpPr>
            <p:cNvPr name="Freeform 13" id="13"/>
            <p:cNvSpPr/>
            <p:nvPr/>
          </p:nvSpPr>
          <p:spPr>
            <a:xfrm flipH="false" flipV="false" rot="0">
              <a:off x="0" y="0"/>
              <a:ext cx="7414895" cy="11223498"/>
            </a:xfrm>
            <a:custGeom>
              <a:avLst/>
              <a:gdLst/>
              <a:ahLst/>
              <a:cxnLst/>
              <a:rect r="r" b="b" t="t" l="l"/>
              <a:pathLst>
                <a:path h="11223498" w="7414895">
                  <a:moveTo>
                    <a:pt x="0" y="0"/>
                  </a:moveTo>
                  <a:lnTo>
                    <a:pt x="7414895" y="0"/>
                  </a:lnTo>
                  <a:lnTo>
                    <a:pt x="7414895" y="11223498"/>
                  </a:lnTo>
                  <a:lnTo>
                    <a:pt x="0" y="11223498"/>
                  </a:lnTo>
                  <a:close/>
                </a:path>
              </a:pathLst>
            </a:custGeom>
            <a:solidFill>
              <a:srgbClr val="1A3260"/>
            </a:solidFill>
          </p:spPr>
        </p:sp>
      </p:grpSp>
      <p:grpSp>
        <p:nvGrpSpPr>
          <p:cNvPr name="Group 14" id="14"/>
          <p:cNvGrpSpPr/>
          <p:nvPr/>
        </p:nvGrpSpPr>
        <p:grpSpPr>
          <a:xfrm rot="0">
            <a:off x="894521" y="1052008"/>
            <a:ext cx="5084588" cy="8136379"/>
            <a:chOff x="0" y="0"/>
            <a:chExt cx="6779451" cy="10848505"/>
          </a:xfrm>
        </p:grpSpPr>
        <p:sp>
          <p:nvSpPr>
            <p:cNvPr name="Freeform 15" id="15"/>
            <p:cNvSpPr/>
            <p:nvPr/>
          </p:nvSpPr>
          <p:spPr>
            <a:xfrm flipH="false" flipV="false" rot="0">
              <a:off x="0" y="0"/>
              <a:ext cx="6779452" cy="10848510"/>
            </a:xfrm>
            <a:custGeom>
              <a:avLst/>
              <a:gdLst/>
              <a:ahLst/>
              <a:cxnLst/>
              <a:rect r="r" b="b" t="t" l="l"/>
              <a:pathLst>
                <a:path h="10848510" w="6779452">
                  <a:moveTo>
                    <a:pt x="0" y="0"/>
                  </a:moveTo>
                  <a:lnTo>
                    <a:pt x="6779452" y="0"/>
                  </a:lnTo>
                  <a:lnTo>
                    <a:pt x="6779452" y="10848510"/>
                  </a:lnTo>
                  <a:lnTo>
                    <a:pt x="0" y="10848510"/>
                  </a:lnTo>
                  <a:close/>
                </a:path>
              </a:pathLst>
            </a:custGeom>
            <a:blipFill>
              <a:blip r:embed="rId2">
                <a:alphaModFix amt="0"/>
              </a:blip>
              <a:stretch>
                <a:fillRect l="-155311" t="0" r="-155311" b="0"/>
              </a:stretch>
            </a:blipFill>
          </p:spPr>
        </p:sp>
        <p:sp>
          <p:nvSpPr>
            <p:cNvPr name="TextBox 16" id="16"/>
            <p:cNvSpPr txBox="true"/>
            <p:nvPr/>
          </p:nvSpPr>
          <p:spPr>
            <a:xfrm>
              <a:off x="0" y="-28575"/>
              <a:ext cx="6779451" cy="10877080"/>
            </a:xfrm>
            <a:prstGeom prst="rect">
              <a:avLst/>
            </a:prstGeom>
          </p:spPr>
          <p:txBody>
            <a:bodyPr anchor="ctr" rtlCol="false" tIns="0" lIns="0" bIns="0" rIns="0"/>
            <a:lstStyle/>
            <a:p>
              <a:pPr algn="l" marL="488632" indent="-244316" lvl="1">
                <a:lnSpc>
                  <a:spcPts val="2916"/>
                </a:lnSpc>
                <a:buFont typeface="Arial"/>
                <a:buChar char="•"/>
              </a:pPr>
              <a:r>
                <a:rPr lang="en-US" sz="2700">
                  <a:solidFill>
                    <a:srgbClr val="FFFFFF"/>
                  </a:solidFill>
                  <a:latin typeface="Gill Sans Light"/>
                  <a:ea typeface="Gill Sans Light"/>
                  <a:cs typeface="Gill Sans Light"/>
                  <a:sym typeface="Gill Sans Light"/>
                </a:rPr>
                <a:t>DESARROLLO</a:t>
              </a:r>
            </a:p>
            <a:p>
              <a:pPr algn="l" marL="899309" indent="-299770" lvl="2">
                <a:lnSpc>
                  <a:spcPts val="2592"/>
                </a:lnSpc>
                <a:buFont typeface="Arial"/>
                <a:buChar char="⚬"/>
              </a:pPr>
              <a:r>
                <a:rPr lang="en-US" sz="2400">
                  <a:solidFill>
                    <a:srgbClr val="FFFFFF"/>
                  </a:solidFill>
                  <a:latin typeface="Gill Sans Light"/>
                  <a:ea typeface="Gill Sans Light"/>
                  <a:cs typeface="Gill Sans Light"/>
                  <a:sym typeface="Gill Sans Light"/>
                </a:rPr>
                <a:t>OBJETIVO</a:t>
              </a:r>
            </a:p>
            <a:p>
              <a:pPr algn="l" marL="899309" indent="-299770" lvl="2">
                <a:lnSpc>
                  <a:spcPts val="2592"/>
                </a:lnSpc>
                <a:buFont typeface="Arial"/>
                <a:buChar char="⚬"/>
              </a:pPr>
              <a:r>
                <a:rPr lang="en-US" sz="2400">
                  <a:solidFill>
                    <a:srgbClr val="FFFFFF"/>
                  </a:solidFill>
                  <a:latin typeface="Gill Sans Light"/>
                  <a:ea typeface="Gill Sans Light"/>
                  <a:cs typeface="Gill Sans Light"/>
                  <a:sym typeface="Gill Sans Light"/>
                </a:rPr>
                <a:t>CREACIÓN DEL SERVIDOR SOAP EN JAVA</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CONSOLA</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ESCRITORIO</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WEB</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MÓVIL</a:t>
              </a:r>
            </a:p>
            <a:p>
              <a:pPr algn="l" marL="488632" indent="-244316" lvl="1">
                <a:lnSpc>
                  <a:spcPts val="2916"/>
                </a:lnSpc>
                <a:buFont typeface="Arial"/>
                <a:buChar char="•"/>
              </a:pPr>
              <a:r>
                <a:rPr lang="en-US" sz="2700">
                  <a:solidFill>
                    <a:srgbClr val="FFFFFF"/>
                  </a:solidFill>
                  <a:latin typeface="Gill Sans Light"/>
                  <a:ea typeface="Gill Sans Light"/>
                  <a:cs typeface="Gill Sans Light"/>
                  <a:sym typeface="Gill Sans Light"/>
                </a:rPr>
                <a:t>CONCLUSIONES</a:t>
              </a:r>
            </a:p>
            <a:p>
              <a:pPr algn="l" marL="488632" indent="-244316" lvl="1">
                <a:lnSpc>
                  <a:spcPts val="2916"/>
                </a:lnSpc>
                <a:buFont typeface="Arial"/>
                <a:buChar char="•"/>
              </a:pPr>
              <a:r>
                <a:rPr lang="en-US" sz="2700">
                  <a:solidFill>
                    <a:srgbClr val="FFFFFF"/>
                  </a:solidFill>
                  <a:latin typeface="Gill Sans Light"/>
                  <a:ea typeface="Gill Sans Light"/>
                  <a:cs typeface="Gill Sans Light"/>
                  <a:sym typeface="Gill Sans Light"/>
                </a:rPr>
                <a:t>RECOMENDACIONES</a:t>
              </a:r>
            </a:p>
          </p:txBody>
        </p:sp>
      </p:grpSp>
      <p:grpSp>
        <p:nvGrpSpPr>
          <p:cNvPr name="Group 17" id="17"/>
          <p:cNvGrpSpPr/>
          <p:nvPr/>
        </p:nvGrpSpPr>
        <p:grpSpPr>
          <a:xfrm rot="0">
            <a:off x="7187279" y="2903363"/>
            <a:ext cx="9734731" cy="4511211"/>
            <a:chOff x="0" y="0"/>
            <a:chExt cx="12979641" cy="6014949"/>
          </a:xfrm>
        </p:grpSpPr>
        <p:sp>
          <p:nvSpPr>
            <p:cNvPr name="Freeform 18" id="18" descr="Resultado de imagen para AGENDA PNG"/>
            <p:cNvSpPr/>
            <p:nvPr/>
          </p:nvSpPr>
          <p:spPr>
            <a:xfrm flipH="false" flipV="false" rot="0">
              <a:off x="0" y="0"/>
              <a:ext cx="12979654" cy="6014974"/>
            </a:xfrm>
            <a:custGeom>
              <a:avLst/>
              <a:gdLst/>
              <a:ahLst/>
              <a:cxnLst/>
              <a:rect r="r" b="b" t="t" l="l"/>
              <a:pathLst>
                <a:path h="6014974" w="12979654">
                  <a:moveTo>
                    <a:pt x="0" y="0"/>
                  </a:moveTo>
                  <a:lnTo>
                    <a:pt x="12979654" y="0"/>
                  </a:lnTo>
                  <a:lnTo>
                    <a:pt x="12979654" y="6014974"/>
                  </a:lnTo>
                  <a:lnTo>
                    <a:pt x="0" y="6014974"/>
                  </a:lnTo>
                  <a:lnTo>
                    <a:pt x="0" y="0"/>
                  </a:lnTo>
                  <a:close/>
                </a:path>
              </a:pathLst>
            </a:custGeom>
            <a:blipFill>
              <a:blip r:embed="rId3"/>
              <a:stretch>
                <a:fillRect l="0" t="0" r="0" b="0"/>
              </a:stretch>
            </a:blipFill>
          </p:spPr>
        </p:sp>
      </p:grpSp>
      <p:sp>
        <p:nvSpPr>
          <p:cNvPr name="TextBox 19" id="19"/>
          <p:cNvSpPr txBox="true"/>
          <p:nvPr/>
        </p:nvSpPr>
        <p:spPr>
          <a:xfrm rot="0">
            <a:off x="17817941" y="9690097"/>
            <a:ext cx="378638" cy="575443"/>
          </a:xfrm>
          <a:prstGeom prst="rect">
            <a:avLst/>
          </a:prstGeom>
        </p:spPr>
        <p:txBody>
          <a:bodyPr anchor="t" rtlCol="false" tIns="0" lIns="0" bIns="0" rIns="0">
            <a:spAutoFit/>
          </a:bodyPr>
          <a:lstStyle/>
          <a:p>
            <a:pPr algn="l">
              <a:lnSpc>
                <a:spcPts val="3600"/>
              </a:lnSpc>
            </a:pPr>
            <a:r>
              <a:rPr lang="en-US" sz="3000">
                <a:solidFill>
                  <a:srgbClr val="000000"/>
                </a:solidFill>
                <a:latin typeface="Gill Sans Light"/>
                <a:ea typeface="Gill Sans Light"/>
                <a:cs typeface="Gill Sans Light"/>
                <a:sym typeface="Gill Sans Light"/>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871785" y="3270742"/>
            <a:ext cx="12883953" cy="5517452"/>
            <a:chOff x="0" y="0"/>
            <a:chExt cx="17178604" cy="7356602"/>
          </a:xfrm>
        </p:grpSpPr>
        <p:sp>
          <p:nvSpPr>
            <p:cNvPr name="Freeform 14" id="14"/>
            <p:cNvSpPr/>
            <p:nvPr/>
          </p:nvSpPr>
          <p:spPr>
            <a:xfrm flipH="false" flipV="false" rot="0">
              <a:off x="0" y="0"/>
              <a:ext cx="17178599" cy="7356600"/>
            </a:xfrm>
            <a:custGeom>
              <a:avLst/>
              <a:gdLst/>
              <a:ahLst/>
              <a:cxnLst/>
              <a:rect r="r" b="b" t="t" l="l"/>
              <a:pathLst>
                <a:path h="7356600" w="17178599">
                  <a:moveTo>
                    <a:pt x="0" y="0"/>
                  </a:moveTo>
                  <a:lnTo>
                    <a:pt x="17178599" y="0"/>
                  </a:lnTo>
                  <a:lnTo>
                    <a:pt x="17178599" y="7356600"/>
                  </a:lnTo>
                  <a:lnTo>
                    <a:pt x="0" y="7356600"/>
                  </a:lnTo>
                  <a:close/>
                </a:path>
              </a:pathLst>
            </a:custGeom>
            <a:blipFill>
              <a:blip r:embed="rId2">
                <a:alphaModFix amt="0"/>
              </a:blip>
              <a:stretch>
                <a:fillRect l="-4944" t="0" r="-4945" b="0"/>
              </a:stretch>
            </a:blipFill>
          </p:spPr>
        </p:sp>
        <p:sp>
          <p:nvSpPr>
            <p:cNvPr name="TextBox 15" id="15"/>
            <p:cNvSpPr txBox="true"/>
            <p:nvPr/>
          </p:nvSpPr>
          <p:spPr>
            <a:xfrm>
              <a:off x="0" y="-38100"/>
              <a:ext cx="17178604" cy="7394702"/>
            </a:xfrm>
            <a:prstGeom prst="rect">
              <a:avLst/>
            </a:prstGeom>
          </p:spPr>
          <p:txBody>
            <a:bodyPr anchor="ctr" rtlCol="false" tIns="0" lIns="0" bIns="0" rIns="0"/>
            <a:lstStyle/>
            <a:p>
              <a:pPr algn="just" marL="488632" indent="-244316" lvl="1">
                <a:lnSpc>
                  <a:spcPts val="3466"/>
                </a:lnSpc>
                <a:buFont typeface="Arial"/>
                <a:buChar char="•"/>
              </a:pPr>
              <a:r>
                <a:rPr lang="en-US" b="true" sz="2700">
                  <a:solidFill>
                    <a:srgbClr val="3D3D3D"/>
                  </a:solidFill>
                  <a:latin typeface="Cambria Bold"/>
                  <a:ea typeface="Cambria Bold"/>
                  <a:cs typeface="Cambria Bold"/>
                  <a:sym typeface="Cambria Bold"/>
                </a:rPr>
                <a:t>1.1	OBJETIVO</a:t>
              </a:r>
            </a:p>
            <a:p>
              <a:pPr algn="just" marL="488632" indent="-244316" lvl="1">
                <a:lnSpc>
                  <a:spcPts val="3466"/>
                </a:lnSpc>
              </a:pPr>
            </a:p>
            <a:p>
              <a:pPr algn="just" marL="673798" indent="-336899" lvl="1">
                <a:lnSpc>
                  <a:spcPts val="3466"/>
                </a:lnSpc>
                <a:buFont typeface="Arial"/>
                <a:buChar char="•"/>
              </a:pPr>
              <a:r>
                <a:rPr lang="en-US" sz="2700">
                  <a:solidFill>
                    <a:srgbClr val="3D3D3D"/>
                  </a:solidFill>
                  <a:latin typeface="Cambria"/>
                  <a:ea typeface="Cambria"/>
                  <a:cs typeface="Cambria"/>
                  <a:sym typeface="Cambria"/>
                </a:rPr>
                <a:t>Desarrollar e implementar un Web Service utilizando SOAP mediante JAVA para realizar conversiones de unidades de longitud, masa y temperatura, consumido por clientes de consola, escritorio, web y móvil.</a:t>
              </a:r>
            </a:p>
          </p:txBody>
        </p:sp>
      </p:grpSp>
      <p:grpSp>
        <p:nvGrpSpPr>
          <p:cNvPr name="Group 16" id="16"/>
          <p:cNvGrpSpPr/>
          <p:nvPr/>
        </p:nvGrpSpPr>
        <p:grpSpPr>
          <a:xfrm rot="0">
            <a:off x="14058881" y="-16669"/>
            <a:ext cx="4245788" cy="10320338"/>
            <a:chOff x="0" y="0"/>
            <a:chExt cx="5661050" cy="13760450"/>
          </a:xfrm>
        </p:grpSpPr>
        <p:sp>
          <p:nvSpPr>
            <p:cNvPr name="Freeform 17" id="17"/>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8" id="18"/>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MÓVIL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2924980" y="4889896"/>
            <a:ext cx="8785003" cy="4886333"/>
          </a:xfrm>
          <a:custGeom>
            <a:avLst/>
            <a:gdLst/>
            <a:ahLst/>
            <a:cxnLst/>
            <a:rect r="r" b="b" t="t" l="l"/>
            <a:pathLst>
              <a:path h="4886333" w="8785003">
                <a:moveTo>
                  <a:pt x="0" y="0"/>
                </a:moveTo>
                <a:lnTo>
                  <a:pt x="8785003" y="0"/>
                </a:lnTo>
                <a:lnTo>
                  <a:pt x="8785003" y="4886333"/>
                </a:lnTo>
                <a:lnTo>
                  <a:pt x="0" y="4886333"/>
                </a:lnTo>
                <a:lnTo>
                  <a:pt x="0" y="0"/>
                </a:lnTo>
                <a:close/>
              </a:path>
            </a:pathLst>
          </a:custGeom>
          <a:blipFill>
            <a:blip r:embed="rId3"/>
            <a:stretch>
              <a:fillRect l="0" t="0" r="0" b="0"/>
            </a:stretch>
          </a:blipFill>
        </p:spPr>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1.2.1 	Servidor Payara</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En primer lugar, en NetBeans, en la sección de Servicios se crea un servidor, específicamente Payara.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3309418" y="3898649"/>
            <a:ext cx="8016127" cy="6186359"/>
          </a:xfrm>
          <a:custGeom>
            <a:avLst/>
            <a:gdLst/>
            <a:ahLst/>
            <a:cxnLst/>
            <a:rect r="r" b="b" t="t" l="l"/>
            <a:pathLst>
              <a:path h="6186359" w="8016127">
                <a:moveTo>
                  <a:pt x="0" y="0"/>
                </a:moveTo>
                <a:lnTo>
                  <a:pt x="8016127" y="0"/>
                </a:lnTo>
                <a:lnTo>
                  <a:pt x="8016127" y="6186358"/>
                </a:lnTo>
                <a:lnTo>
                  <a:pt x="0" y="6186358"/>
                </a:lnTo>
                <a:lnTo>
                  <a:pt x="0" y="0"/>
                </a:lnTo>
                <a:close/>
              </a:path>
            </a:pathLst>
          </a:custGeom>
          <a:blipFill>
            <a:blip r:embed="rId3"/>
            <a:stretch>
              <a:fillRect l="-48452" t="-19986" r="-47908" b="-14071"/>
            </a:stretch>
          </a:blipFill>
        </p:spPr>
      </p:sp>
      <p:sp>
        <p:nvSpPr>
          <p:cNvPr name="TextBox 17" id="17"/>
          <p:cNvSpPr txBox="true"/>
          <p:nvPr/>
        </p:nvSpPr>
        <p:spPr>
          <a:xfrm rot="0">
            <a:off x="969245" y="2956541"/>
            <a:ext cx="12696473" cy="1167422"/>
          </a:xfrm>
          <a:prstGeom prst="rect">
            <a:avLst/>
          </a:prstGeom>
        </p:spPr>
        <p:txBody>
          <a:bodyPr anchor="t" rtlCol="false" tIns="0" lIns="0" bIns="0" rIns="0">
            <a:spAutoFit/>
          </a:bodyPr>
          <a:lstStyle/>
          <a:p>
            <a:pPr algn="just" marL="488632" indent="-244316" lvl="1">
              <a:lnSpc>
                <a:spcPts val="3466"/>
              </a:lnSpc>
              <a:buFont typeface="Arial"/>
              <a:buChar char="•"/>
            </a:pPr>
            <a:r>
              <a:rPr lang="en-US" sz="2700">
                <a:solidFill>
                  <a:srgbClr val="3D3D3D"/>
                </a:solidFill>
                <a:latin typeface="Cambria"/>
                <a:ea typeface="Cambria"/>
                <a:cs typeface="Cambria"/>
                <a:sym typeface="Cambria"/>
              </a:rPr>
              <a:t>Se selecciona la versión de Payara 6 (6.2025.11), se aceptan los términos de condiciones y se selecciona un directorio donde instalar el servidor.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2907035" y="4401368"/>
            <a:ext cx="9649248" cy="5757499"/>
          </a:xfrm>
          <a:custGeom>
            <a:avLst/>
            <a:gdLst/>
            <a:ahLst/>
            <a:cxnLst/>
            <a:rect r="r" b="b" t="t" l="l"/>
            <a:pathLst>
              <a:path h="5757499" w="9649248">
                <a:moveTo>
                  <a:pt x="0" y="0"/>
                </a:moveTo>
                <a:lnTo>
                  <a:pt x="9649249" y="0"/>
                </a:lnTo>
                <a:lnTo>
                  <a:pt x="9649249" y="5757499"/>
                </a:lnTo>
                <a:lnTo>
                  <a:pt x="0" y="5757499"/>
                </a:lnTo>
                <a:lnTo>
                  <a:pt x="0" y="0"/>
                </a:lnTo>
                <a:close/>
              </a:path>
            </a:pathLst>
          </a:custGeom>
          <a:blipFill>
            <a:blip r:embed="rId3"/>
            <a:stretch>
              <a:fillRect l="0" t="0" r="0" b="0"/>
            </a:stretch>
          </a:blipFill>
        </p:spPr>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488632" indent="-244316" lvl="1">
              <a:lnSpc>
                <a:spcPts val="3466"/>
              </a:lnSpc>
              <a:buFont typeface="Arial"/>
              <a:buChar char="•"/>
            </a:pPr>
            <a:r>
              <a:rPr lang="en-US" sz="2700">
                <a:solidFill>
                  <a:srgbClr val="3D3D3D"/>
                </a:solidFill>
                <a:latin typeface="Cambria"/>
                <a:ea typeface="Cambria"/>
                <a:cs typeface="Cambria"/>
                <a:sym typeface="Cambria"/>
              </a:rPr>
              <a:t>Para terminar la configuración del servidor se configura un nombre de dominio, un host (en nuestro caso, localhost) y los puertos (8080 HTTP y 4848 administración). Payara 6 requiere JDK 21, por lo que se agrega esa plataforma en NetBeans.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181051" y="4609866"/>
            <a:ext cx="7025924" cy="5130278"/>
          </a:xfrm>
          <a:custGeom>
            <a:avLst/>
            <a:gdLst/>
            <a:ahLst/>
            <a:cxnLst/>
            <a:rect r="r" b="b" t="t" l="l"/>
            <a:pathLst>
              <a:path h="5130278" w="7025924">
                <a:moveTo>
                  <a:pt x="0" y="0"/>
                </a:moveTo>
                <a:lnTo>
                  <a:pt x="7025923" y="0"/>
                </a:lnTo>
                <a:lnTo>
                  <a:pt x="7025923" y="5130278"/>
                </a:lnTo>
                <a:lnTo>
                  <a:pt x="0" y="5130278"/>
                </a:lnTo>
                <a:lnTo>
                  <a:pt x="0" y="0"/>
                </a:lnTo>
                <a:close/>
              </a:path>
            </a:pathLst>
          </a:custGeom>
          <a:blipFill>
            <a:blip r:embed="rId3"/>
            <a:stretch>
              <a:fillRect l="0" t="0" r="0" b="0"/>
            </a:stretch>
          </a:blipFill>
        </p:spPr>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1.2.2 	Creación del Proyecto</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Una vez creado el servidor, se crea un proyecto Java with Maven, tipo Web Application.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3447288" y="4700288"/>
            <a:ext cx="8985429" cy="5376942"/>
          </a:xfrm>
          <a:custGeom>
            <a:avLst/>
            <a:gdLst/>
            <a:ahLst/>
            <a:cxnLst/>
            <a:rect r="r" b="b" t="t" l="l"/>
            <a:pathLst>
              <a:path h="5376942" w="8985429">
                <a:moveTo>
                  <a:pt x="0" y="0"/>
                </a:moveTo>
                <a:lnTo>
                  <a:pt x="8985429" y="0"/>
                </a:lnTo>
                <a:lnTo>
                  <a:pt x="8985429" y="5376942"/>
                </a:lnTo>
                <a:lnTo>
                  <a:pt x="0" y="5376942"/>
                </a:lnTo>
                <a:lnTo>
                  <a:pt x="0" y="0"/>
                </a:lnTo>
                <a:close/>
              </a:path>
            </a:pathLst>
          </a:custGeom>
          <a:blipFill>
            <a:blip r:embed="rId3"/>
            <a:stretch>
              <a:fillRect l="0" t="0" r="0" b="-6735"/>
            </a:stretch>
          </a:blipFill>
        </p:spPr>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488632" indent="-244316" lvl="1">
              <a:lnSpc>
                <a:spcPts val="3466"/>
              </a:lnSpc>
              <a:buFont typeface="Arial"/>
              <a:buChar char="•"/>
            </a:pPr>
            <a:r>
              <a:rPr lang="en-US" sz="2700">
                <a:solidFill>
                  <a:srgbClr val="3D3D3D"/>
                </a:solidFill>
                <a:latin typeface="Cambria"/>
                <a:ea typeface="Cambria"/>
                <a:cs typeface="Cambria"/>
                <a:sym typeface="Cambria"/>
              </a:rPr>
              <a:t>Se aplica el nombre del proyecto como ‘WS_ConUni_Java_GR07’, y se configura el grupo como ‘ec.edu.monster’.</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Se selecciona nuestro Servidor Payara creado y Jakarta EE 10 como conjunto de desarrollo de aplicaciones Java.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5850356" y="2705557"/>
            <a:ext cx="3655782" cy="7747026"/>
          </a:xfrm>
          <a:custGeom>
            <a:avLst/>
            <a:gdLst/>
            <a:ahLst/>
            <a:cxnLst/>
            <a:rect r="r" b="b" t="t" l="l"/>
            <a:pathLst>
              <a:path h="7747026" w="3655782">
                <a:moveTo>
                  <a:pt x="0" y="0"/>
                </a:moveTo>
                <a:lnTo>
                  <a:pt x="3655783" y="0"/>
                </a:lnTo>
                <a:lnTo>
                  <a:pt x="3655783" y="7747027"/>
                </a:lnTo>
                <a:lnTo>
                  <a:pt x="0" y="7747027"/>
                </a:lnTo>
                <a:lnTo>
                  <a:pt x="0" y="0"/>
                </a:lnTo>
                <a:close/>
              </a:path>
            </a:pathLst>
          </a:custGeom>
          <a:blipFill>
            <a:blip r:embed="rId3"/>
            <a:stretch>
              <a:fillRect l="0" t="0" r="-90101" b="0"/>
            </a:stretch>
          </a:blipFill>
        </p:spPr>
      </p:sp>
      <p:sp>
        <p:nvSpPr>
          <p:cNvPr name="Freeform 17" id="17"/>
          <p:cNvSpPr/>
          <p:nvPr/>
        </p:nvSpPr>
        <p:spPr>
          <a:xfrm flipH="false" flipV="false" rot="0">
            <a:off x="9506139" y="2705557"/>
            <a:ext cx="4201935" cy="5589269"/>
          </a:xfrm>
          <a:custGeom>
            <a:avLst/>
            <a:gdLst/>
            <a:ahLst/>
            <a:cxnLst/>
            <a:rect r="r" b="b" t="t" l="l"/>
            <a:pathLst>
              <a:path h="5589269" w="4201935">
                <a:moveTo>
                  <a:pt x="0" y="0"/>
                </a:moveTo>
                <a:lnTo>
                  <a:pt x="4201935" y="0"/>
                </a:lnTo>
                <a:lnTo>
                  <a:pt x="4201935" y="5589269"/>
                </a:lnTo>
                <a:lnTo>
                  <a:pt x="0" y="5589269"/>
                </a:lnTo>
                <a:lnTo>
                  <a:pt x="0" y="0"/>
                </a:lnTo>
                <a:close/>
              </a:path>
            </a:pathLst>
          </a:custGeom>
          <a:blipFill>
            <a:blip r:embed="rId4"/>
            <a:stretch>
              <a:fillRect l="0" t="0" r="-50875" b="0"/>
            </a:stretch>
          </a:blipFill>
        </p:spPr>
      </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ESTRUCTURA</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Aplicando capas de servicio (SOA) junto a otras capas se configuran los paquetes principales: controladores (servicios web y manejadores), modelos, seguridad y servicios. El patrón MVC se aplica en los clientes.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286340" y="5731513"/>
            <a:ext cx="6861438" cy="4555487"/>
          </a:xfrm>
          <a:custGeom>
            <a:avLst/>
            <a:gdLst/>
            <a:ahLst/>
            <a:cxnLst/>
            <a:rect r="r" b="b" t="t" l="l"/>
            <a:pathLst>
              <a:path h="4555487" w="6861438">
                <a:moveTo>
                  <a:pt x="0" y="0"/>
                </a:moveTo>
                <a:lnTo>
                  <a:pt x="6861437" y="0"/>
                </a:lnTo>
                <a:lnTo>
                  <a:pt x="6861437" y="4555487"/>
                </a:lnTo>
                <a:lnTo>
                  <a:pt x="0" y="4555487"/>
                </a:lnTo>
                <a:lnTo>
                  <a:pt x="0" y="0"/>
                </a:lnTo>
                <a:close/>
              </a:path>
            </a:pathLst>
          </a:custGeom>
          <a:blipFill>
            <a:blip r:embed="rId3"/>
            <a:stretch>
              <a:fillRect l="0" t="0" r="0" b="0"/>
            </a:stretch>
          </a:blipFill>
        </p:spPr>
      </p:sp>
      <p:sp>
        <p:nvSpPr>
          <p:cNvPr name="TextBox 17" id="17"/>
          <p:cNvSpPr txBox="true"/>
          <p:nvPr/>
        </p:nvSpPr>
        <p:spPr>
          <a:xfrm rot="0">
            <a:off x="969245" y="2956541"/>
            <a:ext cx="12696473" cy="3197390"/>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1.2.3 	Creación del WebService</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Dentro del paquete controladores.ws se crea un Web Service por cada función: WSLogin, WSCatalogo, WSLongitud, WSMasa y WSTemperatura.</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Cada uno fija el espacio de nombres http://WebServices.monster.edu.ec/ para que el contrato WSDL no dependa de los paquetes.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WSLogin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Servicio de inicio de sesión (CU-01). Solo recibe el pedido y lo pasa al manejador.</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2245693" y="4268916"/>
            <a:ext cx="11385507" cy="5739288"/>
            <a:chOff x="0" y="0"/>
            <a:chExt cx="12278360" cy="6189364"/>
          </a:xfrm>
        </p:grpSpPr>
        <p:sp>
          <p:nvSpPr>
            <p:cNvPr name="Freeform 18" id="18"/>
            <p:cNvSpPr/>
            <p:nvPr/>
          </p:nvSpPr>
          <p:spPr>
            <a:xfrm flipH="false" flipV="false" rot="0">
              <a:off x="0" y="0"/>
              <a:ext cx="12278360" cy="6189364"/>
            </a:xfrm>
            <a:custGeom>
              <a:avLst/>
              <a:gdLst/>
              <a:ahLst/>
              <a:cxnLst/>
              <a:rect r="r" b="b" t="t" l="l"/>
              <a:pathLst>
                <a:path h="6189364" w="12278360">
                  <a:moveTo>
                    <a:pt x="0" y="0"/>
                  </a:moveTo>
                  <a:lnTo>
                    <a:pt x="12278360" y="0"/>
                  </a:lnTo>
                  <a:lnTo>
                    <a:pt x="12278360" y="6189364"/>
                  </a:lnTo>
                  <a:lnTo>
                    <a:pt x="0" y="6189364"/>
                  </a:lnTo>
                  <a:close/>
                </a:path>
              </a:pathLst>
            </a:custGeom>
            <a:solidFill>
              <a:srgbClr val="FFFFFF"/>
            </a:solidFill>
            <a:ln w="19050" cap="sq">
              <a:solidFill>
                <a:srgbClr val="4F81BD"/>
              </a:solidFill>
              <a:prstDash val="solid"/>
              <a:miter/>
            </a:ln>
          </p:spPr>
        </p:sp>
        <p:sp>
          <p:nvSpPr>
            <p:cNvPr name="TextBox 19" id="19"/>
            <p:cNvSpPr txBox="true"/>
            <p:nvPr/>
          </p:nvSpPr>
          <p:spPr>
            <a:xfrm>
              <a:off x="0" y="-57150"/>
              <a:ext cx="12278360" cy="6246514"/>
            </a:xfrm>
            <a:prstGeom prst="rect">
              <a:avLst/>
            </a:prstGeom>
          </p:spPr>
          <p:txBody>
            <a:bodyPr anchor="t" rtlCol="false" tIns="50800" lIns="50800" bIns="50800" rIns="50800"/>
            <a:lstStyle/>
            <a:p>
              <a:pPr algn="l">
                <a:lnSpc>
                  <a:spcPts val="2879"/>
                </a:lnSpc>
              </a:pPr>
              <a:r>
                <a:rPr lang="en-US" sz="2399">
                  <a:solidFill>
                    <a:srgbClr val="4F81BD"/>
                  </a:solidFill>
                  <a:latin typeface="Calibri (MS)"/>
                  <a:ea typeface="Calibri (MS)"/>
                  <a:cs typeface="Calibri (MS)"/>
                  <a:sym typeface="Calibri (MS)"/>
                </a:rPr>
                <a:t>package ec.edu.monster.controladores.ws;</a:t>
              </a:r>
            </a:p>
            <a:p>
              <a:pPr algn="l">
                <a:lnSpc>
                  <a:spcPts val="2879"/>
                </a:lnSpc>
              </a:pPr>
              <a:r>
                <a:rPr lang="en-US" sz="2399">
                  <a:solidFill>
                    <a:srgbClr val="4F81BD"/>
                  </a:solidFill>
                  <a:latin typeface="Calibri (MS)"/>
                  <a:ea typeface="Calibri (MS)"/>
                  <a:cs typeface="Calibri (MS)"/>
                  <a:sym typeface="Calibri (MS)"/>
                </a:rPr>
                <a:t> </a:t>
              </a:r>
            </a:p>
            <a:p>
              <a:pPr algn="l">
                <a:lnSpc>
                  <a:spcPts val="2879"/>
                </a:lnSpc>
              </a:pPr>
              <a:r>
                <a:rPr lang="en-US" sz="2399">
                  <a:solidFill>
                    <a:srgbClr val="4F81BD"/>
                  </a:solidFill>
                  <a:latin typeface="Calibri (MS)"/>
                  <a:ea typeface="Calibri (MS)"/>
                  <a:cs typeface="Calibri (MS)"/>
                  <a:sym typeface="Calibri (MS)"/>
                </a:rPr>
                <a:t>@WebService(serviceName = "WSLogin", targetNamespace = "http://WebServices.monster.edu.ec/")</a:t>
              </a:r>
            </a:p>
            <a:p>
              <a:pPr algn="l">
                <a:lnSpc>
                  <a:spcPts val="2879"/>
                </a:lnSpc>
              </a:pPr>
              <a:r>
                <a:rPr lang="en-US" sz="2399">
                  <a:solidFill>
                    <a:srgbClr val="4F81BD"/>
                  </a:solidFill>
                  <a:latin typeface="Calibri (MS)"/>
                  <a:ea typeface="Calibri (MS)"/>
                  <a:cs typeface="Calibri (MS)"/>
                  <a:sym typeface="Calibri (MS)"/>
                </a:rPr>
                <a:t>public class WSLogin {</a:t>
              </a:r>
            </a:p>
            <a:p>
              <a:pPr algn="l">
                <a:lnSpc>
                  <a:spcPts val="2879"/>
                </a:lnSpc>
              </a:pPr>
              <a:r>
                <a:rPr lang="en-US" sz="2399">
                  <a:solidFill>
                    <a:srgbClr val="4F81BD"/>
                  </a:solidFill>
                  <a:latin typeface="Calibri (MS)"/>
                  <a:ea typeface="Calibri (MS)"/>
                  <a:cs typeface="Calibri (MS)"/>
                  <a:sym typeface="Calibri (MS)"/>
                </a:rPr>
                <a:t> </a:t>
              </a:r>
            </a:p>
            <a:p>
              <a:pPr algn="l">
                <a:lnSpc>
                  <a:spcPts val="2879"/>
                </a:lnSpc>
              </a:pPr>
              <a:r>
                <a:rPr lang="en-US" sz="2399">
                  <a:solidFill>
                    <a:srgbClr val="4F81BD"/>
                  </a:solidFill>
                  <a:latin typeface="Calibri (MS)"/>
                  <a:ea typeface="Calibri (MS)"/>
                  <a:cs typeface="Calibri (MS)"/>
                  <a:sym typeface="Calibri (MS)"/>
                </a:rPr>
                <a:t>    private final ManejadorLogin manejador = new ManejadorLogin();</a:t>
              </a:r>
            </a:p>
            <a:p>
              <a:pPr algn="l">
                <a:lnSpc>
                  <a:spcPts val="2879"/>
                </a:lnSpc>
              </a:pPr>
              <a:r>
                <a:rPr lang="en-US" sz="2399">
                  <a:solidFill>
                    <a:srgbClr val="4F81BD"/>
                  </a:solidFill>
                  <a:latin typeface="Calibri (MS)"/>
                  <a:ea typeface="Calibri (MS)"/>
                  <a:cs typeface="Calibri (MS)"/>
                  <a:sym typeface="Calibri (MS)"/>
                </a:rPr>
                <a:t> </a:t>
              </a:r>
            </a:p>
            <a:p>
              <a:pPr algn="l">
                <a:lnSpc>
                  <a:spcPts val="2879"/>
                </a:lnSpc>
              </a:pPr>
              <a:r>
                <a:rPr lang="en-US" sz="2399">
                  <a:solidFill>
                    <a:srgbClr val="4F81BD"/>
                  </a:solidFill>
                  <a:latin typeface="Calibri (MS)"/>
                  <a:ea typeface="Calibri (MS)"/>
                  <a:cs typeface="Calibri (MS)"/>
                  <a:sym typeface="Calibri (MS)"/>
                </a:rPr>
                <a:t>    @WebMethod(operationName = "login")</a:t>
              </a:r>
            </a:p>
            <a:p>
              <a:pPr algn="l">
                <a:lnSpc>
                  <a:spcPts val="2879"/>
                </a:lnSpc>
              </a:pPr>
              <a:r>
                <a:rPr lang="en-US" sz="2399">
                  <a:solidFill>
                    <a:srgbClr val="4F81BD"/>
                  </a:solidFill>
                  <a:latin typeface="Calibri (MS)"/>
                  <a:ea typeface="Calibri (MS)"/>
                  <a:cs typeface="Calibri (MS)"/>
                  <a:sym typeface="Calibri (MS)"/>
                </a:rPr>
                <a:t>    public RespuestaServicio login(</a:t>
              </a:r>
            </a:p>
            <a:p>
              <a:pPr algn="l">
                <a:lnSpc>
                  <a:spcPts val="2879"/>
                </a:lnSpc>
              </a:pPr>
              <a:r>
                <a:rPr lang="en-US" sz="2399">
                  <a:solidFill>
                    <a:srgbClr val="4F81BD"/>
                  </a:solidFill>
                  <a:latin typeface="Calibri (MS)"/>
                  <a:ea typeface="Calibri (MS)"/>
                  <a:cs typeface="Calibri (MS)"/>
                  <a:sym typeface="Calibri (MS)"/>
                </a:rPr>
                <a:t>            @WebParam(name = "usuario") String usuario,</a:t>
              </a:r>
            </a:p>
            <a:p>
              <a:pPr algn="l">
                <a:lnSpc>
                  <a:spcPts val="2879"/>
                </a:lnSpc>
              </a:pPr>
              <a:r>
                <a:rPr lang="en-US" sz="2399">
                  <a:solidFill>
                    <a:srgbClr val="4F81BD"/>
                  </a:solidFill>
                  <a:latin typeface="Calibri (MS)"/>
                  <a:ea typeface="Calibri (MS)"/>
                  <a:cs typeface="Calibri (MS)"/>
                  <a:sym typeface="Calibri (MS)"/>
                </a:rPr>
                <a:t>            @WebParam(name = "clave") String clave) {</a:t>
              </a:r>
            </a:p>
            <a:p>
              <a:pPr algn="l">
                <a:lnSpc>
                  <a:spcPts val="2879"/>
                </a:lnSpc>
              </a:pPr>
              <a:r>
                <a:rPr lang="en-US" sz="2399">
                  <a:solidFill>
                    <a:srgbClr val="4F81BD"/>
                  </a:solidFill>
                  <a:latin typeface="Calibri (MS)"/>
                  <a:ea typeface="Calibri (MS)"/>
                  <a:cs typeface="Calibri (MS)"/>
                  <a:sym typeface="Calibri (MS)"/>
                </a:rPr>
                <a:t>        return manejador.login(usuario, clave);</a:t>
              </a:r>
            </a:p>
            <a:p>
              <a:pPr algn="l">
                <a:lnSpc>
                  <a:spcPts val="2879"/>
                </a:lnSpc>
              </a:pPr>
              <a:r>
                <a:rPr lang="en-US" sz="2399">
                  <a:solidFill>
                    <a:srgbClr val="4F81BD"/>
                  </a:solidFill>
                  <a:latin typeface="Calibri (MS)"/>
                  <a:ea typeface="Calibri (MS)"/>
                  <a:cs typeface="Calibri (MS)"/>
                  <a:sym typeface="Calibri (MS)"/>
                </a:rPr>
                <a:t>    }</a:t>
              </a:r>
            </a:p>
            <a:p>
              <a:pPr algn="l">
                <a:lnSpc>
                  <a:spcPts val="2879"/>
                </a:lnSpc>
              </a:pPr>
              <a:r>
                <a:rPr lang="en-US" sz="2399">
                  <a:solidFill>
                    <a:srgbClr val="4F81BD"/>
                  </a:solidFill>
                  <a:latin typeface="Calibri (MS)"/>
                  <a:ea typeface="Calibri (MS)"/>
                  <a:cs typeface="Calibri (MS)"/>
                  <a:sym typeface="Calibri (MS)"/>
                </a:rPr>
                <a: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WSCatalogo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Servicio del catálogo (CU-02 y CU-03): categorías y unidades de cada categoría.</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1992196" y="4196489"/>
            <a:ext cx="11779954" cy="5637218"/>
            <a:chOff x="0" y="0"/>
            <a:chExt cx="15706606" cy="7516291"/>
          </a:xfrm>
        </p:grpSpPr>
        <p:sp>
          <p:nvSpPr>
            <p:cNvPr name="Freeform 18" id="18"/>
            <p:cNvSpPr/>
            <p:nvPr/>
          </p:nvSpPr>
          <p:spPr>
            <a:xfrm flipH="false" flipV="false" rot="0">
              <a:off x="0" y="0"/>
              <a:ext cx="15706606" cy="7516291"/>
            </a:xfrm>
            <a:custGeom>
              <a:avLst/>
              <a:gdLst/>
              <a:ahLst/>
              <a:cxnLst/>
              <a:rect r="r" b="b" t="t" l="l"/>
              <a:pathLst>
                <a:path h="7516291" w="15706606">
                  <a:moveTo>
                    <a:pt x="0" y="0"/>
                  </a:moveTo>
                  <a:lnTo>
                    <a:pt x="15706606" y="0"/>
                  </a:lnTo>
                  <a:lnTo>
                    <a:pt x="15706606" y="7516291"/>
                  </a:lnTo>
                  <a:lnTo>
                    <a:pt x="0" y="7516291"/>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5706606" cy="7554391"/>
            </a:xfrm>
            <a:prstGeom prst="rect">
              <a:avLst/>
            </a:prstGeom>
          </p:spPr>
          <p:txBody>
            <a:bodyPr anchor="t" rtlCol="false" tIns="50800" lIns="50800" bIns="50800" rIns="50800"/>
            <a:lstStyle/>
            <a:p>
              <a:pPr algn="l">
                <a:lnSpc>
                  <a:spcPts val="2279"/>
                </a:lnSpc>
              </a:pPr>
              <a:r>
                <a:rPr lang="en-US" sz="1899">
                  <a:solidFill>
                    <a:srgbClr val="4F81BD"/>
                  </a:solidFill>
                  <a:latin typeface="Calibri (MS)"/>
                  <a:ea typeface="Calibri (MS)"/>
                  <a:cs typeface="Calibri (MS)"/>
                  <a:sym typeface="Calibri (MS)"/>
                </a:rPr>
                <a:t>package ec.edu.monster.controladores.ws;</a:t>
              </a:r>
            </a:p>
            <a:p>
              <a:pPr algn="l">
                <a:lnSpc>
                  <a:spcPts val="2279"/>
                </a:lnSpc>
              </a:pPr>
              <a:r>
                <a:rPr lang="en-US" sz="1899">
                  <a:solidFill>
                    <a:srgbClr val="4F81BD"/>
                  </a:solidFill>
                  <a:latin typeface="Calibri (MS)"/>
                  <a:ea typeface="Calibri (MS)"/>
                  <a:cs typeface="Calibri (MS)"/>
                  <a:sym typeface="Calibri (MS)"/>
                </a:rPr>
                <a:t> </a:t>
              </a:r>
            </a:p>
            <a:p>
              <a:pPr algn="l">
                <a:lnSpc>
                  <a:spcPts val="2279"/>
                </a:lnSpc>
              </a:pPr>
              <a:r>
                <a:rPr lang="en-US" sz="1899">
                  <a:solidFill>
                    <a:srgbClr val="4F81BD"/>
                  </a:solidFill>
                  <a:latin typeface="Calibri (MS)"/>
                  <a:ea typeface="Calibri (MS)"/>
                  <a:cs typeface="Calibri (MS)"/>
                  <a:sym typeface="Calibri (MS)"/>
                </a:rPr>
                <a:t>@WebService(serviceName = "WSCatalogo", targetNamespace = "http://WebServices.monster.edu.ec/")</a:t>
              </a:r>
            </a:p>
            <a:p>
              <a:pPr algn="l">
                <a:lnSpc>
                  <a:spcPts val="2279"/>
                </a:lnSpc>
              </a:pPr>
              <a:r>
                <a:rPr lang="en-US" sz="1899">
                  <a:solidFill>
                    <a:srgbClr val="4F81BD"/>
                  </a:solidFill>
                  <a:latin typeface="Calibri (MS)"/>
                  <a:ea typeface="Calibri (MS)"/>
                  <a:cs typeface="Calibri (MS)"/>
                  <a:sym typeface="Calibri (MS)"/>
                </a:rPr>
                <a:t>public class WSCatalogo {</a:t>
              </a:r>
            </a:p>
            <a:p>
              <a:pPr algn="l">
                <a:lnSpc>
                  <a:spcPts val="2279"/>
                </a:lnSpc>
              </a:pPr>
              <a:r>
                <a:rPr lang="en-US" sz="1899">
                  <a:solidFill>
                    <a:srgbClr val="4F81BD"/>
                  </a:solidFill>
                  <a:latin typeface="Calibri (MS)"/>
                  <a:ea typeface="Calibri (MS)"/>
                  <a:cs typeface="Calibri (MS)"/>
                  <a:sym typeface="Calibri (MS)"/>
                </a:rPr>
                <a:t> </a:t>
              </a:r>
            </a:p>
            <a:p>
              <a:pPr algn="l">
                <a:lnSpc>
                  <a:spcPts val="2279"/>
                </a:lnSpc>
              </a:pPr>
              <a:r>
                <a:rPr lang="en-US" sz="1899">
                  <a:solidFill>
                    <a:srgbClr val="4F81BD"/>
                  </a:solidFill>
                  <a:latin typeface="Calibri (MS)"/>
                  <a:ea typeface="Calibri (MS)"/>
                  <a:cs typeface="Calibri (MS)"/>
                  <a:sym typeface="Calibri (MS)"/>
                </a:rPr>
                <a:t>    private final ManejadorCatalogo manejador = new ManejadorCatalogo();</a:t>
              </a:r>
            </a:p>
            <a:p>
              <a:pPr algn="l">
                <a:lnSpc>
                  <a:spcPts val="2279"/>
                </a:lnSpc>
              </a:pPr>
              <a:r>
                <a:rPr lang="en-US" sz="1899">
                  <a:solidFill>
                    <a:srgbClr val="4F81BD"/>
                  </a:solidFill>
                  <a:latin typeface="Calibri (MS)"/>
                  <a:ea typeface="Calibri (MS)"/>
                  <a:cs typeface="Calibri (MS)"/>
                  <a:sym typeface="Calibri (MS)"/>
                </a:rPr>
                <a:t> </a:t>
              </a:r>
            </a:p>
            <a:p>
              <a:pPr algn="l">
                <a:lnSpc>
                  <a:spcPts val="2279"/>
                </a:lnSpc>
              </a:pPr>
              <a:r>
                <a:rPr lang="en-US" sz="1899">
                  <a:solidFill>
                    <a:srgbClr val="4F81BD"/>
                  </a:solidFill>
                  <a:latin typeface="Calibri (MS)"/>
                  <a:ea typeface="Calibri (MS)"/>
                  <a:cs typeface="Calibri (MS)"/>
                  <a:sym typeface="Calibri (MS)"/>
                </a:rPr>
                <a:t>    @WebMethod(operationName = "obtenerCategorias")</a:t>
              </a:r>
            </a:p>
            <a:p>
              <a:pPr algn="l">
                <a:lnSpc>
                  <a:spcPts val="2279"/>
                </a:lnSpc>
              </a:pPr>
              <a:r>
                <a:rPr lang="en-US" sz="1899">
                  <a:solidFill>
                    <a:srgbClr val="4F81BD"/>
                  </a:solidFill>
                  <a:latin typeface="Calibri (MS)"/>
                  <a:ea typeface="Calibri (MS)"/>
                  <a:cs typeface="Calibri (MS)"/>
                  <a:sym typeface="Calibri (MS)"/>
                </a:rPr>
                <a:t>    public RespuestaServicio obtenerCategorias(@WebParam(name = "token") String token) {</a:t>
              </a:r>
            </a:p>
            <a:p>
              <a:pPr algn="l">
                <a:lnSpc>
                  <a:spcPts val="2279"/>
                </a:lnSpc>
              </a:pPr>
              <a:r>
                <a:rPr lang="en-US" sz="1899">
                  <a:solidFill>
                    <a:srgbClr val="4F81BD"/>
                  </a:solidFill>
                  <a:latin typeface="Calibri (MS)"/>
                  <a:ea typeface="Calibri (MS)"/>
                  <a:cs typeface="Calibri (MS)"/>
                  <a:sym typeface="Calibri (MS)"/>
                </a:rPr>
                <a:t>        return manejador.obtenerCategorias(token);</a:t>
              </a:r>
            </a:p>
            <a:p>
              <a:pPr algn="l">
                <a:lnSpc>
                  <a:spcPts val="2279"/>
                </a:lnSpc>
              </a:pPr>
              <a:r>
                <a:rPr lang="en-US" sz="1899">
                  <a:solidFill>
                    <a:srgbClr val="4F81BD"/>
                  </a:solidFill>
                  <a:latin typeface="Calibri (MS)"/>
                  <a:ea typeface="Calibri (MS)"/>
                  <a:cs typeface="Calibri (MS)"/>
                  <a:sym typeface="Calibri (MS)"/>
                </a:rPr>
                <a:t>    }</a:t>
              </a:r>
            </a:p>
            <a:p>
              <a:pPr algn="l">
                <a:lnSpc>
                  <a:spcPts val="2279"/>
                </a:lnSpc>
              </a:pPr>
              <a:r>
                <a:rPr lang="en-US" sz="1899">
                  <a:solidFill>
                    <a:srgbClr val="4F81BD"/>
                  </a:solidFill>
                  <a:latin typeface="Calibri (MS)"/>
                  <a:ea typeface="Calibri (MS)"/>
                  <a:cs typeface="Calibri (MS)"/>
                  <a:sym typeface="Calibri (MS)"/>
                </a:rPr>
                <a:t> </a:t>
              </a:r>
            </a:p>
            <a:p>
              <a:pPr algn="l">
                <a:lnSpc>
                  <a:spcPts val="2279"/>
                </a:lnSpc>
              </a:pPr>
              <a:r>
                <a:rPr lang="en-US" sz="1899">
                  <a:solidFill>
                    <a:srgbClr val="4F81BD"/>
                  </a:solidFill>
                  <a:latin typeface="Calibri (MS)"/>
                  <a:ea typeface="Calibri (MS)"/>
                  <a:cs typeface="Calibri (MS)"/>
                  <a:sym typeface="Calibri (MS)"/>
                </a:rPr>
                <a:t>    @WebMethod(operationName = "obtenerUnidades")</a:t>
              </a:r>
            </a:p>
            <a:p>
              <a:pPr algn="l">
                <a:lnSpc>
                  <a:spcPts val="2279"/>
                </a:lnSpc>
              </a:pPr>
              <a:r>
                <a:rPr lang="en-US" sz="1899">
                  <a:solidFill>
                    <a:srgbClr val="4F81BD"/>
                  </a:solidFill>
                  <a:latin typeface="Calibri (MS)"/>
                  <a:ea typeface="Calibri (MS)"/>
                  <a:cs typeface="Calibri (MS)"/>
                  <a:sym typeface="Calibri (MS)"/>
                </a:rPr>
                <a:t>    public RespuestaServicio obtenerUnidades(</a:t>
              </a:r>
            </a:p>
            <a:p>
              <a:pPr algn="l">
                <a:lnSpc>
                  <a:spcPts val="2279"/>
                </a:lnSpc>
              </a:pPr>
              <a:r>
                <a:rPr lang="en-US" sz="1899">
                  <a:solidFill>
                    <a:srgbClr val="4F81BD"/>
                  </a:solidFill>
                  <a:latin typeface="Calibri (MS)"/>
                  <a:ea typeface="Calibri (MS)"/>
                  <a:cs typeface="Calibri (MS)"/>
                  <a:sym typeface="Calibri (MS)"/>
                </a:rPr>
                <a:t>            @WebParam(name = "token") String token,</a:t>
              </a:r>
            </a:p>
            <a:p>
              <a:pPr algn="l">
                <a:lnSpc>
                  <a:spcPts val="2279"/>
                </a:lnSpc>
              </a:pPr>
              <a:r>
                <a:rPr lang="en-US" sz="1899">
                  <a:solidFill>
                    <a:srgbClr val="4F81BD"/>
                  </a:solidFill>
                  <a:latin typeface="Calibri (MS)"/>
                  <a:ea typeface="Calibri (MS)"/>
                  <a:cs typeface="Calibri (MS)"/>
                  <a:sym typeface="Calibri (MS)"/>
                </a:rPr>
                <a:t>            @WebParam(name = "categoria") String categoria) {</a:t>
              </a:r>
            </a:p>
            <a:p>
              <a:pPr algn="l">
                <a:lnSpc>
                  <a:spcPts val="2279"/>
                </a:lnSpc>
              </a:pPr>
              <a:r>
                <a:rPr lang="en-US" sz="1899">
                  <a:solidFill>
                    <a:srgbClr val="4F81BD"/>
                  </a:solidFill>
                  <a:latin typeface="Calibri (MS)"/>
                  <a:ea typeface="Calibri (MS)"/>
                  <a:cs typeface="Calibri (MS)"/>
                  <a:sym typeface="Calibri (MS)"/>
                </a:rPr>
                <a:t>        return manejador.obtenerUnidades(token, categoria);</a:t>
              </a:r>
            </a:p>
            <a:p>
              <a:pPr algn="l">
                <a:lnSpc>
                  <a:spcPts val="2279"/>
                </a:lnSpc>
              </a:pPr>
              <a:r>
                <a:rPr lang="en-US" sz="1899">
                  <a:solidFill>
                    <a:srgbClr val="4F81BD"/>
                  </a:solidFill>
                  <a:latin typeface="Calibri (MS)"/>
                  <a:ea typeface="Calibri (MS)"/>
                  <a:cs typeface="Calibri (MS)"/>
                  <a:sym typeface="Calibri (MS)"/>
                </a:rPr>
                <a:t>    }</a:t>
              </a:r>
            </a:p>
            <a:p>
              <a:pPr algn="l">
                <a:lnSpc>
                  <a:spcPts val="2279"/>
                </a:lnSpc>
              </a:pPr>
              <a:r>
                <a:rPr lang="en-US" sz="1899">
                  <a:solidFill>
                    <a:srgbClr val="4F81BD"/>
                  </a:solidFill>
                  <a:latin typeface="Calibri (MS)"/>
                  <a:ea typeface="Calibri (MS)"/>
                  <a:cs typeface="Calibri (MS)"/>
                  <a:sym typeface="Calibri (MS)"/>
                </a:rPr>
                <a: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WSMasa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Servicio de conversión de masa (CU-04). WSLongitud y WSTemperatura tienen la misma forma.</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871785" y="4540520"/>
            <a:ext cx="12129914" cy="5465237"/>
            <a:chOff x="0" y="0"/>
            <a:chExt cx="12278360" cy="5532120"/>
          </a:xfrm>
        </p:grpSpPr>
        <p:sp>
          <p:nvSpPr>
            <p:cNvPr name="Freeform 18" id="18"/>
            <p:cNvSpPr/>
            <p:nvPr/>
          </p:nvSpPr>
          <p:spPr>
            <a:xfrm flipH="false" flipV="false" rot="0">
              <a:off x="0" y="0"/>
              <a:ext cx="12278360" cy="5532120"/>
            </a:xfrm>
            <a:custGeom>
              <a:avLst/>
              <a:gdLst/>
              <a:ahLst/>
              <a:cxnLst/>
              <a:rect r="r" b="b" t="t" l="l"/>
              <a:pathLst>
                <a:path h="5532120" w="12278360">
                  <a:moveTo>
                    <a:pt x="0" y="0"/>
                  </a:moveTo>
                  <a:lnTo>
                    <a:pt x="12278360" y="0"/>
                  </a:lnTo>
                  <a:lnTo>
                    <a:pt x="12278360" y="5532120"/>
                  </a:lnTo>
                  <a:lnTo>
                    <a:pt x="0" y="5532120"/>
                  </a:lnTo>
                  <a:close/>
                </a:path>
              </a:pathLst>
            </a:custGeom>
            <a:solidFill>
              <a:srgbClr val="FFFFFF"/>
            </a:solidFill>
            <a:ln w="19050" cap="sq">
              <a:solidFill>
                <a:srgbClr val="4F81BD"/>
              </a:solidFill>
              <a:prstDash val="solid"/>
              <a:miter/>
            </a:ln>
          </p:spPr>
        </p:sp>
        <p:sp>
          <p:nvSpPr>
            <p:cNvPr name="TextBox 19" id="19"/>
            <p:cNvSpPr txBox="true"/>
            <p:nvPr/>
          </p:nvSpPr>
          <p:spPr>
            <a:xfrm>
              <a:off x="0" y="-47625"/>
              <a:ext cx="12278360" cy="5579745"/>
            </a:xfrm>
            <a:prstGeom prst="rect">
              <a:avLst/>
            </a:prstGeom>
          </p:spPr>
          <p:txBody>
            <a:bodyPr anchor="t" rtlCol="false" tIns="50800" lIns="50800" bIns="50800" rIns="50800"/>
            <a:lstStyle/>
            <a:p>
              <a:pPr algn="l">
                <a:lnSpc>
                  <a:spcPts val="2519"/>
                </a:lnSpc>
              </a:pPr>
              <a:r>
                <a:rPr lang="en-US" sz="2099">
                  <a:solidFill>
                    <a:srgbClr val="4F81BD"/>
                  </a:solidFill>
                  <a:latin typeface="Calibri (MS)"/>
                  <a:ea typeface="Calibri (MS)"/>
                  <a:cs typeface="Calibri (MS)"/>
                  <a:sym typeface="Calibri (MS)"/>
                </a:rPr>
                <a:t>package ec.edu.monster.controladores.ws;</a:t>
              </a:r>
            </a:p>
            <a:p>
              <a:pPr algn="l">
                <a:lnSpc>
                  <a:spcPts val="2519"/>
                </a:lnSpc>
              </a:pPr>
              <a:r>
                <a:rPr lang="en-US" sz="2099">
                  <a:solidFill>
                    <a:srgbClr val="4F81BD"/>
                  </a:solidFill>
                  <a:latin typeface="Calibri (MS)"/>
                  <a:ea typeface="Calibri (MS)"/>
                  <a:cs typeface="Calibri (MS)"/>
                  <a:sym typeface="Calibri (MS)"/>
                </a:rPr>
                <a:t> </a:t>
              </a:r>
            </a:p>
            <a:p>
              <a:pPr algn="l">
                <a:lnSpc>
                  <a:spcPts val="2519"/>
                </a:lnSpc>
              </a:pPr>
              <a:r>
                <a:rPr lang="en-US" sz="2099">
                  <a:solidFill>
                    <a:srgbClr val="4F81BD"/>
                  </a:solidFill>
                  <a:latin typeface="Calibri (MS)"/>
                  <a:ea typeface="Calibri (MS)"/>
                  <a:cs typeface="Calibri (MS)"/>
                  <a:sym typeface="Calibri (MS)"/>
                </a:rPr>
                <a:t>@WebService(serviceName = "WSMasa", targetNamespace = "http://WebServices.monster.edu.ec/")</a:t>
              </a:r>
            </a:p>
            <a:p>
              <a:pPr algn="l">
                <a:lnSpc>
                  <a:spcPts val="2519"/>
                </a:lnSpc>
              </a:pPr>
              <a:r>
                <a:rPr lang="en-US" sz="2099">
                  <a:solidFill>
                    <a:srgbClr val="4F81BD"/>
                  </a:solidFill>
                  <a:latin typeface="Calibri (MS)"/>
                  <a:ea typeface="Calibri (MS)"/>
                  <a:cs typeface="Calibri (MS)"/>
                  <a:sym typeface="Calibri (MS)"/>
                </a:rPr>
                <a:t>public class WSMasa {</a:t>
              </a:r>
            </a:p>
            <a:p>
              <a:pPr algn="l">
                <a:lnSpc>
                  <a:spcPts val="2519"/>
                </a:lnSpc>
              </a:pPr>
              <a:r>
                <a:rPr lang="en-US" sz="2099">
                  <a:solidFill>
                    <a:srgbClr val="4F81BD"/>
                  </a:solidFill>
                  <a:latin typeface="Calibri (MS)"/>
                  <a:ea typeface="Calibri (MS)"/>
                  <a:cs typeface="Calibri (MS)"/>
                  <a:sym typeface="Calibri (MS)"/>
                </a:rPr>
                <a:t> </a:t>
              </a:r>
            </a:p>
            <a:p>
              <a:pPr algn="l">
                <a:lnSpc>
                  <a:spcPts val="2519"/>
                </a:lnSpc>
              </a:pPr>
              <a:r>
                <a:rPr lang="en-US" sz="2099">
                  <a:solidFill>
                    <a:srgbClr val="4F81BD"/>
                  </a:solidFill>
                  <a:latin typeface="Calibri (MS)"/>
                  <a:ea typeface="Calibri (MS)"/>
                  <a:cs typeface="Calibri (MS)"/>
                  <a:sym typeface="Calibri (MS)"/>
                </a:rPr>
                <a:t>    private final ManejadorConversion manejador = new ManejadorConversion();</a:t>
              </a:r>
            </a:p>
            <a:p>
              <a:pPr algn="l">
                <a:lnSpc>
                  <a:spcPts val="2519"/>
                </a:lnSpc>
              </a:pPr>
              <a:r>
                <a:rPr lang="en-US" sz="2099">
                  <a:solidFill>
                    <a:srgbClr val="4F81BD"/>
                  </a:solidFill>
                  <a:latin typeface="Calibri (MS)"/>
                  <a:ea typeface="Calibri (MS)"/>
                  <a:cs typeface="Calibri (MS)"/>
                  <a:sym typeface="Calibri (MS)"/>
                </a:rPr>
                <a:t> </a:t>
              </a:r>
            </a:p>
            <a:p>
              <a:pPr algn="l">
                <a:lnSpc>
                  <a:spcPts val="2519"/>
                </a:lnSpc>
              </a:pPr>
              <a:r>
                <a:rPr lang="en-US" sz="2099">
                  <a:solidFill>
                    <a:srgbClr val="4F81BD"/>
                  </a:solidFill>
                  <a:latin typeface="Calibri (MS)"/>
                  <a:ea typeface="Calibri (MS)"/>
                  <a:cs typeface="Calibri (MS)"/>
                  <a:sym typeface="Calibri (MS)"/>
                </a:rPr>
                <a:t>    @WebMethod(operationName = "convertirMasa")</a:t>
              </a:r>
            </a:p>
            <a:p>
              <a:pPr algn="l">
                <a:lnSpc>
                  <a:spcPts val="2519"/>
                </a:lnSpc>
              </a:pPr>
              <a:r>
                <a:rPr lang="en-US" sz="2099">
                  <a:solidFill>
                    <a:srgbClr val="4F81BD"/>
                  </a:solidFill>
                  <a:latin typeface="Calibri (MS)"/>
                  <a:ea typeface="Calibri (MS)"/>
                  <a:cs typeface="Calibri (MS)"/>
                  <a:sym typeface="Calibri (MS)"/>
                </a:rPr>
                <a:t>    public RespuestaServicio convertirMasa(</a:t>
              </a:r>
            </a:p>
            <a:p>
              <a:pPr algn="l">
                <a:lnSpc>
                  <a:spcPts val="2519"/>
                </a:lnSpc>
              </a:pPr>
              <a:r>
                <a:rPr lang="en-US" sz="2099">
                  <a:solidFill>
                    <a:srgbClr val="4F81BD"/>
                  </a:solidFill>
                  <a:latin typeface="Calibri (MS)"/>
                  <a:ea typeface="Calibri (MS)"/>
                  <a:cs typeface="Calibri (MS)"/>
                  <a:sym typeface="Calibri (MS)"/>
                </a:rPr>
                <a:t>            @WebParam(name = "valor") double valor,</a:t>
              </a:r>
            </a:p>
            <a:p>
              <a:pPr algn="l">
                <a:lnSpc>
                  <a:spcPts val="2519"/>
                </a:lnSpc>
              </a:pPr>
              <a:r>
                <a:rPr lang="en-US" sz="2099">
                  <a:solidFill>
                    <a:srgbClr val="4F81BD"/>
                  </a:solidFill>
                  <a:latin typeface="Calibri (MS)"/>
                  <a:ea typeface="Calibri (MS)"/>
                  <a:cs typeface="Calibri (MS)"/>
                  <a:sym typeface="Calibri (MS)"/>
                </a:rPr>
                <a:t>            @WebParam(name = "unidadOrigen") String unidadOrigen,</a:t>
              </a:r>
            </a:p>
            <a:p>
              <a:pPr algn="l">
                <a:lnSpc>
                  <a:spcPts val="2519"/>
                </a:lnSpc>
              </a:pPr>
              <a:r>
                <a:rPr lang="en-US" sz="2099">
                  <a:solidFill>
                    <a:srgbClr val="4F81BD"/>
                  </a:solidFill>
                  <a:latin typeface="Calibri (MS)"/>
                  <a:ea typeface="Calibri (MS)"/>
                  <a:cs typeface="Calibri (MS)"/>
                  <a:sym typeface="Calibri (MS)"/>
                </a:rPr>
                <a:t>            @WebParam(name = "unidadDestino") String unidadDestino,</a:t>
              </a:r>
            </a:p>
            <a:p>
              <a:pPr algn="l">
                <a:lnSpc>
                  <a:spcPts val="2519"/>
                </a:lnSpc>
              </a:pPr>
              <a:r>
                <a:rPr lang="en-US" sz="2099">
                  <a:solidFill>
                    <a:srgbClr val="4F81BD"/>
                  </a:solidFill>
                  <a:latin typeface="Calibri (MS)"/>
                  <a:ea typeface="Calibri (MS)"/>
                  <a:cs typeface="Calibri (MS)"/>
                  <a:sym typeface="Calibri (MS)"/>
                </a:rPr>
                <a:t>            @WebParam(name = "token") String token) {</a:t>
              </a:r>
            </a:p>
            <a:p>
              <a:pPr algn="l">
                <a:lnSpc>
                  <a:spcPts val="2519"/>
                </a:lnSpc>
              </a:pPr>
              <a:r>
                <a:rPr lang="en-US" sz="2099">
                  <a:solidFill>
                    <a:srgbClr val="4F81BD"/>
                  </a:solidFill>
                  <a:latin typeface="Calibri (MS)"/>
                  <a:ea typeface="Calibri (MS)"/>
                  <a:cs typeface="Calibri (MS)"/>
                  <a:sym typeface="Calibri (MS)"/>
                </a:rPr>
                <a:t>        return manejador.convertir("Masa", valor, unidadOrigen, unidadDestino, token);</a:t>
              </a:r>
            </a:p>
            <a:p>
              <a:pPr algn="l">
                <a:lnSpc>
                  <a:spcPts val="2519"/>
                </a:lnSpc>
              </a:pPr>
              <a:r>
                <a:rPr lang="en-US" sz="2099">
                  <a:solidFill>
                    <a:srgbClr val="4F81BD"/>
                  </a:solidFill>
                  <a:latin typeface="Calibri (MS)"/>
                  <a:ea typeface="Calibri (MS)"/>
                  <a:cs typeface="Calibri (MS)"/>
                  <a:sym typeface="Calibri (MS)"/>
                </a:rPr>
                <a:t>    }</a:t>
              </a:r>
            </a:p>
            <a:p>
              <a:pPr algn="l">
                <a:lnSpc>
                  <a:spcPts val="2519"/>
                </a:lnSpc>
              </a:pPr>
              <a:r>
                <a:rPr lang="en-US" sz="2099">
                  <a:solidFill>
                    <a:srgbClr val="4F81BD"/>
                  </a:solidFill>
                  <a:latin typeface="Calibri (MS)"/>
                  <a:ea typeface="Calibri (MS)"/>
                  <a:cs typeface="Calibri (MS)"/>
                  <a:sym typeface="Calibri (MS)"/>
                </a:rPr>
                <a:t>}</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6224778" y="3542365"/>
            <a:ext cx="7355420" cy="5592326"/>
          </a:xfrm>
          <a:custGeom>
            <a:avLst/>
            <a:gdLst/>
            <a:ahLst/>
            <a:cxnLst/>
            <a:rect r="r" b="b" t="t" l="l"/>
            <a:pathLst>
              <a:path h="5592326" w="7355420">
                <a:moveTo>
                  <a:pt x="0" y="0"/>
                </a:moveTo>
                <a:lnTo>
                  <a:pt x="7355420" y="0"/>
                </a:lnTo>
                <a:lnTo>
                  <a:pt x="7355420" y="5592325"/>
                </a:lnTo>
                <a:lnTo>
                  <a:pt x="0" y="5592325"/>
                </a:lnTo>
                <a:lnTo>
                  <a:pt x="0" y="0"/>
                </a:lnTo>
                <a:close/>
              </a:path>
            </a:pathLst>
          </a:custGeom>
          <a:blipFill>
            <a:blip r:embed="rId3"/>
            <a:stretch>
              <a:fillRect l="0" t="-11081" r="-60694" b="0"/>
            </a:stretch>
          </a:blipFill>
        </p:spPr>
      </p:sp>
      <p:sp>
        <p:nvSpPr>
          <p:cNvPr name="TextBox 17" id="17"/>
          <p:cNvSpPr txBox="true"/>
          <p:nvPr/>
        </p:nvSpPr>
        <p:spPr>
          <a:xfrm rot="0">
            <a:off x="669798" y="3014933"/>
            <a:ext cx="5164998" cy="6609089"/>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1.2.4 	Autenticación</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Las clases de la capa seguridad validan las credenciales y administran los tokens: ServicioAutenticacion (usuario monster, clave monster9 en memoria) y GestorTokens (UUID con vigencia de 30 minutos).</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Los manejadores (controladores.manejadoresws) orquestan el login, el catálogo y las conversiones validando siempre el token primero.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ServicioAutenticacion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Autentica contra las credenciales de la aplicación y entrega el token.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ec.edu.monster.seguridad;</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ServicioAutenticacion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String USUARIO = "monster";</a:t>
              </a:r>
            </a:p>
            <a:p>
              <a:pPr algn="l">
                <a:lnSpc>
                  <a:spcPts val="1800"/>
                </a:lnSpc>
              </a:pPr>
              <a:r>
                <a:rPr lang="en-US" sz="1500">
                  <a:solidFill>
                    <a:srgbClr val="4F81BD"/>
                  </a:solidFill>
                  <a:latin typeface="Calibri (MS)"/>
                  <a:ea typeface="Calibri (MS)"/>
                  <a:cs typeface="Calibri (MS)"/>
                  <a:sym typeface="Calibri (MS)"/>
                </a:rPr>
                <a:t>    private static final String CLAVE = "monster9";</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ServicioAutenticacion()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autenticar(String usuario, String clave) {</a:t>
              </a:r>
            </a:p>
            <a:p>
              <a:pPr algn="l">
                <a:lnSpc>
                  <a:spcPts val="1800"/>
                </a:lnSpc>
              </a:pPr>
              <a:r>
                <a:rPr lang="en-US" sz="1500">
                  <a:solidFill>
                    <a:srgbClr val="4F81BD"/>
                  </a:solidFill>
                  <a:latin typeface="Calibri (MS)"/>
                  <a:ea typeface="Calibri (MS)"/>
                  <a:cs typeface="Calibri (MS)"/>
                  <a:sym typeface="Calibri (MS)"/>
                </a:rPr>
                <a:t>        if (usuario == null || usuario.isBlank() || clave == null || clave.isBlank()) {</a:t>
              </a:r>
            </a:p>
            <a:p>
              <a:pPr algn="l">
                <a:lnSpc>
                  <a:spcPts val="1800"/>
                </a:lnSpc>
              </a:pPr>
              <a:r>
                <a:rPr lang="en-US" sz="1500">
                  <a:solidFill>
                    <a:srgbClr val="4F81BD"/>
                  </a:solidFill>
                  <a:latin typeface="Calibri (MS)"/>
                  <a:ea typeface="Calibri (MS)"/>
                  <a:cs typeface="Calibri (MS)"/>
                  <a:sym typeface="Calibri (MS)"/>
                </a:rPr>
                <a:t>            return RespuestaMapeador.error(CodigoResultado.DATOS_INCONSISTENTES, "Usuario y clave son obligatorios");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if (USUARIO.equals(usuario.trim()) &amp;&amp; CLAVE.equals(clave)) {</a:t>
              </a:r>
            </a:p>
            <a:p>
              <a:pPr algn="l">
                <a:lnSpc>
                  <a:spcPts val="1800"/>
                </a:lnSpc>
              </a:pPr>
              <a:r>
                <a:rPr lang="en-US" sz="1500">
                  <a:solidFill>
                    <a:srgbClr val="4F81BD"/>
                  </a:solidFill>
                  <a:latin typeface="Calibri (MS)"/>
                  <a:ea typeface="Calibri (MS)"/>
                  <a:cs typeface="Calibri (MS)"/>
                  <a:sym typeface="Calibri (MS)"/>
                </a:rPr>
                <a:t>            return RespuestaMapeador.exitoLogin(GestorTokens.generarToken());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RespuestaMapeador.error(CodigoResultado.CREDENCIALES_INCORRECTAS, "Usuario o clave incorrectos");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GestorTokens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Tokens activos en memoria: generar, validar y detectar la expiración (AUTH-001 / AUTH-002).</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ec.edu.monster.seguridad;</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GestorTokens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Map&lt;String, Long&gt; ACTIVOS = new ConcurrentHashMap&lt;&gt;();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GestorTokens()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long vigenciaMs() {</a:t>
              </a:r>
            </a:p>
            <a:p>
              <a:pPr algn="l">
                <a:lnSpc>
                  <a:spcPts val="1800"/>
                </a:lnSpc>
              </a:pPr>
              <a:r>
                <a:rPr lang="en-US" sz="1500">
                  <a:solidFill>
                    <a:srgbClr val="4F81BD"/>
                  </a:solidFill>
                  <a:latin typeface="Calibri (MS)"/>
                  <a:ea typeface="Calibri (MS)"/>
                  <a:cs typeface="Calibri (MS)"/>
                  <a:sym typeface="Calibri (MS)"/>
                </a:rPr>
                <a:t>        String valor = System.getProperty("conuni.token.minutos", "30");</a:t>
              </a:r>
            </a:p>
            <a:p>
              <a:pPr algn="l">
                <a:lnSpc>
                  <a:spcPts val="1800"/>
                </a:lnSpc>
              </a:pPr>
              <a:r>
                <a:rPr lang="en-US" sz="1500">
                  <a:solidFill>
                    <a:srgbClr val="4F81BD"/>
                  </a:solidFill>
                  <a:latin typeface="Calibri (MS)"/>
                  <a:ea typeface="Calibri (MS)"/>
                  <a:cs typeface="Calibri (MS)"/>
                  <a:sym typeface="Calibri (MS)"/>
                </a:rPr>
                <a:t>        try {</a:t>
              </a:r>
            </a:p>
            <a:p>
              <a:pPr algn="l">
                <a:lnSpc>
                  <a:spcPts val="1800"/>
                </a:lnSpc>
              </a:pPr>
              <a:r>
                <a:rPr lang="en-US" sz="1500">
                  <a:solidFill>
                    <a:srgbClr val="4F81BD"/>
                  </a:solidFill>
                  <a:latin typeface="Calibri (MS)"/>
                  <a:ea typeface="Calibri (MS)"/>
                  <a:cs typeface="Calibri (MS)"/>
                  <a:sym typeface="Calibri (MS)"/>
                </a:rPr>
                <a:t>            return (long) (Double.parseDouble(valor) * 60_000L);</a:t>
              </a:r>
            </a:p>
            <a:p>
              <a:pPr algn="l">
                <a:lnSpc>
                  <a:spcPts val="1800"/>
                </a:lnSpc>
              </a:pPr>
              <a:r>
                <a:rPr lang="en-US" sz="1500">
                  <a:solidFill>
                    <a:srgbClr val="4F81BD"/>
                  </a:solidFill>
                  <a:latin typeface="Calibri (MS)"/>
                  <a:ea typeface="Calibri (MS)"/>
                  <a:cs typeface="Calibri (MS)"/>
                  <a:sym typeface="Calibri (MS)"/>
                </a:rPr>
                <a:t>        } catch (NumberFormatException e) {</a:t>
              </a:r>
            </a:p>
            <a:p>
              <a:pPr algn="l">
                <a:lnSpc>
                  <a:spcPts val="1800"/>
                </a:lnSpc>
              </a:pPr>
              <a:r>
                <a:rPr lang="en-US" sz="1500">
                  <a:solidFill>
                    <a:srgbClr val="4F81BD"/>
                  </a:solidFill>
                  <a:latin typeface="Calibri (MS)"/>
                  <a:ea typeface="Calibri (MS)"/>
                  <a:cs typeface="Calibri (MS)"/>
                  <a:sym typeface="Calibri (MS)"/>
                </a:rPr>
                <a:t>            return 30L * 60_000L;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String generarToken() {</a:t>
              </a:r>
            </a:p>
            <a:p>
              <a:pPr algn="l">
                <a:lnSpc>
                  <a:spcPts val="1800"/>
                </a:lnSpc>
              </a:pPr>
              <a:r>
                <a:rPr lang="en-US" sz="1500">
                  <a:solidFill>
                    <a:srgbClr val="4F81BD"/>
                  </a:solidFill>
                  <a:latin typeface="Calibri (MS)"/>
                  <a:ea typeface="Calibri (MS)"/>
                  <a:cs typeface="Calibri (MS)"/>
                  <a:sym typeface="Calibri (MS)"/>
                </a:rPr>
                <a:t>        String token = UUID.randomUUID().toString();</a:t>
              </a:r>
            </a:p>
            <a:p>
              <a:pPr algn="l">
                <a:lnSpc>
                  <a:spcPts val="1800"/>
                </a:lnSpc>
              </a:pPr>
              <a:r>
                <a:rPr lang="en-US" sz="1500">
                  <a:solidFill>
                    <a:srgbClr val="4F81BD"/>
                  </a:solidFill>
                  <a:latin typeface="Calibri (MS)"/>
                  <a:ea typeface="Calibri (MS)"/>
                  <a:cs typeface="Calibri (MS)"/>
                  <a:sym typeface="Calibri (MS)"/>
                </a:rPr>
                <a:t>        ACTIVOS.put(token, System.currentTimeMillis() + vigenciaMs());</a:t>
              </a:r>
            </a:p>
            <a:p>
              <a:pPr algn="l">
                <a:lnSpc>
                  <a:spcPts val="1800"/>
                </a:lnSpc>
              </a:pPr>
              <a:r>
                <a:rPr lang="en-US" sz="1500">
                  <a:solidFill>
                    <a:srgbClr val="4F81BD"/>
                  </a:solidFill>
                  <a:latin typeface="Calibri (MS)"/>
                  <a:ea typeface="Calibri (MS)"/>
                  <a:cs typeface="Calibri (MS)"/>
                  <a:sym typeface="Calibri (MS)"/>
                </a:rPr>
                <a:t>        return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GestorTokens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Tokens activos en memoria: generar, validar y detectar la expiración (AUTH-001 / AUTH-002).</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473190"/>
            <a:chOff x="0" y="0"/>
            <a:chExt cx="12278360" cy="8630920"/>
          </a:xfrm>
        </p:grpSpPr>
        <p:sp>
          <p:nvSpPr>
            <p:cNvPr name="Freeform 18" id="18"/>
            <p:cNvSpPr/>
            <p:nvPr/>
          </p:nvSpPr>
          <p:spPr>
            <a:xfrm flipH="false" flipV="false" rot="0">
              <a:off x="0" y="0"/>
              <a:ext cx="12278360" cy="8630920"/>
            </a:xfrm>
            <a:custGeom>
              <a:avLst/>
              <a:gdLst/>
              <a:ahLst/>
              <a:cxnLst/>
              <a:rect r="r" b="b" t="t" l="l"/>
              <a:pathLst>
                <a:path h="8630920" w="12278360">
                  <a:moveTo>
                    <a:pt x="0" y="0"/>
                  </a:moveTo>
                  <a:lnTo>
                    <a:pt x="12278360" y="0"/>
                  </a:lnTo>
                  <a:lnTo>
                    <a:pt x="12278360" y="8630920"/>
                  </a:lnTo>
                  <a:lnTo>
                    <a:pt x="0" y="863092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66902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static CodigoResultado validar(String token) {</a:t>
              </a:r>
            </a:p>
            <a:p>
              <a:pPr algn="l">
                <a:lnSpc>
                  <a:spcPts val="1800"/>
                </a:lnSpc>
              </a:pPr>
              <a:r>
                <a:rPr lang="en-US" sz="1500">
                  <a:solidFill>
                    <a:srgbClr val="4F81BD"/>
                  </a:solidFill>
                  <a:latin typeface="Calibri (MS)"/>
                  <a:ea typeface="Calibri (MS)"/>
                  <a:cs typeface="Calibri (MS)"/>
                  <a:sym typeface="Calibri (MS)"/>
                </a:rPr>
                <a:t>        if (token == null || token.isBlank()) {</a:t>
              </a:r>
            </a:p>
            <a:p>
              <a:pPr algn="l">
                <a:lnSpc>
                  <a:spcPts val="1800"/>
                </a:lnSpc>
              </a:pPr>
              <a:r>
                <a:rPr lang="en-US" sz="1500">
                  <a:solidFill>
                    <a:srgbClr val="4F81BD"/>
                  </a:solidFill>
                  <a:latin typeface="Calibri (MS)"/>
                  <a:ea typeface="Calibri (MS)"/>
                  <a:cs typeface="Calibri (MS)"/>
                  <a:sym typeface="Calibri (MS)"/>
                </a:rPr>
                <a:t>            return CodigoResultado.TOKEN_INVALIDO;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Long expira = ACTIVOS.get(token.trim());</a:t>
              </a:r>
            </a:p>
            <a:p>
              <a:pPr algn="l">
                <a:lnSpc>
                  <a:spcPts val="1800"/>
                </a:lnSpc>
              </a:pPr>
              <a:r>
                <a:rPr lang="en-US" sz="1500">
                  <a:solidFill>
                    <a:srgbClr val="4F81BD"/>
                  </a:solidFill>
                  <a:latin typeface="Calibri (MS)"/>
                  <a:ea typeface="Calibri (MS)"/>
                  <a:cs typeface="Calibri (MS)"/>
                  <a:sym typeface="Calibri (MS)"/>
                </a:rPr>
                <a:t>        if (expira == null) {</a:t>
              </a:r>
            </a:p>
            <a:p>
              <a:pPr algn="l">
                <a:lnSpc>
                  <a:spcPts val="1800"/>
                </a:lnSpc>
              </a:pPr>
              <a:r>
                <a:rPr lang="en-US" sz="1500">
                  <a:solidFill>
                    <a:srgbClr val="4F81BD"/>
                  </a:solidFill>
                  <a:latin typeface="Calibri (MS)"/>
                  <a:ea typeface="Calibri (MS)"/>
                  <a:cs typeface="Calibri (MS)"/>
                  <a:sym typeface="Calibri (MS)"/>
                </a:rPr>
                <a:t>            return CodigoResultado.TOKEN_INVALIDO;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if (System.currentTimeMillis() &gt; expira) {</a:t>
              </a:r>
            </a:p>
            <a:p>
              <a:pPr algn="l">
                <a:lnSpc>
                  <a:spcPts val="1800"/>
                </a:lnSpc>
              </a:pPr>
              <a:r>
                <a:rPr lang="en-US" sz="1500">
                  <a:solidFill>
                    <a:srgbClr val="4F81BD"/>
                  </a:solidFill>
                  <a:latin typeface="Calibri (MS)"/>
                  <a:ea typeface="Calibri (MS)"/>
                  <a:cs typeface="Calibri (MS)"/>
                  <a:sym typeface="Calibri (MS)"/>
                </a:rPr>
                <a:t>            ACTIVOS.remove(token.trim());</a:t>
              </a:r>
            </a:p>
            <a:p>
              <a:pPr algn="l">
                <a:lnSpc>
                  <a:spcPts val="1800"/>
                </a:lnSpc>
              </a:pPr>
              <a:r>
                <a:rPr lang="en-US" sz="1500">
                  <a:solidFill>
                    <a:srgbClr val="4F81BD"/>
                  </a:solidFill>
                  <a:latin typeface="Calibri (MS)"/>
                  <a:ea typeface="Calibri (MS)"/>
                  <a:cs typeface="Calibri (MS)"/>
                  <a:sym typeface="Calibri (MS)"/>
                </a:rPr>
                <a:t>            return CodigoResultado.SESION_EXPIRADA;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verificar(String token) {</a:t>
              </a:r>
            </a:p>
            <a:p>
              <a:pPr algn="l">
                <a:lnSpc>
                  <a:spcPts val="1800"/>
                </a:lnSpc>
              </a:pPr>
              <a:r>
                <a:rPr lang="en-US" sz="1500">
                  <a:solidFill>
                    <a:srgbClr val="4F81BD"/>
                  </a:solidFill>
                  <a:latin typeface="Calibri (MS)"/>
                  <a:ea typeface="Calibri (MS)"/>
                  <a:cs typeface="Calibri (MS)"/>
                  <a:sym typeface="Calibri (MS)"/>
                </a:rPr>
                <a:t>        CodigoResultado codigo = validar(token);</a:t>
              </a:r>
            </a:p>
            <a:p>
              <a:pPr algn="l">
                <a:lnSpc>
                  <a:spcPts val="1800"/>
                </a:lnSpc>
              </a:pPr>
              <a:r>
                <a:rPr lang="en-US" sz="1500">
                  <a:solidFill>
                    <a:srgbClr val="4F81BD"/>
                  </a:solidFill>
                  <a:latin typeface="Calibri (MS)"/>
                  <a:ea typeface="Calibri (MS)"/>
                  <a:cs typeface="Calibri (MS)"/>
                  <a:sym typeface="Calibri (MS)"/>
                </a:rPr>
                <a:t>        if (codigo == null) {</a:t>
              </a:r>
            </a:p>
            <a:p>
              <a:pPr algn="l">
                <a:lnSpc>
                  <a:spcPts val="1800"/>
                </a:lnSpc>
              </a:pPr>
              <a:r>
                <a:rPr lang="en-US" sz="1500">
                  <a:solidFill>
                    <a:srgbClr val="4F81BD"/>
                  </a:solidFill>
                  <a:latin typeface="Calibri (MS)"/>
                  <a:ea typeface="Calibri (MS)"/>
                  <a:cs typeface="Calibri (MS)"/>
                  <a:sym typeface="Calibri (MS)"/>
                </a:rPr>
                <a:t>            return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if (codigo == CodigoResultado.SESION_EXPIRADA) {</a:t>
              </a:r>
            </a:p>
            <a:p>
              <a:pPr algn="l">
                <a:lnSpc>
                  <a:spcPts val="1800"/>
                </a:lnSpc>
              </a:pPr>
              <a:r>
                <a:rPr lang="en-US" sz="1500">
                  <a:solidFill>
                    <a:srgbClr val="4F81BD"/>
                  </a:solidFill>
                  <a:latin typeface="Calibri (MS)"/>
                  <a:ea typeface="Calibri (MS)"/>
                  <a:cs typeface="Calibri (MS)"/>
                  <a:sym typeface="Calibri (MS)"/>
                </a:rPr>
                <a:t>            return RespuestaMapeador.error(codigo, "Sesión expirada");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RespuestaMapeador.error(codigo, "Token inválido");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ManejadorLogin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 del login: arma la respuesta estructurada.</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ec.edu.monster.controladores.manejadoresws;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ManejadorLogin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login(String usuario, String clave) {</a:t>
              </a:r>
            </a:p>
            <a:p>
              <a:pPr algn="l">
                <a:lnSpc>
                  <a:spcPts val="1800"/>
                </a:lnSpc>
              </a:pPr>
              <a:r>
                <a:rPr lang="en-US" sz="1500">
                  <a:solidFill>
                    <a:srgbClr val="4F81BD"/>
                  </a:solidFill>
                  <a:latin typeface="Calibri (MS)"/>
                  <a:ea typeface="Calibri (MS)"/>
                  <a:cs typeface="Calibri (MS)"/>
                  <a:sym typeface="Calibri (MS)"/>
                </a:rPr>
                <a:t>        try {</a:t>
              </a:r>
            </a:p>
            <a:p>
              <a:pPr algn="l">
                <a:lnSpc>
                  <a:spcPts val="1800"/>
                </a:lnSpc>
              </a:pPr>
              <a:r>
                <a:rPr lang="en-US" sz="1500">
                  <a:solidFill>
                    <a:srgbClr val="4F81BD"/>
                  </a:solidFill>
                  <a:latin typeface="Calibri (MS)"/>
                  <a:ea typeface="Calibri (MS)"/>
                  <a:cs typeface="Calibri (MS)"/>
                  <a:sym typeface="Calibri (MS)"/>
                </a:rPr>
                <a:t>            return ServicioAutenticacion.autenticar(usuario, clave);</a:t>
              </a:r>
            </a:p>
            <a:p>
              <a:pPr algn="l">
                <a:lnSpc>
                  <a:spcPts val="1800"/>
                </a:lnSpc>
              </a:pPr>
              <a:r>
                <a:rPr lang="en-US" sz="1500">
                  <a:solidFill>
                    <a:srgbClr val="4F81BD"/>
                  </a:solidFill>
                  <a:latin typeface="Calibri (MS)"/>
                  <a:ea typeface="Calibri (MS)"/>
                  <a:cs typeface="Calibri (MS)"/>
                  <a:sym typeface="Calibri (MS)"/>
                </a:rPr>
                <a:t>        } catch (RuntimeException e) {</a:t>
              </a:r>
            </a:p>
            <a:p>
              <a:pPr algn="l">
                <a:lnSpc>
                  <a:spcPts val="1800"/>
                </a:lnSpc>
              </a:pPr>
              <a:r>
                <a:rPr lang="en-US" sz="1500">
                  <a:solidFill>
                    <a:srgbClr val="4F81BD"/>
                  </a:solidFill>
                  <a:latin typeface="Calibri (MS)"/>
                  <a:ea typeface="Calibri (MS)"/>
                  <a:cs typeface="Calibri (MS)"/>
                  <a:sym typeface="Calibri (MS)"/>
                </a:rPr>
                <a:t>            return RespuestaMapeador.error(CodigoResultado.ERROR_SERVIDOR, "Error interno del servicio");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 de conversiones: valida token, categoría y unidades, y llama al conversor.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ec.edu.monster.controladores.manejadoresws;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ManejadorConversion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a:t>
              </a:r>
            </a:p>
            <a:p>
              <a:pPr algn="l">
                <a:lnSpc>
                  <a:spcPts val="1800"/>
                </a:lnSpc>
              </a:pPr>
              <a:r>
                <a:rPr lang="en-US" sz="1500">
                  <a:solidFill>
                    <a:srgbClr val="4F81BD"/>
                  </a:solidFill>
                  <a:latin typeface="Calibri (MS)"/>
                  <a:ea typeface="Calibri (MS)"/>
                  <a:cs typeface="Calibri (MS)"/>
                  <a:sym typeface="Calibri (MS)"/>
                </a:rPr>
                <a:t>            String unidadOrigen, String unidadDestino, String token) {</a:t>
              </a:r>
            </a:p>
            <a:p>
              <a:pPr algn="l">
                <a:lnSpc>
                  <a:spcPts val="1800"/>
                </a:lnSpc>
              </a:pPr>
              <a:r>
                <a:rPr lang="en-US" sz="1500">
                  <a:solidFill>
                    <a:srgbClr val="4F81BD"/>
                  </a:solidFill>
                  <a:latin typeface="Calibri (MS)"/>
                  <a:ea typeface="Calibri (MS)"/>
                  <a:cs typeface="Calibri (MS)"/>
                  <a:sym typeface="Calibri (MS)"/>
                </a:rPr>
                <a:t>        try {</a:t>
              </a:r>
            </a:p>
            <a:p>
              <a:pPr algn="l">
                <a:lnSpc>
                  <a:spcPts val="1800"/>
                </a:lnSpc>
              </a:pPr>
              <a:r>
                <a:rPr lang="en-US" sz="1500">
                  <a:solidFill>
                    <a:srgbClr val="4F81BD"/>
                  </a:solidFill>
                  <a:latin typeface="Calibri (MS)"/>
                  <a:ea typeface="Calibri (MS)"/>
                  <a:cs typeface="Calibri (MS)"/>
                  <a:sym typeface="Calibri (MS)"/>
                </a:rPr>
                <a:t>            RespuestaServicio errorToken = GestorTokens.verificar(token);</a:t>
              </a:r>
            </a:p>
            <a:p>
              <a:pPr algn="l">
                <a:lnSpc>
                  <a:spcPts val="1800"/>
                </a:lnSpc>
              </a:pPr>
              <a:r>
                <a:rPr lang="en-US" sz="1500">
                  <a:solidFill>
                    <a:srgbClr val="4F81BD"/>
                  </a:solidFill>
                  <a:latin typeface="Calibri (MS)"/>
                  <a:ea typeface="Calibri (MS)"/>
                  <a:cs typeface="Calibri (MS)"/>
                  <a:sym typeface="Calibri (MS)"/>
                </a:rPr>
                <a:t>            if (errorToken != null) {</a:t>
              </a:r>
            </a:p>
            <a:p>
              <a:pPr algn="l">
                <a:lnSpc>
                  <a:spcPts val="1800"/>
                </a:lnSpc>
              </a:pPr>
              <a:r>
                <a:rPr lang="en-US" sz="1500">
                  <a:solidFill>
                    <a:srgbClr val="4F81BD"/>
                  </a:solidFill>
                  <a:latin typeface="Calibri (MS)"/>
                  <a:ea typeface="Calibri (MS)"/>
                  <a:cs typeface="Calibri (MS)"/>
                  <a:sym typeface="Calibri (MS)"/>
                </a:rPr>
                <a:t>                return errorToken;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Optional&lt;Conversor&gt; cat = CatalogoUnidades.buscarCategoria(categoria);</a:t>
              </a:r>
            </a:p>
            <a:p>
              <a:pPr algn="l">
                <a:lnSpc>
                  <a:spcPts val="1800"/>
                </a:lnSpc>
              </a:pPr>
              <a:r>
                <a:rPr lang="en-US" sz="1500">
                  <a:solidFill>
                    <a:srgbClr val="4F81BD"/>
                  </a:solidFill>
                  <a:latin typeface="Calibri (MS)"/>
                  <a:ea typeface="Calibri (MS)"/>
                  <a:cs typeface="Calibri (MS)"/>
                  <a:sym typeface="Calibri (MS)"/>
                </a:rPr>
                <a:t>            if (cat.isEmpty()) {</a:t>
              </a:r>
            </a:p>
            <a:p>
              <a:pPr algn="l">
                <a:lnSpc>
                  <a:spcPts val="1800"/>
                </a:lnSpc>
              </a:pPr>
              <a:r>
                <a:rPr lang="en-US" sz="1500">
                  <a:solidFill>
                    <a:srgbClr val="4F81BD"/>
                  </a:solidFill>
                  <a:latin typeface="Calibri (MS)"/>
                  <a:ea typeface="Calibri (MS)"/>
                  <a:cs typeface="Calibri (MS)"/>
                  <a:sym typeface="Calibri (MS)"/>
                </a:rPr>
                <a:t>                return RespuestaMapeador.error(CodigoResultado.DATOS_INCONSISTENTES, "Categoría no soportada");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if (Double.isNaN(valor) || Double.isInfinite(valor)) {</a:t>
              </a:r>
            </a:p>
            <a:p>
              <a:pPr algn="l">
                <a:lnSpc>
                  <a:spcPts val="1800"/>
                </a:lnSpc>
              </a:pPr>
              <a:r>
                <a:rPr lang="en-US" sz="1500">
                  <a:solidFill>
                    <a:srgbClr val="4F81BD"/>
                  </a:solidFill>
                  <a:latin typeface="Calibri (MS)"/>
                  <a:ea typeface="Calibri (MS)"/>
                  <a:cs typeface="Calibri (MS)"/>
                  <a:sym typeface="Calibri (MS)"/>
                </a:rPr>
                <a:t>                return RespuestaMapeador.error(CodigoResultado.DATOS_INCONSISTENTES, "El valor debe ser numérico");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if (unidadOrigen == null || unidadOrigen.isBlank() || unidadDestino == null || unidadDestino.isBlank()) {</a:t>
              </a:r>
            </a:p>
            <a:p>
              <a:pPr algn="l">
                <a:lnSpc>
                  <a:spcPts val="1800"/>
                </a:lnSpc>
              </a:pPr>
              <a:r>
                <a:rPr lang="en-US" sz="1500">
                  <a:solidFill>
                    <a:srgbClr val="4F81BD"/>
                  </a:solidFill>
                  <a:latin typeface="Calibri (MS)"/>
                  <a:ea typeface="Calibri (MS)"/>
                  <a:cs typeface="Calibri (MS)"/>
                  <a:sym typeface="Calibri (MS)"/>
                </a:rPr>
                <a:t>                return RespuestaMapeador.error(CodigoResultado.DATOS_INCONSISTENTES,</a:t>
              </a:r>
            </a:p>
            <a:p>
              <a:pPr algn="l">
                <a:lnSpc>
                  <a:spcPts val="1800"/>
                </a:lnSpc>
              </a:pPr>
              <a:r>
                <a:rPr lang="en-US" sz="1500">
                  <a:solidFill>
                    <a:srgbClr val="4F81BD"/>
                  </a:solidFill>
                  <a:latin typeface="Calibri (MS)"/>
                  <a:ea typeface="Calibri (MS)"/>
                  <a:cs typeface="Calibri (MS)"/>
                  <a:sym typeface="Calibri (MS)"/>
                </a:rPr>
                <a:t>                        "Las unidades de origen y destino son obligatorias");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origen = Conversor.normalizar(unidadOrigen);</a:t>
              </a:r>
            </a:p>
            <a:p>
              <a:pPr algn="l">
                <a:lnSpc>
                  <a:spcPts val="1800"/>
                </a:lnSpc>
              </a:pPr>
              <a:r>
                <a:rPr lang="en-US" sz="1500">
                  <a:solidFill>
                    <a:srgbClr val="4F81BD"/>
                  </a:solidFill>
                  <a:latin typeface="Calibri (MS)"/>
                  <a:ea typeface="Calibri (MS)"/>
                  <a:cs typeface="Calibri (MS)"/>
                  <a:sym typeface="Calibri (MS)"/>
                </a:rPr>
                <a:t>            String destino = Conversor.normalizar(unidadDestino);</a:t>
              </a:r>
            </a:p>
            <a:p>
              <a:pPr algn="l">
                <a:lnSpc>
                  <a:spcPts val="1800"/>
                </a:lnSpc>
              </a:pPr>
              <a:r>
                <a:rPr lang="en-US" sz="1500">
                  <a:solidFill>
                    <a:srgbClr val="4F81BD"/>
                  </a:solidFill>
                  <a:latin typeface="Calibri (MS)"/>
                  <a:ea typeface="Calibri (MS)"/>
                  <a:cs typeface="Calibri (MS)"/>
                  <a:sym typeface="Calibri (MS)"/>
                </a:rPr>
                <a:t>            Optional&lt;Conversor&gt; catOrigen = CatalogoUnidades.categoriaDeUnidad(origen);</a:t>
              </a:r>
            </a:p>
            <a:p>
              <a:pPr algn="l">
                <a:lnSpc>
                  <a:spcPts val="1800"/>
                </a:lnSpc>
              </a:pPr>
              <a:r>
                <a:rPr lang="en-US" sz="1500">
                  <a:solidFill>
                    <a:srgbClr val="4F81BD"/>
                  </a:solidFill>
                  <a:latin typeface="Calibri (MS)"/>
                  <a:ea typeface="Calibri (MS)"/>
                  <a:cs typeface="Calibri (MS)"/>
                  <a:sym typeface="Calibri (MS)"/>
                </a:rPr>
                <a:t>            if (catOrigen.isEmpty()) {</a:t>
              </a:r>
            </a:p>
            <a:p>
              <a:pPr algn="l">
                <a:lnSpc>
                  <a:spcPts val="1800"/>
                </a:lnSpc>
              </a:pPr>
              <a:r>
                <a:rPr lang="en-US" sz="1500">
                  <a:solidFill>
                    <a:srgbClr val="4F81BD"/>
                  </a:solidFill>
                  <a:latin typeface="Calibri (MS)"/>
                  <a:ea typeface="Calibri (MS)"/>
                  <a:cs typeface="Calibri (MS)"/>
                  <a:sym typeface="Calibri (MS)"/>
                </a:rPr>
                <a:t>                return RespuestaMapeador.error(CodigoResultado.UNIDAD_NO_SOPORTADA, "Unidad de origen no soportada");</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 de conversiones: valida token, categoría y unidades, y llama al conversor.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Optional&lt;Conversor&gt; catDestino = CatalogoUnidades.categoriaDeUnidad(destino);</a:t>
              </a:r>
            </a:p>
            <a:p>
              <a:pPr algn="l">
                <a:lnSpc>
                  <a:spcPts val="1800"/>
                </a:lnSpc>
              </a:pPr>
              <a:r>
                <a:rPr lang="en-US" sz="1500">
                  <a:solidFill>
                    <a:srgbClr val="4F81BD"/>
                  </a:solidFill>
                  <a:latin typeface="Calibri (MS)"/>
                  <a:ea typeface="Calibri (MS)"/>
                  <a:cs typeface="Calibri (MS)"/>
                  <a:sym typeface="Calibri (MS)"/>
                </a:rPr>
                <a:t>            if (catDestino.isEmpty()) {</a:t>
              </a:r>
            </a:p>
            <a:p>
              <a:pPr algn="l">
                <a:lnSpc>
                  <a:spcPts val="1800"/>
                </a:lnSpc>
              </a:pPr>
              <a:r>
                <a:rPr lang="en-US" sz="1500">
                  <a:solidFill>
                    <a:srgbClr val="4F81BD"/>
                  </a:solidFill>
                  <a:latin typeface="Calibri (MS)"/>
                  <a:ea typeface="Calibri (MS)"/>
                  <a:cs typeface="Calibri (MS)"/>
                  <a:sym typeface="Calibri (MS)"/>
                </a:rPr>
                <a:t>                return RespuestaMapeador.error(CodigoResultado.UNIDAD_NO_SOPORTADA, "Unidad de destino no soportada");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Conversor conversor = cat.get();</a:t>
              </a:r>
            </a:p>
            <a:p>
              <a:pPr algn="l">
                <a:lnSpc>
                  <a:spcPts val="1800"/>
                </a:lnSpc>
              </a:pPr>
              <a:r>
                <a:rPr lang="en-US" sz="1500">
                  <a:solidFill>
                    <a:srgbClr val="4F81BD"/>
                  </a:solidFill>
                  <a:latin typeface="Calibri (MS)"/>
                  <a:ea typeface="Calibri (MS)"/>
                  <a:cs typeface="Calibri (MS)"/>
                  <a:sym typeface="Calibri (MS)"/>
                </a:rPr>
                <a:t>            if (catOrigen.get() != conversor || catDestino.get() != conversor) {</a:t>
              </a:r>
            </a:p>
            <a:p>
              <a:pPr algn="l">
                <a:lnSpc>
                  <a:spcPts val="1800"/>
                </a:lnSpc>
              </a:pPr>
              <a:r>
                <a:rPr lang="en-US" sz="1500">
                  <a:solidFill>
                    <a:srgbClr val="4F81BD"/>
                  </a:solidFill>
                  <a:latin typeface="Calibri (MS)"/>
                  <a:ea typeface="Calibri (MS)"/>
                  <a:cs typeface="Calibri (MS)"/>
                  <a:sym typeface="Calibri (MS)"/>
                </a:rPr>
                <a:t>                return RespuestaMapeador.error(CodigoResultado.DATOS_INCONSISTENTES,</a:t>
              </a:r>
            </a:p>
            <a:p>
              <a:pPr algn="l">
                <a:lnSpc>
                  <a:spcPts val="1800"/>
                </a:lnSpc>
              </a:pPr>
              <a:r>
                <a:rPr lang="en-US" sz="1500">
                  <a:solidFill>
                    <a:srgbClr val="4F81BD"/>
                  </a:solidFill>
                  <a:latin typeface="Calibri (MS)"/>
                  <a:ea typeface="Calibri (MS)"/>
                  <a:cs typeface="Calibri (MS)"/>
                  <a:sym typeface="Calibri (MS)"/>
                </a:rPr>
                <a:t>                        "Las unidades no pertenecen a la categoría " + conversor.categoria());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double resultado = redondear(conversor.convertir(valor, origen, destino));</a:t>
              </a:r>
            </a:p>
            <a:p>
              <a:pPr algn="l">
                <a:lnSpc>
                  <a:spcPts val="1800"/>
                </a:lnSpc>
              </a:pPr>
              <a:r>
                <a:rPr lang="en-US" sz="1500">
                  <a:solidFill>
                    <a:srgbClr val="4F81BD"/>
                  </a:solidFill>
                  <a:latin typeface="Calibri (MS)"/>
                  <a:ea typeface="Calibri (MS)"/>
                  <a:cs typeface="Calibri (MS)"/>
                  <a:sym typeface="Calibri (MS)"/>
                </a:rPr>
                <a:t>            return RespuestaMapeador.exitoConversion(resultado, origen, destino);</a:t>
              </a:r>
            </a:p>
            <a:p>
              <a:pPr algn="l">
                <a:lnSpc>
                  <a:spcPts val="1800"/>
                </a:lnSpc>
              </a:pPr>
              <a:r>
                <a:rPr lang="en-US" sz="1500">
                  <a:solidFill>
                    <a:srgbClr val="4F81BD"/>
                  </a:solidFill>
                  <a:latin typeface="Calibri (MS)"/>
                  <a:ea typeface="Calibri (MS)"/>
                  <a:cs typeface="Calibri (MS)"/>
                  <a:sym typeface="Calibri (MS)"/>
                </a:rPr>
                <a:t>        } catch (RuntimeException e) {</a:t>
              </a:r>
            </a:p>
            <a:p>
              <a:pPr algn="l">
                <a:lnSpc>
                  <a:spcPts val="1800"/>
                </a:lnSpc>
              </a:pPr>
              <a:r>
                <a:rPr lang="en-US" sz="1500">
                  <a:solidFill>
                    <a:srgbClr val="4F81BD"/>
                  </a:solidFill>
                  <a:latin typeface="Calibri (MS)"/>
                  <a:ea typeface="Calibri (MS)"/>
                  <a:cs typeface="Calibri (MS)"/>
                  <a:sym typeface="Calibri (MS)"/>
                </a:rPr>
                <a:t>            return RespuestaMapeador.error(CodigoResultado.ERROR_SERVIDOR, "Error interno del servicio");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static double redondear(double v) {</a:t>
              </a:r>
            </a:p>
            <a:p>
              <a:pPr algn="l">
                <a:lnSpc>
                  <a:spcPts val="1800"/>
                </a:lnSpc>
              </a:pPr>
              <a:r>
                <a:rPr lang="en-US" sz="1500">
                  <a:solidFill>
                    <a:srgbClr val="4F81BD"/>
                  </a:solidFill>
                  <a:latin typeface="Calibri (MS)"/>
                  <a:ea typeface="Calibri (MS)"/>
                  <a:cs typeface="Calibri (MS)"/>
                  <a:sym typeface="Calibri (MS)"/>
                </a:rPr>
                <a:t>        if (v == 0.0) {</a:t>
              </a:r>
            </a:p>
            <a:p>
              <a:pPr algn="l">
                <a:lnSpc>
                  <a:spcPts val="1800"/>
                </a:lnSpc>
              </a:pPr>
              <a:r>
                <a:rPr lang="en-US" sz="1500">
                  <a:solidFill>
                    <a:srgbClr val="4F81BD"/>
                  </a:solidFill>
                  <a:latin typeface="Calibri (MS)"/>
                  <a:ea typeface="Calibri (MS)"/>
                  <a:cs typeface="Calibri (MS)"/>
                  <a:sym typeface="Calibri (MS)"/>
                </a:rPr>
                <a:t>            return 0.0;</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new BigDecimal(v).round(new MathContext(12)).doubleValue();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CodigoResultado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Códigos de resultado de todas las operaciones.</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ec.edu.monster.modelos.utilidades.enums;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enum CodigoResultado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OK_200("OK-200"),</a:t>
              </a:r>
            </a:p>
            <a:p>
              <a:pPr algn="l">
                <a:lnSpc>
                  <a:spcPts val="1800"/>
                </a:lnSpc>
              </a:pPr>
              <a:r>
                <a:rPr lang="en-US" sz="1500">
                  <a:solidFill>
                    <a:srgbClr val="4F81BD"/>
                  </a:solidFill>
                  <a:latin typeface="Calibri (MS)"/>
                  <a:ea typeface="Calibri (MS)"/>
                  <a:cs typeface="Calibri (MS)"/>
                  <a:sym typeface="Calibri (MS)"/>
                </a:rPr>
                <a:t>    TOKEN_INVALIDO("AUTH-001"),</a:t>
              </a:r>
            </a:p>
            <a:p>
              <a:pPr algn="l">
                <a:lnSpc>
                  <a:spcPts val="1800"/>
                </a:lnSpc>
              </a:pPr>
              <a:r>
                <a:rPr lang="en-US" sz="1500">
                  <a:solidFill>
                    <a:srgbClr val="4F81BD"/>
                  </a:solidFill>
                  <a:latin typeface="Calibri (MS)"/>
                  <a:ea typeface="Calibri (MS)"/>
                  <a:cs typeface="Calibri (MS)"/>
                  <a:sym typeface="Calibri (MS)"/>
                </a:rPr>
                <a:t>    SESION_EXPIRADA("AUTH-002"),</a:t>
              </a:r>
            </a:p>
            <a:p>
              <a:pPr algn="l">
                <a:lnSpc>
                  <a:spcPts val="1800"/>
                </a:lnSpc>
              </a:pPr>
              <a:r>
                <a:rPr lang="en-US" sz="1500">
                  <a:solidFill>
                    <a:srgbClr val="4F81BD"/>
                  </a:solidFill>
                  <a:latin typeface="Calibri (MS)"/>
                  <a:ea typeface="Calibri (MS)"/>
                  <a:cs typeface="Calibri (MS)"/>
                  <a:sym typeface="Calibri (MS)"/>
                </a:rPr>
                <a:t>    CREDENCIALES_INCORRECTAS("AUTH-003"),</a:t>
              </a:r>
            </a:p>
            <a:p>
              <a:pPr algn="l">
                <a:lnSpc>
                  <a:spcPts val="1800"/>
                </a:lnSpc>
              </a:pPr>
              <a:r>
                <a:rPr lang="en-US" sz="1500">
                  <a:solidFill>
                    <a:srgbClr val="4F81BD"/>
                  </a:solidFill>
                  <a:latin typeface="Calibri (MS)"/>
                  <a:ea typeface="Calibri (MS)"/>
                  <a:cs typeface="Calibri (MS)"/>
                  <a:sym typeface="Calibri (MS)"/>
                </a:rPr>
                <a:t>    UNIDAD_NO_SOPORTADA("UNIT-001"),</a:t>
              </a:r>
            </a:p>
            <a:p>
              <a:pPr algn="l">
                <a:lnSpc>
                  <a:spcPts val="1800"/>
                </a:lnSpc>
              </a:pPr>
              <a:r>
                <a:rPr lang="en-US" sz="1500">
                  <a:solidFill>
                    <a:srgbClr val="4F81BD"/>
                  </a:solidFill>
                  <a:latin typeface="Calibri (MS)"/>
                  <a:ea typeface="Calibri (MS)"/>
                  <a:cs typeface="Calibri (MS)"/>
                  <a:sym typeface="Calibri (MS)"/>
                </a:rPr>
                <a:t>    DATOS_INCONSISTENTES("DATA-001"),</a:t>
              </a:r>
            </a:p>
            <a:p>
              <a:pPr algn="l">
                <a:lnSpc>
                  <a:spcPts val="1800"/>
                </a:lnSpc>
              </a:pPr>
              <a:r>
                <a:rPr lang="en-US" sz="1500">
                  <a:solidFill>
                    <a:srgbClr val="4F81BD"/>
                  </a:solidFill>
                  <a:latin typeface="Calibri (MS)"/>
                  <a:ea typeface="Calibri (MS)"/>
                  <a:cs typeface="Calibri (MS)"/>
                  <a:sym typeface="Calibri (MS)"/>
                </a:rPr>
                <a:t>    ERROR_SERVIDOR("SRV-500");</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String codigo;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CodigoResultado(String codigo) {</a:t>
              </a:r>
            </a:p>
            <a:p>
              <a:pPr algn="l">
                <a:lnSpc>
                  <a:spcPts val="1800"/>
                </a:lnSpc>
              </a:pPr>
              <a:r>
                <a:rPr lang="en-US" sz="1500">
                  <a:solidFill>
                    <a:srgbClr val="4F81BD"/>
                  </a:solidFill>
                  <a:latin typeface="Calibri (MS)"/>
                  <a:ea typeface="Calibri (MS)"/>
                  <a:cs typeface="Calibri (MS)"/>
                  <a:sym typeface="Calibri (MS)"/>
                </a:rPr>
                <a:t>        this.codigo = codigo;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getCodigo() {</a:t>
              </a:r>
            </a:p>
            <a:p>
              <a:pPr algn="l">
                <a:lnSpc>
                  <a:spcPts val="1800"/>
                </a:lnSpc>
              </a:pPr>
              <a:r>
                <a:rPr lang="en-US" sz="1500">
                  <a:solidFill>
                    <a:srgbClr val="4F81BD"/>
                  </a:solidFill>
                  <a:latin typeface="Calibri (MS)"/>
                  <a:ea typeface="Calibri (MS)"/>
                  <a:cs typeface="Calibri (MS)"/>
                  <a:sym typeface="Calibri (MS)"/>
                </a:rPr>
                <a:t>        return codigo;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RespuestaMapeador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Único lugar donde se arma la respuesta (éxito, login, lista, conversión y error).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ec.edu.monster.modelos.utilidades.mapeadores;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RespuestaMapeador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RespuestaMapeador()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exito(String mensaje) {</a:t>
              </a:r>
            </a:p>
            <a:p>
              <a:pPr algn="l">
                <a:lnSpc>
                  <a:spcPts val="1800"/>
                </a:lnSpc>
              </a:pPr>
              <a:r>
                <a:rPr lang="en-US" sz="1500">
                  <a:solidFill>
                    <a:srgbClr val="4F81BD"/>
                  </a:solidFill>
                  <a:latin typeface="Calibri (MS)"/>
                  <a:ea typeface="Calibri (MS)"/>
                  <a:cs typeface="Calibri (MS)"/>
                  <a:sym typeface="Calibri (MS)"/>
                </a:rPr>
                <a:t>        RespuestaServicio r = new RespuestaServicio();</a:t>
              </a:r>
            </a:p>
            <a:p>
              <a:pPr algn="l">
                <a:lnSpc>
                  <a:spcPts val="1800"/>
                </a:lnSpc>
              </a:pPr>
              <a:r>
                <a:rPr lang="en-US" sz="1500">
                  <a:solidFill>
                    <a:srgbClr val="4F81BD"/>
                  </a:solidFill>
                  <a:latin typeface="Calibri (MS)"/>
                  <a:ea typeface="Calibri (MS)"/>
                  <a:cs typeface="Calibri (MS)"/>
                  <a:sym typeface="Calibri (MS)"/>
                </a:rPr>
                <a:t>        r.setEstado(EstadoRespuesta.OK.getTexto());</a:t>
              </a:r>
            </a:p>
            <a:p>
              <a:pPr algn="l">
                <a:lnSpc>
                  <a:spcPts val="1800"/>
                </a:lnSpc>
              </a:pPr>
              <a:r>
                <a:rPr lang="en-US" sz="1500">
                  <a:solidFill>
                    <a:srgbClr val="4F81BD"/>
                  </a:solidFill>
                  <a:latin typeface="Calibri (MS)"/>
                  <a:ea typeface="Calibri (MS)"/>
                  <a:cs typeface="Calibri (MS)"/>
                  <a:sym typeface="Calibri (MS)"/>
                </a:rPr>
                <a:t>        r.setCodigo(CodigoResultado.OK_200.getCodigo());</a:t>
              </a:r>
            </a:p>
            <a:p>
              <a:pPr algn="l">
                <a:lnSpc>
                  <a:spcPts val="1800"/>
                </a:lnSpc>
              </a:pPr>
              <a:r>
                <a:rPr lang="en-US" sz="1500">
                  <a:solidFill>
                    <a:srgbClr val="4F81BD"/>
                  </a:solidFill>
                  <a:latin typeface="Calibri (MS)"/>
                  <a:ea typeface="Calibri (MS)"/>
                  <a:cs typeface="Calibri (MS)"/>
                  <a:sym typeface="Calibri (MS)"/>
                </a:rPr>
                <a:t>        r.setMensaje(mensaje);</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exitoLogin(String token) {</a:t>
              </a:r>
            </a:p>
            <a:p>
              <a:pPr algn="l">
                <a:lnSpc>
                  <a:spcPts val="1800"/>
                </a:lnSpc>
              </a:pPr>
              <a:r>
                <a:rPr lang="en-US" sz="1500">
                  <a:solidFill>
                    <a:srgbClr val="4F81BD"/>
                  </a:solidFill>
                  <a:latin typeface="Calibri (MS)"/>
                  <a:ea typeface="Calibri (MS)"/>
                  <a:cs typeface="Calibri (MS)"/>
                  <a:sym typeface="Calibri (MS)"/>
                </a:rPr>
                <a:t>        RespuestaServicio r = exito("Autenticación exitosa");</a:t>
              </a:r>
            </a:p>
            <a:p>
              <a:pPr algn="l">
                <a:lnSpc>
                  <a:spcPts val="1800"/>
                </a:lnSpc>
              </a:pPr>
              <a:r>
                <a:rPr lang="en-US" sz="1500">
                  <a:solidFill>
                    <a:srgbClr val="4F81BD"/>
                  </a:solidFill>
                  <a:latin typeface="Calibri (MS)"/>
                  <a:ea typeface="Calibri (MS)"/>
                  <a:cs typeface="Calibri (MS)"/>
                  <a:sym typeface="Calibri (MS)"/>
                </a:rPr>
                <a:t>        r.setToken(token);</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exitoLista(List&lt;String&gt; datos) {</a:t>
              </a:r>
            </a:p>
            <a:p>
              <a:pPr algn="l">
                <a:lnSpc>
                  <a:spcPts val="1800"/>
                </a:lnSpc>
              </a:pPr>
              <a:r>
                <a:rPr lang="en-US" sz="1500">
                  <a:solidFill>
                    <a:srgbClr val="4F81BD"/>
                  </a:solidFill>
                  <a:latin typeface="Calibri (MS)"/>
                  <a:ea typeface="Calibri (MS)"/>
                  <a:cs typeface="Calibri (MS)"/>
                  <a:sym typeface="Calibri (MS)"/>
                </a:rPr>
                <a:t>        RespuestaServicio r = exito("Consulta realizada correctamente");</a:t>
              </a:r>
            </a:p>
            <a:p>
              <a:pPr algn="l">
                <a:lnSpc>
                  <a:spcPts val="1800"/>
                </a:lnSpc>
              </a:pPr>
              <a:r>
                <a:rPr lang="en-US" sz="1500">
                  <a:solidFill>
                    <a:srgbClr val="4F81BD"/>
                  </a:solidFill>
                  <a:latin typeface="Calibri (MS)"/>
                  <a:ea typeface="Calibri (MS)"/>
                  <a:cs typeface="Calibri (MS)"/>
                  <a:sym typeface="Calibri (MS)"/>
                </a:rPr>
                <a:t>        r.setDatos(datos);</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RespuestaMapeador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Único lugar donde se arma la respuesta (éxito, login, lista, conversión y error).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149090"/>
            <a:chOff x="0" y="0"/>
            <a:chExt cx="12278360" cy="5532120"/>
          </a:xfrm>
        </p:grpSpPr>
        <p:sp>
          <p:nvSpPr>
            <p:cNvPr name="Freeform 18" id="18"/>
            <p:cNvSpPr/>
            <p:nvPr/>
          </p:nvSpPr>
          <p:spPr>
            <a:xfrm flipH="false" flipV="false" rot="0">
              <a:off x="0" y="0"/>
              <a:ext cx="12278360" cy="5532120"/>
            </a:xfrm>
            <a:custGeom>
              <a:avLst/>
              <a:gdLst/>
              <a:ahLst/>
              <a:cxnLst/>
              <a:rect r="r" b="b" t="t" l="l"/>
              <a:pathLst>
                <a:path h="5532120" w="12278360">
                  <a:moveTo>
                    <a:pt x="0" y="0"/>
                  </a:moveTo>
                  <a:lnTo>
                    <a:pt x="12278360" y="0"/>
                  </a:lnTo>
                  <a:lnTo>
                    <a:pt x="12278360" y="5532120"/>
                  </a:lnTo>
                  <a:lnTo>
                    <a:pt x="0" y="553212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557022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static RespuestaServicio exitoConversion(double resultado, String unidadOrigen, String unidadDestino) {</a:t>
              </a:r>
            </a:p>
            <a:p>
              <a:pPr algn="l">
                <a:lnSpc>
                  <a:spcPts val="1800"/>
                </a:lnSpc>
              </a:pPr>
              <a:r>
                <a:rPr lang="en-US" sz="1500">
                  <a:solidFill>
                    <a:srgbClr val="4F81BD"/>
                  </a:solidFill>
                  <a:latin typeface="Calibri (MS)"/>
                  <a:ea typeface="Calibri (MS)"/>
                  <a:cs typeface="Calibri (MS)"/>
                  <a:sym typeface="Calibri (MS)"/>
                </a:rPr>
                <a:t>        RespuestaServicio r = exito("Conversión realizada correctamente");</a:t>
              </a:r>
            </a:p>
            <a:p>
              <a:pPr algn="l">
                <a:lnSpc>
                  <a:spcPts val="1800"/>
                </a:lnSpc>
              </a:pPr>
              <a:r>
                <a:rPr lang="en-US" sz="1500">
                  <a:solidFill>
                    <a:srgbClr val="4F81BD"/>
                  </a:solidFill>
                  <a:latin typeface="Calibri (MS)"/>
                  <a:ea typeface="Calibri (MS)"/>
                  <a:cs typeface="Calibri (MS)"/>
                  <a:sym typeface="Calibri (MS)"/>
                </a:rPr>
                <a:t>        r.setResultado(resultado);</a:t>
              </a:r>
            </a:p>
            <a:p>
              <a:pPr algn="l">
                <a:lnSpc>
                  <a:spcPts val="1800"/>
                </a:lnSpc>
              </a:pPr>
              <a:r>
                <a:rPr lang="en-US" sz="1500">
                  <a:solidFill>
                    <a:srgbClr val="4F81BD"/>
                  </a:solidFill>
                  <a:latin typeface="Calibri (MS)"/>
                  <a:ea typeface="Calibri (MS)"/>
                  <a:cs typeface="Calibri (MS)"/>
                  <a:sym typeface="Calibri (MS)"/>
                </a:rPr>
                <a:t>        r.setUnidadOrigen(unidadOrigen);</a:t>
              </a:r>
            </a:p>
            <a:p>
              <a:pPr algn="l">
                <a:lnSpc>
                  <a:spcPts val="1800"/>
                </a:lnSpc>
              </a:pPr>
              <a:r>
                <a:rPr lang="en-US" sz="1500">
                  <a:solidFill>
                    <a:srgbClr val="4F81BD"/>
                  </a:solidFill>
                  <a:latin typeface="Calibri (MS)"/>
                  <a:ea typeface="Calibri (MS)"/>
                  <a:cs typeface="Calibri (MS)"/>
                  <a:sym typeface="Calibri (MS)"/>
                </a:rPr>
                <a:t>        r.setUnidadDestino(unidadDestino);</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error(CodigoResultado codigo, String mensaje) {</a:t>
              </a:r>
            </a:p>
            <a:p>
              <a:pPr algn="l">
                <a:lnSpc>
                  <a:spcPts val="1800"/>
                </a:lnSpc>
              </a:pPr>
              <a:r>
                <a:rPr lang="en-US" sz="1500">
                  <a:solidFill>
                    <a:srgbClr val="4F81BD"/>
                  </a:solidFill>
                  <a:latin typeface="Calibri (MS)"/>
                  <a:ea typeface="Calibri (MS)"/>
                  <a:cs typeface="Calibri (MS)"/>
                  <a:sym typeface="Calibri (MS)"/>
                </a:rPr>
                <a:t>        RespuestaServicio r = new RespuestaServicio();</a:t>
              </a:r>
            </a:p>
            <a:p>
              <a:pPr algn="l">
                <a:lnSpc>
                  <a:spcPts val="1800"/>
                </a:lnSpc>
              </a:pPr>
              <a:r>
                <a:rPr lang="en-US" sz="1500">
                  <a:solidFill>
                    <a:srgbClr val="4F81BD"/>
                  </a:solidFill>
                  <a:latin typeface="Calibri (MS)"/>
                  <a:ea typeface="Calibri (MS)"/>
                  <a:cs typeface="Calibri (MS)"/>
                  <a:sym typeface="Calibri (MS)"/>
                </a:rPr>
                <a:t>        r.setEstado(EstadoRespuesta.ERROR.getTexto());</a:t>
              </a:r>
            </a:p>
            <a:p>
              <a:pPr algn="l">
                <a:lnSpc>
                  <a:spcPts val="1800"/>
                </a:lnSpc>
              </a:pPr>
              <a:r>
                <a:rPr lang="en-US" sz="1500">
                  <a:solidFill>
                    <a:srgbClr val="4F81BD"/>
                  </a:solidFill>
                  <a:latin typeface="Calibri (MS)"/>
                  <a:ea typeface="Calibri (MS)"/>
                  <a:cs typeface="Calibri (MS)"/>
                  <a:sym typeface="Calibri (MS)"/>
                </a:rPr>
                <a:t>        r.setCodigo(codigo.getCodigo());</a:t>
              </a:r>
            </a:p>
            <a:p>
              <a:pPr algn="l">
                <a:lnSpc>
                  <a:spcPts val="1800"/>
                </a:lnSpc>
              </a:pPr>
              <a:r>
                <a:rPr lang="en-US" sz="1500">
                  <a:solidFill>
                    <a:srgbClr val="4F81BD"/>
                  </a:solidFill>
                  <a:latin typeface="Calibri (MS)"/>
                  <a:ea typeface="Calibri (MS)"/>
                  <a:cs typeface="Calibri (MS)"/>
                  <a:sym typeface="Calibri (MS)"/>
                </a:rPr>
                <a:t>        r.setMensaje(mensaje);</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512970" y="5763086"/>
            <a:ext cx="5609022" cy="3916358"/>
          </a:xfrm>
          <a:custGeom>
            <a:avLst/>
            <a:gdLst/>
            <a:ahLst/>
            <a:cxnLst/>
            <a:rect r="r" b="b" t="t" l="l"/>
            <a:pathLst>
              <a:path h="3916358" w="5609022">
                <a:moveTo>
                  <a:pt x="0" y="0"/>
                </a:moveTo>
                <a:lnTo>
                  <a:pt x="5609022" y="0"/>
                </a:lnTo>
                <a:lnTo>
                  <a:pt x="5609022" y="3916358"/>
                </a:lnTo>
                <a:lnTo>
                  <a:pt x="0" y="3916358"/>
                </a:lnTo>
                <a:lnTo>
                  <a:pt x="0" y="0"/>
                </a:lnTo>
                <a:close/>
              </a:path>
            </a:pathLst>
          </a:custGeom>
          <a:blipFill>
            <a:blip r:embed="rId3"/>
            <a:stretch>
              <a:fillRect l="0" t="0" r="0" b="0"/>
            </a:stretch>
          </a:blipFill>
        </p:spPr>
      </p:sp>
      <p:sp>
        <p:nvSpPr>
          <p:cNvPr name="TextBox 17" id="17"/>
          <p:cNvSpPr txBox="true"/>
          <p:nvPr/>
        </p:nvSpPr>
        <p:spPr>
          <a:xfrm rot="0">
            <a:off x="969245" y="2956541"/>
            <a:ext cx="12696473" cy="3197390"/>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1.2.5 	Lógica</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Ahora se procede a completar el resto de la lógica, donde los conversores exponen la lógica (utilizando factores de conversión y fórmulas) aplicando una interfaz Conversor, con el fin de que el catálogo pueda registrar cualquier categoría sin limitarse a una en concreto.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 que implementa cada categoría de conversión.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613910"/>
            <a:chOff x="0" y="0"/>
            <a:chExt cx="12278360" cy="6151880"/>
          </a:xfrm>
        </p:grpSpPr>
        <p:sp>
          <p:nvSpPr>
            <p:cNvPr name="Freeform 18" id="18"/>
            <p:cNvSpPr/>
            <p:nvPr/>
          </p:nvSpPr>
          <p:spPr>
            <a:xfrm flipH="false" flipV="false" rot="0">
              <a:off x="0" y="0"/>
              <a:ext cx="12278360" cy="6151880"/>
            </a:xfrm>
            <a:custGeom>
              <a:avLst/>
              <a:gdLst/>
              <a:ahLst/>
              <a:cxnLst/>
              <a:rect r="r" b="b" t="t" l="l"/>
              <a:pathLst>
                <a:path h="6151880" w="12278360">
                  <a:moveTo>
                    <a:pt x="0" y="0"/>
                  </a:moveTo>
                  <a:lnTo>
                    <a:pt x="12278360" y="0"/>
                  </a:lnTo>
                  <a:lnTo>
                    <a:pt x="12278360" y="6151880"/>
                  </a:lnTo>
                  <a:lnTo>
                    <a:pt x="0" y="61518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1899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interface Conversor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List&lt;String&gt; unidades();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double convertir(double valor, String origen, String destino);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static String normalizar(String texto) {</a:t>
              </a:r>
            </a:p>
            <a:p>
              <a:pPr algn="l">
                <a:lnSpc>
                  <a:spcPts val="1800"/>
                </a:lnSpc>
              </a:pPr>
              <a:r>
                <a:rPr lang="en-US" sz="1500">
                  <a:solidFill>
                    <a:srgbClr val="4F81BD"/>
                  </a:solidFill>
                  <a:latin typeface="Calibri (MS)"/>
                  <a:ea typeface="Calibri (MS)"/>
                  <a:cs typeface="Calibri (MS)"/>
                  <a:sym typeface="Calibri (MS)"/>
                </a:rPr>
                <a:t>        if (texto == null) {</a:t>
              </a:r>
            </a:p>
            <a:p>
              <a:pPr algn="l">
                <a:lnSpc>
                  <a:spcPts val="1800"/>
                </a:lnSpc>
              </a:pPr>
              <a:r>
                <a:rPr lang="en-US" sz="1500">
                  <a:solidFill>
                    <a:srgbClr val="4F81BD"/>
                  </a:solidFill>
                  <a:latin typeface="Calibri (MS)"/>
                  <a:ea typeface="Calibri (MS)"/>
                  <a:cs typeface="Calibri (MS)"/>
                  <a:sym typeface="Calibri (MS)"/>
                </a:rPr>
                <a:t>            return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s = Normalizer.normalize(texto.trim(), Normalizer.Form.NFD);</a:t>
              </a:r>
            </a:p>
            <a:p>
              <a:pPr algn="l">
                <a:lnSpc>
                  <a:spcPts val="1800"/>
                </a:lnSpc>
              </a:pPr>
              <a:r>
                <a:rPr lang="en-US" sz="1500">
                  <a:solidFill>
                    <a:srgbClr val="4F81BD"/>
                  </a:solidFill>
                  <a:latin typeface="Calibri (MS)"/>
                  <a:ea typeface="Calibri (MS)"/>
                  <a:cs typeface="Calibri (MS)"/>
                  <a:sym typeface="Calibri (MS)"/>
                </a:rPr>
                <a:t>        return s.replaceAll("\\p{M}", "").toLowerCase(Locale.ROOT);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ConversorLongitud</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longitud: factores respecto al metro.</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ConversorLongitud implements Conversor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Map&lt;String, Double&gt; METROS = new LinkedHashMap&lt;&gt;();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static {</a:t>
              </a:r>
            </a:p>
            <a:p>
              <a:pPr algn="l">
                <a:lnSpc>
                  <a:spcPts val="1800"/>
                </a:lnSpc>
              </a:pPr>
              <a:r>
                <a:rPr lang="en-US" sz="1500">
                  <a:solidFill>
                    <a:srgbClr val="4F81BD"/>
                  </a:solidFill>
                  <a:latin typeface="Calibri (MS)"/>
                  <a:ea typeface="Calibri (MS)"/>
                  <a:cs typeface="Calibri (MS)"/>
                  <a:sym typeface="Calibri (MS)"/>
                </a:rPr>
                <a:t>        METROS.put("centimetros", 0.01);</a:t>
              </a:r>
            </a:p>
            <a:p>
              <a:pPr algn="l">
                <a:lnSpc>
                  <a:spcPts val="1800"/>
                </a:lnSpc>
              </a:pPr>
              <a:r>
                <a:rPr lang="en-US" sz="1500">
                  <a:solidFill>
                    <a:srgbClr val="4F81BD"/>
                  </a:solidFill>
                  <a:latin typeface="Calibri (MS)"/>
                  <a:ea typeface="Calibri (MS)"/>
                  <a:cs typeface="Calibri (MS)"/>
                  <a:sym typeface="Calibri (MS)"/>
                </a:rPr>
                <a:t>        METROS.put("metros", 1.0);</a:t>
              </a:r>
            </a:p>
            <a:p>
              <a:pPr algn="l">
                <a:lnSpc>
                  <a:spcPts val="1800"/>
                </a:lnSpc>
              </a:pPr>
              <a:r>
                <a:rPr lang="en-US" sz="1500">
                  <a:solidFill>
                    <a:srgbClr val="4F81BD"/>
                  </a:solidFill>
                  <a:latin typeface="Calibri (MS)"/>
                  <a:ea typeface="Calibri (MS)"/>
                  <a:cs typeface="Calibri (MS)"/>
                  <a:sym typeface="Calibri (MS)"/>
                </a:rPr>
                <a:t>        METROS.put("pies", 0.3048);</a:t>
              </a:r>
            </a:p>
            <a:p>
              <a:pPr algn="l">
                <a:lnSpc>
                  <a:spcPts val="1800"/>
                </a:lnSpc>
              </a:pPr>
              <a:r>
                <a:rPr lang="en-US" sz="1500">
                  <a:solidFill>
                    <a:srgbClr val="4F81BD"/>
                  </a:solidFill>
                  <a:latin typeface="Calibri (MS)"/>
                  <a:ea typeface="Calibri (MS)"/>
                  <a:cs typeface="Calibri (MS)"/>
                  <a:sym typeface="Calibri (MS)"/>
                </a:rPr>
                <a:t>        METROS.put("yardas", 0.9144);</a:t>
              </a:r>
            </a:p>
            <a:p>
              <a:pPr algn="l">
                <a:lnSpc>
                  <a:spcPts val="1800"/>
                </a:lnSpc>
              </a:pPr>
              <a:r>
                <a:rPr lang="en-US" sz="1500">
                  <a:solidFill>
                    <a:srgbClr val="4F81BD"/>
                  </a:solidFill>
                  <a:latin typeface="Calibri (MS)"/>
                  <a:ea typeface="Calibri (MS)"/>
                  <a:cs typeface="Calibri (MS)"/>
                  <a:sym typeface="Calibri (MS)"/>
                </a:rPr>
                <a:t>        METROS.put("millas", 1609.344);</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String categoria() {</a:t>
              </a:r>
            </a:p>
            <a:p>
              <a:pPr algn="l">
                <a:lnSpc>
                  <a:spcPts val="1800"/>
                </a:lnSpc>
              </a:pPr>
              <a:r>
                <a:rPr lang="en-US" sz="1500">
                  <a:solidFill>
                    <a:srgbClr val="4F81BD"/>
                  </a:solidFill>
                  <a:latin typeface="Calibri (MS)"/>
                  <a:ea typeface="Calibri (MS)"/>
                  <a:cs typeface="Calibri (MS)"/>
                  <a:sym typeface="Calibri (MS)"/>
                </a:rPr>
                <a:t>        return "Longitud";</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List&lt;String&gt; unidades() {</a:t>
              </a:r>
            </a:p>
            <a:p>
              <a:pPr algn="l">
                <a:lnSpc>
                  <a:spcPts val="1800"/>
                </a:lnSpc>
              </a:pPr>
              <a:r>
                <a:rPr lang="en-US" sz="1500">
                  <a:solidFill>
                    <a:srgbClr val="4F81BD"/>
                  </a:solidFill>
                  <a:latin typeface="Calibri (MS)"/>
                  <a:ea typeface="Calibri (MS)"/>
                  <a:cs typeface="Calibri (MS)"/>
                  <a:sym typeface="Calibri (MS)"/>
                </a:rPr>
                <a:t>        return List.copyOf(METROS.keySet());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double convertir(double valor, String origen, String destino) {</a:t>
              </a:r>
            </a:p>
            <a:p>
              <a:pPr algn="l">
                <a:lnSpc>
                  <a:spcPts val="1800"/>
                </a:lnSpc>
              </a:pPr>
              <a:r>
                <a:rPr lang="en-US" sz="1500">
                  <a:solidFill>
                    <a:srgbClr val="4F81BD"/>
                  </a:solidFill>
                  <a:latin typeface="Calibri (MS)"/>
                  <a:ea typeface="Calibri (MS)"/>
                  <a:cs typeface="Calibri (MS)"/>
                  <a:sym typeface="Calibri (MS)"/>
                </a:rPr>
                <a:t>        return valor * METROS.get(origen) / METROS.get(destino);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ConversorMasa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masa: factores respecto al kilogramo.</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ConversorMasa implements Conversor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Map&lt;String, Double&gt; KILOS = new LinkedHashMap&lt;&gt;();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static {</a:t>
              </a:r>
            </a:p>
            <a:p>
              <a:pPr algn="l">
                <a:lnSpc>
                  <a:spcPts val="1800"/>
                </a:lnSpc>
              </a:pPr>
              <a:r>
                <a:rPr lang="en-US" sz="1500">
                  <a:solidFill>
                    <a:srgbClr val="4F81BD"/>
                  </a:solidFill>
                  <a:latin typeface="Calibri (MS)"/>
                  <a:ea typeface="Calibri (MS)"/>
                  <a:cs typeface="Calibri (MS)"/>
                  <a:sym typeface="Calibri (MS)"/>
                </a:rPr>
                <a:t>        KILOS.put("gramos", 0.001);</a:t>
              </a:r>
            </a:p>
            <a:p>
              <a:pPr algn="l">
                <a:lnSpc>
                  <a:spcPts val="1800"/>
                </a:lnSpc>
              </a:pPr>
              <a:r>
                <a:rPr lang="en-US" sz="1500">
                  <a:solidFill>
                    <a:srgbClr val="4F81BD"/>
                  </a:solidFill>
                  <a:latin typeface="Calibri (MS)"/>
                  <a:ea typeface="Calibri (MS)"/>
                  <a:cs typeface="Calibri (MS)"/>
                  <a:sym typeface="Calibri (MS)"/>
                </a:rPr>
                <a:t>        KILOS.put("kilogramos", 1.0);</a:t>
              </a:r>
            </a:p>
            <a:p>
              <a:pPr algn="l">
                <a:lnSpc>
                  <a:spcPts val="1800"/>
                </a:lnSpc>
              </a:pPr>
              <a:r>
                <a:rPr lang="en-US" sz="1500">
                  <a:solidFill>
                    <a:srgbClr val="4F81BD"/>
                  </a:solidFill>
                  <a:latin typeface="Calibri (MS)"/>
                  <a:ea typeface="Calibri (MS)"/>
                  <a:cs typeface="Calibri (MS)"/>
                  <a:sym typeface="Calibri (MS)"/>
                </a:rPr>
                <a:t>        KILOS.put("onzas", 0.028349523125);</a:t>
              </a:r>
            </a:p>
            <a:p>
              <a:pPr algn="l">
                <a:lnSpc>
                  <a:spcPts val="1800"/>
                </a:lnSpc>
              </a:pPr>
              <a:r>
                <a:rPr lang="en-US" sz="1500">
                  <a:solidFill>
                    <a:srgbClr val="4F81BD"/>
                  </a:solidFill>
                  <a:latin typeface="Calibri (MS)"/>
                  <a:ea typeface="Calibri (MS)"/>
                  <a:cs typeface="Calibri (MS)"/>
                  <a:sym typeface="Calibri (MS)"/>
                </a:rPr>
                <a:t>        KILOS.put("libras", 0.45359237);</a:t>
              </a:r>
            </a:p>
            <a:p>
              <a:pPr algn="l">
                <a:lnSpc>
                  <a:spcPts val="1800"/>
                </a:lnSpc>
              </a:pPr>
              <a:r>
                <a:rPr lang="en-US" sz="1500">
                  <a:solidFill>
                    <a:srgbClr val="4F81BD"/>
                  </a:solidFill>
                  <a:latin typeface="Calibri (MS)"/>
                  <a:ea typeface="Calibri (MS)"/>
                  <a:cs typeface="Calibri (MS)"/>
                  <a:sym typeface="Calibri (MS)"/>
                </a:rPr>
                <a:t>        KILOS.put("quintales", 45.359237);</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String categoria() {</a:t>
              </a:r>
            </a:p>
            <a:p>
              <a:pPr algn="l">
                <a:lnSpc>
                  <a:spcPts val="1800"/>
                </a:lnSpc>
              </a:pPr>
              <a:r>
                <a:rPr lang="en-US" sz="1500">
                  <a:solidFill>
                    <a:srgbClr val="4F81BD"/>
                  </a:solidFill>
                  <a:latin typeface="Calibri (MS)"/>
                  <a:ea typeface="Calibri (MS)"/>
                  <a:cs typeface="Calibri (MS)"/>
                  <a:sym typeface="Calibri (MS)"/>
                </a:rPr>
                <a:t>        return "Masa";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List&lt;String&gt; unidades() {</a:t>
              </a:r>
            </a:p>
            <a:p>
              <a:pPr algn="l">
                <a:lnSpc>
                  <a:spcPts val="1800"/>
                </a:lnSpc>
              </a:pPr>
              <a:r>
                <a:rPr lang="en-US" sz="1500">
                  <a:solidFill>
                    <a:srgbClr val="4F81BD"/>
                  </a:solidFill>
                  <a:latin typeface="Calibri (MS)"/>
                  <a:ea typeface="Calibri (MS)"/>
                  <a:cs typeface="Calibri (MS)"/>
                  <a:sym typeface="Calibri (MS)"/>
                </a:rPr>
                <a:t>        return List.copyOf(KILOS.keySet());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double convertir(double valor, String origen, String destino) {</a:t>
              </a:r>
            </a:p>
            <a:p>
              <a:pPr algn="l">
                <a:lnSpc>
                  <a:spcPts val="1800"/>
                </a:lnSpc>
              </a:pPr>
              <a:r>
                <a:rPr lang="en-US" sz="1500">
                  <a:solidFill>
                    <a:srgbClr val="4F81BD"/>
                  </a:solidFill>
                  <a:latin typeface="Calibri (MS)"/>
                  <a:ea typeface="Calibri (MS)"/>
                  <a:cs typeface="Calibri (MS)"/>
                  <a:sym typeface="Calibri (MS)"/>
                </a:rPr>
                <a:t>        return valor * KILOS.get(origen) / KILOS.get(destino);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ConversorTemperatura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temperatura: fórmulas entre Celsius, Fahrenheit, Kelvin, Newton y Réaumur.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ConversorTemperatura implements Conversor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List&lt;String&gt; UNIDADES =</a:t>
              </a:r>
            </a:p>
            <a:p>
              <a:pPr algn="l">
                <a:lnSpc>
                  <a:spcPts val="1800"/>
                </a:lnSpc>
              </a:pPr>
              <a:r>
                <a:rPr lang="en-US" sz="1500">
                  <a:solidFill>
                    <a:srgbClr val="4F81BD"/>
                  </a:solidFill>
                  <a:latin typeface="Calibri (MS)"/>
                  <a:ea typeface="Calibri (MS)"/>
                  <a:cs typeface="Calibri (MS)"/>
                  <a:sym typeface="Calibri (MS)"/>
                </a:rPr>
                <a:t>            List.of("celsius", "fahrenheit", "kelvin", "newton", "reaumur");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String categoria() {</a:t>
              </a:r>
            </a:p>
            <a:p>
              <a:pPr algn="l">
                <a:lnSpc>
                  <a:spcPts val="1800"/>
                </a:lnSpc>
              </a:pPr>
              <a:r>
                <a:rPr lang="en-US" sz="1500">
                  <a:solidFill>
                    <a:srgbClr val="4F81BD"/>
                  </a:solidFill>
                  <a:latin typeface="Calibri (MS)"/>
                  <a:ea typeface="Calibri (MS)"/>
                  <a:cs typeface="Calibri (MS)"/>
                  <a:sym typeface="Calibri (MS)"/>
                </a:rPr>
                <a:t>        return "Temperatura";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List&lt;String&gt; unidades() {</a:t>
              </a:r>
            </a:p>
            <a:p>
              <a:pPr algn="l">
                <a:lnSpc>
                  <a:spcPts val="1800"/>
                </a:lnSpc>
              </a:pPr>
              <a:r>
                <a:rPr lang="en-US" sz="1500">
                  <a:solidFill>
                    <a:srgbClr val="4F81BD"/>
                  </a:solidFill>
                  <a:latin typeface="Calibri (MS)"/>
                  <a:ea typeface="Calibri (MS)"/>
                  <a:cs typeface="Calibri (MS)"/>
                  <a:sym typeface="Calibri (MS)"/>
                </a:rPr>
                <a:t>        return UNIDADES;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double convertir(double valor, String origen, String destino) {</a:t>
              </a:r>
            </a:p>
            <a:p>
              <a:pPr algn="l">
                <a:lnSpc>
                  <a:spcPts val="1800"/>
                </a:lnSpc>
              </a:pPr>
              <a:r>
                <a:rPr lang="en-US" sz="1500">
                  <a:solidFill>
                    <a:srgbClr val="4F81BD"/>
                  </a:solidFill>
                  <a:latin typeface="Calibri (MS)"/>
                  <a:ea typeface="Calibri (MS)"/>
                  <a:cs typeface="Calibri (MS)"/>
                  <a:sym typeface="Calibri (MS)"/>
                </a:rPr>
                <a:t>        double celsius = aCelsius(valor, origen);</a:t>
              </a:r>
            </a:p>
            <a:p>
              <a:pPr algn="l">
                <a:lnSpc>
                  <a:spcPts val="1800"/>
                </a:lnSpc>
              </a:pPr>
              <a:r>
                <a:rPr lang="en-US" sz="1500">
                  <a:solidFill>
                    <a:srgbClr val="4F81BD"/>
                  </a:solidFill>
                  <a:latin typeface="Calibri (MS)"/>
                  <a:ea typeface="Calibri (MS)"/>
                  <a:cs typeface="Calibri (MS)"/>
                  <a:sym typeface="Calibri (MS)"/>
                </a:rPr>
                <a:t>        return desdeCelsius(celsius, destino);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ConversorTemperatura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temperatura: fórmulas entre Celsius, Fahrenheit, Kelvin, Newton y Réaumur.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private static double aCelsius(double v, String escala) {</a:t>
              </a:r>
            </a:p>
            <a:p>
              <a:pPr algn="l">
                <a:lnSpc>
                  <a:spcPts val="1800"/>
                </a:lnSpc>
              </a:pPr>
              <a:r>
                <a:rPr lang="en-US" sz="1500">
                  <a:solidFill>
                    <a:srgbClr val="4F81BD"/>
                  </a:solidFill>
                  <a:latin typeface="Calibri (MS)"/>
                  <a:ea typeface="Calibri (MS)"/>
                  <a:cs typeface="Calibri (MS)"/>
                  <a:sym typeface="Calibri (MS)"/>
                </a:rPr>
                <a:t>        return switch (escala) {</a:t>
              </a:r>
            </a:p>
            <a:p>
              <a:pPr algn="l">
                <a:lnSpc>
                  <a:spcPts val="1800"/>
                </a:lnSpc>
              </a:pPr>
              <a:r>
                <a:rPr lang="en-US" sz="1500">
                  <a:solidFill>
                    <a:srgbClr val="4F81BD"/>
                  </a:solidFill>
                  <a:latin typeface="Calibri (MS)"/>
                  <a:ea typeface="Calibri (MS)"/>
                  <a:cs typeface="Calibri (MS)"/>
                  <a:sym typeface="Calibri (MS)"/>
                </a:rPr>
                <a:t>            case "fahrenheit" -&gt; (v - 32.0) * 5.0 / 9.0;</a:t>
              </a:r>
            </a:p>
            <a:p>
              <a:pPr algn="l">
                <a:lnSpc>
                  <a:spcPts val="1800"/>
                </a:lnSpc>
              </a:pPr>
              <a:r>
                <a:rPr lang="en-US" sz="1500">
                  <a:solidFill>
                    <a:srgbClr val="4F81BD"/>
                  </a:solidFill>
                  <a:latin typeface="Calibri (MS)"/>
                  <a:ea typeface="Calibri (MS)"/>
                  <a:cs typeface="Calibri (MS)"/>
                  <a:sym typeface="Calibri (MS)"/>
                </a:rPr>
                <a:t>            case "kelvin" -&gt; v - 273.15;</a:t>
              </a:r>
            </a:p>
            <a:p>
              <a:pPr algn="l">
                <a:lnSpc>
                  <a:spcPts val="1800"/>
                </a:lnSpc>
              </a:pPr>
              <a:r>
                <a:rPr lang="en-US" sz="1500">
                  <a:solidFill>
                    <a:srgbClr val="4F81BD"/>
                  </a:solidFill>
                  <a:latin typeface="Calibri (MS)"/>
                  <a:ea typeface="Calibri (MS)"/>
                  <a:cs typeface="Calibri (MS)"/>
                  <a:sym typeface="Calibri (MS)"/>
                </a:rPr>
                <a:t>            case "newton" -&gt; v * 100.0 / 33.0;</a:t>
              </a:r>
            </a:p>
            <a:p>
              <a:pPr algn="l">
                <a:lnSpc>
                  <a:spcPts val="1800"/>
                </a:lnSpc>
              </a:pPr>
              <a:r>
                <a:rPr lang="en-US" sz="1500">
                  <a:solidFill>
                    <a:srgbClr val="4F81BD"/>
                  </a:solidFill>
                  <a:latin typeface="Calibri (MS)"/>
                  <a:ea typeface="Calibri (MS)"/>
                  <a:cs typeface="Calibri (MS)"/>
                  <a:sym typeface="Calibri (MS)"/>
                </a:rPr>
                <a:t>            case "reaumur" -&gt; v * 5.0 / 4.0;</a:t>
              </a:r>
            </a:p>
            <a:p>
              <a:pPr algn="l">
                <a:lnSpc>
                  <a:spcPts val="1800"/>
                </a:lnSpc>
              </a:pPr>
              <a:r>
                <a:rPr lang="en-US" sz="1500">
                  <a:solidFill>
                    <a:srgbClr val="4F81BD"/>
                  </a:solidFill>
                  <a:latin typeface="Calibri (MS)"/>
                  <a:ea typeface="Calibri (MS)"/>
                  <a:cs typeface="Calibri (MS)"/>
                  <a:sym typeface="Calibri (MS)"/>
                </a:rPr>
                <a:t>            default -&gt; v; // celsius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double desdeCelsius(double c, String escala) {</a:t>
              </a:r>
            </a:p>
            <a:p>
              <a:pPr algn="l">
                <a:lnSpc>
                  <a:spcPts val="1800"/>
                </a:lnSpc>
              </a:pPr>
              <a:r>
                <a:rPr lang="en-US" sz="1500">
                  <a:solidFill>
                    <a:srgbClr val="4F81BD"/>
                  </a:solidFill>
                  <a:latin typeface="Calibri (MS)"/>
                  <a:ea typeface="Calibri (MS)"/>
                  <a:cs typeface="Calibri (MS)"/>
                  <a:sym typeface="Calibri (MS)"/>
                </a:rPr>
                <a:t>        return switch (escala) {</a:t>
              </a:r>
            </a:p>
            <a:p>
              <a:pPr algn="l">
                <a:lnSpc>
                  <a:spcPts val="1800"/>
                </a:lnSpc>
              </a:pPr>
              <a:r>
                <a:rPr lang="en-US" sz="1500">
                  <a:solidFill>
                    <a:srgbClr val="4F81BD"/>
                  </a:solidFill>
                  <a:latin typeface="Calibri (MS)"/>
                  <a:ea typeface="Calibri (MS)"/>
                  <a:cs typeface="Calibri (MS)"/>
                  <a:sym typeface="Calibri (MS)"/>
                </a:rPr>
                <a:t>            case "fahrenheit" -&gt; c * 9.0 / 5.0 + 32.0;</a:t>
              </a:r>
            </a:p>
            <a:p>
              <a:pPr algn="l">
                <a:lnSpc>
                  <a:spcPts val="1800"/>
                </a:lnSpc>
              </a:pPr>
              <a:r>
                <a:rPr lang="en-US" sz="1500">
                  <a:solidFill>
                    <a:srgbClr val="4F81BD"/>
                  </a:solidFill>
                  <a:latin typeface="Calibri (MS)"/>
                  <a:ea typeface="Calibri (MS)"/>
                  <a:cs typeface="Calibri (MS)"/>
                  <a:sym typeface="Calibri (MS)"/>
                </a:rPr>
                <a:t>            case "kelvin" -&gt; c + 273.15;</a:t>
              </a:r>
            </a:p>
            <a:p>
              <a:pPr algn="l">
                <a:lnSpc>
                  <a:spcPts val="1800"/>
                </a:lnSpc>
              </a:pPr>
              <a:r>
                <a:rPr lang="en-US" sz="1500">
                  <a:solidFill>
                    <a:srgbClr val="4F81BD"/>
                  </a:solidFill>
                  <a:latin typeface="Calibri (MS)"/>
                  <a:ea typeface="Calibri (MS)"/>
                  <a:cs typeface="Calibri (MS)"/>
                  <a:sym typeface="Calibri (MS)"/>
                </a:rPr>
                <a:t>            case "newton" -&gt; c * 33.0 / 100.0;</a:t>
              </a:r>
            </a:p>
            <a:p>
              <a:pPr algn="l">
                <a:lnSpc>
                  <a:spcPts val="1800"/>
                </a:lnSpc>
              </a:pPr>
              <a:r>
                <a:rPr lang="en-US" sz="1500">
                  <a:solidFill>
                    <a:srgbClr val="4F81BD"/>
                  </a:solidFill>
                  <a:latin typeface="Calibri (MS)"/>
                  <a:ea typeface="Calibri (MS)"/>
                  <a:cs typeface="Calibri (MS)"/>
                  <a:sym typeface="Calibri (MS)"/>
                </a:rPr>
                <a:t>            case "reaumur" -&gt; c * 4.0 / 5.0;</a:t>
              </a:r>
            </a:p>
            <a:p>
              <a:pPr algn="l">
                <a:lnSpc>
                  <a:spcPts val="1800"/>
                </a:lnSpc>
              </a:pPr>
              <a:r>
                <a:rPr lang="en-US" sz="1500">
                  <a:solidFill>
                    <a:srgbClr val="4F81BD"/>
                  </a:solidFill>
                  <a:latin typeface="Calibri (MS)"/>
                  <a:ea typeface="Calibri (MS)"/>
                  <a:cs typeface="Calibri (MS)"/>
                  <a:sym typeface="Calibri (MS)"/>
                </a:rPr>
                <a:t>            default -&gt; c; // celsius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CatalogoUnidades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Catálogo: registra los conversores y busca categorías y 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CatalogoUnidades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List&lt;Conversor&gt; CONVERSORES = new CopyOnWriteArrayList&lt;&gt;();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static {</a:t>
              </a:r>
            </a:p>
            <a:p>
              <a:pPr algn="l">
                <a:lnSpc>
                  <a:spcPts val="1800"/>
                </a:lnSpc>
              </a:pPr>
              <a:r>
                <a:rPr lang="en-US" sz="1500">
                  <a:solidFill>
                    <a:srgbClr val="4F81BD"/>
                  </a:solidFill>
                  <a:latin typeface="Calibri (MS)"/>
                  <a:ea typeface="Calibri (MS)"/>
                  <a:cs typeface="Calibri (MS)"/>
                  <a:sym typeface="Calibri (MS)"/>
                </a:rPr>
                <a:t>        registrar(new ConversorLongitud());</a:t>
              </a:r>
            </a:p>
            <a:p>
              <a:pPr algn="l">
                <a:lnSpc>
                  <a:spcPts val="1800"/>
                </a:lnSpc>
              </a:pPr>
              <a:r>
                <a:rPr lang="en-US" sz="1500">
                  <a:solidFill>
                    <a:srgbClr val="4F81BD"/>
                  </a:solidFill>
                  <a:latin typeface="Calibri (MS)"/>
                  <a:ea typeface="Calibri (MS)"/>
                  <a:cs typeface="Calibri (MS)"/>
                  <a:sym typeface="Calibri (MS)"/>
                </a:rPr>
                <a:t>        registrar(new ConversorMasa());</a:t>
              </a:r>
            </a:p>
            <a:p>
              <a:pPr algn="l">
                <a:lnSpc>
                  <a:spcPts val="1800"/>
                </a:lnSpc>
              </a:pPr>
              <a:r>
                <a:rPr lang="en-US" sz="1500">
                  <a:solidFill>
                    <a:srgbClr val="4F81BD"/>
                  </a:solidFill>
                  <a:latin typeface="Calibri (MS)"/>
                  <a:ea typeface="Calibri (MS)"/>
                  <a:cs typeface="Calibri (MS)"/>
                  <a:sym typeface="Calibri (MS)"/>
                </a:rPr>
                <a:t>        registrar(new ConversorTemperatura());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CatalogoUnidades()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void registrar(Conversor conversor) {</a:t>
              </a:r>
            </a:p>
            <a:p>
              <a:pPr algn="l">
                <a:lnSpc>
                  <a:spcPts val="1800"/>
                </a:lnSpc>
              </a:pPr>
              <a:r>
                <a:rPr lang="en-US" sz="1500">
                  <a:solidFill>
                    <a:srgbClr val="4F81BD"/>
                  </a:solidFill>
                  <a:latin typeface="Calibri (MS)"/>
                  <a:ea typeface="Calibri (MS)"/>
                  <a:cs typeface="Calibri (MS)"/>
                  <a:sym typeface="Calibri (MS)"/>
                </a:rPr>
                <a:t>        CONVERSORES.add(conversor);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List&lt;String&gt; categorias() {</a:t>
              </a:r>
            </a:p>
            <a:p>
              <a:pPr algn="l">
                <a:lnSpc>
                  <a:spcPts val="1800"/>
                </a:lnSpc>
              </a:pPr>
              <a:r>
                <a:rPr lang="en-US" sz="1500">
                  <a:solidFill>
                    <a:srgbClr val="4F81BD"/>
                  </a:solidFill>
                  <a:latin typeface="Calibri (MS)"/>
                  <a:ea typeface="Calibri (MS)"/>
                  <a:cs typeface="Calibri (MS)"/>
                  <a:sym typeface="Calibri (MS)"/>
                </a:rPr>
                <a:t>        List&lt;String&gt; r = new ArrayList&lt;&gt;();</a:t>
              </a:r>
            </a:p>
            <a:p>
              <a:pPr algn="l">
                <a:lnSpc>
                  <a:spcPts val="1800"/>
                </a:lnSpc>
              </a:pPr>
              <a:r>
                <a:rPr lang="en-US" sz="1500">
                  <a:solidFill>
                    <a:srgbClr val="4F81BD"/>
                  </a:solidFill>
                  <a:latin typeface="Calibri (MS)"/>
                  <a:ea typeface="Calibri (MS)"/>
                  <a:cs typeface="Calibri (MS)"/>
                  <a:sym typeface="Calibri (MS)"/>
                </a:rPr>
                <a:t>        for (Conversor c : CONVERSORES) {</a:t>
              </a:r>
            </a:p>
            <a:p>
              <a:pPr algn="l">
                <a:lnSpc>
                  <a:spcPts val="1800"/>
                </a:lnSpc>
              </a:pPr>
              <a:r>
                <a:rPr lang="en-US" sz="1500">
                  <a:solidFill>
                    <a:srgbClr val="4F81BD"/>
                  </a:solidFill>
                  <a:latin typeface="Calibri (MS)"/>
                  <a:ea typeface="Calibri (MS)"/>
                  <a:cs typeface="Calibri (MS)"/>
                  <a:sym typeface="Calibri (MS)"/>
                </a:rPr>
                <a:t>            r.add(c.categoria());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CatalogoUnidades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Catálogo: registra los conversores y busca categorías y 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static Optional&lt;Conversor&gt; buscarCategoria(String nombre) {</a:t>
              </a:r>
            </a:p>
            <a:p>
              <a:pPr algn="l">
                <a:lnSpc>
                  <a:spcPts val="1800"/>
                </a:lnSpc>
              </a:pPr>
              <a:r>
                <a:rPr lang="en-US" sz="1500">
                  <a:solidFill>
                    <a:srgbClr val="4F81BD"/>
                  </a:solidFill>
                  <a:latin typeface="Calibri (MS)"/>
                  <a:ea typeface="Calibri (MS)"/>
                  <a:cs typeface="Calibri (MS)"/>
                  <a:sym typeface="Calibri (MS)"/>
                </a:rPr>
                <a:t>        String n = Conversor.normalizar(nombre);</a:t>
              </a:r>
            </a:p>
            <a:p>
              <a:pPr algn="l">
                <a:lnSpc>
                  <a:spcPts val="1800"/>
                </a:lnSpc>
              </a:pPr>
              <a:r>
                <a:rPr lang="en-US" sz="1500">
                  <a:solidFill>
                    <a:srgbClr val="4F81BD"/>
                  </a:solidFill>
                  <a:latin typeface="Calibri (MS)"/>
                  <a:ea typeface="Calibri (MS)"/>
                  <a:cs typeface="Calibri (MS)"/>
                  <a:sym typeface="Calibri (MS)"/>
                </a:rPr>
                <a:t>        if (n == null || n.isEmpty()) {</a:t>
              </a:r>
            </a:p>
            <a:p>
              <a:pPr algn="l">
                <a:lnSpc>
                  <a:spcPts val="1800"/>
                </a:lnSpc>
              </a:pPr>
              <a:r>
                <a:rPr lang="en-US" sz="1500">
                  <a:solidFill>
                    <a:srgbClr val="4F81BD"/>
                  </a:solidFill>
                  <a:latin typeface="Calibri (MS)"/>
                  <a:ea typeface="Calibri (MS)"/>
                  <a:cs typeface="Calibri (MS)"/>
                  <a:sym typeface="Calibri (MS)"/>
                </a:rPr>
                <a:t>            return Optional.empty();</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for (Conversor c : CONVERSORES) {</a:t>
              </a:r>
            </a:p>
            <a:p>
              <a:pPr algn="l">
                <a:lnSpc>
                  <a:spcPts val="1800"/>
                </a:lnSpc>
              </a:pPr>
              <a:r>
                <a:rPr lang="en-US" sz="1500">
                  <a:solidFill>
                    <a:srgbClr val="4F81BD"/>
                  </a:solidFill>
                  <a:latin typeface="Calibri (MS)"/>
                  <a:ea typeface="Calibri (MS)"/>
                  <a:cs typeface="Calibri (MS)"/>
                  <a:sym typeface="Calibri (MS)"/>
                </a:rPr>
                <a:t>            if (Conversor.normalizar(c.categoria()).equals(n)) {</a:t>
              </a:r>
            </a:p>
            <a:p>
              <a:pPr algn="l">
                <a:lnSpc>
                  <a:spcPts val="1800"/>
                </a:lnSpc>
              </a:pPr>
              <a:r>
                <a:rPr lang="en-US" sz="1500">
                  <a:solidFill>
                    <a:srgbClr val="4F81BD"/>
                  </a:solidFill>
                  <a:latin typeface="Calibri (MS)"/>
                  <a:ea typeface="Calibri (MS)"/>
                  <a:cs typeface="Calibri (MS)"/>
                  <a:sym typeface="Calibri (MS)"/>
                </a:rPr>
                <a:t>                return Optional.of(c);</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Optional.empty();</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Optional&lt;Conversor&gt; categoriaDeUnidad(String unidadNormalizada) {</a:t>
              </a:r>
            </a:p>
            <a:p>
              <a:pPr algn="l">
                <a:lnSpc>
                  <a:spcPts val="1800"/>
                </a:lnSpc>
              </a:pPr>
              <a:r>
                <a:rPr lang="en-US" sz="1500">
                  <a:solidFill>
                    <a:srgbClr val="4F81BD"/>
                  </a:solidFill>
                  <a:latin typeface="Calibri (MS)"/>
                  <a:ea typeface="Calibri (MS)"/>
                  <a:cs typeface="Calibri (MS)"/>
                  <a:sym typeface="Calibri (MS)"/>
                </a:rPr>
                <a:t>        for (Conversor c : CONVERSORES) {</a:t>
              </a:r>
            </a:p>
            <a:p>
              <a:pPr algn="l">
                <a:lnSpc>
                  <a:spcPts val="1800"/>
                </a:lnSpc>
              </a:pPr>
              <a:r>
                <a:rPr lang="en-US" sz="1500">
                  <a:solidFill>
                    <a:srgbClr val="4F81BD"/>
                  </a:solidFill>
                  <a:latin typeface="Calibri (MS)"/>
                  <a:ea typeface="Calibri (MS)"/>
                  <a:cs typeface="Calibri (MS)"/>
                  <a:sym typeface="Calibri (MS)"/>
                </a:rPr>
                <a:t>            if (c.unidades().contains(unidadNormalizada)) {</a:t>
              </a:r>
            </a:p>
            <a:p>
              <a:pPr algn="l">
                <a:lnSpc>
                  <a:spcPts val="1800"/>
                </a:lnSpc>
              </a:pPr>
              <a:r>
                <a:rPr lang="en-US" sz="1500">
                  <a:solidFill>
                    <a:srgbClr val="4F81BD"/>
                  </a:solidFill>
                  <a:latin typeface="Calibri (MS)"/>
                  <a:ea typeface="Calibri (MS)"/>
                  <a:cs typeface="Calibri (MS)"/>
                  <a:sym typeface="Calibri (MS)"/>
                </a:rPr>
                <a:t>                return Optional.of(c);</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Optional.empty();</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705365" y="4005494"/>
            <a:ext cx="9255661" cy="4749311"/>
          </a:xfrm>
          <a:custGeom>
            <a:avLst/>
            <a:gdLst/>
            <a:ahLst/>
            <a:cxnLst/>
            <a:rect r="r" b="b" t="t" l="l"/>
            <a:pathLst>
              <a:path h="4749311" w="9255661">
                <a:moveTo>
                  <a:pt x="0" y="0"/>
                </a:moveTo>
                <a:lnTo>
                  <a:pt x="9255661" y="0"/>
                </a:lnTo>
                <a:lnTo>
                  <a:pt x="9255661" y="4749311"/>
                </a:lnTo>
                <a:lnTo>
                  <a:pt x="0" y="4749311"/>
                </a:lnTo>
                <a:lnTo>
                  <a:pt x="0" y="0"/>
                </a:lnTo>
                <a:close/>
              </a:path>
            </a:pathLst>
          </a:custGeom>
          <a:blipFill>
            <a:blip r:embed="rId3"/>
            <a:stretch>
              <a:fillRect l="0" t="0" r="0" b="0"/>
            </a:stretch>
          </a:blipFill>
        </p:spPr>
      </p:sp>
      <p:sp>
        <p:nvSpPr>
          <p:cNvPr name="TextBox 17" id="17"/>
          <p:cNvSpPr txBox="true"/>
          <p:nvPr/>
        </p:nvSpPr>
        <p:spPr>
          <a:xfrm rot="0">
            <a:off x="149691" y="2896057"/>
            <a:ext cx="4294857" cy="6087348"/>
          </a:xfrm>
          <a:prstGeom prst="rect">
            <a:avLst/>
          </a:prstGeom>
        </p:spPr>
        <p:txBody>
          <a:bodyPr anchor="t" rtlCol="false" tIns="0" lIns="0" bIns="0" rIns="0">
            <a:spAutoFit/>
          </a:bodyPr>
          <a:lstStyle/>
          <a:p>
            <a:pPr algn="just" marL="487457" indent="-243729" lvl="1">
              <a:lnSpc>
                <a:spcPts val="3458"/>
              </a:lnSpc>
              <a:buFont typeface="Arial"/>
              <a:buChar char="•"/>
            </a:pPr>
            <a:r>
              <a:rPr lang="en-US" b="true" sz="2693">
                <a:solidFill>
                  <a:srgbClr val="3D3D3D"/>
                </a:solidFill>
                <a:latin typeface="Cambria Bold"/>
                <a:ea typeface="Cambria Bold"/>
                <a:cs typeface="Cambria Bold"/>
                <a:sym typeface="Cambria Bold"/>
              </a:rPr>
              <a:t>1.2.6 	Ejecución en Servidor</a:t>
            </a:r>
          </a:p>
          <a:p>
            <a:pPr algn="just" marL="452438" indent="-226219" lvl="1">
              <a:lnSpc>
                <a:spcPts val="3210"/>
              </a:lnSpc>
            </a:pPr>
          </a:p>
          <a:p>
            <a:pPr algn="just" marL="452438" indent="-226219" lvl="1">
              <a:lnSpc>
                <a:spcPts val="3210"/>
              </a:lnSpc>
              <a:buFont typeface="Arial"/>
              <a:buChar char="•"/>
            </a:pPr>
            <a:r>
              <a:rPr lang="en-US" sz="2500">
                <a:solidFill>
                  <a:srgbClr val="3D3D3D"/>
                </a:solidFill>
                <a:latin typeface="Cambria"/>
                <a:ea typeface="Cambria"/>
                <a:cs typeface="Cambria"/>
                <a:sym typeface="Cambria"/>
              </a:rPr>
              <a:t>Se ejecuta el programa corriendo en nuestro servidor Payara y se comprueba que el contrato WSDL esté correcto en la ruta (Payara corre por defecto en 8080): http://localhost:8080/WS_ConUni_Java_GR07/WSLogin?wsdl. El proyecto incluye 21 pruebas automáticas y se probó además con SoapUI.</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3504089" y="6210154"/>
            <a:ext cx="7626785" cy="3861069"/>
          </a:xfrm>
          <a:custGeom>
            <a:avLst/>
            <a:gdLst/>
            <a:ahLst/>
            <a:cxnLst/>
            <a:rect r="r" b="b" t="t" l="l"/>
            <a:pathLst>
              <a:path h="3861069" w="7626785">
                <a:moveTo>
                  <a:pt x="0" y="0"/>
                </a:moveTo>
                <a:lnTo>
                  <a:pt x="7626785" y="0"/>
                </a:lnTo>
                <a:lnTo>
                  <a:pt x="7626785" y="3861069"/>
                </a:lnTo>
                <a:lnTo>
                  <a:pt x="0" y="3861069"/>
                </a:lnTo>
                <a:lnTo>
                  <a:pt x="0" y="0"/>
                </a:lnTo>
                <a:close/>
              </a:path>
            </a:pathLst>
          </a:custGeom>
          <a:blipFill>
            <a:blip r:embed="rId3"/>
            <a:stretch>
              <a:fillRect l="0" t="0" r="-2591" b="-48199"/>
            </a:stretch>
          </a:blipFill>
        </p:spPr>
      </p:sp>
      <p:sp>
        <p:nvSpPr>
          <p:cNvPr name="TextBox 17" id="17"/>
          <p:cNvSpPr txBox="true"/>
          <p:nvPr/>
        </p:nvSpPr>
        <p:spPr>
          <a:xfrm rot="0">
            <a:off x="969245" y="2956541"/>
            <a:ext cx="12696473" cy="3704882"/>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1.3 	CREACIÓN DEL PROYECTO CLIENTE CONSOLA</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Para el cliente consola se usó NetBeans en el cual se debe crear un nuevo proyecto para ello se seleccionó el gestor de proyectos Java with Maven, el tipo de aplicativo que se usa es Java Application.</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Se asigna un nombre al proyecto (ClienteConsola), se da una ubicación y se configura el group id con el que se quiere nombrar.</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090485" y="2880360"/>
            <a:ext cx="7295740" cy="6858000"/>
            <a:chOff x="0" y="0"/>
            <a:chExt cx="9727654" cy="9144000"/>
          </a:xfrm>
        </p:grpSpPr>
        <p:sp>
          <p:nvSpPr>
            <p:cNvPr name="Freeform 17" id="17"/>
            <p:cNvSpPr/>
            <p:nvPr/>
          </p:nvSpPr>
          <p:spPr>
            <a:xfrm flipH="false" flipV="false" rot="0">
              <a:off x="0" y="0"/>
              <a:ext cx="9727692" cy="9144000"/>
            </a:xfrm>
            <a:custGeom>
              <a:avLst/>
              <a:gdLst/>
              <a:ahLst/>
              <a:cxnLst/>
              <a:rect r="r" b="b" t="t" l="l"/>
              <a:pathLst>
                <a:path h="9144000" w="9727692">
                  <a:moveTo>
                    <a:pt x="0" y="0"/>
                  </a:moveTo>
                  <a:lnTo>
                    <a:pt x="9727692" y="0"/>
                  </a:lnTo>
                  <a:lnTo>
                    <a:pt x="9727692" y="9144000"/>
                  </a:lnTo>
                  <a:lnTo>
                    <a:pt x="0" y="9144000"/>
                  </a:lnTo>
                  <a:lnTo>
                    <a:pt x="0" y="0"/>
                  </a:lnTo>
                  <a:close/>
                </a:path>
              </a:pathLst>
            </a:custGeom>
            <a:blipFill>
              <a:blip r:embed="rId3"/>
              <a:stretch>
                <a:fillRect l="-230" t="0" r="-230" b="0"/>
              </a:stretch>
            </a:blipFill>
          </p:spPr>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Una vez que se creó el proyecto se debe generar los diferentes paquetes, donde se colocarán los archivos con código fuente: modelo, controlador y vista (patrón MVC).</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SoapClient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 continuación se detallarán las clases principales con su código fuente.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static String urlConfigurada() {</a:t>
              </a:r>
            </a:p>
            <a:p>
              <a:pPr algn="l">
                <a:lnSpc>
                  <a:spcPts val="1800"/>
                </a:lnSpc>
              </a:pPr>
              <a:r>
                <a:rPr lang="en-US" sz="1500">
                  <a:solidFill>
                    <a:srgbClr val="4F81BD"/>
                  </a:solidFill>
                  <a:latin typeface="Calibri (MS)"/>
                  <a:ea typeface="Calibri (MS)"/>
                  <a:cs typeface="Calibri (MS)"/>
                  <a:sym typeface="Calibri (MS)"/>
                </a:rPr>
                <a:t>        String p = System.getProperty("conuni.url");</a:t>
              </a:r>
            </a:p>
            <a:p>
              <a:pPr algn="l">
                <a:lnSpc>
                  <a:spcPts val="1800"/>
                </a:lnSpc>
              </a:pPr>
              <a:r>
                <a:rPr lang="en-US" sz="1500">
                  <a:solidFill>
                    <a:srgbClr val="4F81BD"/>
                  </a:solidFill>
                  <a:latin typeface="Calibri (MS)"/>
                  <a:ea typeface="Calibri (MS)"/>
                  <a:cs typeface="Calibri (MS)"/>
                  <a:sym typeface="Calibri (MS)"/>
                </a:rPr>
                <a:t>        if (p == null || p.isBlank()) {</a:t>
              </a:r>
            </a:p>
            <a:p>
              <a:pPr algn="l">
                <a:lnSpc>
                  <a:spcPts val="1800"/>
                </a:lnSpc>
              </a:pPr>
              <a:r>
                <a:rPr lang="en-US" sz="1500">
                  <a:solidFill>
                    <a:srgbClr val="4F81BD"/>
                  </a:solidFill>
                  <a:latin typeface="Calibri (MS)"/>
                  <a:ea typeface="Calibri (MS)"/>
                  <a:cs typeface="Calibri (MS)"/>
                  <a:sym typeface="Calibri (MS)"/>
                </a:rPr>
                <a:t>            p = System.getenv("CONUNI_URL");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(p == null || p.isBlank()) ? URL_POR_DEFECTO : p;</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getBaseUrl() {</a:t>
              </a:r>
            </a:p>
            <a:p>
              <a:pPr algn="l">
                <a:lnSpc>
                  <a:spcPts val="1800"/>
                </a:lnSpc>
              </a:pPr>
              <a:r>
                <a:rPr lang="en-US" sz="1500">
                  <a:solidFill>
                    <a:srgbClr val="4F81BD"/>
                  </a:solidFill>
                  <a:latin typeface="Calibri (MS)"/>
                  <a:ea typeface="Calibri (MS)"/>
                  <a:cs typeface="Calibri (MS)"/>
                  <a:sym typeface="Calibri (MS)"/>
                </a:rPr>
                <a:t>        return baseUrl;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login(String usuario, String clave) {</a:t>
              </a:r>
            </a:p>
            <a:p>
              <a:pPr algn="l">
                <a:lnSpc>
                  <a:spcPts val="1800"/>
                </a:lnSpc>
              </a:pPr>
              <a:r>
                <a:rPr lang="en-US" sz="1500">
                  <a:solidFill>
                    <a:srgbClr val="4F81BD"/>
                  </a:solidFill>
                  <a:latin typeface="Calibri (MS)"/>
                  <a:ea typeface="Calibri (MS)"/>
                  <a:cs typeface="Calibri (MS)"/>
                  <a:sym typeface="Calibri (MS)"/>
                </a:rPr>
                <a:t>        return llamar("WSLogin", "login", "usuario", usuario, "clave", clave);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obtenerCategorias(String token) {</a:t>
              </a:r>
            </a:p>
            <a:p>
              <a:pPr algn="l">
                <a:lnSpc>
                  <a:spcPts val="1800"/>
                </a:lnSpc>
              </a:pPr>
              <a:r>
                <a:rPr lang="en-US" sz="1500">
                  <a:solidFill>
                    <a:srgbClr val="4F81BD"/>
                  </a:solidFill>
                  <a:latin typeface="Calibri (MS)"/>
                  <a:ea typeface="Calibri (MS)"/>
                  <a:cs typeface="Calibri (MS)"/>
                  <a:sym typeface="Calibri (MS)"/>
                </a:rPr>
                <a:t>        return llamar("WSCatalogo", "obtenerCategorias", "token",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obtenerUnidades(String token, String categoria) {</a:t>
              </a:r>
            </a:p>
            <a:p>
              <a:pPr algn="l">
                <a:lnSpc>
                  <a:spcPts val="1800"/>
                </a:lnSpc>
              </a:pPr>
              <a:r>
                <a:rPr lang="en-US" sz="1500">
                  <a:solidFill>
                    <a:srgbClr val="4F81BD"/>
                  </a:solidFill>
                  <a:latin typeface="Calibri (MS)"/>
                  <a:ea typeface="Calibri (MS)"/>
                  <a:cs typeface="Calibri (MS)"/>
                  <a:sym typeface="Calibri (MS)"/>
                </a:rPr>
                <a:t>        return llamar("WSCatalogo", "obtenerUnidades", "token", token, "categoria",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SoapClient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 continuación se detallarán las clases principales con su código fuente.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String token) {</a:t>
              </a:r>
            </a:p>
            <a:p>
              <a:pPr algn="l">
                <a:lnSpc>
                  <a:spcPts val="1800"/>
                </a:lnSpc>
              </a:pPr>
              <a:r>
                <a:rPr lang="en-US" sz="1500">
                  <a:solidFill>
                    <a:srgbClr val="4F81BD"/>
                  </a:solidFill>
                  <a:latin typeface="Calibri (MS)"/>
                  <a:ea typeface="Calibri (MS)"/>
                  <a:cs typeface="Calibri (MS)"/>
                  <a:sym typeface="Calibri (MS)"/>
                </a:rPr>
                <a:t>        String c = categoria == null ? "" : categoria.trim();</a:t>
              </a:r>
            </a:p>
            <a:p>
              <a:pPr algn="l">
                <a:lnSpc>
                  <a:spcPts val="1800"/>
                </a:lnSpc>
              </a:pPr>
              <a:r>
                <a:rPr lang="en-US" sz="1500">
                  <a:solidFill>
                    <a:srgbClr val="4F81BD"/>
                  </a:solidFill>
                  <a:latin typeface="Calibri (MS)"/>
                  <a:ea typeface="Calibri (MS)"/>
                  <a:cs typeface="Calibri (MS)"/>
                  <a:sym typeface="Calibri (MS)"/>
                </a:rPr>
                <a:t>        String servicio;</a:t>
              </a:r>
            </a:p>
            <a:p>
              <a:pPr algn="l">
                <a:lnSpc>
                  <a:spcPts val="1800"/>
                </a:lnSpc>
              </a:pPr>
              <a:r>
                <a:rPr lang="en-US" sz="1500">
                  <a:solidFill>
                    <a:srgbClr val="4F81BD"/>
                  </a:solidFill>
                  <a:latin typeface="Calibri (MS)"/>
                  <a:ea typeface="Calibri (MS)"/>
                  <a:cs typeface="Calibri (MS)"/>
                  <a:sym typeface="Calibri (MS)"/>
                </a:rPr>
                <a:t>        String operacion;</a:t>
              </a:r>
            </a:p>
            <a:p>
              <a:pPr algn="l">
                <a:lnSpc>
                  <a:spcPts val="1800"/>
                </a:lnSpc>
              </a:pPr>
              <a:r>
                <a:rPr lang="en-US" sz="1500">
                  <a:solidFill>
                    <a:srgbClr val="4F81BD"/>
                  </a:solidFill>
                  <a:latin typeface="Calibri (MS)"/>
                  <a:ea typeface="Calibri (MS)"/>
                  <a:cs typeface="Calibri (MS)"/>
                  <a:sym typeface="Calibri (MS)"/>
                </a:rPr>
                <a:t>        if (c.equalsIgnoreCase("Longitud")) {</a:t>
              </a:r>
            </a:p>
            <a:p>
              <a:pPr algn="l">
                <a:lnSpc>
                  <a:spcPts val="1800"/>
                </a:lnSpc>
              </a:pPr>
              <a:r>
                <a:rPr lang="en-US" sz="1500">
                  <a:solidFill>
                    <a:srgbClr val="4F81BD"/>
                  </a:solidFill>
                  <a:latin typeface="Calibri (MS)"/>
                  <a:ea typeface="Calibri (MS)"/>
                  <a:cs typeface="Calibri (MS)"/>
                  <a:sym typeface="Calibri (MS)"/>
                </a:rPr>
                <a:t>            servicio = "WSLongitud";</a:t>
              </a:r>
            </a:p>
            <a:p>
              <a:pPr algn="l">
                <a:lnSpc>
                  <a:spcPts val="1800"/>
                </a:lnSpc>
              </a:pPr>
              <a:r>
                <a:rPr lang="en-US" sz="1500">
                  <a:solidFill>
                    <a:srgbClr val="4F81BD"/>
                  </a:solidFill>
                  <a:latin typeface="Calibri (MS)"/>
                  <a:ea typeface="Calibri (MS)"/>
                  <a:cs typeface="Calibri (MS)"/>
                  <a:sym typeface="Calibri (MS)"/>
                </a:rPr>
                <a:t>            operacion = "convertirLongitud";</a:t>
              </a:r>
            </a:p>
            <a:p>
              <a:pPr algn="l">
                <a:lnSpc>
                  <a:spcPts val="1800"/>
                </a:lnSpc>
              </a:pPr>
              <a:r>
                <a:rPr lang="en-US" sz="1500">
                  <a:solidFill>
                    <a:srgbClr val="4F81BD"/>
                  </a:solidFill>
                  <a:latin typeface="Calibri (MS)"/>
                  <a:ea typeface="Calibri (MS)"/>
                  <a:cs typeface="Calibri (MS)"/>
                  <a:sym typeface="Calibri (MS)"/>
                </a:rPr>
                <a:t>        } else if (c.equalsIgnoreCase("Masa")) {</a:t>
              </a:r>
            </a:p>
            <a:p>
              <a:pPr algn="l">
                <a:lnSpc>
                  <a:spcPts val="1800"/>
                </a:lnSpc>
              </a:pPr>
              <a:r>
                <a:rPr lang="en-US" sz="1500">
                  <a:solidFill>
                    <a:srgbClr val="4F81BD"/>
                  </a:solidFill>
                  <a:latin typeface="Calibri (MS)"/>
                  <a:ea typeface="Calibri (MS)"/>
                  <a:cs typeface="Calibri (MS)"/>
                  <a:sym typeface="Calibri (MS)"/>
                </a:rPr>
                <a:t>            servicio = "WSMasa";</a:t>
              </a:r>
            </a:p>
            <a:p>
              <a:pPr algn="l">
                <a:lnSpc>
                  <a:spcPts val="1800"/>
                </a:lnSpc>
              </a:pPr>
              <a:r>
                <a:rPr lang="en-US" sz="1500">
                  <a:solidFill>
                    <a:srgbClr val="4F81BD"/>
                  </a:solidFill>
                  <a:latin typeface="Calibri (MS)"/>
                  <a:ea typeface="Calibri (MS)"/>
                  <a:cs typeface="Calibri (MS)"/>
                  <a:sym typeface="Calibri (MS)"/>
                </a:rPr>
                <a:t>            operacion = "convertirMasa";</a:t>
              </a:r>
            </a:p>
            <a:p>
              <a:pPr algn="l">
                <a:lnSpc>
                  <a:spcPts val="1800"/>
                </a:lnSpc>
              </a:pPr>
              <a:r>
                <a:rPr lang="en-US" sz="1500">
                  <a:solidFill>
                    <a:srgbClr val="4F81BD"/>
                  </a:solidFill>
                  <a:latin typeface="Calibri (MS)"/>
                  <a:ea typeface="Calibri (MS)"/>
                  <a:cs typeface="Calibri (MS)"/>
                  <a:sym typeface="Calibri (MS)"/>
                </a:rPr>
                <a:t>        } else if (c.equalsIgnoreCase("Temperatura")) {</a:t>
              </a:r>
            </a:p>
            <a:p>
              <a:pPr algn="l">
                <a:lnSpc>
                  <a:spcPts val="1800"/>
                </a:lnSpc>
              </a:pPr>
              <a:r>
                <a:rPr lang="en-US" sz="1500">
                  <a:solidFill>
                    <a:srgbClr val="4F81BD"/>
                  </a:solidFill>
                  <a:latin typeface="Calibri (MS)"/>
                  <a:ea typeface="Calibri (MS)"/>
                  <a:cs typeface="Calibri (MS)"/>
                  <a:sym typeface="Calibri (MS)"/>
                </a:rPr>
                <a:t>            servicio = "WSTemperatura";</a:t>
              </a:r>
            </a:p>
            <a:p>
              <a:pPr algn="l">
                <a:lnSpc>
                  <a:spcPts val="1800"/>
                </a:lnSpc>
              </a:pPr>
              <a:r>
                <a:rPr lang="en-US" sz="1500">
                  <a:solidFill>
                    <a:srgbClr val="4F81BD"/>
                  </a:solidFill>
                  <a:latin typeface="Calibri (MS)"/>
                  <a:ea typeface="Calibri (MS)"/>
                  <a:cs typeface="Calibri (MS)"/>
                  <a:sym typeface="Calibri (MS)"/>
                </a:rPr>
                <a:t>            operacion = "convertirTemperatura";</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return RespuestaServicio.errorLocal("DATA-001", "Categoría no soportada");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llamar(servicio, operacion, "valor", Double.toString(valor), "unidadOrigen", origen,</a:t>
              </a:r>
            </a:p>
            <a:p>
              <a:pPr algn="l">
                <a:lnSpc>
                  <a:spcPts val="1800"/>
                </a:lnSpc>
              </a:pPr>
              <a:r>
                <a:rPr lang="en-US" sz="1500">
                  <a:solidFill>
                    <a:srgbClr val="4F81BD"/>
                  </a:solidFill>
                  <a:latin typeface="Calibri (MS)"/>
                  <a:ea typeface="Calibri (MS)"/>
                  <a:cs typeface="Calibri (MS)"/>
                  <a:sym typeface="Calibri (MS)"/>
                </a:rPr>
                <a:t>                "unidadDestino", destino, "token",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SoapClient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 continuación se detallarán las clases principales con su código fuente.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473190"/>
            <a:chOff x="0" y="0"/>
            <a:chExt cx="12278360" cy="8630920"/>
          </a:xfrm>
        </p:grpSpPr>
        <p:sp>
          <p:nvSpPr>
            <p:cNvPr name="Freeform 18" id="18"/>
            <p:cNvSpPr/>
            <p:nvPr/>
          </p:nvSpPr>
          <p:spPr>
            <a:xfrm flipH="false" flipV="false" rot="0">
              <a:off x="0" y="0"/>
              <a:ext cx="12278360" cy="8630920"/>
            </a:xfrm>
            <a:custGeom>
              <a:avLst/>
              <a:gdLst/>
              <a:ahLst/>
              <a:cxnLst/>
              <a:rect r="r" b="b" t="t" l="l"/>
              <a:pathLst>
                <a:path h="8630920" w="12278360">
                  <a:moveTo>
                    <a:pt x="0" y="0"/>
                  </a:moveTo>
                  <a:lnTo>
                    <a:pt x="12278360" y="0"/>
                  </a:lnTo>
                  <a:lnTo>
                    <a:pt x="12278360" y="8630920"/>
                  </a:lnTo>
                  <a:lnTo>
                    <a:pt x="0" y="863092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66902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private RespuestaServicio llamar(String servicio, String operacion, String... parametros) {</a:t>
              </a:r>
            </a:p>
            <a:p>
              <a:pPr algn="l">
                <a:lnSpc>
                  <a:spcPts val="1800"/>
                </a:lnSpc>
              </a:pPr>
              <a:r>
                <a:rPr lang="en-US" sz="1500">
                  <a:solidFill>
                    <a:srgbClr val="4F81BD"/>
                  </a:solidFill>
                  <a:latin typeface="Calibri (MS)"/>
                  <a:ea typeface="Calibri (MS)"/>
                  <a:cs typeface="Calibri (MS)"/>
                  <a:sym typeface="Calibri (MS)"/>
                </a:rPr>
                <a:t>        StringBuilder cuerpo = new StringBuilder();</a:t>
              </a:r>
            </a:p>
            <a:p>
              <a:pPr algn="l">
                <a:lnSpc>
                  <a:spcPts val="1800"/>
                </a:lnSpc>
              </a:pPr>
              <a:r>
                <a:rPr lang="en-US" sz="1500">
                  <a:solidFill>
                    <a:srgbClr val="4F81BD"/>
                  </a:solidFill>
                  <a:latin typeface="Calibri (MS)"/>
                  <a:ea typeface="Calibri (MS)"/>
                  <a:cs typeface="Calibri (MS)"/>
                  <a:sym typeface="Calibri (MS)"/>
                </a:rPr>
                <a:t>        for (int i = 0; i + 1 &lt; parametros.length; i += 2) {</a:t>
              </a:r>
            </a:p>
            <a:p>
              <a:pPr algn="l">
                <a:lnSpc>
                  <a:spcPts val="1800"/>
                </a:lnSpc>
              </a:pPr>
              <a:r>
                <a:rPr lang="en-US" sz="1500">
                  <a:solidFill>
                    <a:srgbClr val="4F81BD"/>
                  </a:solidFill>
                  <a:latin typeface="Calibri (MS)"/>
                  <a:ea typeface="Calibri (MS)"/>
                  <a:cs typeface="Calibri (MS)"/>
                  <a:sym typeface="Calibri (MS)"/>
                </a:rPr>
                <a:t>            cuerpo.append('&lt;').append(parametros[i]).append('&gt;')</a:t>
              </a:r>
            </a:p>
            <a:p>
              <a:pPr algn="l">
                <a:lnSpc>
                  <a:spcPts val="1800"/>
                </a:lnSpc>
              </a:pPr>
              <a:r>
                <a:rPr lang="en-US" sz="1500">
                  <a:solidFill>
                    <a:srgbClr val="4F81BD"/>
                  </a:solidFill>
                  <a:latin typeface="Calibri (MS)"/>
                  <a:ea typeface="Calibri (MS)"/>
                  <a:cs typeface="Calibri (MS)"/>
                  <a:sym typeface="Calibri (MS)"/>
                </a:rPr>
                <a:t>                    .append(escapar(parametros[i + 1]))</a:t>
              </a:r>
            </a:p>
            <a:p>
              <a:pPr algn="l">
                <a:lnSpc>
                  <a:spcPts val="1800"/>
                </a:lnSpc>
              </a:pPr>
              <a:r>
                <a:rPr lang="en-US" sz="1500">
                  <a:solidFill>
                    <a:srgbClr val="4F81BD"/>
                  </a:solidFill>
                  <a:latin typeface="Calibri (MS)"/>
                  <a:ea typeface="Calibri (MS)"/>
                  <a:cs typeface="Calibri (MS)"/>
                  <a:sym typeface="Calibri (MS)"/>
                </a:rPr>
                <a:t>                    .append("&lt;/").append(parametros[i]).append('&gt;');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envelope = "&lt;soapenv:Envelope xmlns:soapenv=\"http://schemas.xmlsoap.org/soap/envelope/\" xmlns:ws=\"" + NS + "\"&gt;"</a:t>
              </a:r>
            </a:p>
            <a:p>
              <a:pPr algn="l">
                <a:lnSpc>
                  <a:spcPts val="1800"/>
                </a:lnSpc>
              </a:pPr>
              <a:r>
                <a:rPr lang="en-US" sz="1500">
                  <a:solidFill>
                    <a:srgbClr val="4F81BD"/>
                  </a:solidFill>
                  <a:latin typeface="Calibri (MS)"/>
                  <a:ea typeface="Calibri (MS)"/>
                  <a:cs typeface="Calibri (MS)"/>
                  <a:sym typeface="Calibri (MS)"/>
                </a:rPr>
                <a:t>                + "&lt;soapenv:Header/&gt;&lt;soapenv:Body&gt;&lt;ws:" + operacion + "&gt;" + cuerpo + "&lt;/ws:" + operacion + "&gt;"</a:t>
              </a:r>
            </a:p>
            <a:p>
              <a:pPr algn="l">
                <a:lnSpc>
                  <a:spcPts val="1800"/>
                </a:lnSpc>
              </a:pPr>
              <a:r>
                <a:rPr lang="en-US" sz="1500">
                  <a:solidFill>
                    <a:srgbClr val="4F81BD"/>
                  </a:solidFill>
                  <a:latin typeface="Calibri (MS)"/>
                  <a:ea typeface="Calibri (MS)"/>
                  <a:cs typeface="Calibri (MS)"/>
                  <a:sym typeface="Calibri (MS)"/>
                </a:rPr>
                <a:t>                + "&lt;/soapenv:Body&gt;&lt;/soapenv:Envelope&gt;";</a:t>
              </a:r>
            </a:p>
            <a:p>
              <a:pPr algn="l">
                <a:lnSpc>
                  <a:spcPts val="1800"/>
                </a:lnSpc>
              </a:pPr>
              <a:r>
                <a:rPr lang="en-US" sz="1500">
                  <a:solidFill>
                    <a:srgbClr val="4F81BD"/>
                  </a:solidFill>
                  <a:latin typeface="Calibri (MS)"/>
                  <a:ea typeface="Calibri (MS)"/>
                  <a:cs typeface="Calibri (MS)"/>
                  <a:sym typeface="Calibri (MS)"/>
                </a:rPr>
                <a:t>        HttpRequest req = HttpRequest.newBuilder(URI.create(baseUrl + servicio))</a:t>
              </a:r>
            </a:p>
            <a:p>
              <a:pPr algn="l">
                <a:lnSpc>
                  <a:spcPts val="1800"/>
                </a:lnSpc>
              </a:pPr>
              <a:r>
                <a:rPr lang="en-US" sz="1500">
                  <a:solidFill>
                    <a:srgbClr val="4F81BD"/>
                  </a:solidFill>
                  <a:latin typeface="Calibri (MS)"/>
                  <a:ea typeface="Calibri (MS)"/>
                  <a:cs typeface="Calibri (MS)"/>
                  <a:sym typeface="Calibri (MS)"/>
                </a:rPr>
                <a:t>                .timeout(Duration.ofSeconds(15))</a:t>
              </a:r>
            </a:p>
            <a:p>
              <a:pPr algn="l">
                <a:lnSpc>
                  <a:spcPts val="1800"/>
                </a:lnSpc>
              </a:pPr>
              <a:r>
                <a:rPr lang="en-US" sz="1500">
                  <a:solidFill>
                    <a:srgbClr val="4F81BD"/>
                  </a:solidFill>
                  <a:latin typeface="Calibri (MS)"/>
                  <a:ea typeface="Calibri (MS)"/>
                  <a:cs typeface="Calibri (MS)"/>
                  <a:sym typeface="Calibri (MS)"/>
                </a:rPr>
                <a:t>                .header("Content-Type", "text/xml; charset=utf-8")</a:t>
              </a:r>
            </a:p>
            <a:p>
              <a:pPr algn="l">
                <a:lnSpc>
                  <a:spcPts val="1800"/>
                </a:lnSpc>
              </a:pPr>
              <a:r>
                <a:rPr lang="en-US" sz="1500">
                  <a:solidFill>
                    <a:srgbClr val="4F81BD"/>
                  </a:solidFill>
                  <a:latin typeface="Calibri (MS)"/>
                  <a:ea typeface="Calibri (MS)"/>
                  <a:cs typeface="Calibri (MS)"/>
                  <a:sym typeface="Calibri (MS)"/>
                </a:rPr>
                <a:t>                .POST(HttpRequest.BodyPublishers.ofString(envelope, StandardCharsets.UTF_8)).build();</a:t>
              </a:r>
            </a:p>
            <a:p>
              <a:pPr algn="l">
                <a:lnSpc>
                  <a:spcPts val="1800"/>
                </a:lnSpc>
              </a:pPr>
              <a:r>
                <a:rPr lang="en-US" sz="1500">
                  <a:solidFill>
                    <a:srgbClr val="4F81BD"/>
                  </a:solidFill>
                  <a:latin typeface="Calibri (MS)"/>
                  <a:ea typeface="Calibri (MS)"/>
                  <a:cs typeface="Calibri (MS)"/>
                  <a:sym typeface="Calibri (MS)"/>
                </a:rPr>
                <a:t>        try {</a:t>
              </a:r>
            </a:p>
            <a:p>
              <a:pPr algn="l">
                <a:lnSpc>
                  <a:spcPts val="1800"/>
                </a:lnSpc>
              </a:pPr>
              <a:r>
                <a:rPr lang="en-US" sz="1500">
                  <a:solidFill>
                    <a:srgbClr val="4F81BD"/>
                  </a:solidFill>
                  <a:latin typeface="Calibri (MS)"/>
                  <a:ea typeface="Calibri (MS)"/>
                  <a:cs typeface="Calibri (MS)"/>
                  <a:sym typeface="Calibri (MS)"/>
                </a:rPr>
                <a:t>            HttpResponse&lt;byte[]&gt; resp = http.send(req, HttpResponse.BodyHandlers.ofByteArray());</a:t>
              </a:r>
            </a:p>
            <a:p>
              <a:pPr algn="l">
                <a:lnSpc>
                  <a:spcPts val="1800"/>
                </a:lnSpc>
              </a:pPr>
              <a:r>
                <a:rPr lang="en-US" sz="1500">
                  <a:solidFill>
                    <a:srgbClr val="4F81BD"/>
                  </a:solidFill>
                  <a:latin typeface="Calibri (MS)"/>
                  <a:ea typeface="Calibri (MS)"/>
                  <a:cs typeface="Calibri (MS)"/>
                  <a:sym typeface="Calibri (MS)"/>
                </a:rPr>
                <a:t>            return interpretar(resp.body(), resp.statusCode());</a:t>
              </a:r>
            </a:p>
            <a:p>
              <a:pPr algn="l">
                <a:lnSpc>
                  <a:spcPts val="1800"/>
                </a:lnSpc>
              </a:pPr>
              <a:r>
                <a:rPr lang="en-US" sz="1500">
                  <a:solidFill>
                    <a:srgbClr val="4F81BD"/>
                  </a:solidFill>
                  <a:latin typeface="Calibri (MS)"/>
                  <a:ea typeface="Calibri (MS)"/>
                  <a:cs typeface="Calibri (MS)"/>
                  <a:sym typeface="Calibri (MS)"/>
                </a:rPr>
                <a:t>        } catch (IOException e) {</a:t>
              </a:r>
            </a:p>
            <a:p>
              <a:pPr algn="l">
                <a:lnSpc>
                  <a:spcPts val="1800"/>
                </a:lnSpc>
              </a:pPr>
              <a:r>
                <a:rPr lang="en-US" sz="1500">
                  <a:solidFill>
                    <a:srgbClr val="4F81BD"/>
                  </a:solidFill>
                  <a:latin typeface="Calibri (MS)"/>
                  <a:ea typeface="Calibri (MS)"/>
                  <a:cs typeface="Calibri (MS)"/>
                  <a:sym typeface="Calibri (MS)"/>
                </a:rPr>
                <a:t>            return RespuestaServicio.errorLocal(RespuestaServicio.COD_RED,</a:t>
              </a:r>
            </a:p>
            <a:p>
              <a:pPr algn="l">
                <a:lnSpc>
                  <a:spcPts val="1800"/>
                </a:lnSpc>
              </a:pPr>
              <a:r>
                <a:rPr lang="en-US" sz="1500">
                  <a:solidFill>
                    <a:srgbClr val="4F81BD"/>
                  </a:solidFill>
                  <a:latin typeface="Calibri (MS)"/>
                  <a:ea typeface="Calibri (MS)"/>
                  <a:cs typeface="Calibri (MS)"/>
                  <a:sym typeface="Calibri (MS)"/>
                </a:rPr>
                <a:t>                    "No se pudo conectar con el servidor (" + baseUrl + "). Verifique que esté en ejecución.");</a:t>
              </a:r>
            </a:p>
            <a:p>
              <a:pPr algn="l">
                <a:lnSpc>
                  <a:spcPts val="1800"/>
                </a:lnSpc>
              </a:pPr>
              <a:r>
                <a:rPr lang="en-US" sz="1500">
                  <a:solidFill>
                    <a:srgbClr val="4F81BD"/>
                  </a:solidFill>
                  <a:latin typeface="Calibri (MS)"/>
                  <a:ea typeface="Calibri (MS)"/>
                  <a:cs typeface="Calibri (MS)"/>
                  <a:sym typeface="Calibri (MS)"/>
                </a:rPr>
                <a:t>        } catch (InterruptedException e) {</a:t>
              </a:r>
            </a:p>
            <a:p>
              <a:pPr algn="l">
                <a:lnSpc>
                  <a:spcPts val="1800"/>
                </a:lnSpc>
              </a:pPr>
              <a:r>
                <a:rPr lang="en-US" sz="1500">
                  <a:solidFill>
                    <a:srgbClr val="4F81BD"/>
                  </a:solidFill>
                  <a:latin typeface="Calibri (MS)"/>
                  <a:ea typeface="Calibri (MS)"/>
                  <a:cs typeface="Calibri (MS)"/>
                  <a:sym typeface="Calibri (MS)"/>
                </a:rPr>
                <a:t>            Thread.currentThread().interrupt();</a:t>
              </a:r>
            </a:p>
            <a:p>
              <a:pPr algn="l">
                <a:lnSpc>
                  <a:spcPts val="1800"/>
                </a:lnSpc>
              </a:pPr>
              <a:r>
                <a:rPr lang="en-US" sz="1500">
                  <a:solidFill>
                    <a:srgbClr val="4F81BD"/>
                  </a:solidFill>
                  <a:latin typeface="Calibri (MS)"/>
                  <a:ea typeface="Calibri (MS)"/>
                  <a:cs typeface="Calibri (MS)"/>
                  <a:sym typeface="Calibri (MS)"/>
                </a:rPr>
                <a:t>            return RespuestaServicio.errorLocal(RespuestaServicio.COD_RED, "Operación interrumpida");</a:t>
              </a:r>
            </a:p>
            <a:p>
              <a:pPr algn="l">
                <a:lnSpc>
                  <a:spcPts val="1800"/>
                </a:lnSpc>
              </a:pPr>
              <a:r>
                <a:rPr lang="en-US" sz="1500">
                  <a:solidFill>
                    <a:srgbClr val="4F81BD"/>
                  </a:solidFill>
                  <a:latin typeface="Calibri (MS)"/>
                  <a:ea typeface="Calibri (MS)"/>
                  <a:cs typeface="Calibri (MS)"/>
                  <a:sym typeface="Calibri (MS)"/>
                </a:rPr>
                <a:t>        } catch (RuntimeException e) {</a:t>
              </a:r>
            </a:p>
            <a:p>
              <a:pPr algn="l">
                <a:lnSpc>
                  <a:spcPts val="1800"/>
                </a:lnSpc>
              </a:pPr>
              <a:r>
                <a:rPr lang="en-US" sz="1500">
                  <a:solidFill>
                    <a:srgbClr val="4F81BD"/>
                  </a:solidFill>
                  <a:latin typeface="Calibri (MS)"/>
                  <a:ea typeface="Calibri (MS)"/>
                  <a:cs typeface="Calibri (MS)"/>
                  <a:sym typeface="Calibri (MS)"/>
                </a:rPr>
                <a:t>            return RespuestaServicio.errorLocal("SRV-500", "Respuesta inesperada del servidor");</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Sesion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Modelo de la sesión: guarda el token.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ec.edu.monster.clienteconsola.modelo;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Sesion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String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void iniciar(String token) {</a:t>
              </a:r>
            </a:p>
            <a:p>
              <a:pPr algn="l">
                <a:lnSpc>
                  <a:spcPts val="1800"/>
                </a:lnSpc>
              </a:pPr>
              <a:r>
                <a:rPr lang="en-US" sz="1500">
                  <a:solidFill>
                    <a:srgbClr val="4F81BD"/>
                  </a:solidFill>
                  <a:latin typeface="Calibri (MS)"/>
                  <a:ea typeface="Calibri (MS)"/>
                  <a:cs typeface="Calibri (MS)"/>
                  <a:sym typeface="Calibri (MS)"/>
                </a:rPr>
                <a:t>        this.token =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void cerrar() {</a:t>
              </a:r>
            </a:p>
            <a:p>
              <a:pPr algn="l">
                <a:lnSpc>
                  <a:spcPts val="1800"/>
                </a:lnSpc>
              </a:pPr>
              <a:r>
                <a:rPr lang="en-US" sz="1500">
                  <a:solidFill>
                    <a:srgbClr val="4F81BD"/>
                  </a:solidFill>
                  <a:latin typeface="Calibri (MS)"/>
                  <a:ea typeface="Calibri (MS)"/>
                  <a:cs typeface="Calibri (MS)"/>
                  <a:sym typeface="Calibri (MS)"/>
                </a:rPr>
                <a:t>        this.token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boolean activa() {</a:t>
              </a:r>
            </a:p>
            <a:p>
              <a:pPr algn="l">
                <a:lnSpc>
                  <a:spcPts val="1800"/>
                </a:lnSpc>
              </a:pPr>
              <a:r>
                <a:rPr lang="en-US" sz="1500">
                  <a:solidFill>
                    <a:srgbClr val="4F81BD"/>
                  </a:solidFill>
                  <a:latin typeface="Calibri (MS)"/>
                  <a:ea typeface="Calibri (MS)"/>
                  <a:cs typeface="Calibri (MS)"/>
                  <a:sym typeface="Calibri (MS)"/>
                </a:rPr>
                <a:t>        return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String getToken() {</a:t>
              </a:r>
            </a:p>
            <a:p>
              <a:pPr algn="l">
                <a:lnSpc>
                  <a:spcPts val="1800"/>
                </a:lnSpc>
              </a:pPr>
              <a:r>
                <a:rPr lang="en-US" sz="1500">
                  <a:solidFill>
                    <a:srgbClr val="4F81BD"/>
                  </a:solidFill>
                  <a:latin typeface="Calibri (MS)"/>
                  <a:ea typeface="Calibri (MS)"/>
                  <a:cs typeface="Calibri (MS)"/>
                  <a:sym typeface="Calibri (MS)"/>
                </a:rPr>
                <a:t>        return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 la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ControladorSesion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SoapClient cliente;</a:t>
              </a:r>
            </a:p>
            <a:p>
              <a:pPr algn="l">
                <a:lnSpc>
                  <a:spcPts val="1800"/>
                </a:lnSpc>
              </a:pPr>
              <a:r>
                <a:rPr lang="en-US" sz="1500">
                  <a:solidFill>
                    <a:srgbClr val="4F81BD"/>
                  </a:solidFill>
                  <a:latin typeface="Calibri (MS)"/>
                  <a:ea typeface="Calibri (MS)"/>
                  <a:cs typeface="Calibri (MS)"/>
                  <a:sym typeface="Calibri (MS)"/>
                </a:rPr>
                <a:t>    private final Sesion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ControladorSesion(SoapClient cliente, Sesion sesion)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this.sesion =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getUrl() {</a:t>
              </a:r>
            </a:p>
            <a:p>
              <a:pPr algn="l">
                <a:lnSpc>
                  <a:spcPts val="1800"/>
                </a:lnSpc>
              </a:pPr>
              <a:r>
                <a:rPr lang="en-US" sz="1500">
                  <a:solidFill>
                    <a:srgbClr val="4F81BD"/>
                  </a:solidFill>
                  <a:latin typeface="Calibri (MS)"/>
                  <a:ea typeface="Calibri (MS)"/>
                  <a:cs typeface="Calibri (MS)"/>
                  <a:sym typeface="Calibri (MS)"/>
                </a:rPr>
                <a:t>        return cliente.getBaseUrl();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boolean haySesion() {</a:t>
              </a:r>
            </a:p>
            <a:p>
              <a:pPr algn="l">
                <a:lnSpc>
                  <a:spcPts val="1800"/>
                </a:lnSpc>
              </a:pPr>
              <a:r>
                <a:rPr lang="en-US" sz="1500">
                  <a:solidFill>
                    <a:srgbClr val="4F81BD"/>
                  </a:solidFill>
                  <a:latin typeface="Calibri (MS)"/>
                  <a:ea typeface="Calibri (MS)"/>
                  <a:cs typeface="Calibri (MS)"/>
                  <a:sym typeface="Calibri (MS)"/>
                </a:rPr>
                <a:t>        return sesion.activa();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 la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684270"/>
            <a:chOff x="0" y="0"/>
            <a:chExt cx="12278360" cy="4912360"/>
          </a:xfrm>
        </p:grpSpPr>
        <p:sp>
          <p:nvSpPr>
            <p:cNvPr name="Freeform 18" id="18"/>
            <p:cNvSpPr/>
            <p:nvPr/>
          </p:nvSpPr>
          <p:spPr>
            <a:xfrm flipH="false" flipV="false" rot="0">
              <a:off x="0" y="0"/>
              <a:ext cx="12278360" cy="4912360"/>
            </a:xfrm>
            <a:custGeom>
              <a:avLst/>
              <a:gdLst/>
              <a:ahLst/>
              <a:cxnLst/>
              <a:rect r="r" b="b" t="t" l="l"/>
              <a:pathLst>
                <a:path h="4912360" w="12278360">
                  <a:moveTo>
                    <a:pt x="0" y="0"/>
                  </a:moveTo>
                  <a:lnTo>
                    <a:pt x="12278360" y="0"/>
                  </a:lnTo>
                  <a:lnTo>
                    <a:pt x="12278360" y="4912360"/>
                  </a:lnTo>
                  <a:lnTo>
                    <a:pt x="0" y="49123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9504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RespuestaServicio iniciarSesion(String usuario, String clave) {</a:t>
              </a:r>
            </a:p>
            <a:p>
              <a:pPr algn="l">
                <a:lnSpc>
                  <a:spcPts val="1800"/>
                </a:lnSpc>
              </a:pPr>
              <a:r>
                <a:rPr lang="en-US" sz="1500">
                  <a:solidFill>
                    <a:srgbClr val="4F81BD"/>
                  </a:solidFill>
                  <a:latin typeface="Calibri (MS)"/>
                  <a:ea typeface="Calibri (MS)"/>
                  <a:cs typeface="Calibri (MS)"/>
                  <a:sym typeface="Calibri (MS)"/>
                </a:rPr>
                <a:t>        RespuestaServicio r = cliente.login(usuario, clave);</a:t>
              </a:r>
            </a:p>
            <a:p>
              <a:pPr algn="l">
                <a:lnSpc>
                  <a:spcPts val="1800"/>
                </a:lnSpc>
              </a:pPr>
              <a:r>
                <a:rPr lang="en-US" sz="1500">
                  <a:solidFill>
                    <a:srgbClr val="4F81BD"/>
                  </a:solidFill>
                  <a:latin typeface="Calibri (MS)"/>
                  <a:ea typeface="Calibri (MS)"/>
                  <a:cs typeface="Calibri (MS)"/>
                  <a:sym typeface="Calibri (MS)"/>
                </a:rPr>
                <a:t>        if (r.esExitosa() &amp;&amp; r.getToken() != null) {</a:t>
              </a:r>
            </a:p>
            <a:p>
              <a:pPr algn="l">
                <a:lnSpc>
                  <a:spcPts val="1800"/>
                </a:lnSpc>
              </a:pPr>
              <a:r>
                <a:rPr lang="en-US" sz="1500">
                  <a:solidFill>
                    <a:srgbClr val="4F81BD"/>
                  </a:solidFill>
                  <a:latin typeface="Calibri (MS)"/>
                  <a:ea typeface="Calibri (MS)"/>
                  <a:cs typeface="Calibri (MS)"/>
                  <a:sym typeface="Calibri (MS)"/>
                </a:rPr>
                <a:t>            sesion.iniciar(r.getToken());</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sesion.cerrar();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sesion.cerrar();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del catálogo y las 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ControladorConversiones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SoapClient cliente;</a:t>
              </a:r>
            </a:p>
            <a:p>
              <a:pPr algn="l">
                <a:lnSpc>
                  <a:spcPts val="1800"/>
                </a:lnSpc>
              </a:pPr>
              <a:r>
                <a:rPr lang="en-US" sz="1500">
                  <a:solidFill>
                    <a:srgbClr val="4F81BD"/>
                  </a:solidFill>
                  <a:latin typeface="Calibri (MS)"/>
                  <a:ea typeface="Calibri (MS)"/>
                  <a:cs typeface="Calibri (MS)"/>
                  <a:sym typeface="Calibri (MS)"/>
                </a:rPr>
                <a:t>    private final Sesion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ControladorConversiones(SoapClient cliente, Sesion sesion)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this.sesion =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categorias() {</a:t>
              </a:r>
            </a:p>
            <a:p>
              <a:pPr algn="l">
                <a:lnSpc>
                  <a:spcPts val="1800"/>
                </a:lnSpc>
              </a:pPr>
              <a:r>
                <a:rPr lang="en-US" sz="1500">
                  <a:solidFill>
                    <a:srgbClr val="4F81BD"/>
                  </a:solidFill>
                  <a:latin typeface="Calibri (MS)"/>
                  <a:ea typeface="Calibri (MS)"/>
                  <a:cs typeface="Calibri (MS)"/>
                  <a:sym typeface="Calibri (MS)"/>
                </a:rPr>
                <a:t>        return revisar(cliente.obtenerCategorias(sesion.getToken()));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unidades(String categoria) {</a:t>
              </a:r>
            </a:p>
            <a:p>
              <a:pPr algn="l">
                <a:lnSpc>
                  <a:spcPts val="1800"/>
                </a:lnSpc>
              </a:pPr>
              <a:r>
                <a:rPr lang="en-US" sz="1500">
                  <a:solidFill>
                    <a:srgbClr val="4F81BD"/>
                  </a:solidFill>
                  <a:latin typeface="Calibri (MS)"/>
                  <a:ea typeface="Calibri (MS)"/>
                  <a:cs typeface="Calibri (MS)"/>
                  <a:sym typeface="Calibri (MS)"/>
                </a:rPr>
                <a:t>        return revisar(cliente.obtenerUnidades(sesion.getToken(),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a:t>
              </a:r>
            </a:p>
            <a:p>
              <a:pPr algn="l">
                <a:lnSpc>
                  <a:spcPts val="1800"/>
                </a:lnSpc>
              </a:pPr>
              <a:r>
                <a:rPr lang="en-US" sz="1500">
                  <a:solidFill>
                    <a:srgbClr val="4F81BD"/>
                  </a:solidFill>
                  <a:latin typeface="Calibri (MS)"/>
                  <a:ea typeface="Calibri (MS)"/>
                  <a:cs typeface="Calibri (MS)"/>
                  <a:sym typeface="Calibri (MS)"/>
                </a:rPr>
                <a:t>        return revisar(cliente.convertir(categoria, valor, origen, destino, sesion.getToken()));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del catálogo y las 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private RespuestaServicio revisar(RespuestaServicio r) {</a:t>
              </a:r>
            </a:p>
            <a:p>
              <a:pPr algn="l">
                <a:lnSpc>
                  <a:spcPts val="1800"/>
                </a:lnSpc>
              </a:pPr>
              <a:r>
                <a:rPr lang="en-US" sz="1500">
                  <a:solidFill>
                    <a:srgbClr val="4F81BD"/>
                  </a:solidFill>
                  <a:latin typeface="Calibri (MS)"/>
                  <a:ea typeface="Calibri (MS)"/>
                  <a:cs typeface="Calibri (MS)"/>
                  <a:sym typeface="Calibri (MS)"/>
                </a:rPr>
                <a:t>        if (r.requiereNuevoLogin()) {</a:t>
              </a:r>
            </a:p>
            <a:p>
              <a:pPr algn="l">
                <a:lnSpc>
                  <a:spcPts val="1800"/>
                </a:lnSpc>
              </a:pPr>
              <a:r>
                <a:rPr lang="en-US" sz="1500">
                  <a:solidFill>
                    <a:srgbClr val="4F81BD"/>
                  </a:solidFill>
                  <a:latin typeface="Calibri (MS)"/>
                  <a:ea typeface="Calibri (MS)"/>
                  <a:cs typeface="Calibri (MS)"/>
                  <a:sym typeface="Calibri (MS)"/>
                </a:rPr>
                <a:t>            sesion.cerrar();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String formatear(double valor) {</a:t>
              </a:r>
            </a:p>
            <a:p>
              <a:pPr algn="l">
                <a:lnSpc>
                  <a:spcPts val="1800"/>
                </a:lnSpc>
              </a:pPr>
              <a:r>
                <a:rPr lang="en-US" sz="1500">
                  <a:solidFill>
                    <a:srgbClr val="4F81BD"/>
                  </a:solidFill>
                  <a:latin typeface="Calibri (MS)"/>
                  <a:ea typeface="Calibri (MS)"/>
                  <a:cs typeface="Calibri (MS)"/>
                  <a:sym typeface="Calibri (MS)"/>
                </a:rPr>
                <a:t>        BigDecimal b = BigDecimal.valueOf(valor).setScale(10, RoundingMode.HALF_UP).stripTrailingZeros();</a:t>
              </a:r>
            </a:p>
            <a:p>
              <a:pPr algn="l">
                <a:lnSpc>
                  <a:spcPts val="1800"/>
                </a:lnSpc>
              </a:pPr>
              <a:r>
                <a:rPr lang="en-US" sz="1500">
                  <a:solidFill>
                    <a:srgbClr val="4F81BD"/>
                  </a:solidFill>
                  <a:latin typeface="Calibri (MS)"/>
                  <a:ea typeface="Calibri (MS)"/>
                  <a:cs typeface="Calibri (MS)"/>
                  <a:sym typeface="Calibri (MS)"/>
                </a:rPr>
                <a:t>        return b.scale() &lt; 0 ? b.setScale(0).toPlainString() : b.toPlainString();</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inicio y cierre de sesión.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VistaSesion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ControladorSesion controlador;</a:t>
              </a:r>
            </a:p>
            <a:p>
              <a:pPr algn="l">
                <a:lnSpc>
                  <a:spcPts val="1800"/>
                </a:lnSpc>
              </a:pPr>
              <a:r>
                <a:rPr lang="en-US" sz="1500">
                  <a:solidFill>
                    <a:srgbClr val="4F81BD"/>
                  </a:solidFill>
                  <a:latin typeface="Calibri (MS)"/>
                  <a:ea typeface="Calibri (MS)"/>
                  <a:cs typeface="Calibri (MS)"/>
                  <a:sym typeface="Calibri (MS)"/>
                </a:rPr>
                <a:t>    private final ConsolaIO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VistaSesion(ControladorSesion controlador, ConsolaIO io) {</a:t>
              </a:r>
            </a:p>
            <a:p>
              <a:pPr algn="l">
                <a:lnSpc>
                  <a:spcPts val="1800"/>
                </a:lnSpc>
              </a:pPr>
              <a:r>
                <a:rPr lang="en-US" sz="1500">
                  <a:solidFill>
                    <a:srgbClr val="4F81BD"/>
                  </a:solidFill>
                  <a:latin typeface="Calibri (MS)"/>
                  <a:ea typeface="Calibri (MS)"/>
                  <a:cs typeface="Calibri (MS)"/>
                  <a:sym typeface="Calibri (MS)"/>
                </a:rPr>
                <a:t>        this.controlador = controlador;</a:t>
              </a:r>
            </a:p>
            <a:p>
              <a:pPr algn="l">
                <a:lnSpc>
                  <a:spcPts val="1800"/>
                </a:lnSpc>
              </a:pPr>
              <a:r>
                <a:rPr lang="en-US" sz="1500">
                  <a:solidFill>
                    <a:srgbClr val="4F81BD"/>
                  </a:solidFill>
                  <a:latin typeface="Calibri (MS)"/>
                  <a:ea typeface="Calibri (MS)"/>
                  <a:cs typeface="Calibri (MS)"/>
                  <a:sym typeface="Calibri (MS)"/>
                </a:rPr>
                <a:t>        this.io =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iniciarSesion() {</a:t>
              </a:r>
            </a:p>
            <a:p>
              <a:pPr algn="l">
                <a:lnSpc>
                  <a:spcPts val="1800"/>
                </a:lnSpc>
              </a:pPr>
              <a:r>
                <a:rPr lang="en-US" sz="1500">
                  <a:solidFill>
                    <a:srgbClr val="4F81BD"/>
                  </a:solidFill>
                  <a:latin typeface="Calibri (MS)"/>
                  <a:ea typeface="Calibri (MS)"/>
                  <a:cs typeface="Calibri (MS)"/>
                  <a:sym typeface="Calibri (MS)"/>
                </a:rPr>
                <a:t>        io.seccion("Iniciar sesión");</a:t>
              </a:r>
            </a:p>
            <a:p>
              <a:pPr algn="l">
                <a:lnSpc>
                  <a:spcPts val="1800"/>
                </a:lnSpc>
              </a:pPr>
              <a:r>
                <a:rPr lang="en-US" sz="1500">
                  <a:solidFill>
                    <a:srgbClr val="4F81BD"/>
                  </a:solidFill>
                  <a:latin typeface="Calibri (MS)"/>
                  <a:ea typeface="Calibri (MS)"/>
                  <a:cs typeface="Calibri (MS)"/>
                  <a:sym typeface="Calibri (MS)"/>
                </a:rPr>
                <a:t>        if (controlador.haySesion()) {</a:t>
              </a:r>
            </a:p>
            <a:p>
              <a:pPr algn="l">
                <a:lnSpc>
                  <a:spcPts val="1800"/>
                </a:lnSpc>
              </a:pPr>
              <a:r>
                <a:rPr lang="en-US" sz="1500">
                  <a:solidFill>
                    <a:srgbClr val="4F81BD"/>
                  </a:solidFill>
                  <a:latin typeface="Calibri (MS)"/>
                  <a:ea typeface="Calibri (MS)"/>
                  <a:cs typeface="Calibri (MS)"/>
                  <a:sym typeface="Calibri (MS)"/>
                </a:rPr>
                <a:t>            io.linea("  Ya hay una sesión activa.");</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usuario = io.leer("Usuario: ");</a:t>
              </a:r>
            </a:p>
            <a:p>
              <a:pPr algn="l">
                <a:lnSpc>
                  <a:spcPts val="1800"/>
                </a:lnSpc>
              </a:pPr>
              <a:r>
                <a:rPr lang="en-US" sz="1500">
                  <a:solidFill>
                    <a:srgbClr val="4F81BD"/>
                  </a:solidFill>
                  <a:latin typeface="Calibri (MS)"/>
                  <a:ea typeface="Calibri (MS)"/>
                  <a:cs typeface="Calibri (MS)"/>
                  <a:sym typeface="Calibri (MS)"/>
                </a:rPr>
                <a:t>        String clave = io.leer("Clave: ");</a:t>
              </a:r>
            </a:p>
            <a:p>
              <a:pPr algn="l">
                <a:lnSpc>
                  <a:spcPts val="1800"/>
                </a:lnSpc>
              </a:pPr>
              <a:r>
                <a:rPr lang="en-US" sz="1500">
                  <a:solidFill>
                    <a:srgbClr val="4F81BD"/>
                  </a:solidFill>
                  <a:latin typeface="Calibri (MS)"/>
                  <a:ea typeface="Calibri (MS)"/>
                  <a:cs typeface="Calibri (MS)"/>
                  <a:sym typeface="Calibri (MS)"/>
                </a:rPr>
                <a:t>        if (usuario == null || clave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RespuestaServicio r = controlador.iniciarSesion(usuario, clave);</a:t>
              </a:r>
            </a:p>
            <a:p>
              <a:pPr algn="l">
                <a:lnSpc>
                  <a:spcPts val="1800"/>
                </a:lnSpc>
              </a:pPr>
              <a:r>
                <a:rPr lang="en-US" sz="1500">
                  <a:solidFill>
                    <a:srgbClr val="4F81BD"/>
                  </a:solidFill>
                  <a:latin typeface="Calibri (MS)"/>
                  <a:ea typeface="Calibri (MS)"/>
                  <a:cs typeface="Calibri (MS)"/>
                  <a:sym typeface="Calibri (MS)"/>
                </a:rPr>
                <a:t>        if (r.esExitosa()) {</a:t>
              </a:r>
            </a:p>
            <a:p>
              <a:pPr algn="l">
                <a:lnSpc>
                  <a:spcPts val="1800"/>
                </a:lnSpc>
              </a:pPr>
              <a:r>
                <a:rPr lang="en-US" sz="1500">
                  <a:solidFill>
                    <a:srgbClr val="4F81BD"/>
                  </a:solidFill>
                  <a:latin typeface="Calibri (MS)"/>
                  <a:ea typeface="Calibri (MS)"/>
                  <a:cs typeface="Calibri (MS)"/>
                  <a:sym typeface="Calibri (MS)"/>
                </a:rPr>
                <a:t>            io.ok(r.getMensaje());</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io.error(r);</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inicio y cierre de sesión.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2289810"/>
            <a:chOff x="0" y="0"/>
            <a:chExt cx="12278360" cy="3053080"/>
          </a:xfrm>
        </p:grpSpPr>
        <p:sp>
          <p:nvSpPr>
            <p:cNvPr name="Freeform 18" id="18"/>
            <p:cNvSpPr/>
            <p:nvPr/>
          </p:nvSpPr>
          <p:spPr>
            <a:xfrm flipH="false" flipV="false" rot="0">
              <a:off x="0" y="0"/>
              <a:ext cx="12278360" cy="3053080"/>
            </a:xfrm>
            <a:custGeom>
              <a:avLst/>
              <a:gdLst/>
              <a:ahLst/>
              <a:cxnLst/>
              <a:rect r="r" b="b" t="t" l="l"/>
              <a:pathLst>
                <a:path h="3053080" w="12278360">
                  <a:moveTo>
                    <a:pt x="0" y="0"/>
                  </a:moveTo>
                  <a:lnTo>
                    <a:pt x="12278360" y="0"/>
                  </a:lnTo>
                  <a:lnTo>
                    <a:pt x="12278360" y="3053080"/>
                  </a:lnTo>
                  <a:lnTo>
                    <a:pt x="0" y="30530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30911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controlador.cerrarSesion();</a:t>
              </a:r>
            </a:p>
            <a:p>
              <a:pPr algn="l">
                <a:lnSpc>
                  <a:spcPts val="1800"/>
                </a:lnSpc>
              </a:pPr>
              <a:r>
                <a:rPr lang="en-US" sz="1500">
                  <a:solidFill>
                    <a:srgbClr val="4F81BD"/>
                  </a:solidFill>
                  <a:latin typeface="Calibri (MS)"/>
                  <a:ea typeface="Calibri (MS)"/>
                  <a:cs typeface="Calibri (MS)"/>
                  <a:sym typeface="Calibri (MS)"/>
                </a:rPr>
                <a:t>        io.ok("Sesión cerrada.");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catálogo y de la conversión.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VistaConversion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ControladorConversiones controlador;</a:t>
              </a:r>
            </a:p>
            <a:p>
              <a:pPr algn="l">
                <a:lnSpc>
                  <a:spcPts val="1800"/>
                </a:lnSpc>
              </a:pPr>
              <a:r>
                <a:rPr lang="en-US" sz="1500">
                  <a:solidFill>
                    <a:srgbClr val="4F81BD"/>
                  </a:solidFill>
                  <a:latin typeface="Calibri (MS)"/>
                  <a:ea typeface="Calibri (MS)"/>
                  <a:cs typeface="Calibri (MS)"/>
                  <a:sym typeface="Calibri (MS)"/>
                </a:rPr>
                <a:t>    private final ConsolaIO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VistaConversion(ControladorConversiones controlador, ConsolaIO io) {</a:t>
              </a:r>
            </a:p>
            <a:p>
              <a:pPr algn="l">
                <a:lnSpc>
                  <a:spcPts val="1800"/>
                </a:lnSpc>
              </a:pPr>
              <a:r>
                <a:rPr lang="en-US" sz="1500">
                  <a:solidFill>
                    <a:srgbClr val="4F81BD"/>
                  </a:solidFill>
                  <a:latin typeface="Calibri (MS)"/>
                  <a:ea typeface="Calibri (MS)"/>
                  <a:cs typeface="Calibri (MS)"/>
                  <a:sym typeface="Calibri (MS)"/>
                </a:rPr>
                <a:t>        this.controlador = controlador;</a:t>
              </a:r>
            </a:p>
            <a:p>
              <a:pPr algn="l">
                <a:lnSpc>
                  <a:spcPts val="1800"/>
                </a:lnSpc>
              </a:pPr>
              <a:r>
                <a:rPr lang="en-US" sz="1500">
                  <a:solidFill>
                    <a:srgbClr val="4F81BD"/>
                  </a:solidFill>
                  <a:latin typeface="Calibri (MS)"/>
                  <a:ea typeface="Calibri (MS)"/>
                  <a:cs typeface="Calibri (MS)"/>
                  <a:sym typeface="Calibri (MS)"/>
                </a:rPr>
                <a:t>        this.io =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verCatalogo() {</a:t>
              </a:r>
            </a:p>
            <a:p>
              <a:pPr algn="l">
                <a:lnSpc>
                  <a:spcPts val="1800"/>
                </a:lnSpc>
              </a:pPr>
              <a:r>
                <a:rPr lang="en-US" sz="1500">
                  <a:solidFill>
                    <a:srgbClr val="4F81BD"/>
                  </a:solidFill>
                  <a:latin typeface="Calibri (MS)"/>
                  <a:ea typeface="Calibri (MS)"/>
                  <a:cs typeface="Calibri (MS)"/>
                  <a:sym typeface="Calibri (MS)"/>
                </a:rPr>
                <a:t>        RespuestaServicio cats = controlador.categorias();</a:t>
              </a:r>
            </a:p>
            <a:p>
              <a:pPr algn="l">
                <a:lnSpc>
                  <a:spcPts val="1800"/>
                </a:lnSpc>
              </a:pPr>
              <a:r>
                <a:rPr lang="en-US" sz="1500">
                  <a:solidFill>
                    <a:srgbClr val="4F81BD"/>
                  </a:solidFill>
                  <a:latin typeface="Calibri (MS)"/>
                  <a:ea typeface="Calibri (MS)"/>
                  <a:cs typeface="Calibri (MS)"/>
                  <a:sym typeface="Calibri (MS)"/>
                </a:rPr>
                <a:t>        if (!cats.esExitosa()) {</a:t>
              </a:r>
            </a:p>
            <a:p>
              <a:pPr algn="l">
                <a:lnSpc>
                  <a:spcPts val="1800"/>
                </a:lnSpc>
              </a:pPr>
              <a:r>
                <a:rPr lang="en-US" sz="1500">
                  <a:solidFill>
                    <a:srgbClr val="4F81BD"/>
                  </a:solidFill>
                  <a:latin typeface="Calibri (MS)"/>
                  <a:ea typeface="Calibri (MS)"/>
                  <a:cs typeface="Calibri (MS)"/>
                  <a:sym typeface="Calibri (MS)"/>
                </a:rPr>
                <a:t>            io.error(cats);</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io.seccion("Catálogo de unidades");</a:t>
              </a:r>
            </a:p>
            <a:p>
              <a:pPr algn="l">
                <a:lnSpc>
                  <a:spcPts val="1800"/>
                </a:lnSpc>
              </a:pPr>
              <a:r>
                <a:rPr lang="en-US" sz="1500">
                  <a:solidFill>
                    <a:srgbClr val="4F81BD"/>
                  </a:solidFill>
                  <a:latin typeface="Calibri (MS)"/>
                  <a:ea typeface="Calibri (MS)"/>
                  <a:cs typeface="Calibri (MS)"/>
                  <a:sym typeface="Calibri (MS)"/>
                </a:rPr>
                <a:t>        for (String c : cats.getDatos()) {</a:t>
              </a:r>
            </a:p>
            <a:p>
              <a:pPr algn="l">
                <a:lnSpc>
                  <a:spcPts val="1800"/>
                </a:lnSpc>
              </a:pPr>
              <a:r>
                <a:rPr lang="en-US" sz="1500">
                  <a:solidFill>
                    <a:srgbClr val="4F81BD"/>
                  </a:solidFill>
                  <a:latin typeface="Calibri (MS)"/>
                  <a:ea typeface="Calibri (MS)"/>
                  <a:cs typeface="Calibri (MS)"/>
                  <a:sym typeface="Calibri (MS)"/>
                </a:rPr>
                <a:t>            RespuestaServicio u = controlador.unidades(c);</a:t>
              </a:r>
            </a:p>
            <a:p>
              <a:pPr algn="l">
                <a:lnSpc>
                  <a:spcPts val="1800"/>
                </a:lnSpc>
              </a:pPr>
              <a:r>
                <a:rPr lang="en-US" sz="1500">
                  <a:solidFill>
                    <a:srgbClr val="4F81BD"/>
                  </a:solidFill>
                  <a:latin typeface="Calibri (MS)"/>
                  <a:ea typeface="Calibri (MS)"/>
                  <a:cs typeface="Calibri (MS)"/>
                  <a:sym typeface="Calibri (MS)"/>
                </a:rPr>
                <a:t>            if (!u.esExitosa()) {</a:t>
              </a:r>
            </a:p>
            <a:p>
              <a:pPr algn="l">
                <a:lnSpc>
                  <a:spcPts val="1800"/>
                </a:lnSpc>
              </a:pPr>
              <a:r>
                <a:rPr lang="en-US" sz="1500">
                  <a:solidFill>
                    <a:srgbClr val="4F81BD"/>
                  </a:solidFill>
                  <a:latin typeface="Calibri (MS)"/>
                  <a:ea typeface="Calibri (MS)"/>
                  <a:cs typeface="Calibri (MS)"/>
                  <a:sym typeface="Calibri (MS)"/>
                </a:rPr>
                <a:t>                io.error(u);</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io.linea("  " + c + ": " + String.join(", ", u.getDatos()));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catálogo y de la conversión.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convertir() {</a:t>
              </a:r>
            </a:p>
            <a:p>
              <a:pPr algn="l">
                <a:lnSpc>
                  <a:spcPts val="1800"/>
                </a:lnSpc>
              </a:pPr>
              <a:r>
                <a:rPr lang="en-US" sz="1500">
                  <a:solidFill>
                    <a:srgbClr val="4F81BD"/>
                  </a:solidFill>
                  <a:latin typeface="Calibri (MS)"/>
                  <a:ea typeface="Calibri (MS)"/>
                  <a:cs typeface="Calibri (MS)"/>
                  <a:sym typeface="Calibri (MS)"/>
                </a:rPr>
                <a:t>        RespuestaServicio cats = controlador.categorias();</a:t>
              </a:r>
            </a:p>
            <a:p>
              <a:pPr algn="l">
                <a:lnSpc>
                  <a:spcPts val="1800"/>
                </a:lnSpc>
              </a:pPr>
              <a:r>
                <a:rPr lang="en-US" sz="1500">
                  <a:solidFill>
                    <a:srgbClr val="4F81BD"/>
                  </a:solidFill>
                  <a:latin typeface="Calibri (MS)"/>
                  <a:ea typeface="Calibri (MS)"/>
                  <a:cs typeface="Calibri (MS)"/>
                  <a:sym typeface="Calibri (MS)"/>
                </a:rPr>
                <a:t>        if (!cats.esExitosa()) {</a:t>
              </a:r>
            </a:p>
            <a:p>
              <a:pPr algn="l">
                <a:lnSpc>
                  <a:spcPts val="1800"/>
                </a:lnSpc>
              </a:pPr>
              <a:r>
                <a:rPr lang="en-US" sz="1500">
                  <a:solidFill>
                    <a:srgbClr val="4F81BD"/>
                  </a:solidFill>
                  <a:latin typeface="Calibri (MS)"/>
                  <a:ea typeface="Calibri (MS)"/>
                  <a:cs typeface="Calibri (MS)"/>
                  <a:sym typeface="Calibri (MS)"/>
                </a:rPr>
                <a:t>            io.error(cats);</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categoria = io.elegir("Categoría", cats.getDatos());</a:t>
              </a:r>
            </a:p>
            <a:p>
              <a:pPr algn="l">
                <a:lnSpc>
                  <a:spcPts val="1800"/>
                </a:lnSpc>
              </a:pPr>
              <a:r>
                <a:rPr lang="en-US" sz="1500">
                  <a:solidFill>
                    <a:srgbClr val="4F81BD"/>
                  </a:solidFill>
                  <a:latin typeface="Calibri (MS)"/>
                  <a:ea typeface="Calibri (MS)"/>
                  <a:cs typeface="Calibri (MS)"/>
                  <a:sym typeface="Calibri (MS)"/>
                </a:rPr>
                <a:t>        if (categoria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RespuestaServicio un = controlador.unidades(categoria);</a:t>
              </a:r>
            </a:p>
            <a:p>
              <a:pPr algn="l">
                <a:lnSpc>
                  <a:spcPts val="1800"/>
                </a:lnSpc>
              </a:pPr>
              <a:r>
                <a:rPr lang="en-US" sz="1500">
                  <a:solidFill>
                    <a:srgbClr val="4F81BD"/>
                  </a:solidFill>
                  <a:latin typeface="Calibri (MS)"/>
                  <a:ea typeface="Calibri (MS)"/>
                  <a:cs typeface="Calibri (MS)"/>
                  <a:sym typeface="Calibri (MS)"/>
                </a:rPr>
                <a:t>        if (!un.esExitosa()) {</a:t>
              </a:r>
            </a:p>
            <a:p>
              <a:pPr algn="l">
                <a:lnSpc>
                  <a:spcPts val="1800"/>
                </a:lnSpc>
              </a:pPr>
              <a:r>
                <a:rPr lang="en-US" sz="1500">
                  <a:solidFill>
                    <a:srgbClr val="4F81BD"/>
                  </a:solidFill>
                  <a:latin typeface="Calibri (MS)"/>
                  <a:ea typeface="Calibri (MS)"/>
                  <a:cs typeface="Calibri (MS)"/>
                  <a:sym typeface="Calibri (MS)"/>
                </a:rPr>
                <a:t>            io.error(un);</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origen = io.elegir("Unidad de origen", un.getDatos());</a:t>
              </a:r>
            </a:p>
            <a:p>
              <a:pPr algn="l">
                <a:lnSpc>
                  <a:spcPts val="1800"/>
                </a:lnSpc>
              </a:pPr>
              <a:r>
                <a:rPr lang="en-US" sz="1500">
                  <a:solidFill>
                    <a:srgbClr val="4F81BD"/>
                  </a:solidFill>
                  <a:latin typeface="Calibri (MS)"/>
                  <a:ea typeface="Calibri (MS)"/>
                  <a:cs typeface="Calibri (MS)"/>
                  <a:sym typeface="Calibri (MS)"/>
                </a:rPr>
                <a:t>        if (origen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destino = io.elegir("Unidad de destino", un.getDatos());</a:t>
              </a:r>
            </a:p>
            <a:p>
              <a:pPr algn="l">
                <a:lnSpc>
                  <a:spcPts val="1800"/>
                </a:lnSpc>
              </a:pPr>
              <a:r>
                <a:rPr lang="en-US" sz="1500">
                  <a:solidFill>
                    <a:srgbClr val="4F81BD"/>
                  </a:solidFill>
                  <a:latin typeface="Calibri (MS)"/>
                  <a:ea typeface="Calibri (MS)"/>
                  <a:cs typeface="Calibri (MS)"/>
                  <a:sym typeface="Calibri (MS)"/>
                </a:rPr>
                <a:t>        if (destino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Double valor = io.leerNumero("Valor a convertir: ");</a:t>
              </a:r>
            </a:p>
            <a:p>
              <a:pPr algn="l">
                <a:lnSpc>
                  <a:spcPts val="1800"/>
                </a:lnSpc>
              </a:pPr>
              <a:r>
                <a:rPr lang="en-US" sz="1500">
                  <a:solidFill>
                    <a:srgbClr val="4F81BD"/>
                  </a:solidFill>
                  <a:latin typeface="Calibri (MS)"/>
                  <a:ea typeface="Calibri (MS)"/>
                  <a:cs typeface="Calibri (MS)"/>
                  <a:sym typeface="Calibri (MS)"/>
                </a:rPr>
                <a:t>        if (valor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catálogo y de la conversión.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451860"/>
            <a:chOff x="0" y="0"/>
            <a:chExt cx="12278360" cy="4602480"/>
          </a:xfrm>
        </p:grpSpPr>
        <p:sp>
          <p:nvSpPr>
            <p:cNvPr name="Freeform 18" id="18"/>
            <p:cNvSpPr/>
            <p:nvPr/>
          </p:nvSpPr>
          <p:spPr>
            <a:xfrm flipH="false" flipV="false" rot="0">
              <a:off x="0" y="0"/>
              <a:ext cx="12278360" cy="4602480"/>
            </a:xfrm>
            <a:custGeom>
              <a:avLst/>
              <a:gdLst/>
              <a:ahLst/>
              <a:cxnLst/>
              <a:rect r="r" b="b" t="t" l="l"/>
              <a:pathLst>
                <a:path h="4602480" w="12278360">
                  <a:moveTo>
                    <a:pt x="0" y="0"/>
                  </a:moveTo>
                  <a:lnTo>
                    <a:pt x="12278360" y="0"/>
                  </a:lnTo>
                  <a:lnTo>
                    <a:pt x="12278360" y="4602480"/>
                  </a:lnTo>
                  <a:lnTo>
                    <a:pt x="0" y="46024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6405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RespuestaServicio r = controlador.convertir(categoria, valor, origen, destino);</a:t>
              </a:r>
            </a:p>
            <a:p>
              <a:pPr algn="l">
                <a:lnSpc>
                  <a:spcPts val="1800"/>
                </a:lnSpc>
              </a:pPr>
              <a:r>
                <a:rPr lang="en-US" sz="1500">
                  <a:solidFill>
                    <a:srgbClr val="4F81BD"/>
                  </a:solidFill>
                  <a:latin typeface="Calibri (MS)"/>
                  <a:ea typeface="Calibri (MS)"/>
                  <a:cs typeface="Calibri (MS)"/>
                  <a:sym typeface="Calibri (MS)"/>
                </a:rPr>
                <a:t>        if (r.esExitosa() &amp;&amp; r.getResultado() != null) {</a:t>
              </a:r>
            </a:p>
            <a:p>
              <a:pPr algn="l">
                <a:lnSpc>
                  <a:spcPts val="1800"/>
                </a:lnSpc>
              </a:pPr>
              <a:r>
                <a:rPr lang="en-US" sz="1500">
                  <a:solidFill>
                    <a:srgbClr val="4F81BD"/>
                  </a:solidFill>
                  <a:latin typeface="Calibri (MS)"/>
                  <a:ea typeface="Calibri (MS)"/>
                  <a:cs typeface="Calibri (MS)"/>
                  <a:sym typeface="Calibri (MS)"/>
                </a:rPr>
                <a:t>            io.linea();</a:t>
              </a:r>
            </a:p>
            <a:p>
              <a:pPr algn="l">
                <a:lnSpc>
                  <a:spcPts val="1800"/>
                </a:lnSpc>
              </a:pPr>
              <a:r>
                <a:rPr lang="en-US" sz="1500">
                  <a:solidFill>
                    <a:srgbClr val="4F81BD"/>
                  </a:solidFill>
                  <a:latin typeface="Calibri (MS)"/>
                  <a:ea typeface="Calibri (MS)"/>
                  <a:cs typeface="Calibri (MS)"/>
                  <a:sym typeface="Calibri (MS)"/>
                </a:rPr>
                <a:t>            io.marco("RESULTADO",</a:t>
              </a:r>
            </a:p>
            <a:p>
              <a:pPr algn="l">
                <a:lnSpc>
                  <a:spcPts val="1800"/>
                </a:lnSpc>
              </a:pPr>
              <a:r>
                <a:rPr lang="en-US" sz="1500">
                  <a:solidFill>
                    <a:srgbClr val="4F81BD"/>
                  </a:solidFill>
                  <a:latin typeface="Calibri (MS)"/>
                  <a:ea typeface="Calibri (MS)"/>
                  <a:cs typeface="Calibri (MS)"/>
                  <a:sym typeface="Calibri (MS)"/>
                </a:rPr>
                <a:t>                    ControladorConversiones.formatear(valor) + " " + r.getUnidadOrigen(),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ControladorConversiones.formatear(r.getResultado()) + " " + r.getUnidadDestino());</a:t>
              </a:r>
            </a:p>
            <a:p>
              <a:pPr algn="l">
                <a:lnSpc>
                  <a:spcPts val="1800"/>
                </a:lnSpc>
              </a:pPr>
              <a:r>
                <a:rPr lang="en-US" sz="1500">
                  <a:solidFill>
                    <a:srgbClr val="4F81BD"/>
                  </a:solidFill>
                  <a:latin typeface="Calibri (MS)"/>
                  <a:ea typeface="Calibri (MS)"/>
                  <a:cs typeface="Calibri (MS)"/>
                  <a:sym typeface="Calibri (MS)"/>
                </a:rPr>
                <a:t>            io.linea("  " + r.getMensaje());</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io.error(r);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Menú principal que reparte el trabajo a las vistas.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InterfazConsola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ControladorSesion sesion;</a:t>
              </a:r>
            </a:p>
            <a:p>
              <a:pPr algn="l">
                <a:lnSpc>
                  <a:spcPts val="1800"/>
                </a:lnSpc>
              </a:pPr>
              <a:r>
                <a:rPr lang="en-US" sz="1500">
                  <a:solidFill>
                    <a:srgbClr val="4F81BD"/>
                  </a:solidFill>
                  <a:latin typeface="Calibri (MS)"/>
                  <a:ea typeface="Calibri (MS)"/>
                  <a:cs typeface="Calibri (MS)"/>
                  <a:sym typeface="Calibri (MS)"/>
                </a:rPr>
                <a:t>    private final VistaSesion vistaSesion;</a:t>
              </a:r>
            </a:p>
            <a:p>
              <a:pPr algn="l">
                <a:lnSpc>
                  <a:spcPts val="1800"/>
                </a:lnSpc>
              </a:pPr>
              <a:r>
                <a:rPr lang="en-US" sz="1500">
                  <a:solidFill>
                    <a:srgbClr val="4F81BD"/>
                  </a:solidFill>
                  <a:latin typeface="Calibri (MS)"/>
                  <a:ea typeface="Calibri (MS)"/>
                  <a:cs typeface="Calibri (MS)"/>
                  <a:sym typeface="Calibri (MS)"/>
                </a:rPr>
                <a:t>    private final VistaConversion vistaConversion;</a:t>
              </a:r>
            </a:p>
            <a:p>
              <a:pPr algn="l">
                <a:lnSpc>
                  <a:spcPts val="1800"/>
                </a:lnSpc>
              </a:pPr>
              <a:r>
                <a:rPr lang="en-US" sz="1500">
                  <a:solidFill>
                    <a:srgbClr val="4F81BD"/>
                  </a:solidFill>
                  <a:latin typeface="Calibri (MS)"/>
                  <a:ea typeface="Calibri (MS)"/>
                  <a:cs typeface="Calibri (MS)"/>
                  <a:sym typeface="Calibri (MS)"/>
                </a:rPr>
                <a:t>    private final ConsolaIO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InterfazConsola(ControladorSesion sesion, VistaSesion vistaSesion, VistaConversion vistaConversion, ConsolaIO io) {</a:t>
              </a:r>
            </a:p>
            <a:p>
              <a:pPr algn="l">
                <a:lnSpc>
                  <a:spcPts val="1800"/>
                </a:lnSpc>
              </a:pPr>
              <a:r>
                <a:rPr lang="en-US" sz="1500">
                  <a:solidFill>
                    <a:srgbClr val="4F81BD"/>
                  </a:solidFill>
                  <a:latin typeface="Calibri (MS)"/>
                  <a:ea typeface="Calibri (MS)"/>
                  <a:cs typeface="Calibri (MS)"/>
                  <a:sym typeface="Calibri (MS)"/>
                </a:rPr>
                <a:t>        this.sesion = sesion;</a:t>
              </a:r>
            </a:p>
            <a:p>
              <a:pPr algn="l">
                <a:lnSpc>
                  <a:spcPts val="1800"/>
                </a:lnSpc>
              </a:pPr>
              <a:r>
                <a:rPr lang="en-US" sz="1500">
                  <a:solidFill>
                    <a:srgbClr val="4F81BD"/>
                  </a:solidFill>
                  <a:latin typeface="Calibri (MS)"/>
                  <a:ea typeface="Calibri (MS)"/>
                  <a:cs typeface="Calibri (MS)"/>
                  <a:sym typeface="Calibri (MS)"/>
                </a:rPr>
                <a:t>        this.vistaSesion = vistaSesion;</a:t>
              </a:r>
            </a:p>
            <a:p>
              <a:pPr algn="l">
                <a:lnSpc>
                  <a:spcPts val="1800"/>
                </a:lnSpc>
              </a:pPr>
              <a:r>
                <a:rPr lang="en-US" sz="1500">
                  <a:solidFill>
                    <a:srgbClr val="4F81BD"/>
                  </a:solidFill>
                  <a:latin typeface="Calibri (MS)"/>
                  <a:ea typeface="Calibri (MS)"/>
                  <a:cs typeface="Calibri (MS)"/>
                  <a:sym typeface="Calibri (MS)"/>
                </a:rPr>
                <a:t>        this.vistaConversion = vistaConversion;</a:t>
              </a:r>
            </a:p>
            <a:p>
              <a:pPr algn="l">
                <a:lnSpc>
                  <a:spcPts val="1800"/>
                </a:lnSpc>
              </a:pPr>
              <a:r>
                <a:rPr lang="en-US" sz="1500">
                  <a:solidFill>
                    <a:srgbClr val="4F81BD"/>
                  </a:solidFill>
                  <a:latin typeface="Calibri (MS)"/>
                  <a:ea typeface="Calibri (MS)"/>
                  <a:cs typeface="Calibri (MS)"/>
                  <a:sym typeface="Calibri (MS)"/>
                </a:rPr>
                <a:t>        this.io =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ejecutar() {</a:t>
              </a:r>
            </a:p>
            <a:p>
              <a:pPr algn="l">
                <a:lnSpc>
                  <a:spcPts val="1800"/>
                </a:lnSpc>
              </a:pPr>
              <a:r>
                <a:rPr lang="en-US" sz="1500">
                  <a:solidFill>
                    <a:srgbClr val="4F81BD"/>
                  </a:solidFill>
                  <a:latin typeface="Calibri (MS)"/>
                  <a:ea typeface="Calibri (MS)"/>
                  <a:cs typeface="Calibri (MS)"/>
                  <a:sym typeface="Calibri (MS)"/>
                </a:rPr>
                <a:t>        io.linea();</a:t>
              </a:r>
            </a:p>
            <a:p>
              <a:pPr algn="l">
                <a:lnSpc>
                  <a:spcPts val="1800"/>
                </a:lnSpc>
              </a:pPr>
              <a:r>
                <a:rPr lang="en-US" sz="1500">
                  <a:solidFill>
                    <a:srgbClr val="4F81BD"/>
                  </a:solidFill>
                  <a:latin typeface="Calibri (MS)"/>
                  <a:ea typeface="Calibri (MS)"/>
                  <a:cs typeface="Calibri (MS)"/>
                  <a:sym typeface="Calibri (MS)"/>
                </a:rPr>
                <a:t>        io.marco("CONVERSIÓN DE UNIDADES MONSTER", "Cliente de consola", "Servidor: " + sesion.getUrl());</a:t>
              </a:r>
            </a:p>
            <a:p>
              <a:pPr algn="l">
                <a:lnSpc>
                  <a:spcPts val="1800"/>
                </a:lnSpc>
              </a:pPr>
              <a:r>
                <a:rPr lang="en-US" sz="1500">
                  <a:solidFill>
                    <a:srgbClr val="4F81BD"/>
                  </a:solidFill>
                  <a:latin typeface="Calibri (MS)"/>
                  <a:ea typeface="Calibri (MS)"/>
                  <a:cs typeface="Calibri (MS)"/>
                  <a:sym typeface="Calibri (MS)"/>
                </a:rPr>
                <a:t>        boolean seguir = true;</a:t>
              </a:r>
            </a:p>
            <a:p>
              <a:pPr algn="l">
                <a:lnSpc>
                  <a:spcPts val="1800"/>
                </a:lnSpc>
              </a:pPr>
              <a:r>
                <a:rPr lang="en-US" sz="1500">
                  <a:solidFill>
                    <a:srgbClr val="4F81BD"/>
                  </a:solidFill>
                  <a:latin typeface="Calibri (MS)"/>
                  <a:ea typeface="Calibri (MS)"/>
                  <a:cs typeface="Calibri (MS)"/>
                  <a:sym typeface="Calibri (MS)"/>
                </a:rPr>
                <a:t>        while (seguir) {</a:t>
              </a:r>
            </a:p>
            <a:p>
              <a:pPr algn="l">
                <a:lnSpc>
                  <a:spcPts val="1800"/>
                </a:lnSpc>
              </a:pPr>
              <a:r>
                <a:rPr lang="en-US" sz="1500">
                  <a:solidFill>
                    <a:srgbClr val="4F81BD"/>
                  </a:solidFill>
                  <a:latin typeface="Calibri (MS)"/>
                  <a:ea typeface="Calibri (MS)"/>
                  <a:cs typeface="Calibri (MS)"/>
                  <a:sym typeface="Calibri (MS)"/>
                </a:rPr>
                <a:t>            mostrarMenu();</a:t>
              </a:r>
            </a:p>
            <a:p>
              <a:pPr algn="l">
                <a:lnSpc>
                  <a:spcPts val="1800"/>
                </a:lnSpc>
              </a:pPr>
              <a:r>
                <a:rPr lang="en-US" sz="1500">
                  <a:solidFill>
                    <a:srgbClr val="4F81BD"/>
                  </a:solidFill>
                  <a:latin typeface="Calibri (MS)"/>
                  <a:ea typeface="Calibri (MS)"/>
                  <a:cs typeface="Calibri (MS)"/>
                  <a:sym typeface="Calibri (MS)"/>
                </a:rPr>
                <a:t>            String op = io.leer("Opción: ");</a:t>
              </a:r>
            </a:p>
            <a:p>
              <a:pPr algn="l">
                <a:lnSpc>
                  <a:spcPts val="1800"/>
                </a:lnSpc>
              </a:pPr>
              <a:r>
                <a:rPr lang="en-US" sz="1500">
                  <a:solidFill>
                    <a:srgbClr val="4F81BD"/>
                  </a:solidFill>
                  <a:latin typeface="Calibri (MS)"/>
                  <a:ea typeface="Calibri (MS)"/>
                  <a:cs typeface="Calibri (MS)"/>
                  <a:sym typeface="Calibri (MS)"/>
                </a:rPr>
                <a:t>            if (op == null) {</a:t>
              </a:r>
            </a:p>
            <a:p>
              <a:pPr algn="l">
                <a:lnSpc>
                  <a:spcPts val="1800"/>
                </a:lnSpc>
              </a:pPr>
              <a:r>
                <a:rPr lang="en-US" sz="1500">
                  <a:solidFill>
                    <a:srgbClr val="4F81BD"/>
                  </a:solidFill>
                  <a:latin typeface="Calibri (MS)"/>
                  <a:ea typeface="Calibri (MS)"/>
                  <a:cs typeface="Calibri (MS)"/>
                  <a:sym typeface="Calibri (MS)"/>
                </a:rPr>
                <a:t>                break; // fin de la entrada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switch (op.trim()) {</a:t>
              </a:r>
            </a:p>
            <a:p>
              <a:pPr algn="l">
                <a:lnSpc>
                  <a:spcPts val="1800"/>
                </a:lnSpc>
              </a:pPr>
              <a:r>
                <a:rPr lang="en-US" sz="1500">
                  <a:solidFill>
                    <a:srgbClr val="4F81BD"/>
                  </a:solidFill>
                  <a:latin typeface="Calibri (MS)"/>
                  <a:ea typeface="Calibri (MS)"/>
                  <a:cs typeface="Calibri (MS)"/>
                  <a:sym typeface="Calibri (MS)"/>
                </a:rPr>
                <a:t>                case "1" -&gt; vistaSesion.iniciarSesion();</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Menú principal que reparte el trabajo a las vistas.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case "2" -&gt; {</a:t>
              </a:r>
            </a:p>
            <a:p>
              <a:pPr algn="l">
                <a:lnSpc>
                  <a:spcPts val="1800"/>
                </a:lnSpc>
              </a:pPr>
              <a:r>
                <a:rPr lang="en-US" sz="1500">
                  <a:solidFill>
                    <a:srgbClr val="4F81BD"/>
                  </a:solidFill>
                  <a:latin typeface="Calibri (MS)"/>
                  <a:ea typeface="Calibri (MS)"/>
                  <a:cs typeface="Calibri (MS)"/>
                  <a:sym typeface="Calibri (MS)"/>
                </a:rPr>
                <a:t>                    if (exigirSesion()) {</a:t>
              </a:r>
            </a:p>
            <a:p>
              <a:pPr algn="l">
                <a:lnSpc>
                  <a:spcPts val="1800"/>
                </a:lnSpc>
              </a:pPr>
              <a:r>
                <a:rPr lang="en-US" sz="1500">
                  <a:solidFill>
                    <a:srgbClr val="4F81BD"/>
                  </a:solidFill>
                  <a:latin typeface="Calibri (MS)"/>
                  <a:ea typeface="Calibri (MS)"/>
                  <a:cs typeface="Calibri (MS)"/>
                  <a:sym typeface="Calibri (MS)"/>
                </a:rPr>
                <a:t>                        vistaConversion.verCatalogo();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case "3" -&gt; {</a:t>
              </a:r>
            </a:p>
            <a:p>
              <a:pPr algn="l">
                <a:lnSpc>
                  <a:spcPts val="1800"/>
                </a:lnSpc>
              </a:pPr>
              <a:r>
                <a:rPr lang="en-US" sz="1500">
                  <a:solidFill>
                    <a:srgbClr val="4F81BD"/>
                  </a:solidFill>
                  <a:latin typeface="Calibri (MS)"/>
                  <a:ea typeface="Calibri (MS)"/>
                  <a:cs typeface="Calibri (MS)"/>
                  <a:sym typeface="Calibri (MS)"/>
                </a:rPr>
                <a:t>                    if (exigirSesion()) {</a:t>
              </a:r>
            </a:p>
            <a:p>
              <a:pPr algn="l">
                <a:lnSpc>
                  <a:spcPts val="1800"/>
                </a:lnSpc>
              </a:pPr>
              <a:r>
                <a:rPr lang="en-US" sz="1500">
                  <a:solidFill>
                    <a:srgbClr val="4F81BD"/>
                  </a:solidFill>
                  <a:latin typeface="Calibri (MS)"/>
                  <a:ea typeface="Calibri (MS)"/>
                  <a:cs typeface="Calibri (MS)"/>
                  <a:sym typeface="Calibri (MS)"/>
                </a:rPr>
                <a:t>                        vistaConversion.convertir();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case "4" -&gt; vistaSesion.cerrarSesion();</a:t>
              </a:r>
            </a:p>
            <a:p>
              <a:pPr algn="l">
                <a:lnSpc>
                  <a:spcPts val="1800"/>
                </a:lnSpc>
              </a:pPr>
              <a:r>
                <a:rPr lang="en-US" sz="1500">
                  <a:solidFill>
                    <a:srgbClr val="4F81BD"/>
                  </a:solidFill>
                  <a:latin typeface="Calibri (MS)"/>
                  <a:ea typeface="Calibri (MS)"/>
                  <a:cs typeface="Calibri (MS)"/>
                  <a:sym typeface="Calibri (MS)"/>
                </a:rPr>
                <a:t>                case "0" -&gt; seguir = false;</a:t>
              </a:r>
            </a:p>
            <a:p>
              <a:pPr algn="l">
                <a:lnSpc>
                  <a:spcPts val="1800"/>
                </a:lnSpc>
              </a:pPr>
              <a:r>
                <a:rPr lang="en-US" sz="1500">
                  <a:solidFill>
                    <a:srgbClr val="4F81BD"/>
                  </a:solidFill>
                  <a:latin typeface="Calibri (MS)"/>
                  <a:ea typeface="Calibri (MS)"/>
                  <a:cs typeface="Calibri (MS)"/>
                  <a:sym typeface="Calibri (MS)"/>
                </a:rPr>
                <a:t>                default -&gt; io.linea("  Opción no válida.");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io.linea("Hasta luego.");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void mostrarMenu() {</a:t>
              </a:r>
            </a:p>
            <a:p>
              <a:pPr algn="l">
                <a:lnSpc>
                  <a:spcPts val="1800"/>
                </a:lnSpc>
              </a:pPr>
              <a:r>
                <a:rPr lang="en-US" sz="1500">
                  <a:solidFill>
                    <a:srgbClr val="4F81BD"/>
                  </a:solidFill>
                  <a:latin typeface="Calibri (MS)"/>
                  <a:ea typeface="Calibri (MS)"/>
                  <a:cs typeface="Calibri (MS)"/>
                  <a:sym typeface="Calibri (MS)"/>
                </a:rPr>
                <a:t>        io.seccion("Menú  |  Sesión: " + (sesion.haySesion() ? "ACTIVA" : "no iniciada"));</a:t>
              </a:r>
            </a:p>
            <a:p>
              <a:pPr algn="l">
                <a:lnSpc>
                  <a:spcPts val="1800"/>
                </a:lnSpc>
              </a:pPr>
              <a:r>
                <a:rPr lang="en-US" sz="1500">
                  <a:solidFill>
                    <a:srgbClr val="4F81BD"/>
                  </a:solidFill>
                  <a:latin typeface="Calibri (MS)"/>
                  <a:ea typeface="Calibri (MS)"/>
                  <a:cs typeface="Calibri (MS)"/>
                  <a:sym typeface="Calibri (MS)"/>
                </a:rPr>
                <a:t>        if (!sesion.haySesion()) {</a:t>
              </a:r>
            </a:p>
            <a:p>
              <a:pPr algn="l">
                <a:lnSpc>
                  <a:spcPts val="1800"/>
                </a:lnSpc>
              </a:pPr>
              <a:r>
                <a:rPr lang="en-US" sz="1500">
                  <a:solidFill>
                    <a:srgbClr val="4F81BD"/>
                  </a:solidFill>
                  <a:latin typeface="Calibri (MS)"/>
                  <a:ea typeface="Calibri (MS)"/>
                  <a:cs typeface="Calibri (MS)"/>
                  <a:sym typeface="Calibri (MS)"/>
                </a:rPr>
                <a:t>            io.linea("  1. Iniciar sesión");</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io.linea("  2. Ver catálogo (categorías y unidades)");</a:t>
              </a:r>
            </a:p>
            <a:p>
              <a:pPr algn="l">
                <a:lnSpc>
                  <a:spcPts val="1800"/>
                </a:lnSpc>
              </a:pPr>
              <a:r>
                <a:rPr lang="en-US" sz="1500">
                  <a:solidFill>
                    <a:srgbClr val="4F81BD"/>
                  </a:solidFill>
                  <a:latin typeface="Calibri (MS)"/>
                  <a:ea typeface="Calibri (MS)"/>
                  <a:cs typeface="Calibri (MS)"/>
                  <a:sym typeface="Calibri (MS)"/>
                </a:rPr>
                <a:t>            io.linea("  3. Convertir");</a:t>
              </a:r>
            </a:p>
            <a:p>
              <a:pPr algn="l">
                <a:lnSpc>
                  <a:spcPts val="1800"/>
                </a:lnSpc>
              </a:pPr>
              <a:r>
                <a:rPr lang="en-US" sz="1500">
                  <a:solidFill>
                    <a:srgbClr val="4F81BD"/>
                  </a:solidFill>
                  <a:latin typeface="Calibri (MS)"/>
                  <a:ea typeface="Calibri (MS)"/>
                  <a:cs typeface="Calibri (MS)"/>
                  <a:sym typeface="Calibri (MS)"/>
                </a:rPr>
                <a:t>            io.linea("  4. Cerrar sesión");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io.linea("  0. Salir");</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Menú principal que reparte el trabajo a las vistas.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2754630"/>
            <a:chOff x="0" y="0"/>
            <a:chExt cx="12278360" cy="3672840"/>
          </a:xfrm>
        </p:grpSpPr>
        <p:sp>
          <p:nvSpPr>
            <p:cNvPr name="Freeform 18" id="18"/>
            <p:cNvSpPr/>
            <p:nvPr/>
          </p:nvSpPr>
          <p:spPr>
            <a:xfrm flipH="false" flipV="false" rot="0">
              <a:off x="0" y="0"/>
              <a:ext cx="12278360" cy="3672840"/>
            </a:xfrm>
            <a:custGeom>
              <a:avLst/>
              <a:gdLst/>
              <a:ahLst/>
              <a:cxnLst/>
              <a:rect r="r" b="b" t="t" l="l"/>
              <a:pathLst>
                <a:path h="3672840" w="12278360">
                  <a:moveTo>
                    <a:pt x="0" y="0"/>
                  </a:moveTo>
                  <a:lnTo>
                    <a:pt x="12278360" y="0"/>
                  </a:lnTo>
                  <a:lnTo>
                    <a:pt x="12278360" y="3672840"/>
                  </a:lnTo>
                  <a:lnTo>
                    <a:pt x="0" y="367284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37109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boolean exigirSesion() {</a:t>
              </a:r>
            </a:p>
            <a:p>
              <a:pPr algn="l">
                <a:lnSpc>
                  <a:spcPts val="1800"/>
                </a:lnSpc>
              </a:pPr>
              <a:r>
                <a:rPr lang="en-US" sz="1500">
                  <a:solidFill>
                    <a:srgbClr val="4F81BD"/>
                  </a:solidFill>
                  <a:latin typeface="Calibri (MS)"/>
                  <a:ea typeface="Calibri (MS)"/>
                  <a:cs typeface="Calibri (MS)"/>
                  <a:sym typeface="Calibri (MS)"/>
                </a:rPr>
                <a:t>        if (!sesion.haySesion()) {</a:t>
              </a:r>
            </a:p>
            <a:p>
              <a:pPr algn="l">
                <a:lnSpc>
                  <a:spcPts val="1800"/>
                </a:lnSpc>
              </a:pPr>
              <a:r>
                <a:rPr lang="en-US" sz="1500">
                  <a:solidFill>
                    <a:srgbClr val="4F81BD"/>
                  </a:solidFill>
                  <a:latin typeface="Calibri (MS)"/>
                  <a:ea typeface="Calibri (MS)"/>
                  <a:cs typeface="Calibri (MS)"/>
                  <a:sym typeface="Calibri (MS)"/>
                </a:rPr>
                <a:t>            io.linea("  Debe iniciar sesión primero.");</a:t>
              </a:r>
            </a:p>
            <a:p>
              <a:pPr algn="l">
                <a:lnSpc>
                  <a:spcPts val="1800"/>
                </a:lnSpc>
              </a:pPr>
              <a:r>
                <a:rPr lang="en-US" sz="1500">
                  <a:solidFill>
                    <a:srgbClr val="4F81BD"/>
                  </a:solidFill>
                  <a:latin typeface="Calibri (MS)"/>
                  <a:ea typeface="Calibri (MS)"/>
                  <a:cs typeface="Calibri (MS)"/>
                  <a:sym typeface="Calibri (MS)"/>
                </a:rPr>
                <a:t>            return false;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true;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ClienteConsola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Clase principal: arma las piezas del MVC.</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846320"/>
            <a:chOff x="0" y="0"/>
            <a:chExt cx="12278360" cy="6461760"/>
          </a:xfrm>
        </p:grpSpPr>
        <p:sp>
          <p:nvSpPr>
            <p:cNvPr name="Freeform 18" id="18"/>
            <p:cNvSpPr/>
            <p:nvPr/>
          </p:nvSpPr>
          <p:spPr>
            <a:xfrm flipH="false" flipV="false" rot="0">
              <a:off x="0" y="0"/>
              <a:ext cx="12278360" cy="6461760"/>
            </a:xfrm>
            <a:custGeom>
              <a:avLst/>
              <a:gdLst/>
              <a:ahLst/>
              <a:cxnLst/>
              <a:rect r="r" b="b" t="t" l="l"/>
              <a:pathLst>
                <a:path h="6461760" w="12278360">
                  <a:moveTo>
                    <a:pt x="0" y="0"/>
                  </a:moveTo>
                  <a:lnTo>
                    <a:pt x="12278360" y="0"/>
                  </a:lnTo>
                  <a:lnTo>
                    <a:pt x="12278360" y="6461760"/>
                  </a:lnTo>
                  <a:lnTo>
                    <a:pt x="0" y="64617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4998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ClienteConsola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void main(String[] args) {</a:t>
              </a:r>
            </a:p>
            <a:p>
              <a:pPr algn="l">
                <a:lnSpc>
                  <a:spcPts val="1800"/>
                </a:lnSpc>
              </a:pPr>
              <a:r>
                <a:rPr lang="en-US" sz="1500">
                  <a:solidFill>
                    <a:srgbClr val="4F81BD"/>
                  </a:solidFill>
                  <a:latin typeface="Calibri (MS)"/>
                  <a:ea typeface="Calibri (MS)"/>
                  <a:cs typeface="Calibri (MS)"/>
                  <a:sym typeface="Calibri (MS)"/>
                </a:rPr>
                <a:t>        PrintStream salida = new PrintStream(System.out, true, StandardCharsets.UTF_8);</a:t>
              </a:r>
            </a:p>
            <a:p>
              <a:pPr algn="l">
                <a:lnSpc>
                  <a:spcPts val="1800"/>
                </a:lnSpc>
              </a:pPr>
              <a:r>
                <a:rPr lang="en-US" sz="1500">
                  <a:solidFill>
                    <a:srgbClr val="4F81BD"/>
                  </a:solidFill>
                  <a:latin typeface="Calibri (MS)"/>
                  <a:ea typeface="Calibri (MS)"/>
                  <a:cs typeface="Calibri (MS)"/>
                  <a:sym typeface="Calibri (MS)"/>
                </a:rPr>
                <a:t>        Scanner entrada = new Scanner(System.in, StandardCharsets.UTF_8);</a:t>
              </a:r>
            </a:p>
            <a:p>
              <a:pPr algn="l">
                <a:lnSpc>
                  <a:spcPts val="1800"/>
                </a:lnSpc>
              </a:pPr>
              <a:r>
                <a:rPr lang="en-US" sz="1500">
                  <a:solidFill>
                    <a:srgbClr val="4F81BD"/>
                  </a:solidFill>
                  <a:latin typeface="Calibri (MS)"/>
                  <a:ea typeface="Calibri (MS)"/>
                  <a:cs typeface="Calibri (MS)"/>
                  <a:sym typeface="Calibri (MS)"/>
                </a:rPr>
                <a:t>        String url = args.length &gt; 0 ? args[0] : SoapClient.urlConfigurada();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SoapClient cliente = new SoapClient(url);</a:t>
              </a:r>
            </a:p>
            <a:p>
              <a:pPr algn="l">
                <a:lnSpc>
                  <a:spcPts val="1800"/>
                </a:lnSpc>
              </a:pPr>
              <a:r>
                <a:rPr lang="en-US" sz="1500">
                  <a:solidFill>
                    <a:srgbClr val="4F81BD"/>
                  </a:solidFill>
                  <a:latin typeface="Calibri (MS)"/>
                  <a:ea typeface="Calibri (MS)"/>
                  <a:cs typeface="Calibri (MS)"/>
                  <a:sym typeface="Calibri (MS)"/>
                </a:rPr>
                <a:t>        Sesion sesion = new Sesion();</a:t>
              </a:r>
            </a:p>
            <a:p>
              <a:pPr algn="l">
                <a:lnSpc>
                  <a:spcPts val="1800"/>
                </a:lnSpc>
              </a:pPr>
              <a:r>
                <a:rPr lang="en-US" sz="1500">
                  <a:solidFill>
                    <a:srgbClr val="4F81BD"/>
                  </a:solidFill>
                  <a:latin typeface="Calibri (MS)"/>
                  <a:ea typeface="Calibri (MS)"/>
                  <a:cs typeface="Calibri (MS)"/>
                  <a:sym typeface="Calibri (MS)"/>
                </a:rPr>
                <a:t>        ControladorSesion controladorSesion = new ControladorSesion(cliente, sesion);</a:t>
              </a:r>
            </a:p>
            <a:p>
              <a:pPr algn="l">
                <a:lnSpc>
                  <a:spcPts val="1800"/>
                </a:lnSpc>
              </a:pPr>
              <a:r>
                <a:rPr lang="en-US" sz="1500">
                  <a:solidFill>
                    <a:srgbClr val="4F81BD"/>
                  </a:solidFill>
                  <a:latin typeface="Calibri (MS)"/>
                  <a:ea typeface="Calibri (MS)"/>
                  <a:cs typeface="Calibri (MS)"/>
                  <a:sym typeface="Calibri (MS)"/>
                </a:rPr>
                <a:t>        ControladorConversiones controladorConversiones = new ControladorConversiones(cliente,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ConsolaIO io = new ConsolaIO(entrada, salida);</a:t>
              </a:r>
            </a:p>
            <a:p>
              <a:pPr algn="l">
                <a:lnSpc>
                  <a:spcPts val="1800"/>
                </a:lnSpc>
              </a:pPr>
              <a:r>
                <a:rPr lang="en-US" sz="1500">
                  <a:solidFill>
                    <a:srgbClr val="4F81BD"/>
                  </a:solidFill>
                  <a:latin typeface="Calibri (MS)"/>
                  <a:ea typeface="Calibri (MS)"/>
                  <a:cs typeface="Calibri (MS)"/>
                  <a:sym typeface="Calibri (MS)"/>
                </a:rPr>
                <a:t>        new InterfazConsola(controladorSesion, new VistaSesion(controladorSesion, io),</a:t>
              </a:r>
            </a:p>
            <a:p>
              <a:pPr algn="l">
                <a:lnSpc>
                  <a:spcPts val="1800"/>
                </a:lnSpc>
              </a:pPr>
              <a:r>
                <a:rPr lang="en-US" sz="1500">
                  <a:solidFill>
                    <a:srgbClr val="4F81BD"/>
                  </a:solidFill>
                  <a:latin typeface="Calibri (MS)"/>
                  <a:ea typeface="Calibri (MS)"/>
                  <a:cs typeface="Calibri (MS)"/>
                  <a:sym typeface="Calibri (MS)"/>
                </a:rPr>
                <a:t>                new VistaConversion(controladorConversiones, io), io).ejecutar();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Se puede verificar que el cliente funciona de forma correcta, se levanta y tiene comunicación con el servidor (inicio de sesión).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5897880" y="3857625"/>
            <a:ext cx="7818120" cy="3806190"/>
            <a:chOff x="0" y="0"/>
            <a:chExt cx="10424160" cy="5074920"/>
          </a:xfrm>
        </p:grpSpPr>
        <p:sp>
          <p:nvSpPr>
            <p:cNvPr name="Freeform 18" id="18" descr="term_login.png"/>
            <p:cNvSpPr/>
            <p:nvPr/>
          </p:nvSpPr>
          <p:spPr>
            <a:xfrm flipH="false" flipV="false" rot="0">
              <a:off x="0" y="0"/>
              <a:ext cx="10424160" cy="5074920"/>
            </a:xfrm>
            <a:custGeom>
              <a:avLst/>
              <a:gdLst/>
              <a:ahLst/>
              <a:cxnLst/>
              <a:rect r="r" b="b" t="t" l="l"/>
              <a:pathLst>
                <a:path h="5074920" w="10424160">
                  <a:moveTo>
                    <a:pt x="0" y="0"/>
                  </a:moveTo>
                  <a:lnTo>
                    <a:pt x="10424160" y="0"/>
                  </a:lnTo>
                  <a:lnTo>
                    <a:pt x="10424160" y="5074920"/>
                  </a:lnTo>
                  <a:lnTo>
                    <a:pt x="0" y="5074920"/>
                  </a:lnTo>
                  <a:lnTo>
                    <a:pt x="0" y="0"/>
                  </a:lnTo>
                  <a:close/>
                </a:path>
              </a:pathLst>
            </a:custGeom>
            <a:blipFill>
              <a:blip r:embed="rId3"/>
              <a:stretch>
                <a:fillRect l="0" t="0" r="0" b="0"/>
              </a:stretch>
            </a:blipFill>
          </p:spPr>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Conversión de ejemplo: 1 milla a metros.</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5897880" y="3319272"/>
            <a:ext cx="7818120" cy="5843016"/>
            <a:chOff x="0" y="0"/>
            <a:chExt cx="10424160" cy="7790688"/>
          </a:xfrm>
        </p:grpSpPr>
        <p:sp>
          <p:nvSpPr>
            <p:cNvPr name="Freeform 18" id="18" descr="term_conversion.png"/>
            <p:cNvSpPr/>
            <p:nvPr/>
          </p:nvSpPr>
          <p:spPr>
            <a:xfrm flipH="false" flipV="false" rot="0">
              <a:off x="0" y="0"/>
              <a:ext cx="10424160" cy="7790688"/>
            </a:xfrm>
            <a:custGeom>
              <a:avLst/>
              <a:gdLst/>
              <a:ahLst/>
              <a:cxnLst/>
              <a:rect r="r" b="b" t="t" l="l"/>
              <a:pathLst>
                <a:path h="7790688" w="10424160">
                  <a:moveTo>
                    <a:pt x="0" y="0"/>
                  </a:moveTo>
                  <a:lnTo>
                    <a:pt x="10424160" y="0"/>
                  </a:lnTo>
                  <a:lnTo>
                    <a:pt x="10424160" y="7790688"/>
                  </a:lnTo>
                  <a:lnTo>
                    <a:pt x="0" y="7790688"/>
                  </a:lnTo>
                  <a:lnTo>
                    <a:pt x="0" y="0"/>
                  </a:lnTo>
                  <a:close/>
                </a:path>
              </a:pathLst>
            </a:custGeom>
            <a:blipFill>
              <a:blip r:embed="rId3"/>
              <a:stretch>
                <a:fillRect l="0" t="0" r="0" b="0"/>
              </a:stretch>
            </a:blipFill>
          </p:spPr>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035040" y="2891333"/>
            <a:ext cx="7680960" cy="6561734"/>
            <a:chOff x="0" y="0"/>
            <a:chExt cx="10241280" cy="8748979"/>
          </a:xfrm>
        </p:grpSpPr>
        <p:sp>
          <p:nvSpPr>
            <p:cNvPr name="Freeform 17" id="17"/>
            <p:cNvSpPr/>
            <p:nvPr/>
          </p:nvSpPr>
          <p:spPr>
            <a:xfrm flipH="false" flipV="false" rot="0">
              <a:off x="0" y="0"/>
              <a:ext cx="10241280" cy="8749030"/>
            </a:xfrm>
            <a:custGeom>
              <a:avLst/>
              <a:gdLst/>
              <a:ahLst/>
              <a:cxnLst/>
              <a:rect r="r" b="b" t="t" l="l"/>
              <a:pathLst>
                <a:path h="8749030" w="10241280">
                  <a:moveTo>
                    <a:pt x="0" y="0"/>
                  </a:moveTo>
                  <a:lnTo>
                    <a:pt x="10241280" y="0"/>
                  </a:lnTo>
                  <a:lnTo>
                    <a:pt x="10241280" y="8749030"/>
                  </a:lnTo>
                  <a:lnTo>
                    <a:pt x="0" y="8749030"/>
                  </a:lnTo>
                  <a:lnTo>
                    <a:pt x="0" y="0"/>
                  </a:lnTo>
                  <a:close/>
                </a:path>
              </a:pathLst>
            </a:custGeom>
            <a:blipFill>
              <a:blip r:embed="rId3"/>
              <a:stretch>
                <a:fillRect l="0" t="-9428" r="0" b="-9428"/>
              </a:stretch>
            </a:blipFill>
          </p:spPr>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1.4 	CREACIÓN DEL PROYECTO – CLIENTE ESCRITORIO</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Para el cliente de escritorio se creó un proyecto Java with Maven (Java Application) con la librería gráfica Swing, sin dependencias externas.</a:t>
            </a:r>
          </a:p>
          <a:p>
            <a:pPr algn="just" marL="352901" indent="-176451" lvl="1">
              <a:lnSpc>
                <a:spcPts val="2503"/>
              </a:lnSpc>
              <a:buFont typeface="Arial"/>
              <a:buChar char="•"/>
            </a:pPr>
            <a:r>
              <a:rPr lang="en-US" sz="1950">
                <a:solidFill>
                  <a:srgbClr val="3D3D3D"/>
                </a:solidFill>
                <a:latin typeface="Cambria"/>
                <a:ea typeface="Cambria"/>
                <a:cs typeface="Cambria"/>
                <a:sym typeface="Cambria"/>
              </a:rPr>
              <a:t>Paquetes: modelo (SoapClient, RespuestaServicio), controlador (ControladorConversiones) y vista (LoginFrame, ConversionFrame y Estilo).</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 SOAP.</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ec.edu.monster.clienteescritorio.controlador;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ControladorConversiones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SoapClient cliente;</a:t>
              </a:r>
            </a:p>
            <a:p>
              <a:pPr algn="l">
                <a:lnSpc>
                  <a:spcPts val="1800"/>
                </a:lnSpc>
              </a:pPr>
              <a:r>
                <a:rPr lang="en-US" sz="1500">
                  <a:solidFill>
                    <a:srgbClr val="4F81BD"/>
                  </a:solidFill>
                  <a:latin typeface="Calibri (MS)"/>
                  <a:ea typeface="Calibri (MS)"/>
                  <a:cs typeface="Calibri (MS)"/>
                  <a:sym typeface="Calibri (MS)"/>
                </a:rPr>
                <a:t>    private String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ControladorConversiones(SoapClient cliente)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String urlPorDefecto() {</a:t>
              </a:r>
            </a:p>
            <a:p>
              <a:pPr algn="l">
                <a:lnSpc>
                  <a:spcPts val="1800"/>
                </a:lnSpc>
              </a:pPr>
              <a:r>
                <a:rPr lang="en-US" sz="1500">
                  <a:solidFill>
                    <a:srgbClr val="4F81BD"/>
                  </a:solidFill>
                  <a:latin typeface="Calibri (MS)"/>
                  <a:ea typeface="Calibri (MS)"/>
                  <a:cs typeface="Calibri (MS)"/>
                  <a:sym typeface="Calibri (MS)"/>
                </a:rPr>
                <a:t>        return SoapClient.urlConfigurada();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ControladorConversiones conectar(String url) {</a:t>
              </a:r>
            </a:p>
            <a:p>
              <a:pPr algn="l">
                <a:lnSpc>
                  <a:spcPts val="1800"/>
                </a:lnSpc>
              </a:pPr>
              <a:r>
                <a:rPr lang="en-US" sz="1500">
                  <a:solidFill>
                    <a:srgbClr val="4F81BD"/>
                  </a:solidFill>
                  <a:latin typeface="Calibri (MS)"/>
                  <a:ea typeface="Calibri (MS)"/>
                  <a:cs typeface="Calibri (MS)"/>
                  <a:sym typeface="Calibri (MS)"/>
                </a:rPr>
                <a:t>        return new ControladorConversiones(new SoapClient(url));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getUrl() {</a:t>
              </a:r>
            </a:p>
            <a:p>
              <a:pPr algn="l">
                <a:lnSpc>
                  <a:spcPts val="1800"/>
                </a:lnSpc>
              </a:pPr>
              <a:r>
                <a:rPr lang="en-US" sz="1500">
                  <a:solidFill>
                    <a:srgbClr val="4F81BD"/>
                  </a:solidFill>
                  <a:latin typeface="Calibri (MS)"/>
                  <a:ea typeface="Calibri (MS)"/>
                  <a:cs typeface="Calibri (MS)"/>
                  <a:sym typeface="Calibri (MS)"/>
                </a:rPr>
                <a:t>        return cliente.getBaseUrl();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boolean haySesion() {</a:t>
              </a:r>
            </a:p>
            <a:p>
              <a:pPr algn="l">
                <a:lnSpc>
                  <a:spcPts val="1800"/>
                </a:lnSpc>
              </a:pPr>
              <a:r>
                <a:rPr lang="en-US" sz="1500">
                  <a:solidFill>
                    <a:srgbClr val="4F81BD"/>
                  </a:solidFill>
                  <a:latin typeface="Calibri (MS)"/>
                  <a:ea typeface="Calibri (MS)"/>
                  <a:cs typeface="Calibri (MS)"/>
                  <a:sym typeface="Calibri (MS)"/>
                </a:rPr>
                <a:t>        return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 SOAP.</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RespuestaServicio iniciarSesion(String usuario, String clave) {</a:t>
              </a:r>
            </a:p>
            <a:p>
              <a:pPr algn="l">
                <a:lnSpc>
                  <a:spcPts val="1800"/>
                </a:lnSpc>
              </a:pPr>
              <a:r>
                <a:rPr lang="en-US" sz="1500">
                  <a:solidFill>
                    <a:srgbClr val="4F81BD"/>
                  </a:solidFill>
                  <a:latin typeface="Calibri (MS)"/>
                  <a:ea typeface="Calibri (MS)"/>
                  <a:cs typeface="Calibri (MS)"/>
                  <a:sym typeface="Calibri (MS)"/>
                </a:rPr>
                <a:t>        RespuestaServicio r = cliente.login(usuario, clave);</a:t>
              </a:r>
            </a:p>
            <a:p>
              <a:pPr algn="l">
                <a:lnSpc>
                  <a:spcPts val="1800"/>
                </a:lnSpc>
              </a:pPr>
              <a:r>
                <a:rPr lang="en-US" sz="1500">
                  <a:solidFill>
                    <a:srgbClr val="4F81BD"/>
                  </a:solidFill>
                  <a:latin typeface="Calibri (MS)"/>
                  <a:ea typeface="Calibri (MS)"/>
                  <a:cs typeface="Calibri (MS)"/>
                  <a:sym typeface="Calibri (MS)"/>
                </a:rPr>
                <a:t>        token = (r.esExitosa() &amp;&amp; r.getToken() != null) ? r.getToken() : null;</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categorias() {</a:t>
              </a:r>
            </a:p>
            <a:p>
              <a:pPr algn="l">
                <a:lnSpc>
                  <a:spcPts val="1800"/>
                </a:lnSpc>
              </a:pPr>
              <a:r>
                <a:rPr lang="en-US" sz="1500">
                  <a:solidFill>
                    <a:srgbClr val="4F81BD"/>
                  </a:solidFill>
                  <a:latin typeface="Calibri (MS)"/>
                  <a:ea typeface="Calibri (MS)"/>
                  <a:cs typeface="Calibri (MS)"/>
                  <a:sym typeface="Calibri (MS)"/>
                </a:rPr>
                <a:t>        return revisar(cliente.obtenerCategorias(token));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unidades(String categoria) {</a:t>
              </a:r>
            </a:p>
            <a:p>
              <a:pPr algn="l">
                <a:lnSpc>
                  <a:spcPts val="1800"/>
                </a:lnSpc>
              </a:pPr>
              <a:r>
                <a:rPr lang="en-US" sz="1500">
                  <a:solidFill>
                    <a:srgbClr val="4F81BD"/>
                  </a:solidFill>
                  <a:latin typeface="Calibri (MS)"/>
                  <a:ea typeface="Calibri (MS)"/>
                  <a:cs typeface="Calibri (MS)"/>
                  <a:sym typeface="Calibri (MS)"/>
                </a:rPr>
                <a:t>        return revisar(cliente.obtenerUnidades(token,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a:t>
              </a:r>
            </a:p>
            <a:p>
              <a:pPr algn="l">
                <a:lnSpc>
                  <a:spcPts val="1800"/>
                </a:lnSpc>
              </a:pPr>
              <a:r>
                <a:rPr lang="en-US" sz="1500">
                  <a:solidFill>
                    <a:srgbClr val="4F81BD"/>
                  </a:solidFill>
                  <a:latin typeface="Calibri (MS)"/>
                  <a:ea typeface="Calibri (MS)"/>
                  <a:cs typeface="Calibri (MS)"/>
                  <a:sym typeface="Calibri (MS)"/>
                </a:rPr>
                <a:t>        return revisar(cliente.convertir(categoria, valor, origen, destino,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 SOAP.</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private RespuestaServicio revisar(RespuestaServicio r) {</a:t>
              </a:r>
            </a:p>
            <a:p>
              <a:pPr algn="l">
                <a:lnSpc>
                  <a:spcPts val="1800"/>
                </a:lnSpc>
              </a:pPr>
              <a:r>
                <a:rPr lang="en-US" sz="1500">
                  <a:solidFill>
                    <a:srgbClr val="4F81BD"/>
                  </a:solidFill>
                  <a:latin typeface="Calibri (MS)"/>
                  <a:ea typeface="Calibri (MS)"/>
                  <a:cs typeface="Calibri (MS)"/>
                  <a:sym typeface="Calibri (MS)"/>
                </a:rPr>
                <a:t>        if (r.requiereNuevoLogin())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String formatear(double valor) {</a:t>
              </a:r>
            </a:p>
            <a:p>
              <a:pPr algn="l">
                <a:lnSpc>
                  <a:spcPts val="1800"/>
                </a:lnSpc>
              </a:pPr>
              <a:r>
                <a:rPr lang="en-US" sz="1500">
                  <a:solidFill>
                    <a:srgbClr val="4F81BD"/>
                  </a:solidFill>
                  <a:latin typeface="Calibri (MS)"/>
                  <a:ea typeface="Calibri (MS)"/>
                  <a:cs typeface="Calibri (MS)"/>
                  <a:sym typeface="Calibri (MS)"/>
                </a:rPr>
                <a:t>        BigDecimal b = BigDecimal.valueOf(valor).setScale(10, RoundingMode.HALF_UP).stripTrailingZeros();</a:t>
              </a:r>
            </a:p>
            <a:p>
              <a:pPr algn="l">
                <a:lnSpc>
                  <a:spcPts val="1800"/>
                </a:lnSpc>
              </a:pPr>
              <a:r>
                <a:rPr lang="en-US" sz="1500">
                  <a:solidFill>
                    <a:srgbClr val="4F81BD"/>
                  </a:solidFill>
                  <a:latin typeface="Calibri (MS)"/>
                  <a:ea typeface="Calibri (MS)"/>
                  <a:cs typeface="Calibri (MS)"/>
                  <a:sym typeface="Calibri (MS)"/>
                </a:rPr>
                <a:t>        return b.scale() &lt; 0 ? b.setScale(0).toPlainString() : b.toPlainString();</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846320"/>
            <a:chOff x="0" y="0"/>
            <a:chExt cx="12278360" cy="6461760"/>
          </a:xfrm>
        </p:grpSpPr>
        <p:sp>
          <p:nvSpPr>
            <p:cNvPr name="Freeform 18" id="18"/>
            <p:cNvSpPr/>
            <p:nvPr/>
          </p:nvSpPr>
          <p:spPr>
            <a:xfrm flipH="false" flipV="false" rot="0">
              <a:off x="0" y="0"/>
              <a:ext cx="12278360" cy="6461760"/>
            </a:xfrm>
            <a:custGeom>
              <a:avLst/>
              <a:gdLst/>
              <a:ahLst/>
              <a:cxnLst/>
              <a:rect r="r" b="b" t="t" l="l"/>
              <a:pathLst>
                <a:path h="6461760" w="12278360">
                  <a:moveTo>
                    <a:pt x="0" y="0"/>
                  </a:moveTo>
                  <a:lnTo>
                    <a:pt x="12278360" y="0"/>
                  </a:lnTo>
                  <a:lnTo>
                    <a:pt x="12278360" y="6461760"/>
                  </a:lnTo>
                  <a:lnTo>
                    <a:pt x="0" y="64617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64998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ec.edu.monster.clienteescritorio.vista;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LoginFrame extends JFrame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JTextField txtUsuario = new JTextField(26);</a:t>
              </a:r>
            </a:p>
            <a:p>
              <a:pPr algn="l">
                <a:lnSpc>
                  <a:spcPts val="1800"/>
                </a:lnSpc>
              </a:pPr>
              <a:r>
                <a:rPr lang="en-US" sz="1500">
                  <a:solidFill>
                    <a:srgbClr val="4F81BD"/>
                  </a:solidFill>
                  <a:latin typeface="Calibri (MS)"/>
                  <a:ea typeface="Calibri (MS)"/>
                  <a:cs typeface="Calibri (MS)"/>
                  <a:sym typeface="Calibri (MS)"/>
                </a:rPr>
                <a:t>    private final JPasswordField txtClave = new JPasswordField(26);</a:t>
              </a:r>
            </a:p>
            <a:p>
              <a:pPr algn="l">
                <a:lnSpc>
                  <a:spcPts val="1800"/>
                </a:lnSpc>
              </a:pPr>
              <a:r>
                <a:rPr lang="en-US" sz="1500">
                  <a:solidFill>
                    <a:srgbClr val="4F81BD"/>
                  </a:solidFill>
                  <a:latin typeface="Calibri (MS)"/>
                  <a:ea typeface="Calibri (MS)"/>
                  <a:cs typeface="Calibri (MS)"/>
                  <a:sym typeface="Calibri (MS)"/>
                </a:rPr>
                <a:t>    private final JTextField txtServidor = new JTextField(ControladorConversiones.urlPorDefecto(), 26);</a:t>
              </a:r>
            </a:p>
            <a:p>
              <a:pPr algn="l">
                <a:lnSpc>
                  <a:spcPts val="1800"/>
                </a:lnSpc>
              </a:pPr>
              <a:r>
                <a:rPr lang="en-US" sz="1500">
                  <a:solidFill>
                    <a:srgbClr val="4F81BD"/>
                  </a:solidFill>
                  <a:latin typeface="Calibri (MS)"/>
                  <a:ea typeface="Calibri (MS)"/>
                  <a:cs typeface="Calibri (MS)"/>
                  <a:sym typeface="Calibri (MS)"/>
                </a:rPr>
                <a:t>    private final JLabel lblEstado = new JLabel(" ", SwingConstants.CENTER);</a:t>
              </a:r>
            </a:p>
            <a:p>
              <a:pPr algn="l">
                <a:lnSpc>
                  <a:spcPts val="1800"/>
                </a:lnSpc>
              </a:pPr>
              <a:r>
                <a:rPr lang="en-US" sz="1500">
                  <a:solidFill>
                    <a:srgbClr val="4F81BD"/>
                  </a:solidFill>
                  <a:latin typeface="Calibri (MS)"/>
                  <a:ea typeface="Calibri (MS)"/>
                  <a:cs typeface="Calibri (MS)"/>
                  <a:sym typeface="Calibri (MS)"/>
                </a:rPr>
                <a:t>    private final javax.swing.JButton btnIngresar = Estilo.boton("Iniciar sesión");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LoginFrame() {</a:t>
              </a:r>
            </a:p>
            <a:p>
              <a:pPr algn="l">
                <a:lnSpc>
                  <a:spcPts val="1800"/>
                </a:lnSpc>
              </a:pPr>
              <a:r>
                <a:rPr lang="en-US" sz="1500">
                  <a:solidFill>
                    <a:srgbClr val="4F81BD"/>
                  </a:solidFill>
                  <a:latin typeface="Calibri (MS)"/>
                  <a:ea typeface="Calibri (MS)"/>
                  <a:cs typeface="Calibri (MS)"/>
                  <a:sym typeface="Calibri (MS)"/>
                </a:rPr>
                <a:t>        super("Conversión de Unidades Monster - Iniciar sesión");</a:t>
              </a:r>
            </a:p>
            <a:p>
              <a:pPr algn="l">
                <a:lnSpc>
                  <a:spcPts val="1800"/>
                </a:lnSpc>
              </a:pPr>
              <a:r>
                <a:rPr lang="en-US" sz="1500">
                  <a:solidFill>
                    <a:srgbClr val="4F81BD"/>
                  </a:solidFill>
                  <a:latin typeface="Calibri (MS)"/>
                  <a:ea typeface="Calibri (MS)"/>
                  <a:cs typeface="Calibri (MS)"/>
                  <a:sym typeface="Calibri (MS)"/>
                </a:rPr>
                <a:t>        setDefaultCloseOperation(WindowConstants.EXIT_ON_CLOSE);</a:t>
              </a:r>
            </a:p>
            <a:p>
              <a:pPr algn="l">
                <a:lnSpc>
                  <a:spcPts val="1800"/>
                </a:lnSpc>
              </a:pPr>
              <a:r>
                <a:rPr lang="en-US" sz="1500">
                  <a:solidFill>
                    <a:srgbClr val="4F81BD"/>
                  </a:solidFill>
                  <a:latin typeface="Calibri (MS)"/>
                  <a:ea typeface="Calibri (MS)"/>
                  <a:cs typeface="Calibri (MS)"/>
                  <a:sym typeface="Calibri (MS)"/>
                </a:rPr>
                <a:t>        JPanel fondo = new JPanel(new BorderLayout());</a:t>
              </a:r>
            </a:p>
            <a:p>
              <a:pPr algn="l">
                <a:lnSpc>
                  <a:spcPts val="1800"/>
                </a:lnSpc>
              </a:pPr>
              <a:r>
                <a:rPr lang="en-US" sz="1500">
                  <a:solidFill>
                    <a:srgbClr val="4F81BD"/>
                  </a:solidFill>
                  <a:latin typeface="Calibri (MS)"/>
                  <a:ea typeface="Calibri (MS)"/>
                  <a:cs typeface="Calibri (MS)"/>
                  <a:sym typeface="Calibri (MS)"/>
                </a:rPr>
                <a:t>        fondo.setBackground(Estilo.FONDO);</a:t>
              </a:r>
            </a:p>
            <a:p>
              <a:pPr algn="l">
                <a:lnSpc>
                  <a:spcPts val="1800"/>
                </a:lnSpc>
              </a:pPr>
              <a:r>
                <a:rPr lang="en-US" sz="1500">
                  <a:solidFill>
                    <a:srgbClr val="4F81BD"/>
                  </a:solidFill>
                  <a:latin typeface="Calibri (MS)"/>
                  <a:ea typeface="Calibri (MS)"/>
                  <a:cs typeface="Calibri (MS)"/>
                  <a:sym typeface="Calibri (MS)"/>
                </a:rPr>
                <a:t>        fondo.setBorder(new EmptyBorder(16, 20, 16, 20));</a:t>
              </a:r>
            </a:p>
            <a:p>
              <a:pPr algn="l">
                <a:lnSpc>
                  <a:spcPts val="1800"/>
                </a:lnSpc>
              </a:pPr>
              <a:r>
                <a:rPr lang="en-US" sz="1500">
                  <a:solidFill>
                    <a:srgbClr val="4F81BD"/>
                  </a:solidFill>
                  <a:latin typeface="Calibri (MS)"/>
                  <a:ea typeface="Calibri (MS)"/>
                  <a:cs typeface="Calibri (MS)"/>
                  <a:sym typeface="Calibri (MS)"/>
                </a:rPr>
                <a:t>        JPanel raiz = Estilo.tarjeta(new BorderLayout(0, 10));</a:t>
              </a:r>
            </a:p>
            <a:p>
              <a:pPr algn="l">
                <a:lnSpc>
                  <a:spcPts val="1800"/>
                </a:lnSpc>
              </a:pPr>
              <a:r>
                <a:rPr lang="en-US" sz="1500">
                  <a:solidFill>
                    <a:srgbClr val="4F81BD"/>
                  </a:solidFill>
                  <a:latin typeface="Calibri (MS)"/>
                  <a:ea typeface="Calibri (MS)"/>
                  <a:cs typeface="Calibri (MS)"/>
                  <a:sym typeface="Calibri (MS)"/>
                </a:rPr>
                <a:t>        fondo.add(raiz, BorderLayout.CENTER);</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JPanel cabecera = new JPanel(new BorderLayout(0, 6));</a:t>
              </a:r>
            </a:p>
            <a:p>
              <a:pPr algn="l">
                <a:lnSpc>
                  <a:spcPts val="1800"/>
                </a:lnSpc>
              </a:pPr>
              <a:r>
                <a:rPr lang="en-US" sz="1500">
                  <a:solidFill>
                    <a:srgbClr val="4F81BD"/>
                  </a:solidFill>
                  <a:latin typeface="Calibri (MS)"/>
                  <a:ea typeface="Calibri (MS)"/>
                  <a:cs typeface="Calibri (MS)"/>
                  <a:sym typeface="Calibri (MS)"/>
                </a:rPr>
                <a:t>        cabecera.setOpaque(false);</a:t>
              </a:r>
            </a:p>
            <a:p>
              <a:pPr algn="l">
                <a:lnSpc>
                  <a:spcPts val="1800"/>
                </a:lnSpc>
              </a:pPr>
              <a:r>
                <a:rPr lang="en-US" sz="1500">
                  <a:solidFill>
                    <a:srgbClr val="4F81BD"/>
                  </a:solidFill>
                  <a:latin typeface="Calibri (MS)"/>
                  <a:ea typeface="Calibri (MS)"/>
                  <a:cs typeface="Calibri (MS)"/>
                  <a:sym typeface="Calibri (MS)"/>
                </a:rPr>
                <a:t>        ImageIcon icono = Estilo.banner(400);</a:t>
              </a:r>
            </a:p>
            <a:p>
              <a:pPr algn="l">
                <a:lnSpc>
                  <a:spcPts val="1800"/>
                </a:lnSpc>
              </a:pPr>
              <a:r>
                <a:rPr lang="en-US" sz="1500">
                  <a:solidFill>
                    <a:srgbClr val="4F81BD"/>
                  </a:solidFill>
                  <a:latin typeface="Calibri (MS)"/>
                  <a:ea typeface="Calibri (MS)"/>
                  <a:cs typeface="Calibri (MS)"/>
                  <a:sym typeface="Calibri (MS)"/>
                </a:rPr>
                <a:t>        if (icono != null) {</a:t>
              </a:r>
            </a:p>
            <a:p>
              <a:pPr algn="l">
                <a:lnSpc>
                  <a:spcPts val="1800"/>
                </a:lnSpc>
              </a:pPr>
              <a:r>
                <a:rPr lang="en-US" sz="1500">
                  <a:solidFill>
                    <a:srgbClr val="4F81BD"/>
                  </a:solidFill>
                  <a:latin typeface="Calibri (MS)"/>
                  <a:ea typeface="Calibri (MS)"/>
                  <a:cs typeface="Calibri (MS)"/>
                  <a:sym typeface="Calibri (MS)"/>
                </a:rPr>
                <a:t>            cabecera.add(new JLabel(icono), BorderLayout.NORTH);</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JPanel titulos = new JPanel(new BorderLayout(0, 2));</a:t>
              </a:r>
            </a:p>
            <a:p>
              <a:pPr algn="l">
                <a:lnSpc>
                  <a:spcPts val="1800"/>
                </a:lnSpc>
              </a:pPr>
              <a:r>
                <a:rPr lang="en-US" sz="1500">
                  <a:solidFill>
                    <a:srgbClr val="4F81BD"/>
                  </a:solidFill>
                  <a:latin typeface="Calibri (MS)"/>
                  <a:ea typeface="Calibri (MS)"/>
                  <a:cs typeface="Calibri (MS)"/>
                  <a:sym typeface="Calibri (MS)"/>
                </a:rPr>
                <a:t>        titulos.setOpaque(false);</a:t>
              </a:r>
            </a:p>
            <a:p>
              <a:pPr algn="l">
                <a:lnSpc>
                  <a:spcPts val="1800"/>
                </a:lnSpc>
              </a:pPr>
              <a:r>
                <a:rPr lang="en-US" sz="1500">
                  <a:solidFill>
                    <a:srgbClr val="4F81BD"/>
                  </a:solidFill>
                  <a:latin typeface="Calibri (MS)"/>
                  <a:ea typeface="Calibri (MS)"/>
                  <a:cs typeface="Calibri (MS)"/>
                  <a:sym typeface="Calibri (MS)"/>
                </a:rPr>
                <a:t>        titulos.add(Estilo.titulo("Conversión de Unidades Monster"), BorderLayout.NORTH);</a:t>
              </a:r>
            </a:p>
            <a:p>
              <a:pPr algn="l">
                <a:lnSpc>
                  <a:spcPts val="1800"/>
                </a:lnSpc>
              </a:pPr>
              <a:r>
                <a:rPr lang="en-US" sz="1500">
                  <a:solidFill>
                    <a:srgbClr val="4F81BD"/>
                  </a:solidFill>
                  <a:latin typeface="Calibri (MS)"/>
                  <a:ea typeface="Calibri (MS)"/>
                  <a:cs typeface="Calibri (MS)"/>
                  <a:sym typeface="Calibri (MS)"/>
                </a:rPr>
                <a:t>        titulos.add(Estilo.subtitulo("Longitud · Masa · Temperatura"), BorderLayout.CENTER);</a:t>
              </a:r>
            </a:p>
            <a:p>
              <a:pPr algn="l">
                <a:lnSpc>
                  <a:spcPts val="1800"/>
                </a:lnSpc>
              </a:pPr>
              <a:r>
                <a:rPr lang="en-US" sz="1500">
                  <a:solidFill>
                    <a:srgbClr val="4F81BD"/>
                  </a:solidFill>
                  <a:latin typeface="Calibri (MS)"/>
                  <a:ea typeface="Calibri (MS)"/>
                  <a:cs typeface="Calibri (MS)"/>
                  <a:sym typeface="Calibri (MS)"/>
                </a:rPr>
                <a:t>        cabecera.add(titulos, BorderLayout.CENTER);</a:t>
              </a:r>
            </a:p>
            <a:p>
              <a:pPr algn="l">
                <a:lnSpc>
                  <a:spcPts val="1800"/>
                </a:lnSpc>
              </a:pPr>
              <a:r>
                <a:rPr lang="en-US" sz="1500">
                  <a:solidFill>
                    <a:srgbClr val="4F81BD"/>
                  </a:solidFill>
                  <a:latin typeface="Calibri (MS)"/>
                  <a:ea typeface="Calibri (MS)"/>
                  <a:cs typeface="Calibri (MS)"/>
                  <a:sym typeface="Calibri (MS)"/>
                </a:rPr>
                <a:t>        raiz.add(cabecera, BorderLayout.NORTH);</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JPanel form = new JPanel(new GridBagLayout());</a:t>
              </a:r>
            </a:p>
            <a:p>
              <a:pPr algn="l">
                <a:lnSpc>
                  <a:spcPts val="1800"/>
                </a:lnSpc>
              </a:pPr>
              <a:r>
                <a:rPr lang="en-US" sz="1500">
                  <a:solidFill>
                    <a:srgbClr val="4F81BD"/>
                  </a:solidFill>
                  <a:latin typeface="Calibri (MS)"/>
                  <a:ea typeface="Calibri (MS)"/>
                  <a:cs typeface="Calibri (MS)"/>
                  <a:sym typeface="Calibri (MS)"/>
                </a:rPr>
                <a:t>        form.setOpaque(false);</a:t>
              </a:r>
            </a:p>
            <a:p>
              <a:pPr algn="l">
                <a:lnSpc>
                  <a:spcPts val="1800"/>
                </a:lnSpc>
              </a:pPr>
              <a:r>
                <a:rPr lang="en-US" sz="1500">
                  <a:solidFill>
                    <a:srgbClr val="4F81BD"/>
                  </a:solidFill>
                  <a:latin typeface="Calibri (MS)"/>
                  <a:ea typeface="Calibri (MS)"/>
                  <a:cs typeface="Calibri (MS)"/>
                  <a:sym typeface="Calibri (MS)"/>
                </a:rPr>
                <a:t>        GridBagConstraints c = new GridBagConstraints();</a:t>
              </a:r>
            </a:p>
            <a:p>
              <a:pPr algn="l">
                <a:lnSpc>
                  <a:spcPts val="1800"/>
                </a:lnSpc>
              </a:pPr>
              <a:r>
                <a:rPr lang="en-US" sz="1500">
                  <a:solidFill>
                    <a:srgbClr val="4F81BD"/>
                  </a:solidFill>
                  <a:latin typeface="Calibri (MS)"/>
                  <a:ea typeface="Calibri (MS)"/>
                  <a:cs typeface="Calibri (MS)"/>
                  <a:sym typeface="Calibri (MS)"/>
                </a:rPr>
                <a:t>        c.insets = new Insets(5, 4, 5, 4);</a:t>
              </a:r>
            </a:p>
            <a:p>
              <a:pPr algn="l">
                <a:lnSpc>
                  <a:spcPts val="1800"/>
                </a:lnSpc>
              </a:pPr>
              <a:r>
                <a:rPr lang="en-US" sz="1500">
                  <a:solidFill>
                    <a:srgbClr val="4F81BD"/>
                  </a:solidFill>
                  <a:latin typeface="Calibri (MS)"/>
                  <a:ea typeface="Calibri (MS)"/>
                  <a:cs typeface="Calibri (MS)"/>
                  <a:sym typeface="Calibri (MS)"/>
                </a:rPr>
                <a:t>        c.anchor = GridBagConstraints.WEST;</a:t>
              </a:r>
            </a:p>
            <a:p>
              <a:pPr algn="l">
                <a:lnSpc>
                  <a:spcPts val="1800"/>
                </a:lnSpc>
              </a:pPr>
              <a:r>
                <a:rPr lang="en-US" sz="1500">
                  <a:solidFill>
                    <a:srgbClr val="4F81BD"/>
                  </a:solidFill>
                  <a:latin typeface="Calibri (MS)"/>
                  <a:ea typeface="Calibri (MS)"/>
                  <a:cs typeface="Calibri (MS)"/>
                  <a:sym typeface="Calibri (MS)"/>
                </a:rPr>
                <a:t>        agregar(form, c, 0, "Usuario", txtUsuario);</a:t>
              </a:r>
            </a:p>
            <a:p>
              <a:pPr algn="l">
                <a:lnSpc>
                  <a:spcPts val="1800"/>
                </a:lnSpc>
              </a:pPr>
              <a:r>
                <a:rPr lang="en-US" sz="1500">
                  <a:solidFill>
                    <a:srgbClr val="4F81BD"/>
                  </a:solidFill>
                  <a:latin typeface="Calibri (MS)"/>
                  <a:ea typeface="Calibri (MS)"/>
                  <a:cs typeface="Calibri (MS)"/>
                  <a:sym typeface="Calibri (MS)"/>
                </a:rPr>
                <a:t>        agregar(form, c, 1, "Clave", txtClave);</a:t>
              </a:r>
            </a:p>
            <a:p>
              <a:pPr algn="l">
                <a:lnSpc>
                  <a:spcPts val="1800"/>
                </a:lnSpc>
              </a:pPr>
              <a:r>
                <a:rPr lang="en-US" sz="1500">
                  <a:solidFill>
                    <a:srgbClr val="4F81BD"/>
                  </a:solidFill>
                  <a:latin typeface="Calibri (MS)"/>
                  <a:ea typeface="Calibri (MS)"/>
                  <a:cs typeface="Calibri (MS)"/>
                  <a:sym typeface="Calibri (MS)"/>
                </a:rPr>
                <a:t>        agregar(form, c, 2, "Servidor", txtServidor);</a:t>
              </a:r>
            </a:p>
            <a:p>
              <a:pPr algn="l">
                <a:lnSpc>
                  <a:spcPts val="1800"/>
                </a:lnSpc>
              </a:pPr>
              <a:r>
                <a:rPr lang="en-US" sz="1500">
                  <a:solidFill>
                    <a:srgbClr val="4F81BD"/>
                  </a:solidFill>
                  <a:latin typeface="Calibri (MS)"/>
                  <a:ea typeface="Calibri (MS)"/>
                  <a:cs typeface="Calibri (MS)"/>
                  <a:sym typeface="Calibri (MS)"/>
                </a:rPr>
                <a:t>        raiz.add(form, BorderLayout.CENTER);</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684270"/>
            <a:chOff x="0" y="0"/>
            <a:chExt cx="12278360" cy="4912360"/>
          </a:xfrm>
        </p:grpSpPr>
        <p:sp>
          <p:nvSpPr>
            <p:cNvPr name="Freeform 18" id="18"/>
            <p:cNvSpPr/>
            <p:nvPr/>
          </p:nvSpPr>
          <p:spPr>
            <a:xfrm flipH="false" flipV="false" rot="0">
              <a:off x="0" y="0"/>
              <a:ext cx="12278360" cy="4912360"/>
            </a:xfrm>
            <a:custGeom>
              <a:avLst/>
              <a:gdLst/>
              <a:ahLst/>
              <a:cxnLst/>
              <a:rect r="r" b="b" t="t" l="l"/>
              <a:pathLst>
                <a:path h="4912360" w="12278360">
                  <a:moveTo>
                    <a:pt x="0" y="0"/>
                  </a:moveTo>
                  <a:lnTo>
                    <a:pt x="12278360" y="0"/>
                  </a:lnTo>
                  <a:lnTo>
                    <a:pt x="12278360" y="4912360"/>
                  </a:lnTo>
                  <a:lnTo>
                    <a:pt x="0" y="49123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9504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JPanel sur = new JPanel(new BorderLayout(0, 6));</a:t>
              </a:r>
            </a:p>
            <a:p>
              <a:pPr algn="l">
                <a:lnSpc>
                  <a:spcPts val="1800"/>
                </a:lnSpc>
              </a:pPr>
              <a:r>
                <a:rPr lang="en-US" sz="1500">
                  <a:solidFill>
                    <a:srgbClr val="4F81BD"/>
                  </a:solidFill>
                  <a:latin typeface="Calibri (MS)"/>
                  <a:ea typeface="Calibri (MS)"/>
                  <a:cs typeface="Calibri (MS)"/>
                  <a:sym typeface="Calibri (MS)"/>
                </a:rPr>
                <a:t>        sur.setOpaque(false);</a:t>
              </a:r>
            </a:p>
            <a:p>
              <a:pPr algn="l">
                <a:lnSpc>
                  <a:spcPts val="1800"/>
                </a:lnSpc>
              </a:pPr>
              <a:r>
                <a:rPr lang="en-US" sz="1500">
                  <a:solidFill>
                    <a:srgbClr val="4F81BD"/>
                  </a:solidFill>
                  <a:latin typeface="Calibri (MS)"/>
                  <a:ea typeface="Calibri (MS)"/>
                  <a:cs typeface="Calibri (MS)"/>
                  <a:sym typeface="Calibri (MS)"/>
                </a:rPr>
                <a:t>        JPanel boton = new JPanel();</a:t>
              </a:r>
            </a:p>
            <a:p>
              <a:pPr algn="l">
                <a:lnSpc>
                  <a:spcPts val="1800"/>
                </a:lnSpc>
              </a:pPr>
              <a:r>
                <a:rPr lang="en-US" sz="1500">
                  <a:solidFill>
                    <a:srgbClr val="4F81BD"/>
                  </a:solidFill>
                  <a:latin typeface="Calibri (MS)"/>
                  <a:ea typeface="Calibri (MS)"/>
                  <a:cs typeface="Calibri (MS)"/>
                  <a:sym typeface="Calibri (MS)"/>
                </a:rPr>
                <a:t>        boton.setOpaque(false);</a:t>
              </a:r>
            </a:p>
            <a:p>
              <a:pPr algn="l">
                <a:lnSpc>
                  <a:spcPts val="1800"/>
                </a:lnSpc>
              </a:pPr>
              <a:r>
                <a:rPr lang="en-US" sz="1500">
                  <a:solidFill>
                    <a:srgbClr val="4F81BD"/>
                  </a:solidFill>
                  <a:latin typeface="Calibri (MS)"/>
                  <a:ea typeface="Calibri (MS)"/>
                  <a:cs typeface="Calibri (MS)"/>
                  <a:sym typeface="Calibri (MS)"/>
                </a:rPr>
                <a:t>        boton.add(btnIngresar);</a:t>
              </a:r>
            </a:p>
            <a:p>
              <a:pPr algn="l">
                <a:lnSpc>
                  <a:spcPts val="1800"/>
                </a:lnSpc>
              </a:pPr>
              <a:r>
                <a:rPr lang="en-US" sz="1500">
                  <a:solidFill>
                    <a:srgbClr val="4F81BD"/>
                  </a:solidFill>
                  <a:latin typeface="Calibri (MS)"/>
                  <a:ea typeface="Calibri (MS)"/>
                  <a:cs typeface="Calibri (MS)"/>
                  <a:sym typeface="Calibri (MS)"/>
                </a:rPr>
                <a:t>        sur.add(boton, BorderLayout.NORTH);</a:t>
              </a:r>
            </a:p>
            <a:p>
              <a:pPr algn="l">
                <a:lnSpc>
                  <a:spcPts val="1800"/>
                </a:lnSpc>
              </a:pPr>
              <a:r>
                <a:rPr lang="en-US" sz="1500">
                  <a:solidFill>
                    <a:srgbClr val="4F81BD"/>
                  </a:solidFill>
                  <a:latin typeface="Calibri (MS)"/>
                  <a:ea typeface="Calibri (MS)"/>
                  <a:cs typeface="Calibri (MS)"/>
                  <a:sym typeface="Calibri (MS)"/>
                </a:rPr>
                <a:t>        lblEstado.setFont(Estilo.fuente(Font.PLAIN, 13));</a:t>
              </a:r>
            </a:p>
            <a:p>
              <a:pPr algn="l">
                <a:lnSpc>
                  <a:spcPts val="1800"/>
                </a:lnSpc>
              </a:pPr>
              <a:r>
                <a:rPr lang="en-US" sz="1500">
                  <a:solidFill>
                    <a:srgbClr val="4F81BD"/>
                  </a:solidFill>
                  <a:latin typeface="Calibri (MS)"/>
                  <a:ea typeface="Calibri (MS)"/>
                  <a:cs typeface="Calibri (MS)"/>
                  <a:sym typeface="Calibri (MS)"/>
                </a:rPr>
                <a:t>        sur.add(lblEstado, BorderLayout.CENTER);</a:t>
              </a:r>
            </a:p>
            <a:p>
              <a:pPr algn="l">
                <a:lnSpc>
                  <a:spcPts val="1800"/>
                </a:lnSpc>
              </a:pPr>
              <a:r>
                <a:rPr lang="en-US" sz="1500">
                  <a:solidFill>
                    <a:srgbClr val="4F81BD"/>
                  </a:solidFill>
                  <a:latin typeface="Calibri (MS)"/>
                  <a:ea typeface="Calibri (MS)"/>
                  <a:cs typeface="Calibri (MS)"/>
                  <a:sym typeface="Calibri (MS)"/>
                </a:rPr>
                <a:t>        raiz.add(sur, BorderLayout.SOUTH);</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Estilo.estilizarCampo(txtUsuario);</a:t>
              </a:r>
            </a:p>
            <a:p>
              <a:pPr algn="l">
                <a:lnSpc>
                  <a:spcPts val="1800"/>
                </a:lnSpc>
              </a:pPr>
              <a:r>
                <a:rPr lang="en-US" sz="1500">
                  <a:solidFill>
                    <a:srgbClr val="4F81BD"/>
                  </a:solidFill>
                  <a:latin typeface="Calibri (MS)"/>
                  <a:ea typeface="Calibri (MS)"/>
                  <a:cs typeface="Calibri (MS)"/>
                  <a:sym typeface="Calibri (MS)"/>
                </a:rPr>
                <a:t>        Estilo.estilizarCampo(txtClave);</a:t>
              </a:r>
            </a:p>
            <a:p>
              <a:pPr algn="l">
                <a:lnSpc>
                  <a:spcPts val="1800"/>
                </a:lnSpc>
              </a:pPr>
              <a:r>
                <a:rPr lang="en-US" sz="1500">
                  <a:solidFill>
                    <a:srgbClr val="4F81BD"/>
                  </a:solidFill>
                  <a:latin typeface="Calibri (MS)"/>
                  <a:ea typeface="Calibri (MS)"/>
                  <a:cs typeface="Calibri (MS)"/>
                  <a:sym typeface="Calibri (MS)"/>
                </a:rPr>
                <a:t>        Estilo.estilizarCampo(txtServidor);</a:t>
              </a:r>
            </a:p>
            <a:p>
              <a:pPr algn="l">
                <a:lnSpc>
                  <a:spcPts val="1800"/>
                </a:lnSpc>
              </a:pPr>
              <a:r>
                <a:rPr lang="en-US" sz="1500">
                  <a:solidFill>
                    <a:srgbClr val="4F81BD"/>
                  </a:solidFill>
                  <a:latin typeface="Calibri (MS)"/>
                  <a:ea typeface="Calibri (MS)"/>
                  <a:cs typeface="Calibri (MS)"/>
                  <a:sym typeface="Calibri (MS)"/>
                </a:rPr>
                <a:t>        setContentPane(fondo);</a:t>
              </a:r>
            </a:p>
          </p:txBody>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conversión (CU-02, CU-03 y CU-04).</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ec.edu.monster.clienteescritorio.vista;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ConversionFrame extends JFrame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ControladorConversiones controlador;</a:t>
              </a:r>
            </a:p>
            <a:p>
              <a:pPr algn="l">
                <a:lnSpc>
                  <a:spcPts val="1800"/>
                </a:lnSpc>
              </a:pPr>
              <a:r>
                <a:rPr lang="en-US" sz="1500">
                  <a:solidFill>
                    <a:srgbClr val="4F81BD"/>
                  </a:solidFill>
                  <a:latin typeface="Calibri (MS)"/>
                  <a:ea typeface="Calibri (MS)"/>
                  <a:cs typeface="Calibri (MS)"/>
                  <a:sym typeface="Calibri (MS)"/>
                </a:rPr>
                <a:t>    private final JComboBox&lt;String&gt; cmbCategoria = new JComboBox&lt;&gt;();</a:t>
              </a:r>
            </a:p>
            <a:p>
              <a:pPr algn="l">
                <a:lnSpc>
                  <a:spcPts val="1800"/>
                </a:lnSpc>
              </a:pPr>
              <a:r>
                <a:rPr lang="en-US" sz="1500">
                  <a:solidFill>
                    <a:srgbClr val="4F81BD"/>
                  </a:solidFill>
                  <a:latin typeface="Calibri (MS)"/>
                  <a:ea typeface="Calibri (MS)"/>
                  <a:cs typeface="Calibri (MS)"/>
                  <a:sym typeface="Calibri (MS)"/>
                </a:rPr>
                <a:t>    private final JComboBox&lt;String&gt; cmbOrigen = new JComboBox&lt;&gt;();</a:t>
              </a:r>
            </a:p>
            <a:p>
              <a:pPr algn="l">
                <a:lnSpc>
                  <a:spcPts val="1800"/>
                </a:lnSpc>
              </a:pPr>
              <a:r>
                <a:rPr lang="en-US" sz="1500">
                  <a:solidFill>
                    <a:srgbClr val="4F81BD"/>
                  </a:solidFill>
                  <a:latin typeface="Calibri (MS)"/>
                  <a:ea typeface="Calibri (MS)"/>
                  <a:cs typeface="Calibri (MS)"/>
                  <a:sym typeface="Calibri (MS)"/>
                </a:rPr>
                <a:t>    private final JComboBox&lt;String&gt; cmbDestino = new JComboBox&lt;&gt;();</a:t>
              </a:r>
            </a:p>
            <a:p>
              <a:pPr algn="l">
                <a:lnSpc>
                  <a:spcPts val="1800"/>
                </a:lnSpc>
              </a:pPr>
              <a:r>
                <a:rPr lang="en-US" sz="1500">
                  <a:solidFill>
                    <a:srgbClr val="4F81BD"/>
                  </a:solidFill>
                  <a:latin typeface="Calibri (MS)"/>
                  <a:ea typeface="Calibri (MS)"/>
                  <a:cs typeface="Calibri (MS)"/>
                  <a:sym typeface="Calibri (MS)"/>
                </a:rPr>
                <a:t>    private final JTextField txtValor = new JTextField(14);</a:t>
              </a:r>
            </a:p>
            <a:p>
              <a:pPr algn="l">
                <a:lnSpc>
                  <a:spcPts val="1800"/>
                </a:lnSpc>
              </a:pPr>
              <a:r>
                <a:rPr lang="en-US" sz="1500">
                  <a:solidFill>
                    <a:srgbClr val="4F81BD"/>
                  </a:solidFill>
                  <a:latin typeface="Calibri (MS)"/>
                  <a:ea typeface="Calibri (MS)"/>
                  <a:cs typeface="Calibri (MS)"/>
                  <a:sym typeface="Calibri (MS)"/>
                </a:rPr>
                <a:t>    private final JLabel lblResultado = new JLabel("Resultado", SwingConstants.CENTER);</a:t>
              </a:r>
            </a:p>
            <a:p>
              <a:pPr algn="l">
                <a:lnSpc>
                  <a:spcPts val="1800"/>
                </a:lnSpc>
              </a:pPr>
              <a:r>
                <a:rPr lang="en-US" sz="1500">
                  <a:solidFill>
                    <a:srgbClr val="4F81BD"/>
                  </a:solidFill>
                  <a:latin typeface="Calibri (MS)"/>
                  <a:ea typeface="Calibri (MS)"/>
                  <a:cs typeface="Calibri (MS)"/>
                  <a:sym typeface="Calibri (MS)"/>
                </a:rPr>
                <a:t>    private final JLabel lblEstado = new JLabel(" ", SwingConstants.CENTER);</a:t>
              </a:r>
            </a:p>
            <a:p>
              <a:pPr algn="l">
                <a:lnSpc>
                  <a:spcPts val="1800"/>
                </a:lnSpc>
              </a:pPr>
              <a:r>
                <a:rPr lang="en-US" sz="1500">
                  <a:solidFill>
                    <a:srgbClr val="4F81BD"/>
                  </a:solidFill>
                  <a:latin typeface="Calibri (MS)"/>
                  <a:ea typeface="Calibri (MS)"/>
                  <a:cs typeface="Calibri (MS)"/>
                  <a:sym typeface="Calibri (MS)"/>
                </a:rPr>
                <a:t>    private final JButton btnConvertir = Estilo.boton("Convertir");</a:t>
              </a:r>
            </a:p>
            <a:p>
              <a:pPr algn="l">
                <a:lnSpc>
                  <a:spcPts val="1800"/>
                </a:lnSpc>
              </a:pPr>
              <a:r>
                <a:rPr lang="en-US" sz="1500">
                  <a:solidFill>
                    <a:srgbClr val="4F81BD"/>
                  </a:solidFill>
                  <a:latin typeface="Calibri (MS)"/>
                  <a:ea typeface="Calibri (MS)"/>
                  <a:cs typeface="Calibri (MS)"/>
                  <a:sym typeface="Calibri (MS)"/>
                </a:rPr>
                <a:t>    private final JButton btnIntercambiar = Estilo.boton("Intercambiar");</a:t>
              </a:r>
            </a:p>
            <a:p>
              <a:pPr algn="l">
                <a:lnSpc>
                  <a:spcPts val="1800"/>
                </a:lnSpc>
              </a:pPr>
              <a:r>
                <a:rPr lang="en-US" sz="1500">
                  <a:solidFill>
                    <a:srgbClr val="4F81BD"/>
                  </a:solidFill>
                  <a:latin typeface="Calibri (MS)"/>
                  <a:ea typeface="Calibri (MS)"/>
                  <a:cs typeface="Calibri (MS)"/>
                  <a:sym typeface="Calibri (MS)"/>
                </a:rPr>
                <a:t>    private boolean cargando;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ConversionFrame(ControladorConversiones controlador) {</a:t>
              </a:r>
            </a:p>
            <a:p>
              <a:pPr algn="l">
                <a:lnSpc>
                  <a:spcPts val="1800"/>
                </a:lnSpc>
              </a:pPr>
              <a:r>
                <a:rPr lang="en-US" sz="1500">
                  <a:solidFill>
                    <a:srgbClr val="4F81BD"/>
                  </a:solidFill>
                  <a:latin typeface="Calibri (MS)"/>
                  <a:ea typeface="Calibri (MS)"/>
                  <a:cs typeface="Calibri (MS)"/>
                  <a:sym typeface="Calibri (MS)"/>
                </a:rPr>
                <a:t>        super("Conversión de Unidades Monster");</a:t>
              </a:r>
            </a:p>
            <a:p>
              <a:pPr algn="l">
                <a:lnSpc>
                  <a:spcPts val="1800"/>
                </a:lnSpc>
              </a:pPr>
              <a:r>
                <a:rPr lang="en-US" sz="1500">
                  <a:solidFill>
                    <a:srgbClr val="4F81BD"/>
                  </a:solidFill>
                  <a:latin typeface="Calibri (MS)"/>
                  <a:ea typeface="Calibri (MS)"/>
                  <a:cs typeface="Calibri (MS)"/>
                  <a:sym typeface="Calibri (MS)"/>
                </a:rPr>
                <a:t>        this.controlador = controlador;</a:t>
              </a:r>
            </a:p>
            <a:p>
              <a:pPr algn="l">
                <a:lnSpc>
                  <a:spcPts val="1800"/>
                </a:lnSpc>
              </a:pPr>
              <a:r>
                <a:rPr lang="en-US" sz="1500">
                  <a:solidFill>
                    <a:srgbClr val="4F81BD"/>
                  </a:solidFill>
                  <a:latin typeface="Calibri (MS)"/>
                  <a:ea typeface="Calibri (MS)"/>
                  <a:cs typeface="Calibri (MS)"/>
                  <a:sym typeface="Calibri (MS)"/>
                </a:rPr>
                <a:t>        setDefaultCloseOperation(WindowConstants.EXIT_ON_CLOSE);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JPanel raiz = new JPanel(new BorderLayout());</a:t>
              </a:r>
            </a:p>
            <a:p>
              <a:pPr algn="l">
                <a:lnSpc>
                  <a:spcPts val="1800"/>
                </a:lnSpc>
              </a:pPr>
              <a:r>
                <a:rPr lang="en-US" sz="1500">
                  <a:solidFill>
                    <a:srgbClr val="4F81BD"/>
                  </a:solidFill>
                  <a:latin typeface="Calibri (MS)"/>
                  <a:ea typeface="Calibri (MS)"/>
                  <a:cs typeface="Calibri (MS)"/>
                  <a:sym typeface="Calibri (MS)"/>
                </a:rPr>
                <a:t>        raiz.setBackground(Estilo.FONDO);</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conversión (CU-02, CU-03 y CU-04).</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JPanel barra = Estilo.cabecera(new BorderLayout());</a:t>
              </a:r>
            </a:p>
            <a:p>
              <a:pPr algn="l">
                <a:lnSpc>
                  <a:spcPts val="1800"/>
                </a:lnSpc>
              </a:pPr>
              <a:r>
                <a:rPr lang="en-US" sz="1500">
                  <a:solidFill>
                    <a:srgbClr val="4F81BD"/>
                  </a:solidFill>
                  <a:latin typeface="Calibri (MS)"/>
                  <a:ea typeface="Calibri (MS)"/>
                  <a:cs typeface="Calibri (MS)"/>
                  <a:sym typeface="Calibri (MS)"/>
                </a:rPr>
                <a:t>        JLabel titulo = new JLabel("Conversión de Unidades Monster");</a:t>
              </a:r>
            </a:p>
            <a:p>
              <a:pPr algn="l">
                <a:lnSpc>
                  <a:spcPts val="1800"/>
                </a:lnSpc>
              </a:pPr>
              <a:r>
                <a:rPr lang="en-US" sz="1500">
                  <a:solidFill>
                    <a:srgbClr val="4F81BD"/>
                  </a:solidFill>
                  <a:latin typeface="Calibri (MS)"/>
                  <a:ea typeface="Calibri (MS)"/>
                  <a:cs typeface="Calibri (MS)"/>
                  <a:sym typeface="Calibri (MS)"/>
                </a:rPr>
                <a:t>        titulo.setFont(Estilo.fuente(Font.BOLD, 18));</a:t>
              </a:r>
            </a:p>
            <a:p>
              <a:pPr algn="l">
                <a:lnSpc>
                  <a:spcPts val="1800"/>
                </a:lnSpc>
              </a:pPr>
              <a:r>
                <a:rPr lang="en-US" sz="1500">
                  <a:solidFill>
                    <a:srgbClr val="4F81BD"/>
                  </a:solidFill>
                  <a:latin typeface="Calibri (MS)"/>
                  <a:ea typeface="Calibri (MS)"/>
                  <a:cs typeface="Calibri (MS)"/>
                  <a:sym typeface="Calibri (MS)"/>
                </a:rPr>
                <a:t>        titulo.setForeground(Color.WHITE);</a:t>
              </a:r>
            </a:p>
            <a:p>
              <a:pPr algn="l">
                <a:lnSpc>
                  <a:spcPts val="1800"/>
                </a:lnSpc>
              </a:pPr>
              <a:r>
                <a:rPr lang="en-US" sz="1500">
                  <a:solidFill>
                    <a:srgbClr val="4F81BD"/>
                  </a:solidFill>
                  <a:latin typeface="Calibri (MS)"/>
                  <a:ea typeface="Calibri (MS)"/>
                  <a:cs typeface="Calibri (MS)"/>
                  <a:sym typeface="Calibri (MS)"/>
                </a:rPr>
                <a:t>        barra.add(titulo, BorderLayout.WEST);</a:t>
              </a:r>
            </a:p>
            <a:p>
              <a:pPr algn="l">
                <a:lnSpc>
                  <a:spcPts val="1800"/>
                </a:lnSpc>
              </a:pPr>
              <a:r>
                <a:rPr lang="en-US" sz="1500">
                  <a:solidFill>
                    <a:srgbClr val="4F81BD"/>
                  </a:solidFill>
                  <a:latin typeface="Calibri (MS)"/>
                  <a:ea typeface="Calibri (MS)"/>
                  <a:cs typeface="Calibri (MS)"/>
                  <a:sym typeface="Calibri (MS)"/>
                </a:rPr>
                <a:t>        JButton btnCerrar = Estilo.boton("Cerrar sesión");</a:t>
              </a:r>
            </a:p>
            <a:p>
              <a:pPr algn="l">
                <a:lnSpc>
                  <a:spcPts val="1800"/>
                </a:lnSpc>
              </a:pPr>
              <a:r>
                <a:rPr lang="en-US" sz="1500">
                  <a:solidFill>
                    <a:srgbClr val="4F81BD"/>
                  </a:solidFill>
                  <a:latin typeface="Calibri (MS)"/>
                  <a:ea typeface="Calibri (MS)"/>
                  <a:cs typeface="Calibri (MS)"/>
                  <a:sym typeface="Calibri (MS)"/>
                </a:rPr>
                <a:t>        btnCerrar.setBackground(Estilo.AZUL_CLARO);</a:t>
              </a:r>
            </a:p>
            <a:p>
              <a:pPr algn="l">
                <a:lnSpc>
                  <a:spcPts val="1800"/>
                </a:lnSpc>
              </a:pPr>
              <a:r>
                <a:rPr lang="en-US" sz="1500">
                  <a:solidFill>
                    <a:srgbClr val="4F81BD"/>
                  </a:solidFill>
                  <a:latin typeface="Calibri (MS)"/>
                  <a:ea typeface="Calibri (MS)"/>
                  <a:cs typeface="Calibri (MS)"/>
                  <a:sym typeface="Calibri (MS)"/>
                </a:rPr>
                <a:t>        btnCerrar.setPreferredSize(new Dimension(140, 34));</a:t>
              </a:r>
            </a:p>
            <a:p>
              <a:pPr algn="l">
                <a:lnSpc>
                  <a:spcPts val="1800"/>
                </a:lnSpc>
              </a:pPr>
              <a:r>
                <a:rPr lang="en-US" sz="1500">
                  <a:solidFill>
                    <a:srgbClr val="4F81BD"/>
                  </a:solidFill>
                  <a:latin typeface="Calibri (MS)"/>
                  <a:ea typeface="Calibri (MS)"/>
                  <a:cs typeface="Calibri (MS)"/>
                  <a:sym typeface="Calibri (MS)"/>
                </a:rPr>
                <a:t>        barra.add(btnCerrar, BorderLayout.EAST);</a:t>
              </a:r>
            </a:p>
            <a:p>
              <a:pPr algn="l">
                <a:lnSpc>
                  <a:spcPts val="1800"/>
                </a:lnSpc>
              </a:pPr>
              <a:r>
                <a:rPr lang="en-US" sz="1500">
                  <a:solidFill>
                    <a:srgbClr val="4F81BD"/>
                  </a:solidFill>
                  <a:latin typeface="Calibri (MS)"/>
                  <a:ea typeface="Calibri (MS)"/>
                  <a:cs typeface="Calibri (MS)"/>
                  <a:sym typeface="Calibri (MS)"/>
                </a:rPr>
                <a:t>        raiz.add(barra, BorderLayout.NORTH);</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JPanel centro = new JPanel(new BorderLayout(0, 0));</a:t>
              </a:r>
            </a:p>
            <a:p>
              <a:pPr algn="l">
                <a:lnSpc>
                  <a:spcPts val="1800"/>
                </a:lnSpc>
              </a:pPr>
              <a:r>
                <a:rPr lang="en-US" sz="1500">
                  <a:solidFill>
                    <a:srgbClr val="4F81BD"/>
                  </a:solidFill>
                  <a:latin typeface="Calibri (MS)"/>
                  <a:ea typeface="Calibri (MS)"/>
                  <a:cs typeface="Calibri (MS)"/>
                  <a:sym typeface="Calibri (MS)"/>
                </a:rPr>
                <a:t>        centro.setOpaque(false);</a:t>
              </a:r>
            </a:p>
            <a:p>
              <a:pPr algn="l">
                <a:lnSpc>
                  <a:spcPts val="1800"/>
                </a:lnSpc>
              </a:pPr>
              <a:r>
                <a:rPr lang="en-US" sz="1500">
                  <a:solidFill>
                    <a:srgbClr val="4F81BD"/>
                  </a:solidFill>
                  <a:latin typeface="Calibri (MS)"/>
                  <a:ea typeface="Calibri (MS)"/>
                  <a:cs typeface="Calibri (MS)"/>
                  <a:sym typeface="Calibri (MS)"/>
                </a:rPr>
                <a:t>        centro.setBorder(new EmptyBorder(16, 18, 14, 18));</a:t>
              </a:r>
            </a:p>
            <a:p>
              <a:pPr algn="l">
                <a:lnSpc>
                  <a:spcPts val="1800"/>
                </a:lnSpc>
              </a:pPr>
              <a:r>
                <a:rPr lang="en-US" sz="1500">
                  <a:solidFill>
                    <a:srgbClr val="4F81BD"/>
                  </a:solidFill>
                  <a:latin typeface="Calibri (MS)"/>
                  <a:ea typeface="Calibri (MS)"/>
                  <a:cs typeface="Calibri (MS)"/>
                  <a:sym typeface="Calibri (MS)"/>
                </a:rPr>
                <a:t>        JPanel tarjeta = Estilo.tarjeta(new BorderLayout(0, 10));</a:t>
              </a:r>
            </a:p>
            <a:p>
              <a:pPr algn="l">
                <a:lnSpc>
                  <a:spcPts val="1800"/>
                </a:lnSpc>
              </a:pPr>
              <a:r>
                <a:rPr lang="en-US" sz="1500">
                  <a:solidFill>
                    <a:srgbClr val="4F81BD"/>
                  </a:solidFill>
                  <a:latin typeface="Calibri (MS)"/>
                  <a:ea typeface="Calibri (MS)"/>
                  <a:cs typeface="Calibri (MS)"/>
                  <a:sym typeface="Calibri (MS)"/>
                </a:rPr>
                <a:t>        centro.add(tarjeta, BorderLayout.CENTER);</a:t>
              </a:r>
            </a:p>
            <a:p>
              <a:pPr algn="l">
                <a:lnSpc>
                  <a:spcPts val="1800"/>
                </a:lnSpc>
              </a:pPr>
              <a:r>
                <a:rPr lang="en-US" sz="1500">
                  <a:solidFill>
                    <a:srgbClr val="4F81BD"/>
                  </a:solidFill>
                  <a:latin typeface="Calibri (MS)"/>
                  <a:ea typeface="Calibri (MS)"/>
                  <a:cs typeface="Calibri (MS)"/>
                  <a:sym typeface="Calibri (MS)"/>
                </a:rPr>
                <a:t>        JPanel form = new JPanel(new GridBagLayout());</a:t>
              </a:r>
            </a:p>
            <a:p>
              <a:pPr algn="l">
                <a:lnSpc>
                  <a:spcPts val="1800"/>
                </a:lnSpc>
              </a:pPr>
              <a:r>
                <a:rPr lang="en-US" sz="1500">
                  <a:solidFill>
                    <a:srgbClr val="4F81BD"/>
                  </a:solidFill>
                  <a:latin typeface="Calibri (MS)"/>
                  <a:ea typeface="Calibri (MS)"/>
                  <a:cs typeface="Calibri (MS)"/>
                  <a:sym typeface="Calibri (MS)"/>
                </a:rPr>
                <a:t>        form.setOpaque(false);</a:t>
              </a:r>
            </a:p>
            <a:p>
              <a:pPr algn="l">
                <a:lnSpc>
                  <a:spcPts val="1800"/>
                </a:lnSpc>
              </a:pPr>
              <a:r>
                <a:rPr lang="en-US" sz="1500">
                  <a:solidFill>
                    <a:srgbClr val="4F81BD"/>
                  </a:solidFill>
                  <a:latin typeface="Calibri (MS)"/>
                  <a:ea typeface="Calibri (MS)"/>
                  <a:cs typeface="Calibri (MS)"/>
                  <a:sym typeface="Calibri (MS)"/>
                </a:rPr>
                <a:t>        GridBagConstraints c = new GridBagConstraints();</a:t>
              </a:r>
            </a:p>
            <a:p>
              <a:pPr algn="l">
                <a:lnSpc>
                  <a:spcPts val="1800"/>
                </a:lnSpc>
              </a:pPr>
              <a:r>
                <a:rPr lang="en-US" sz="1500">
                  <a:solidFill>
                    <a:srgbClr val="4F81BD"/>
                  </a:solidFill>
                  <a:latin typeface="Calibri (MS)"/>
                  <a:ea typeface="Calibri (MS)"/>
                  <a:cs typeface="Calibri (MS)"/>
                  <a:sym typeface="Calibri (MS)"/>
                </a:rPr>
                <a:t>        c.insets = new Insets(6, 4, 6, 4);</a:t>
              </a:r>
            </a:p>
            <a:p>
              <a:pPr algn="l">
                <a:lnSpc>
                  <a:spcPts val="1800"/>
                </a:lnSpc>
              </a:pPr>
              <a:r>
                <a:rPr lang="en-US" sz="1500">
                  <a:solidFill>
                    <a:srgbClr val="4F81BD"/>
                  </a:solidFill>
                  <a:latin typeface="Calibri (MS)"/>
                  <a:ea typeface="Calibri (MS)"/>
                  <a:cs typeface="Calibri (MS)"/>
                  <a:sym typeface="Calibri (MS)"/>
                </a:rPr>
                <a:t>        c.anchor = GridBagConstraints.WEST;</a:t>
              </a:r>
            </a:p>
            <a:p>
              <a:pPr algn="l">
                <a:lnSpc>
                  <a:spcPts val="1800"/>
                </a:lnSpc>
              </a:pPr>
              <a:r>
                <a:rPr lang="en-US" sz="1500">
                  <a:solidFill>
                    <a:srgbClr val="4F81BD"/>
                  </a:solidFill>
                  <a:latin typeface="Calibri (MS)"/>
                  <a:ea typeface="Calibri (MS)"/>
                  <a:cs typeface="Calibri (MS)"/>
                  <a:sym typeface="Calibri (MS)"/>
                </a:rPr>
                <a:t>        c.fill = GridBagConstraints.HORIZONTAL;</a:t>
              </a:r>
            </a:p>
            <a:p>
              <a:pPr algn="l">
                <a:lnSpc>
                  <a:spcPts val="1800"/>
                </a:lnSpc>
              </a:pPr>
              <a:r>
                <a:rPr lang="en-US" sz="1500">
                  <a:solidFill>
                    <a:srgbClr val="4F81BD"/>
                  </a:solidFill>
                  <a:latin typeface="Calibri (MS)"/>
                  <a:ea typeface="Calibri (MS)"/>
                  <a:cs typeface="Calibri (MS)"/>
                  <a:sym typeface="Calibri (MS)"/>
                </a:rPr>
                <a:t>        for (JComboBox&lt;String&gt; cmb : List.of(cmbCategoria, cmbOrigen, cmbDestino)) {</a:t>
              </a:r>
            </a:p>
            <a:p>
              <a:pPr algn="l">
                <a:lnSpc>
                  <a:spcPts val="1800"/>
                </a:lnSpc>
              </a:pPr>
              <a:r>
                <a:rPr lang="en-US" sz="1500">
                  <a:solidFill>
                    <a:srgbClr val="4F81BD"/>
                  </a:solidFill>
                  <a:latin typeface="Calibri (MS)"/>
                  <a:ea typeface="Calibri (MS)"/>
                  <a:cs typeface="Calibri (MS)"/>
                  <a:sym typeface="Calibri (MS)"/>
                </a:rPr>
                <a:t>            Estilo.estilizarCombo(cmb);</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Estilo.estilizarCampo(txtValor);</a:t>
              </a:r>
            </a:p>
            <a:p>
              <a:pPr algn="l">
                <a:lnSpc>
                  <a:spcPts val="1800"/>
                </a:lnSpc>
              </a:pPr>
              <a:r>
                <a:rPr lang="en-US" sz="1500">
                  <a:solidFill>
                    <a:srgbClr val="4F81BD"/>
                  </a:solidFill>
                  <a:latin typeface="Calibri (MS)"/>
                  <a:ea typeface="Calibri (MS)"/>
                  <a:cs typeface="Calibri (MS)"/>
                  <a:sym typeface="Calibri (MS)"/>
                </a:rPr>
                <a:t>        fila(form, c, 0, "Categoría", cmbCategoria);</a:t>
              </a:r>
            </a:p>
            <a:p>
              <a:pPr algn="l">
                <a:lnSpc>
                  <a:spcPts val="1800"/>
                </a:lnSpc>
              </a:pPr>
              <a:r>
                <a:rPr lang="en-US" sz="1500">
                  <a:solidFill>
                    <a:srgbClr val="4F81BD"/>
                  </a:solidFill>
                  <a:latin typeface="Calibri (MS)"/>
                  <a:ea typeface="Calibri (MS)"/>
                  <a:cs typeface="Calibri (MS)"/>
                  <a:sym typeface="Calibri (MS)"/>
                </a:rPr>
                <a:t>        fila(form, c, 1, "De", cmbOrigen);</a:t>
              </a: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conversión (CU-02, CU-03 y CU-04).</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1592580"/>
            <a:chOff x="0" y="0"/>
            <a:chExt cx="12278360" cy="2123440"/>
          </a:xfrm>
        </p:grpSpPr>
        <p:sp>
          <p:nvSpPr>
            <p:cNvPr name="Freeform 18" id="18"/>
            <p:cNvSpPr/>
            <p:nvPr/>
          </p:nvSpPr>
          <p:spPr>
            <a:xfrm flipH="false" flipV="false" rot="0">
              <a:off x="0" y="0"/>
              <a:ext cx="12278360" cy="2123440"/>
            </a:xfrm>
            <a:custGeom>
              <a:avLst/>
              <a:gdLst/>
              <a:ahLst/>
              <a:cxnLst/>
              <a:rect r="r" b="b" t="t" l="l"/>
              <a:pathLst>
                <a:path h="2123440" w="12278360">
                  <a:moveTo>
                    <a:pt x="0" y="0"/>
                  </a:moveTo>
                  <a:lnTo>
                    <a:pt x="12278360" y="0"/>
                  </a:lnTo>
                  <a:lnTo>
                    <a:pt x="12278360" y="2123440"/>
                  </a:lnTo>
                  <a:lnTo>
                    <a:pt x="0" y="212344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21615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c.gridx = 1;</a:t>
              </a:r>
            </a:p>
            <a:p>
              <a:pPr algn="l">
                <a:lnSpc>
                  <a:spcPts val="1800"/>
                </a:lnSpc>
              </a:pPr>
              <a:r>
                <a:rPr lang="en-US" sz="1500">
                  <a:solidFill>
                    <a:srgbClr val="4F81BD"/>
                  </a:solidFill>
                  <a:latin typeface="Calibri (MS)"/>
                  <a:ea typeface="Calibri (MS)"/>
                  <a:cs typeface="Calibri (MS)"/>
                  <a:sym typeface="Calibri (MS)"/>
                </a:rPr>
                <a:t>        c.gridy = 2;</a:t>
              </a:r>
            </a:p>
            <a:p>
              <a:pPr algn="l">
                <a:lnSpc>
                  <a:spcPts val="1800"/>
                </a:lnSpc>
              </a:pPr>
              <a:r>
                <a:rPr lang="en-US" sz="1500">
                  <a:solidFill>
                    <a:srgbClr val="4F81BD"/>
                  </a:solidFill>
                  <a:latin typeface="Calibri (MS)"/>
                  <a:ea typeface="Calibri (MS)"/>
                  <a:cs typeface="Calibri (MS)"/>
                  <a:sym typeface="Calibri (MS)"/>
                </a:rPr>
                <a:t>        c.fill = GridBagConstraints.NONE;</a:t>
              </a:r>
            </a:p>
            <a:p>
              <a:pPr algn="l">
                <a:lnSpc>
                  <a:spcPts val="1800"/>
                </a:lnSpc>
              </a:pPr>
              <a:r>
                <a:rPr lang="en-US" sz="1500">
                  <a:solidFill>
                    <a:srgbClr val="4F81BD"/>
                  </a:solidFill>
                  <a:latin typeface="Calibri (MS)"/>
                  <a:ea typeface="Calibri (MS)"/>
                  <a:cs typeface="Calibri (MS)"/>
                  <a:sym typeface="Calibri (MS)"/>
                </a:rPr>
                <a:t>        c.anchor = GridBagConstraints.CENTER;</a:t>
              </a:r>
            </a:p>
            <a:p>
              <a:pPr algn="l">
                <a:lnSpc>
                  <a:spcPts val="1800"/>
                </a:lnSpc>
              </a:pPr>
              <a:r>
                <a:rPr lang="en-US" sz="1500">
                  <a:solidFill>
                    <a:srgbClr val="4F81BD"/>
                  </a:solidFill>
                  <a:latin typeface="Calibri (MS)"/>
                  <a:ea typeface="Calibri (MS)"/>
                  <a:cs typeface="Calibri (MS)"/>
                  <a:sym typeface="Calibri (MS)"/>
                </a:rPr>
                <a:t>        btnIntercambiar.setPreferredSize(new Dimension(160, 34));</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login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6656461" y="2880360"/>
            <a:ext cx="6163799" cy="6720840"/>
            <a:chOff x="0" y="0"/>
            <a:chExt cx="8218399" cy="8961120"/>
          </a:xfrm>
        </p:grpSpPr>
        <p:sp>
          <p:nvSpPr>
            <p:cNvPr name="Freeform 18" id="18" descr="esc_login.png"/>
            <p:cNvSpPr/>
            <p:nvPr/>
          </p:nvSpPr>
          <p:spPr>
            <a:xfrm flipH="false" flipV="false" rot="0">
              <a:off x="0" y="0"/>
              <a:ext cx="8218424" cy="8961120"/>
            </a:xfrm>
            <a:custGeom>
              <a:avLst/>
              <a:gdLst/>
              <a:ahLst/>
              <a:cxnLst/>
              <a:rect r="r" b="b" t="t" l="l"/>
              <a:pathLst>
                <a:path h="8961120" w="8218424">
                  <a:moveTo>
                    <a:pt x="0" y="0"/>
                  </a:moveTo>
                  <a:lnTo>
                    <a:pt x="8218424" y="0"/>
                  </a:lnTo>
                  <a:lnTo>
                    <a:pt x="8218424" y="8961120"/>
                  </a:lnTo>
                  <a:lnTo>
                    <a:pt x="0" y="8961120"/>
                  </a:lnTo>
                  <a:lnTo>
                    <a:pt x="0" y="0"/>
                  </a:lnTo>
                  <a:close/>
                </a:path>
              </a:pathLst>
            </a:custGeom>
            <a:blipFill>
              <a:blip r:embed="rId3"/>
              <a:stretch>
                <a:fillRect l="0" t="0" r="0" b="0"/>
              </a:stretch>
            </a:blipFill>
          </p:spPr>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Conversor</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6707391" y="2880360"/>
            <a:ext cx="6061929" cy="6720840"/>
            <a:chOff x="0" y="0"/>
            <a:chExt cx="8082572" cy="8961120"/>
          </a:xfrm>
        </p:grpSpPr>
        <p:sp>
          <p:nvSpPr>
            <p:cNvPr name="Freeform 18" id="18" descr="esc_conversion.png"/>
            <p:cNvSpPr/>
            <p:nvPr/>
          </p:nvSpPr>
          <p:spPr>
            <a:xfrm flipH="false" flipV="false" rot="0">
              <a:off x="0" y="0"/>
              <a:ext cx="8082534" cy="8961120"/>
            </a:xfrm>
            <a:custGeom>
              <a:avLst/>
              <a:gdLst/>
              <a:ahLst/>
              <a:cxnLst/>
              <a:rect r="r" b="b" t="t" l="l"/>
              <a:pathLst>
                <a:path h="8961120" w="8082534">
                  <a:moveTo>
                    <a:pt x="0" y="0"/>
                  </a:moveTo>
                  <a:lnTo>
                    <a:pt x="8082534" y="0"/>
                  </a:lnTo>
                  <a:lnTo>
                    <a:pt x="8082534" y="8961120"/>
                  </a:lnTo>
                  <a:lnTo>
                    <a:pt x="0" y="8961120"/>
                  </a:lnTo>
                  <a:lnTo>
                    <a:pt x="0" y="0"/>
                  </a:lnTo>
                  <a:close/>
                </a:path>
              </a:pathLst>
            </a:custGeom>
            <a:blipFill>
              <a:blip r:embed="rId3"/>
              <a:stretch>
                <a:fillRect l="0" t="0" r="0" b="0"/>
              </a:stretch>
            </a:blipFill>
          </p:spPr>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206271" y="2880360"/>
            <a:ext cx="7338498" cy="6583680"/>
            <a:chOff x="0" y="0"/>
            <a:chExt cx="9784664" cy="8778240"/>
          </a:xfrm>
        </p:grpSpPr>
        <p:sp>
          <p:nvSpPr>
            <p:cNvPr name="Freeform 17" id="17"/>
            <p:cNvSpPr/>
            <p:nvPr/>
          </p:nvSpPr>
          <p:spPr>
            <a:xfrm flipH="false" flipV="false" rot="0">
              <a:off x="0" y="0"/>
              <a:ext cx="9784715" cy="8778240"/>
            </a:xfrm>
            <a:custGeom>
              <a:avLst/>
              <a:gdLst/>
              <a:ahLst/>
              <a:cxnLst/>
              <a:rect r="r" b="b" t="t" l="l"/>
              <a:pathLst>
                <a:path h="8778240" w="9784715">
                  <a:moveTo>
                    <a:pt x="0" y="0"/>
                  </a:moveTo>
                  <a:lnTo>
                    <a:pt x="9784715" y="0"/>
                  </a:lnTo>
                  <a:lnTo>
                    <a:pt x="9784715" y="8778240"/>
                  </a:lnTo>
                  <a:lnTo>
                    <a:pt x="0" y="8778240"/>
                  </a:lnTo>
                  <a:lnTo>
                    <a:pt x="0" y="0"/>
                  </a:lnTo>
                  <a:close/>
                </a:path>
              </a:pathLst>
            </a:custGeom>
            <a:blipFill>
              <a:blip r:embed="rId3"/>
              <a:stretch>
                <a:fillRect l="-781" t="0" r="-781" b="0"/>
              </a:stretch>
            </a:blipFill>
          </p:spPr>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1.5 	CREACIÓN DEL PROYECTO – CLIENTE WEB</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Para el cliente web se creó una aplicación web (WAR) con servlets y páginas HTML/JS, que se despliega en Payara. El navegador nunca ve el token: queda en la sesión del servidor.</a:t>
            </a:r>
          </a:p>
          <a:p>
            <a:pPr algn="just" marL="352901" indent="-176451" lvl="1">
              <a:lnSpc>
                <a:spcPts val="2503"/>
              </a:lnSpc>
              <a:buFont typeface="Arial"/>
              <a:buChar char="•"/>
            </a:pPr>
            <a:r>
              <a:rPr lang="en-US" sz="1950">
                <a:solidFill>
                  <a:srgbClr val="3D3D3D"/>
                </a:solidFill>
                <a:latin typeface="Cambria"/>
                <a:ea typeface="Cambria"/>
                <a:cs typeface="Cambria"/>
                <a:sym typeface="Cambria"/>
              </a:rPr>
              <a:t>Estructura MVC: modelo (SoapClient), controlador (servlets) y vista (HTML, CSS y JS).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LoginServlet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del inicio de sesión.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ec.edu.monster.clienteweb.controlador;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@WebServlet("/api/login")</a:t>
              </a:r>
            </a:p>
            <a:p>
              <a:pPr algn="l">
                <a:lnSpc>
                  <a:spcPts val="1800"/>
                </a:lnSpc>
              </a:pPr>
              <a:r>
                <a:rPr lang="en-US" sz="1500">
                  <a:solidFill>
                    <a:srgbClr val="4F81BD"/>
                  </a:solidFill>
                  <a:latin typeface="Calibri (MS)"/>
                  <a:ea typeface="Calibri (MS)"/>
                  <a:cs typeface="Calibri (MS)"/>
                  <a:sym typeface="Calibri (MS)"/>
                </a:rPr>
                <a:t>public class LoginServlet extends HttpServlet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protected void doPost(HttpServletRequest req, HttpServletResponse resp) throws IOException {</a:t>
              </a:r>
            </a:p>
            <a:p>
              <a:pPr algn="l">
                <a:lnSpc>
                  <a:spcPts val="1800"/>
                </a:lnSpc>
              </a:pPr>
              <a:r>
                <a:rPr lang="en-US" sz="1500">
                  <a:solidFill>
                    <a:srgbClr val="4F81BD"/>
                  </a:solidFill>
                  <a:latin typeface="Calibri (MS)"/>
                  <a:ea typeface="Calibri (MS)"/>
                  <a:cs typeface="Calibri (MS)"/>
                  <a:sym typeface="Calibri (MS)"/>
                </a:rPr>
                <a:t>        req.setCharacterEncoding("UTF-8");</a:t>
              </a:r>
            </a:p>
            <a:p>
              <a:pPr algn="l">
                <a:lnSpc>
                  <a:spcPts val="1800"/>
                </a:lnSpc>
              </a:pPr>
              <a:r>
                <a:rPr lang="en-US" sz="1500">
                  <a:solidFill>
                    <a:srgbClr val="4F81BD"/>
                  </a:solidFill>
                  <a:latin typeface="Calibri (MS)"/>
                  <a:ea typeface="Calibri (MS)"/>
                  <a:cs typeface="Calibri (MS)"/>
                  <a:sym typeface="Calibri (MS)"/>
                </a:rPr>
                <a:t>        RespuestaServicio r = Servicios.cliente(getServletContext())</a:t>
              </a:r>
            </a:p>
            <a:p>
              <a:pPr algn="l">
                <a:lnSpc>
                  <a:spcPts val="1800"/>
                </a:lnSpc>
              </a:pPr>
              <a:r>
                <a:rPr lang="en-US" sz="1500">
                  <a:solidFill>
                    <a:srgbClr val="4F81BD"/>
                  </a:solidFill>
                  <a:latin typeface="Calibri (MS)"/>
                  <a:ea typeface="Calibri (MS)"/>
                  <a:cs typeface="Calibri (MS)"/>
                  <a:sym typeface="Calibri (MS)"/>
                </a:rPr>
                <a:t>                .login(req.getParameter("usuario"), req.getParameter("clave"));</a:t>
              </a:r>
            </a:p>
            <a:p>
              <a:pPr algn="l">
                <a:lnSpc>
                  <a:spcPts val="1800"/>
                </a:lnSpc>
              </a:pPr>
              <a:r>
                <a:rPr lang="en-US" sz="1500">
                  <a:solidFill>
                    <a:srgbClr val="4F81BD"/>
                  </a:solidFill>
                  <a:latin typeface="Calibri (MS)"/>
                  <a:ea typeface="Calibri (MS)"/>
                  <a:cs typeface="Calibri (MS)"/>
                  <a:sym typeface="Calibri (MS)"/>
                </a:rPr>
                <a:t>        if (r.esExitosa() &amp;&amp; r.getToken() != null) {</a:t>
              </a:r>
            </a:p>
            <a:p>
              <a:pPr algn="l">
                <a:lnSpc>
                  <a:spcPts val="1800"/>
                </a:lnSpc>
              </a:pPr>
              <a:r>
                <a:rPr lang="en-US" sz="1500">
                  <a:solidFill>
                    <a:srgbClr val="4F81BD"/>
                  </a:solidFill>
                  <a:latin typeface="Calibri (MS)"/>
                  <a:ea typeface="Calibri (MS)"/>
                  <a:cs typeface="Calibri (MS)"/>
                  <a:sym typeface="Calibri (MS)"/>
                </a:rPr>
                <a:t>            HttpSession anterior = req.getSession(false);</a:t>
              </a:r>
            </a:p>
            <a:p>
              <a:pPr algn="l">
                <a:lnSpc>
                  <a:spcPts val="1800"/>
                </a:lnSpc>
              </a:pPr>
              <a:r>
                <a:rPr lang="en-US" sz="1500">
                  <a:solidFill>
                    <a:srgbClr val="4F81BD"/>
                  </a:solidFill>
                  <a:latin typeface="Calibri (MS)"/>
                  <a:ea typeface="Calibri (MS)"/>
                  <a:cs typeface="Calibri (MS)"/>
                  <a:sym typeface="Calibri (MS)"/>
                </a:rPr>
                <a:t>            if (anterior != null) {</a:t>
              </a:r>
            </a:p>
            <a:p>
              <a:pPr algn="l">
                <a:lnSpc>
                  <a:spcPts val="1800"/>
                </a:lnSpc>
              </a:pPr>
              <a:r>
                <a:rPr lang="en-US" sz="1500">
                  <a:solidFill>
                    <a:srgbClr val="4F81BD"/>
                  </a:solidFill>
                  <a:latin typeface="Calibri (MS)"/>
                  <a:ea typeface="Calibri (MS)"/>
                  <a:cs typeface="Calibri (MS)"/>
                  <a:sym typeface="Calibri (MS)"/>
                </a:rPr>
                <a:t>                anterior.invalidate(); // nueva sesion en cada login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req.getSession(true).setAttribute(Servicios.ATRIBUTO_TOKEN, r.getToken());</a:t>
              </a:r>
            </a:p>
            <a:p>
              <a:pPr algn="l">
                <a:lnSpc>
                  <a:spcPts val="1800"/>
                </a:lnSpc>
              </a:pPr>
              <a:r>
                <a:rPr lang="en-US" sz="1500">
                  <a:solidFill>
                    <a:srgbClr val="4F81BD"/>
                  </a:solidFill>
                  <a:latin typeface="Calibri (MS)"/>
                  <a:ea typeface="Calibri (MS)"/>
                  <a:cs typeface="Calibri (MS)"/>
                  <a:sym typeface="Calibri (MS)"/>
                </a:rPr>
                <a:t>            Json.escribir(resp, HttpServletResponse.SC_OK, Json.de(r));</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int http = RespuestaServicio.COD_RED.equals(r.getCodigo())</a:t>
              </a:r>
            </a:p>
            <a:p>
              <a:pPr algn="l">
                <a:lnSpc>
                  <a:spcPts val="1800"/>
                </a:lnSpc>
              </a:pPr>
              <a:r>
                <a:rPr lang="en-US" sz="1500">
                  <a:solidFill>
                    <a:srgbClr val="4F81BD"/>
                  </a:solidFill>
                  <a:latin typeface="Calibri (MS)"/>
                  <a:ea typeface="Calibri (MS)"/>
                  <a:cs typeface="Calibri (MS)"/>
                  <a:sym typeface="Calibri (MS)"/>
                </a:rPr>
                <a:t>                    ? HttpServletResponse.SC_BAD_GATEWAY : HttpServletResponse.SC_UNAUTHORIZED;</a:t>
              </a:r>
            </a:p>
            <a:p>
              <a:pPr algn="l">
                <a:lnSpc>
                  <a:spcPts val="1800"/>
                </a:lnSpc>
              </a:pPr>
              <a:r>
                <a:rPr lang="en-US" sz="1500">
                  <a:solidFill>
                    <a:srgbClr val="4F81BD"/>
                  </a:solidFill>
                  <a:latin typeface="Calibri (MS)"/>
                  <a:ea typeface="Calibri (MS)"/>
                  <a:cs typeface="Calibri (MS)"/>
                  <a:sym typeface="Calibri (MS)"/>
                </a:rPr>
                <a:t>            Json.escribir(resp, http, Json.de(r));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ConvertirServlet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 la conversión.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ec.edu.monster.clienteweb.controlador;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@WebServlet("/api/convertir")</a:t>
              </a:r>
            </a:p>
            <a:p>
              <a:pPr algn="l">
                <a:lnSpc>
                  <a:spcPts val="1800"/>
                </a:lnSpc>
              </a:pPr>
              <a:r>
                <a:rPr lang="en-US" sz="1500">
                  <a:solidFill>
                    <a:srgbClr val="4F81BD"/>
                  </a:solidFill>
                  <a:latin typeface="Calibri (MS)"/>
                  <a:ea typeface="Calibri (MS)"/>
                  <a:cs typeface="Calibri (MS)"/>
                  <a:sym typeface="Calibri (MS)"/>
                </a:rPr>
                <a:t>public class ConvertirServlet extends HttpServlet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protected void doPost(HttpServletRequest req, HttpServletResponse resp) throws IOException {</a:t>
              </a:r>
            </a:p>
            <a:p>
              <a:pPr algn="l">
                <a:lnSpc>
                  <a:spcPts val="1800"/>
                </a:lnSpc>
              </a:pPr>
              <a:r>
                <a:rPr lang="en-US" sz="1500">
                  <a:solidFill>
                    <a:srgbClr val="4F81BD"/>
                  </a:solidFill>
                  <a:latin typeface="Calibri (MS)"/>
                  <a:ea typeface="Calibri (MS)"/>
                  <a:cs typeface="Calibri (MS)"/>
                  <a:sym typeface="Calibri (MS)"/>
                </a:rPr>
                <a:t>        req.setCharacterEncoding("UTF-8");</a:t>
              </a:r>
            </a:p>
            <a:p>
              <a:pPr algn="l">
                <a:lnSpc>
                  <a:spcPts val="1800"/>
                </a:lnSpc>
              </a:pPr>
              <a:r>
                <a:rPr lang="en-US" sz="1500">
                  <a:solidFill>
                    <a:srgbClr val="4F81BD"/>
                  </a:solidFill>
                  <a:latin typeface="Calibri (MS)"/>
                  <a:ea typeface="Calibri (MS)"/>
                  <a:cs typeface="Calibri (MS)"/>
                  <a:sym typeface="Calibri (MS)"/>
                </a:rPr>
                <a:t>        String token = Servicios.exigirSesion(req, resp);</a:t>
              </a:r>
            </a:p>
            <a:p>
              <a:pPr algn="l">
                <a:lnSpc>
                  <a:spcPts val="1800"/>
                </a:lnSpc>
              </a:pPr>
              <a:r>
                <a:rPr lang="en-US" sz="1500">
                  <a:solidFill>
                    <a:srgbClr val="4F81BD"/>
                  </a:solidFill>
                  <a:latin typeface="Calibri (MS)"/>
                  <a:ea typeface="Calibri (MS)"/>
                  <a:cs typeface="Calibri (MS)"/>
                  <a:sym typeface="Calibri (MS)"/>
                </a:rPr>
                <a:t>        if (token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double valor;</a:t>
              </a:r>
            </a:p>
            <a:p>
              <a:pPr algn="l">
                <a:lnSpc>
                  <a:spcPts val="1800"/>
                </a:lnSpc>
              </a:pPr>
              <a:r>
                <a:rPr lang="en-US" sz="1500">
                  <a:solidFill>
                    <a:srgbClr val="4F81BD"/>
                  </a:solidFill>
                  <a:latin typeface="Calibri (MS)"/>
                  <a:ea typeface="Calibri (MS)"/>
                  <a:cs typeface="Calibri (MS)"/>
                  <a:sym typeface="Calibri (MS)"/>
                </a:rPr>
                <a:t>        try {</a:t>
              </a:r>
            </a:p>
            <a:p>
              <a:pPr algn="l">
                <a:lnSpc>
                  <a:spcPts val="1800"/>
                </a:lnSpc>
              </a:pPr>
              <a:r>
                <a:rPr lang="en-US" sz="1500">
                  <a:solidFill>
                    <a:srgbClr val="4F81BD"/>
                  </a:solidFill>
                  <a:latin typeface="Calibri (MS)"/>
                  <a:ea typeface="Calibri (MS)"/>
                  <a:cs typeface="Calibri (MS)"/>
                  <a:sym typeface="Calibri (MS)"/>
                </a:rPr>
                <a:t>            String v = req.getParameter("valor");</a:t>
              </a:r>
            </a:p>
            <a:p>
              <a:pPr algn="l">
                <a:lnSpc>
                  <a:spcPts val="1800"/>
                </a:lnSpc>
              </a:pPr>
              <a:r>
                <a:rPr lang="en-US" sz="1500">
                  <a:solidFill>
                    <a:srgbClr val="4F81BD"/>
                  </a:solidFill>
                  <a:latin typeface="Calibri (MS)"/>
                  <a:ea typeface="Calibri (MS)"/>
                  <a:cs typeface="Calibri (MS)"/>
                  <a:sym typeface="Calibri (MS)"/>
                </a:rPr>
                <a:t>            valor = Double.parseDouble(v == null ? "" : v.trim().replace(',', '.'));</a:t>
              </a:r>
            </a:p>
            <a:p>
              <a:pPr algn="l">
                <a:lnSpc>
                  <a:spcPts val="1800"/>
                </a:lnSpc>
              </a:pPr>
              <a:r>
                <a:rPr lang="en-US" sz="1500">
                  <a:solidFill>
                    <a:srgbClr val="4F81BD"/>
                  </a:solidFill>
                  <a:latin typeface="Calibri (MS)"/>
                  <a:ea typeface="Calibri (MS)"/>
                  <a:cs typeface="Calibri (MS)"/>
                  <a:sym typeface="Calibri (MS)"/>
                </a:rPr>
                <a:t>            if (Double.isNaN(valor) || Double.isInfinite(valor)) {</a:t>
              </a:r>
            </a:p>
            <a:p>
              <a:pPr algn="l">
                <a:lnSpc>
                  <a:spcPts val="1800"/>
                </a:lnSpc>
              </a:pPr>
              <a:r>
                <a:rPr lang="en-US" sz="1500">
                  <a:solidFill>
                    <a:srgbClr val="4F81BD"/>
                  </a:solidFill>
                  <a:latin typeface="Calibri (MS)"/>
                  <a:ea typeface="Calibri (MS)"/>
                  <a:cs typeface="Calibri (MS)"/>
                  <a:sym typeface="Calibri (MS)"/>
                </a:rPr>
                <a:t>                throw new NumberFormatException();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catch (NumberFormatException e) {</a:t>
              </a:r>
            </a:p>
            <a:p>
              <a:pPr algn="l">
                <a:lnSpc>
                  <a:spcPts val="1800"/>
                </a:lnSpc>
              </a:pPr>
              <a:r>
                <a:rPr lang="en-US" sz="1500">
                  <a:solidFill>
                    <a:srgbClr val="4F81BD"/>
                  </a:solidFill>
                  <a:latin typeface="Calibri (MS)"/>
                  <a:ea typeface="Calibri (MS)"/>
                  <a:cs typeface="Calibri (MS)"/>
                  <a:sym typeface="Calibri (MS)"/>
                </a:rPr>
                <a:t>            Servicios.responder(req, resp, RespuestaServicio.errorLocal("DATA-001", "El valor debe ser numérico"));</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RespuestaServicio r = Servicios.cliente(getServletContext()).convertir(</a:t>
              </a:r>
            </a:p>
            <a:p>
              <a:pPr algn="l">
                <a:lnSpc>
                  <a:spcPts val="1800"/>
                </a:lnSpc>
              </a:pPr>
              <a:r>
                <a:rPr lang="en-US" sz="1500">
                  <a:solidFill>
                    <a:srgbClr val="4F81BD"/>
                  </a:solidFill>
                  <a:latin typeface="Calibri (MS)"/>
                  <a:ea typeface="Calibri (MS)"/>
                  <a:cs typeface="Calibri (MS)"/>
                  <a:sym typeface="Calibri (MS)"/>
                </a:rPr>
                <a:t>                req.getParameter("categoria"), valor, req.getParameter("origen"), req.getParameter("destino"), token);</a:t>
              </a:r>
            </a:p>
            <a:p>
              <a:pPr algn="l">
                <a:lnSpc>
                  <a:spcPts val="1800"/>
                </a:lnSpc>
              </a:pPr>
              <a:r>
                <a:rPr lang="en-US" sz="1500">
                  <a:solidFill>
                    <a:srgbClr val="4F81BD"/>
                  </a:solidFill>
                  <a:latin typeface="Calibri (MS)"/>
                  <a:ea typeface="Calibri (MS)"/>
                  <a:cs typeface="Calibri (MS)"/>
                  <a:sym typeface="Calibri (MS)"/>
                </a:rPr>
                <a:t>        Servicios.responder(req, resp,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login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1800753" y="3270776"/>
            <a:ext cx="11178303" cy="6284723"/>
            <a:chOff x="0" y="0"/>
            <a:chExt cx="9240520" cy="5195252"/>
          </a:xfrm>
        </p:grpSpPr>
        <p:sp>
          <p:nvSpPr>
            <p:cNvPr name="Freeform 18" id="18"/>
            <p:cNvSpPr/>
            <p:nvPr/>
          </p:nvSpPr>
          <p:spPr>
            <a:xfrm flipH="false" flipV="false" rot="0">
              <a:off x="0" y="0"/>
              <a:ext cx="9240520" cy="5195316"/>
            </a:xfrm>
            <a:custGeom>
              <a:avLst/>
              <a:gdLst/>
              <a:ahLst/>
              <a:cxnLst/>
              <a:rect r="r" b="b" t="t" l="l"/>
              <a:pathLst>
                <a:path h="5195316" w="9240520">
                  <a:moveTo>
                    <a:pt x="0" y="0"/>
                  </a:moveTo>
                  <a:lnTo>
                    <a:pt x="9240520" y="0"/>
                  </a:lnTo>
                  <a:lnTo>
                    <a:pt x="9240520" y="5195316"/>
                  </a:lnTo>
                  <a:lnTo>
                    <a:pt x="0" y="5195316"/>
                  </a:lnTo>
                  <a:lnTo>
                    <a:pt x="0" y="0"/>
                  </a:lnTo>
                  <a:close/>
                </a:path>
              </a:pathLst>
            </a:custGeom>
            <a:blipFill>
              <a:blip r:embed="rId3"/>
              <a:stretch>
                <a:fillRect l="0" t="0" r="0" b="1"/>
              </a:stretch>
            </a:blipFill>
          </p:spPr>
        </p:sp>
      </p:gr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Conversor</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5431983" y="2826039"/>
            <a:ext cx="5490295" cy="7084251"/>
            <a:chOff x="0" y="0"/>
            <a:chExt cx="6944868" cy="8961120"/>
          </a:xfrm>
        </p:grpSpPr>
        <p:sp>
          <p:nvSpPr>
            <p:cNvPr name="Freeform 18" id="18" descr="conversor_demo.png"/>
            <p:cNvSpPr/>
            <p:nvPr/>
          </p:nvSpPr>
          <p:spPr>
            <a:xfrm flipH="false" flipV="false" rot="0">
              <a:off x="0" y="0"/>
              <a:ext cx="6944868" cy="8961120"/>
            </a:xfrm>
            <a:custGeom>
              <a:avLst/>
              <a:gdLst/>
              <a:ahLst/>
              <a:cxnLst/>
              <a:rect r="r" b="b" t="t" l="l"/>
              <a:pathLst>
                <a:path h="8961120" w="6944868">
                  <a:moveTo>
                    <a:pt x="0" y="0"/>
                  </a:moveTo>
                  <a:lnTo>
                    <a:pt x="6944868" y="0"/>
                  </a:lnTo>
                  <a:lnTo>
                    <a:pt x="6944868" y="8961120"/>
                  </a:lnTo>
                  <a:lnTo>
                    <a:pt x="0" y="8961120"/>
                  </a:lnTo>
                  <a:lnTo>
                    <a:pt x="0" y="0"/>
                  </a:lnTo>
                  <a:close/>
                </a:path>
              </a:pathLst>
            </a:custGeom>
            <a:blipFill>
              <a:blip r:embed="rId3"/>
              <a:stretch>
                <a:fillRect l="0" t="0" r="0" b="0"/>
              </a:stretch>
            </a:blipFill>
          </p:spPr>
        </p:sp>
      </p:gr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035040" y="3220517"/>
            <a:ext cx="7680960" cy="5903366"/>
            <a:chOff x="0" y="0"/>
            <a:chExt cx="10241280" cy="7871155"/>
          </a:xfrm>
        </p:grpSpPr>
        <p:sp>
          <p:nvSpPr>
            <p:cNvPr name="Freeform 17" id="17"/>
            <p:cNvSpPr/>
            <p:nvPr/>
          </p:nvSpPr>
          <p:spPr>
            <a:xfrm flipH="false" flipV="false" rot="0">
              <a:off x="0" y="0"/>
              <a:ext cx="10241280" cy="7871206"/>
            </a:xfrm>
            <a:custGeom>
              <a:avLst/>
              <a:gdLst/>
              <a:ahLst/>
              <a:cxnLst/>
              <a:rect r="r" b="b" t="t" l="l"/>
              <a:pathLst>
                <a:path h="7871206" w="10241280">
                  <a:moveTo>
                    <a:pt x="0" y="0"/>
                  </a:moveTo>
                  <a:lnTo>
                    <a:pt x="10241280" y="0"/>
                  </a:lnTo>
                  <a:lnTo>
                    <a:pt x="10241280" y="7871206"/>
                  </a:lnTo>
                  <a:lnTo>
                    <a:pt x="0" y="7871206"/>
                  </a:lnTo>
                  <a:lnTo>
                    <a:pt x="0" y="0"/>
                  </a:lnTo>
                  <a:close/>
                </a:path>
              </a:pathLst>
            </a:custGeom>
            <a:blipFill>
              <a:blip r:embed="rId3"/>
              <a:stretch>
                <a:fillRect l="0" t="-40563" r="0" b="-40563"/>
              </a:stretch>
            </a:blipFill>
          </p:spPr>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1.6 	CREACIÓN DEL PROYECTO – CLIENTE MÓVIL</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Para el cliente móvil se creó un proyecto Android nativo (Java) en Android Studio con Gradle.</a:t>
            </a:r>
          </a:p>
          <a:p>
            <a:pPr algn="just" marL="352901" indent="-176451" lvl="1">
              <a:lnSpc>
                <a:spcPts val="2503"/>
              </a:lnSpc>
              <a:buFont typeface="Arial"/>
              <a:buChar char="•"/>
            </a:pPr>
            <a:r>
              <a:rPr lang="en-US" sz="1950">
                <a:solidFill>
                  <a:srgbClr val="3D3D3D"/>
                </a:solidFill>
                <a:latin typeface="Cambria"/>
                <a:ea typeface="Cambria"/>
                <a:cs typeface="Cambria"/>
                <a:sym typeface="Cambria"/>
              </a:rPr>
              <a:t>Estructura MVC: modelo (SoapClient, RespuestaServicio), controlador (ControladorConversiones, SesionApp) y vista (LoginActivity, ConversionActivity y layouts XML).</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ec.edu.monster.clientemovil.controlador;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ControladorConversiones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SoapClient cliente;</a:t>
              </a:r>
            </a:p>
            <a:p>
              <a:pPr algn="l">
                <a:lnSpc>
                  <a:spcPts val="1800"/>
                </a:lnSpc>
              </a:pPr>
              <a:r>
                <a:rPr lang="en-US" sz="1500">
                  <a:solidFill>
                    <a:srgbClr val="4F81BD"/>
                  </a:solidFill>
                  <a:latin typeface="Calibri (MS)"/>
                  <a:ea typeface="Calibri (MS)"/>
                  <a:cs typeface="Calibri (MS)"/>
                  <a:sym typeface="Calibri (MS)"/>
                </a:rPr>
                <a:t>    private String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ControladorConversiones(SoapClient cliente)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String urlPorDefecto() {</a:t>
              </a:r>
            </a:p>
            <a:p>
              <a:pPr algn="l">
                <a:lnSpc>
                  <a:spcPts val="1800"/>
                </a:lnSpc>
              </a:pPr>
              <a:r>
                <a:rPr lang="en-US" sz="1500">
                  <a:solidFill>
                    <a:srgbClr val="4F81BD"/>
                  </a:solidFill>
                  <a:latin typeface="Calibri (MS)"/>
                  <a:ea typeface="Calibri (MS)"/>
                  <a:cs typeface="Calibri (MS)"/>
                  <a:sym typeface="Calibri (MS)"/>
                </a:rPr>
                <a:t>        return SoapClient.URL_POR_DEFECTO;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ControladorConversiones conectar(String url) {</a:t>
              </a:r>
            </a:p>
            <a:p>
              <a:pPr algn="l">
                <a:lnSpc>
                  <a:spcPts val="1800"/>
                </a:lnSpc>
              </a:pPr>
              <a:r>
                <a:rPr lang="en-US" sz="1500">
                  <a:solidFill>
                    <a:srgbClr val="4F81BD"/>
                  </a:solidFill>
                  <a:latin typeface="Calibri (MS)"/>
                  <a:ea typeface="Calibri (MS)"/>
                  <a:cs typeface="Calibri (MS)"/>
                  <a:sym typeface="Calibri (MS)"/>
                </a:rPr>
                <a:t>        return new ControladorConversiones(new SoapClient(url));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getUrl() {</a:t>
              </a:r>
            </a:p>
            <a:p>
              <a:pPr algn="l">
                <a:lnSpc>
                  <a:spcPts val="1800"/>
                </a:lnSpc>
              </a:pPr>
              <a:r>
                <a:rPr lang="en-US" sz="1500">
                  <a:solidFill>
                    <a:srgbClr val="4F81BD"/>
                  </a:solidFill>
                  <a:latin typeface="Calibri (MS)"/>
                  <a:ea typeface="Calibri (MS)"/>
                  <a:cs typeface="Calibri (MS)"/>
                  <a:sym typeface="Calibri (MS)"/>
                </a:rPr>
                <a:t>        return cliente.getBaseUrl();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boolean haySesion() {</a:t>
              </a:r>
            </a:p>
            <a:p>
              <a:pPr algn="l">
                <a:lnSpc>
                  <a:spcPts val="1800"/>
                </a:lnSpc>
              </a:pPr>
              <a:r>
                <a:rPr lang="en-US" sz="1500">
                  <a:solidFill>
                    <a:srgbClr val="4F81BD"/>
                  </a:solidFill>
                  <a:latin typeface="Calibri (MS)"/>
                  <a:ea typeface="Calibri (MS)"/>
                  <a:cs typeface="Calibri (MS)"/>
                  <a:sym typeface="Calibri (MS)"/>
                </a:rPr>
                <a:t>        return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public RespuestaServicio iniciarSesion(String usuario, String clave) {</a:t>
              </a:r>
            </a:p>
            <a:p>
              <a:pPr algn="l">
                <a:lnSpc>
                  <a:spcPts val="1800"/>
                </a:lnSpc>
              </a:pPr>
              <a:r>
                <a:rPr lang="en-US" sz="1500">
                  <a:solidFill>
                    <a:srgbClr val="4F81BD"/>
                  </a:solidFill>
                  <a:latin typeface="Calibri (MS)"/>
                  <a:ea typeface="Calibri (MS)"/>
                  <a:cs typeface="Calibri (MS)"/>
                  <a:sym typeface="Calibri (MS)"/>
                </a:rPr>
                <a:t>        RespuestaServicio r = cliente.login(usuario, clave);</a:t>
              </a:r>
            </a:p>
            <a:p>
              <a:pPr algn="l">
                <a:lnSpc>
                  <a:spcPts val="1800"/>
                </a:lnSpc>
              </a:pPr>
              <a:r>
                <a:rPr lang="en-US" sz="1500">
                  <a:solidFill>
                    <a:srgbClr val="4F81BD"/>
                  </a:solidFill>
                  <a:latin typeface="Calibri (MS)"/>
                  <a:ea typeface="Calibri (MS)"/>
                  <a:cs typeface="Calibri (MS)"/>
                  <a:sym typeface="Calibri (MS)"/>
                </a:rPr>
                <a:t>        token = (r.esExitosa() &amp;&amp; r.getToken() != null) ? r.getToken() : null;</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categorias() {</a:t>
              </a:r>
            </a:p>
            <a:p>
              <a:pPr algn="l">
                <a:lnSpc>
                  <a:spcPts val="1800"/>
                </a:lnSpc>
              </a:pPr>
              <a:r>
                <a:rPr lang="en-US" sz="1500">
                  <a:solidFill>
                    <a:srgbClr val="4F81BD"/>
                  </a:solidFill>
                  <a:latin typeface="Calibri (MS)"/>
                  <a:ea typeface="Calibri (MS)"/>
                  <a:cs typeface="Calibri (MS)"/>
                  <a:sym typeface="Calibri (MS)"/>
                </a:rPr>
                <a:t>        return revisar(cliente.obtenerCategorias(token));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unidades(String categoria) {</a:t>
              </a:r>
            </a:p>
            <a:p>
              <a:pPr algn="l">
                <a:lnSpc>
                  <a:spcPts val="1800"/>
                </a:lnSpc>
              </a:pPr>
              <a:r>
                <a:rPr lang="en-US" sz="1500">
                  <a:solidFill>
                    <a:srgbClr val="4F81BD"/>
                  </a:solidFill>
                  <a:latin typeface="Calibri (MS)"/>
                  <a:ea typeface="Calibri (MS)"/>
                  <a:cs typeface="Calibri (MS)"/>
                  <a:sym typeface="Calibri (MS)"/>
                </a:rPr>
                <a:t>        return revisar(cliente.obtenerUnidades(token,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a:t>
              </a:r>
            </a:p>
            <a:p>
              <a:pPr algn="l">
                <a:lnSpc>
                  <a:spcPts val="1800"/>
                </a:lnSpc>
              </a:pPr>
              <a:r>
                <a:rPr lang="en-US" sz="1500">
                  <a:solidFill>
                    <a:srgbClr val="4F81BD"/>
                  </a:solidFill>
                  <a:latin typeface="Calibri (MS)"/>
                  <a:ea typeface="Calibri (MS)"/>
                  <a:cs typeface="Calibri (MS)"/>
                  <a:sym typeface="Calibri (MS)"/>
                </a:rPr>
                <a:t>        return revisar(cliente.convertir(categoria, valor, origen, destino,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private RespuestaServicio revisar(RespuestaServicio r) {</a:t>
              </a:r>
            </a:p>
            <a:p>
              <a:pPr algn="l">
                <a:lnSpc>
                  <a:spcPts val="1800"/>
                </a:lnSpc>
              </a:pPr>
              <a:r>
                <a:rPr lang="en-US" sz="1500">
                  <a:solidFill>
                    <a:srgbClr val="4F81BD"/>
                  </a:solidFill>
                  <a:latin typeface="Calibri (MS)"/>
                  <a:ea typeface="Calibri (MS)"/>
                  <a:cs typeface="Calibri (MS)"/>
                  <a:sym typeface="Calibri (MS)"/>
                </a:rPr>
                <a:t>        if (r.requiereNuevoLogin())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String formatear(double valor) {</a:t>
              </a:r>
            </a:p>
            <a:p>
              <a:pPr algn="l">
                <a:lnSpc>
                  <a:spcPts val="1800"/>
                </a:lnSpc>
              </a:pPr>
              <a:r>
                <a:rPr lang="en-US" sz="1500">
                  <a:solidFill>
                    <a:srgbClr val="4F81BD"/>
                  </a:solidFill>
                  <a:latin typeface="Calibri (MS)"/>
                  <a:ea typeface="Calibri (MS)"/>
                  <a:cs typeface="Calibri (MS)"/>
                  <a:sym typeface="Calibri (MS)"/>
                </a:rPr>
                <a:t>        BigDecimal b = BigDecimal.valueOf(valor).setScale(10, RoundingMode.HALF_UP).stripTrailingZeros();</a:t>
              </a:r>
            </a:p>
            <a:p>
              <a:pPr algn="l">
                <a:lnSpc>
                  <a:spcPts val="1800"/>
                </a:lnSpc>
              </a:pPr>
              <a:r>
                <a:rPr lang="en-US" sz="1500">
                  <a:solidFill>
                    <a:srgbClr val="4F81BD"/>
                  </a:solidFill>
                  <a:latin typeface="Calibri (MS)"/>
                  <a:ea typeface="Calibri (MS)"/>
                  <a:cs typeface="Calibri (MS)"/>
                  <a:sym typeface="Calibri (MS)"/>
                </a:rPr>
                <a:t>        return b.scale() &lt; 0 ? b.setScale(0).toPlainString() : b.toPlainString();</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SesionApp</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Guarda en memoria el controlador para compartirlo entre pantallas.</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ec.edu.monster.clientemovil.controlador;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SesionApp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ControladorConversiones 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SesionApp()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ControladorConversiones iniciar(String url) {</a:t>
              </a:r>
            </a:p>
            <a:p>
              <a:pPr algn="l">
                <a:lnSpc>
                  <a:spcPts val="1800"/>
                </a:lnSpc>
              </a:pPr>
              <a:r>
                <a:rPr lang="en-US" sz="1500">
                  <a:solidFill>
                    <a:srgbClr val="4F81BD"/>
                  </a:solidFill>
                  <a:latin typeface="Calibri (MS)"/>
                  <a:ea typeface="Calibri (MS)"/>
                  <a:cs typeface="Calibri (MS)"/>
                  <a:sym typeface="Calibri (MS)"/>
                </a:rPr>
                <a:t>        controlador = ControladorConversiones.conectar(url);</a:t>
              </a:r>
            </a:p>
            <a:p>
              <a:pPr algn="l">
                <a:lnSpc>
                  <a:spcPts val="1800"/>
                </a:lnSpc>
              </a:pPr>
              <a:r>
                <a:rPr lang="en-US" sz="1500">
                  <a:solidFill>
                    <a:srgbClr val="4F81BD"/>
                  </a:solidFill>
                  <a:latin typeface="Calibri (MS)"/>
                  <a:ea typeface="Calibri (MS)"/>
                  <a:cs typeface="Calibri (MS)"/>
                  <a:sym typeface="Calibri (MS)"/>
                </a:rPr>
                <a:t>        return 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ControladorConversiones actual() {</a:t>
              </a:r>
            </a:p>
            <a:p>
              <a:pPr algn="l">
                <a:lnSpc>
                  <a:spcPts val="1800"/>
                </a:lnSpc>
              </a:pPr>
              <a:r>
                <a:rPr lang="en-US" sz="1500">
                  <a:solidFill>
                    <a:srgbClr val="4F81BD"/>
                  </a:solidFill>
                  <a:latin typeface="Calibri (MS)"/>
                  <a:ea typeface="Calibri (MS)"/>
                  <a:cs typeface="Calibri (MS)"/>
                  <a:sym typeface="Calibri (MS)"/>
                </a:rPr>
                <a:t>        return 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boolean haySesion() {</a:t>
              </a:r>
            </a:p>
            <a:p>
              <a:pPr algn="l">
                <a:lnSpc>
                  <a:spcPts val="1800"/>
                </a:lnSpc>
              </a:pPr>
              <a:r>
                <a:rPr lang="en-US" sz="1500">
                  <a:solidFill>
                    <a:srgbClr val="4F81BD"/>
                  </a:solidFill>
                  <a:latin typeface="Calibri (MS)"/>
                  <a:ea typeface="Calibri (MS)"/>
                  <a:cs typeface="Calibri (MS)"/>
                  <a:sym typeface="Calibri (MS)"/>
                </a:rPr>
                <a:t>        return controlador != null &amp;&amp; controlador.haySesion();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void cerrar() {</a:t>
              </a:r>
            </a:p>
            <a:p>
              <a:pPr algn="l">
                <a:lnSpc>
                  <a:spcPts val="1800"/>
                </a:lnSpc>
              </a:pPr>
              <a:r>
                <a:rPr lang="en-US" sz="1500">
                  <a:solidFill>
                    <a:srgbClr val="4F81BD"/>
                  </a:solidFill>
                  <a:latin typeface="Calibri (MS)"/>
                  <a:ea typeface="Calibri (MS)"/>
                  <a:cs typeface="Calibri (MS)"/>
                  <a:sym typeface="Calibri (MS)"/>
                </a:rPr>
                <a:t>        if (controlador != null) {</a:t>
              </a:r>
            </a:p>
            <a:p>
              <a:pPr algn="l">
                <a:lnSpc>
                  <a:spcPts val="1800"/>
                </a:lnSpc>
              </a:pPr>
              <a:r>
                <a:rPr lang="en-US" sz="1500">
                  <a:solidFill>
                    <a:srgbClr val="4F81BD"/>
                  </a:solidFill>
                  <a:latin typeface="Calibri (MS)"/>
                  <a:ea typeface="Calibri (MS)"/>
                  <a:cs typeface="Calibri (MS)"/>
                  <a:sym typeface="Calibri (MS)"/>
                </a:rPr>
                <a:t>            controlador.cerrarSesion();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controlador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LoginActivity</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473190"/>
            <a:chOff x="0" y="0"/>
            <a:chExt cx="12278360" cy="8630920"/>
          </a:xfrm>
        </p:grpSpPr>
        <p:sp>
          <p:nvSpPr>
            <p:cNvPr name="Freeform 18" id="18"/>
            <p:cNvSpPr/>
            <p:nvPr/>
          </p:nvSpPr>
          <p:spPr>
            <a:xfrm flipH="false" flipV="false" rot="0">
              <a:off x="0" y="0"/>
              <a:ext cx="12278360" cy="8630920"/>
            </a:xfrm>
            <a:custGeom>
              <a:avLst/>
              <a:gdLst/>
              <a:ahLst/>
              <a:cxnLst/>
              <a:rect r="r" b="b" t="t" l="l"/>
              <a:pathLst>
                <a:path h="8630920" w="12278360">
                  <a:moveTo>
                    <a:pt x="0" y="0"/>
                  </a:moveTo>
                  <a:lnTo>
                    <a:pt x="12278360" y="0"/>
                  </a:lnTo>
                  <a:lnTo>
                    <a:pt x="12278360" y="8630920"/>
                  </a:lnTo>
                  <a:lnTo>
                    <a:pt x="0" y="8630920"/>
                  </a:lnTo>
                  <a:close/>
                </a:path>
              </a:pathLst>
            </a:custGeom>
            <a:solidFill>
              <a:srgbClr val="FFFFFF"/>
            </a:solidFill>
            <a:ln w="19050" cap="sq">
              <a:solidFill>
                <a:srgbClr val="4F81BD"/>
              </a:solidFill>
              <a:prstDash val="solid"/>
              <a:miter/>
            </a:ln>
          </p:spPr>
        </p:sp>
        <p:sp>
          <p:nvSpPr>
            <p:cNvPr name="TextBox 19" id="19"/>
            <p:cNvSpPr txBox="true"/>
            <p:nvPr/>
          </p:nvSpPr>
          <p:spPr>
            <a:xfrm>
              <a:off x="0" y="-38100"/>
              <a:ext cx="12278360" cy="866902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ec.edu.monster.clientemovil.vista;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LoginActivity extends Activity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String PREFS = "conuni";</a:t>
              </a:r>
            </a:p>
            <a:p>
              <a:pPr algn="l">
                <a:lnSpc>
                  <a:spcPts val="1800"/>
                </a:lnSpc>
              </a:pPr>
              <a:r>
                <a:rPr lang="en-US" sz="1500">
                  <a:solidFill>
                    <a:srgbClr val="4F81BD"/>
                  </a:solidFill>
                  <a:latin typeface="Calibri (MS)"/>
                  <a:ea typeface="Calibri (MS)"/>
                  <a:cs typeface="Calibri (MS)"/>
                  <a:sym typeface="Calibri (MS)"/>
                </a:rPr>
                <a:t>    private static final String CLAVE_SERVIDOR = "servidor";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EditText txtServidor;</a:t>
              </a:r>
            </a:p>
            <a:p>
              <a:pPr algn="l">
                <a:lnSpc>
                  <a:spcPts val="1800"/>
                </a:lnSpc>
              </a:pPr>
              <a:r>
                <a:rPr lang="en-US" sz="1500">
                  <a:solidFill>
                    <a:srgbClr val="4F81BD"/>
                  </a:solidFill>
                  <a:latin typeface="Calibri (MS)"/>
                  <a:ea typeface="Calibri (MS)"/>
                  <a:cs typeface="Calibri (MS)"/>
                  <a:sym typeface="Calibri (MS)"/>
                </a:rPr>
                <a:t>    private EditText txtUsuario;</a:t>
              </a:r>
            </a:p>
            <a:p>
              <a:pPr algn="l">
                <a:lnSpc>
                  <a:spcPts val="1800"/>
                </a:lnSpc>
              </a:pPr>
              <a:r>
                <a:rPr lang="en-US" sz="1500">
                  <a:solidFill>
                    <a:srgbClr val="4F81BD"/>
                  </a:solidFill>
                  <a:latin typeface="Calibri (MS)"/>
                  <a:ea typeface="Calibri (MS)"/>
                  <a:cs typeface="Calibri (MS)"/>
                  <a:sym typeface="Calibri (MS)"/>
                </a:rPr>
                <a:t>    private EditText txtClave;</a:t>
              </a:r>
            </a:p>
            <a:p>
              <a:pPr algn="l">
                <a:lnSpc>
                  <a:spcPts val="1800"/>
                </a:lnSpc>
              </a:pPr>
              <a:r>
                <a:rPr lang="en-US" sz="1500">
                  <a:solidFill>
                    <a:srgbClr val="4F81BD"/>
                  </a:solidFill>
                  <a:latin typeface="Calibri (MS)"/>
                  <a:ea typeface="Calibri (MS)"/>
                  <a:cs typeface="Calibri (MS)"/>
                  <a:sym typeface="Calibri (MS)"/>
                </a:rPr>
                <a:t>    private Button btnIngresar;</a:t>
              </a:r>
            </a:p>
            <a:p>
              <a:pPr algn="l">
                <a:lnSpc>
                  <a:spcPts val="1800"/>
                </a:lnSpc>
              </a:pPr>
              <a:r>
                <a:rPr lang="en-US" sz="1500">
                  <a:solidFill>
                    <a:srgbClr val="4F81BD"/>
                  </a:solidFill>
                  <a:latin typeface="Calibri (MS)"/>
                  <a:ea typeface="Calibri (MS)"/>
                  <a:cs typeface="Calibri (MS)"/>
                  <a:sym typeface="Calibri (MS)"/>
                </a:rPr>
                <a:t>    private TextView lblEstado;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protected void onCreate(Bundle savedInstanceState) {</a:t>
              </a:r>
            </a:p>
            <a:p>
              <a:pPr algn="l">
                <a:lnSpc>
                  <a:spcPts val="1800"/>
                </a:lnSpc>
              </a:pPr>
              <a:r>
                <a:rPr lang="en-US" sz="1500">
                  <a:solidFill>
                    <a:srgbClr val="4F81BD"/>
                  </a:solidFill>
                  <a:latin typeface="Calibri (MS)"/>
                  <a:ea typeface="Calibri (MS)"/>
                  <a:cs typeface="Calibri (MS)"/>
                  <a:sym typeface="Calibri (MS)"/>
                </a:rPr>
                <a:t>        super.onCreate(savedInstanceState);</a:t>
              </a:r>
            </a:p>
            <a:p>
              <a:pPr algn="l">
                <a:lnSpc>
                  <a:spcPts val="1800"/>
                </a:lnSpc>
              </a:pPr>
              <a:r>
                <a:rPr lang="en-US" sz="1500">
                  <a:solidFill>
                    <a:srgbClr val="4F81BD"/>
                  </a:solidFill>
                  <a:latin typeface="Calibri (MS)"/>
                  <a:ea typeface="Calibri (MS)"/>
                  <a:cs typeface="Calibri (MS)"/>
                  <a:sym typeface="Calibri (MS)"/>
                </a:rPr>
                <a:t>        setContentView(R.layout.activity_login);</a:t>
              </a:r>
            </a:p>
            <a:p>
              <a:pPr algn="l">
                <a:lnSpc>
                  <a:spcPts val="1800"/>
                </a:lnSpc>
              </a:pPr>
              <a:r>
                <a:rPr lang="en-US" sz="1500">
                  <a:solidFill>
                    <a:srgbClr val="4F81BD"/>
                  </a:solidFill>
                  <a:latin typeface="Calibri (MS)"/>
                  <a:ea typeface="Calibri (MS)"/>
                  <a:cs typeface="Calibri (MS)"/>
                  <a:sym typeface="Calibri (MS)"/>
                </a:rPr>
                <a:t>        txtServidor = findViewById(R.id.txtServidor);</a:t>
              </a:r>
            </a:p>
            <a:p>
              <a:pPr algn="l">
                <a:lnSpc>
                  <a:spcPts val="1800"/>
                </a:lnSpc>
              </a:pPr>
              <a:r>
                <a:rPr lang="en-US" sz="1500">
                  <a:solidFill>
                    <a:srgbClr val="4F81BD"/>
                  </a:solidFill>
                  <a:latin typeface="Calibri (MS)"/>
                  <a:ea typeface="Calibri (MS)"/>
                  <a:cs typeface="Calibri (MS)"/>
                  <a:sym typeface="Calibri (MS)"/>
                </a:rPr>
                <a:t>        txtUsuario = findViewById(R.id.txtUsuario);</a:t>
              </a:r>
            </a:p>
            <a:p>
              <a:pPr algn="l">
                <a:lnSpc>
                  <a:spcPts val="1800"/>
                </a:lnSpc>
              </a:pPr>
              <a:r>
                <a:rPr lang="en-US" sz="1500">
                  <a:solidFill>
                    <a:srgbClr val="4F81BD"/>
                  </a:solidFill>
                  <a:latin typeface="Calibri (MS)"/>
                  <a:ea typeface="Calibri (MS)"/>
                  <a:cs typeface="Calibri (MS)"/>
                  <a:sym typeface="Calibri (MS)"/>
                </a:rPr>
                <a:t>        txtClave = findViewById(R.id.txtClave);</a:t>
              </a:r>
            </a:p>
            <a:p>
              <a:pPr algn="l">
                <a:lnSpc>
                  <a:spcPts val="1800"/>
                </a:lnSpc>
              </a:pPr>
              <a:r>
                <a:rPr lang="en-US" sz="1500">
                  <a:solidFill>
                    <a:srgbClr val="4F81BD"/>
                  </a:solidFill>
                  <a:latin typeface="Calibri (MS)"/>
                  <a:ea typeface="Calibri (MS)"/>
                  <a:cs typeface="Calibri (MS)"/>
                  <a:sym typeface="Calibri (MS)"/>
                </a:rPr>
                <a:t>        btnIngresar = findViewById(R.id.btnIngresar);</a:t>
              </a:r>
            </a:p>
            <a:p>
              <a:pPr algn="l">
                <a:lnSpc>
                  <a:spcPts val="1800"/>
                </a:lnSpc>
              </a:pPr>
              <a:r>
                <a:rPr lang="en-US" sz="1500">
                  <a:solidFill>
                    <a:srgbClr val="4F81BD"/>
                  </a:solidFill>
                  <a:latin typeface="Calibri (MS)"/>
                  <a:ea typeface="Calibri (MS)"/>
                  <a:cs typeface="Calibri (MS)"/>
                  <a:sym typeface="Calibri (MS)"/>
                </a:rPr>
                <a:t>        lblEstado = findViewById(R.id.lblEstado);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SharedPreferences prefs = getSharedPreferences(PREFS, Context.MODE_PRIVATE);</a:t>
              </a:r>
            </a:p>
            <a:p>
              <a:pPr algn="l">
                <a:lnSpc>
                  <a:spcPts val="1800"/>
                </a:lnSpc>
              </a:pPr>
              <a:r>
                <a:rPr lang="en-US" sz="1500">
                  <a:solidFill>
                    <a:srgbClr val="4F81BD"/>
                  </a:solidFill>
                  <a:latin typeface="Calibri (MS)"/>
                  <a:ea typeface="Calibri (MS)"/>
                  <a:cs typeface="Calibri (MS)"/>
                  <a:sym typeface="Calibri (MS)"/>
                </a:rPr>
                <a:t>        txtServidor.setText(prefs.getString(CLAVE_SERVIDOR, ControladorConversiones.urlPorDefecto()));</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LoginActivity</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sp>
        <p:sp>
          <p:nvSpPr>
            <p:cNvPr name="TextBox 19" id="19"/>
            <p:cNvSpPr txBox="true"/>
            <p:nvPr/>
          </p:nvSpPr>
          <p:spPr>
            <a:xfrm>
              <a:off x="0" y="-28575"/>
              <a:ext cx="12278360" cy="8969375"/>
            </a:xfrm>
            <a:prstGeom prst="rect">
              <a:avLst/>
            </a:prstGeom>
          </p:spPr>
          <p:txBody>
            <a:bodyPr anchor="t" rtlCol="false" tIns="50800" lIns="50800" bIns="50800" rIns="50800"/>
            <a:lstStyle/>
            <a:p>
              <a:pPr algn="l">
                <a:lnSpc>
                  <a:spcPts val="1620"/>
                </a:lnSpc>
              </a:pPr>
              <a:r>
                <a:rPr lang="en-US" sz="1350">
                  <a:solidFill>
                    <a:srgbClr val="4F81BD"/>
                  </a:solidFill>
                  <a:latin typeface="Calibri (MS)"/>
                  <a:ea typeface="Calibri (MS)"/>
                  <a:cs typeface="Calibri (MS)"/>
                  <a:sym typeface="Calibri (MS)"/>
                </a:rPr>
                <a:t>        btnIngresar.setOnClickListener(v -&gt; ingresar());</a:t>
              </a:r>
            </a:p>
            <a:p>
              <a:pPr algn="l">
                <a:lnSpc>
                  <a:spcPts val="1620"/>
                </a:lnSpc>
              </a:pPr>
              <a:r>
                <a:rPr lang="en-US" sz="1350">
                  <a:solidFill>
                    <a:srgbClr val="4F81BD"/>
                  </a:solidFill>
                  <a:latin typeface="Calibri (MS)"/>
                  <a:ea typeface="Calibri (MS)"/>
                  <a:cs typeface="Calibri (MS)"/>
                  <a:sym typeface="Calibri (MS)"/>
                </a:rPr>
                <a:t>        txtClave.setOnEditorActionListener((v, accion, ev) -&gt; {</a:t>
              </a:r>
            </a:p>
            <a:p>
              <a:pPr algn="l">
                <a:lnSpc>
                  <a:spcPts val="1620"/>
                </a:lnSpc>
              </a:pPr>
              <a:r>
                <a:rPr lang="en-US" sz="1350">
                  <a:solidFill>
                    <a:srgbClr val="4F81BD"/>
                  </a:solidFill>
                  <a:latin typeface="Calibri (MS)"/>
                  <a:ea typeface="Calibri (MS)"/>
                  <a:cs typeface="Calibri (MS)"/>
                  <a:sym typeface="Calibri (MS)"/>
                </a:rPr>
                <a:t>            if (accion == EditorInfo.IME_ACTION_DONE || accion == EditorInfo.IME_ACTION_GO) {</a:t>
              </a:r>
            </a:p>
            <a:p>
              <a:pPr algn="l">
                <a:lnSpc>
                  <a:spcPts val="1620"/>
                </a:lnSpc>
              </a:pPr>
              <a:r>
                <a:rPr lang="en-US" sz="1350">
                  <a:solidFill>
                    <a:srgbClr val="4F81BD"/>
                  </a:solidFill>
                  <a:latin typeface="Calibri (MS)"/>
                  <a:ea typeface="Calibri (MS)"/>
                  <a:cs typeface="Calibri (MS)"/>
                  <a:sym typeface="Calibri (MS)"/>
                </a:rPr>
                <a:t>                ingresar();</a:t>
              </a:r>
            </a:p>
            <a:p>
              <a:pPr algn="l">
                <a:lnSpc>
                  <a:spcPts val="1620"/>
                </a:lnSpc>
              </a:pPr>
              <a:r>
                <a:rPr lang="en-US" sz="1350">
                  <a:solidFill>
                    <a:srgbClr val="4F81BD"/>
                  </a:solidFill>
                  <a:latin typeface="Calibri (MS)"/>
                  <a:ea typeface="Calibri (MS)"/>
                  <a:cs typeface="Calibri (MS)"/>
                  <a:sym typeface="Calibri (MS)"/>
                </a:rPr>
                <a:t>                return true;</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return false;</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@Override</a:t>
              </a:r>
            </a:p>
            <a:p>
              <a:pPr algn="l">
                <a:lnSpc>
                  <a:spcPts val="1620"/>
                </a:lnSpc>
              </a:pPr>
              <a:r>
                <a:rPr lang="en-US" sz="1350">
                  <a:solidFill>
                    <a:srgbClr val="4F81BD"/>
                  </a:solidFill>
                  <a:latin typeface="Calibri (MS)"/>
                  <a:ea typeface="Calibri (MS)"/>
                  <a:cs typeface="Calibri (MS)"/>
                  <a:sym typeface="Calibri (MS)"/>
                </a:rPr>
                <a:t>    protected void onStart() {</a:t>
              </a:r>
            </a:p>
            <a:p>
              <a:pPr algn="l">
                <a:lnSpc>
                  <a:spcPts val="1620"/>
                </a:lnSpc>
              </a:pPr>
              <a:r>
                <a:rPr lang="en-US" sz="1350">
                  <a:solidFill>
                    <a:srgbClr val="4F81BD"/>
                  </a:solidFill>
                  <a:latin typeface="Calibri (MS)"/>
                  <a:ea typeface="Calibri (MS)"/>
                  <a:cs typeface="Calibri (MS)"/>
                  <a:sym typeface="Calibri (MS)"/>
                </a:rPr>
                <a:t>        super.onStart();</a:t>
              </a:r>
            </a:p>
            <a:p>
              <a:pPr algn="l">
                <a:lnSpc>
                  <a:spcPts val="1620"/>
                </a:lnSpc>
              </a:pPr>
              <a:r>
                <a:rPr lang="en-US" sz="1350">
                  <a:solidFill>
                    <a:srgbClr val="4F81BD"/>
                  </a:solidFill>
                  <a:latin typeface="Calibri (MS)"/>
                  <a:ea typeface="Calibri (MS)"/>
                  <a:cs typeface="Calibri (MS)"/>
                  <a:sym typeface="Calibri (MS)"/>
                </a:rPr>
                <a:t>        if (SesionApp.haySesion()) {</a:t>
              </a:r>
            </a:p>
            <a:p>
              <a:pPr algn="l">
                <a:lnSpc>
                  <a:spcPts val="1620"/>
                </a:lnSpc>
              </a:pPr>
              <a:r>
                <a:rPr lang="en-US" sz="1350">
                  <a:solidFill>
                    <a:srgbClr val="4F81BD"/>
                  </a:solidFill>
                  <a:latin typeface="Calibri (MS)"/>
                  <a:ea typeface="Calibri (MS)"/>
                  <a:cs typeface="Calibri (MS)"/>
                  <a:sym typeface="Calibri (MS)"/>
                </a:rPr>
                <a:t>            irAConversion();</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private void mostrar(String texto, int color) {</a:t>
              </a:r>
            </a:p>
            <a:p>
              <a:pPr algn="l">
                <a:lnSpc>
                  <a:spcPts val="1620"/>
                </a:lnSpc>
              </a:pPr>
              <a:r>
                <a:rPr lang="en-US" sz="1350">
                  <a:solidFill>
                    <a:srgbClr val="4F81BD"/>
                  </a:solidFill>
                  <a:latin typeface="Calibri (MS)"/>
                  <a:ea typeface="Calibri (MS)"/>
                  <a:cs typeface="Calibri (MS)"/>
                  <a:sym typeface="Calibri (MS)"/>
                </a:rPr>
                <a:t>        lblEstado.setTextColor(color);</a:t>
              </a:r>
            </a:p>
            <a:p>
              <a:pPr algn="l">
                <a:lnSpc>
                  <a:spcPts val="1620"/>
                </a:lnSpc>
              </a:pPr>
              <a:r>
                <a:rPr lang="en-US" sz="1350">
                  <a:solidFill>
                    <a:srgbClr val="4F81BD"/>
                  </a:solidFill>
                  <a:latin typeface="Calibri (MS)"/>
                  <a:ea typeface="Calibri (MS)"/>
                  <a:cs typeface="Calibri (MS)"/>
                  <a:sym typeface="Calibri (MS)"/>
                </a:rPr>
                <a:t>        lblEstado.setText(texto);</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a:t>
              </a:r>
            </a:p>
            <a:p>
              <a:pPr algn="l">
                <a:lnSpc>
                  <a:spcPts val="1620"/>
                </a:lnSpc>
              </a:pPr>
              <a:r>
                <a:rPr lang="en-US" sz="1350">
                  <a:solidFill>
                    <a:srgbClr val="4F81BD"/>
                  </a:solidFill>
                  <a:latin typeface="Calibri (MS)"/>
                  <a:ea typeface="Calibri (MS)"/>
                  <a:cs typeface="Calibri (MS)"/>
                  <a:sym typeface="Calibri (MS)"/>
                </a:rPr>
                <a:t>    private void ingresar() {</a:t>
              </a:r>
            </a:p>
            <a:p>
              <a:pPr algn="l">
                <a:lnSpc>
                  <a:spcPts val="1620"/>
                </a:lnSpc>
              </a:pPr>
              <a:r>
                <a:rPr lang="en-US" sz="1350">
                  <a:solidFill>
                    <a:srgbClr val="4F81BD"/>
                  </a:solidFill>
                  <a:latin typeface="Calibri (MS)"/>
                  <a:ea typeface="Calibri (MS)"/>
                  <a:cs typeface="Calibri (MS)"/>
                  <a:sym typeface="Calibri (MS)"/>
                </a:rPr>
                <a:t>        final String url = txtServidor.getText().toString();</a:t>
              </a:r>
            </a:p>
            <a:p>
              <a:pPr algn="l">
                <a:lnSpc>
                  <a:spcPts val="1620"/>
                </a:lnSpc>
              </a:pPr>
              <a:r>
                <a:rPr lang="en-US" sz="1350">
                  <a:solidFill>
                    <a:srgbClr val="4F81BD"/>
                  </a:solidFill>
                  <a:latin typeface="Calibri (MS)"/>
                  <a:ea typeface="Calibri (MS)"/>
                  <a:cs typeface="Calibri (MS)"/>
                  <a:sym typeface="Calibri (MS)"/>
                </a:rPr>
                <a:t>        final String usuario = txtUsuario.getText().toString();</a:t>
              </a:r>
            </a:p>
            <a:p>
              <a:pPr algn="l">
                <a:lnSpc>
                  <a:spcPts val="1620"/>
                </a:lnSpc>
              </a:pPr>
              <a:r>
                <a:rPr lang="en-US" sz="1350">
                  <a:solidFill>
                    <a:srgbClr val="4F81BD"/>
                  </a:solidFill>
                  <a:latin typeface="Calibri (MS)"/>
                  <a:ea typeface="Calibri (MS)"/>
                  <a:cs typeface="Calibri (MS)"/>
                  <a:sym typeface="Calibri (MS)"/>
                </a:rPr>
                <a:t>        final String clave = txtClave.getText().toString();</a:t>
              </a:r>
            </a:p>
            <a:p>
              <a:pPr algn="l">
                <a:lnSpc>
                  <a:spcPts val="1620"/>
                </a:lnSpc>
              </a:pPr>
              <a:r>
                <a:rPr lang="en-US" sz="1350">
                  <a:solidFill>
                    <a:srgbClr val="4F81BD"/>
                  </a:solidFill>
                  <a:latin typeface="Calibri (MS)"/>
                  <a:ea typeface="Calibri (MS)"/>
                  <a:cs typeface="Calibri (MS)"/>
                  <a:sym typeface="Calibri (MS)"/>
                </a:rPr>
                <a:t>        btnIngresar.setEnabled(false);</a:t>
              </a:r>
            </a:p>
            <a:p>
              <a:pPr algn="l">
                <a:lnSpc>
                  <a:spcPts val="1620"/>
                </a:lnSpc>
              </a:pPr>
              <a:r>
                <a:rPr lang="en-US" sz="1350">
                  <a:solidFill>
                    <a:srgbClr val="4F81BD"/>
                  </a:solidFill>
                  <a:latin typeface="Calibri (MS)"/>
                  <a:ea typeface="Calibri (MS)"/>
                  <a:cs typeface="Calibri (MS)"/>
                  <a:sym typeface="Calibri (MS)"/>
                </a:rPr>
                <a:t>        mostrar("Conectando...", getResources().getColor(R.color.azul, getTheme()));</a:t>
              </a:r>
            </a:p>
            <a:p>
              <a:pPr algn="l">
                <a:lnSpc>
                  <a:spcPts val="1620"/>
                </a:lnSpc>
              </a:pPr>
              <a:r>
                <a:rPr lang="en-US" sz="1350">
                  <a:solidFill>
                    <a:srgbClr val="4F81BD"/>
                  </a:solidFill>
                  <a:latin typeface="Calibri (MS)"/>
                  <a:ea typeface="Calibri (MS)"/>
                  <a:cs typeface="Calibri (MS)"/>
                  <a:sym typeface="Calibri (MS)"/>
                </a:rPr>
                <a:t>        new Thread(() -&gt; {</a:t>
              </a:r>
            </a:p>
          </p:txBody>
        </p:sp>
      </p:gr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6096930" y="2800807"/>
            <a:ext cx="3486743" cy="7359879"/>
          </a:xfrm>
          <a:custGeom>
            <a:avLst/>
            <a:gdLst/>
            <a:ahLst/>
            <a:cxnLst/>
            <a:rect r="r" b="b" t="t" l="l"/>
            <a:pathLst>
              <a:path h="7359879" w="3486743">
                <a:moveTo>
                  <a:pt x="0" y="0"/>
                </a:moveTo>
                <a:lnTo>
                  <a:pt x="3486742" y="0"/>
                </a:lnTo>
                <a:lnTo>
                  <a:pt x="3486742" y="7359880"/>
                </a:lnTo>
                <a:lnTo>
                  <a:pt x="0" y="7359880"/>
                </a:lnTo>
                <a:lnTo>
                  <a:pt x="0" y="0"/>
                </a:lnTo>
                <a:close/>
              </a:path>
            </a:pathLst>
          </a:custGeom>
          <a:blipFill>
            <a:blip r:embed="rId3"/>
            <a:stretch>
              <a:fillRect l="0" t="0" r="0" b="0"/>
            </a:stretch>
          </a:blipFill>
        </p:spPr>
      </p:sp>
      <p:sp>
        <p:nvSpPr>
          <p:cNvPr name="TextBox 17" id="17"/>
          <p:cNvSpPr txBox="true"/>
          <p:nvPr/>
        </p:nvSpPr>
        <p:spPr>
          <a:xfrm rot="0">
            <a:off x="871785" y="6033834"/>
            <a:ext cx="4892069" cy="446913"/>
          </a:xfrm>
          <a:prstGeom prst="rect">
            <a:avLst/>
          </a:prstGeom>
        </p:spPr>
        <p:txBody>
          <a:bodyPr anchor="t" rtlCol="false" tIns="0" lIns="0" bIns="0" rIns="0">
            <a:spAutoFit/>
          </a:bodyPr>
          <a:lstStyle/>
          <a:p>
            <a:pPr algn="just" marL="497678" indent="-248839" lvl="1">
              <a:lnSpc>
                <a:spcPts val="3530"/>
              </a:lnSpc>
              <a:buFont typeface="Arial"/>
              <a:buChar char="•"/>
            </a:pPr>
            <a:r>
              <a:rPr lang="en-US" b="true" sz="2749">
                <a:solidFill>
                  <a:srgbClr val="3D3D3D"/>
                </a:solidFill>
                <a:latin typeface="Cambria Bold"/>
                <a:ea typeface="Cambria Bold"/>
                <a:cs typeface="Cambria Bold"/>
                <a:sym typeface="Cambria Bold"/>
              </a:rPr>
              <a:t>Vista login</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6712565" y="2568083"/>
            <a:ext cx="3486743" cy="7359879"/>
          </a:xfrm>
          <a:custGeom>
            <a:avLst/>
            <a:gdLst/>
            <a:ahLst/>
            <a:cxnLst/>
            <a:rect r="r" b="b" t="t" l="l"/>
            <a:pathLst>
              <a:path h="7359879" w="3486743">
                <a:moveTo>
                  <a:pt x="0" y="0"/>
                </a:moveTo>
                <a:lnTo>
                  <a:pt x="3486743" y="0"/>
                </a:lnTo>
                <a:lnTo>
                  <a:pt x="3486743" y="7359879"/>
                </a:lnTo>
                <a:lnTo>
                  <a:pt x="0" y="7359879"/>
                </a:lnTo>
                <a:lnTo>
                  <a:pt x="0" y="0"/>
                </a:lnTo>
                <a:close/>
              </a:path>
            </a:pathLst>
          </a:custGeom>
          <a:blipFill>
            <a:blip r:embed="rId3"/>
            <a:stretch>
              <a:fillRect l="0" t="0" r="0" b="0"/>
            </a:stretch>
          </a:blipFill>
        </p:spPr>
      </p:sp>
      <p:sp>
        <p:nvSpPr>
          <p:cNvPr name="TextBox 17" id="17"/>
          <p:cNvSpPr txBox="true"/>
          <p:nvPr/>
        </p:nvSpPr>
        <p:spPr>
          <a:xfrm rot="0">
            <a:off x="871785" y="5925925"/>
            <a:ext cx="4892069" cy="392964"/>
          </a:xfrm>
          <a:prstGeom prst="rect">
            <a:avLst/>
          </a:prstGeom>
        </p:spPr>
        <p:txBody>
          <a:bodyPr anchor="t" rtlCol="false" tIns="0" lIns="0" bIns="0" rIns="0">
            <a:spAutoFit/>
          </a:bodyPr>
          <a:lstStyle/>
          <a:p>
            <a:pPr algn="just" marL="443386" indent="-221693" lvl="1">
              <a:lnSpc>
                <a:spcPts val="3145"/>
              </a:lnSpc>
              <a:buFont typeface="Arial"/>
              <a:buChar char="•"/>
            </a:pPr>
            <a:r>
              <a:rPr lang="en-US" b="true" sz="2449">
                <a:solidFill>
                  <a:srgbClr val="3D3D3D"/>
                </a:solidFill>
                <a:latin typeface="Cambria Bold"/>
                <a:ea typeface="Cambria Bold"/>
                <a:cs typeface="Cambria Bold"/>
                <a:sym typeface="Cambria Bold"/>
              </a:rPr>
              <a:t>Vista Conversor de unidades</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CONCLUSIONES</a:t>
              </a:r>
            </a:p>
          </p:txBody>
        </p:sp>
      </p:grpSp>
      <p:grpSp>
        <p:nvGrpSpPr>
          <p:cNvPr name="Group 13" id="13"/>
          <p:cNvGrpSpPr/>
          <p:nvPr/>
        </p:nvGrpSpPr>
        <p:grpSpPr>
          <a:xfrm rot="0">
            <a:off x="871785" y="3270742"/>
            <a:ext cx="12883953" cy="5517452"/>
            <a:chOff x="0" y="0"/>
            <a:chExt cx="17178604" cy="7356602"/>
          </a:xfrm>
        </p:grpSpPr>
        <p:sp>
          <p:nvSpPr>
            <p:cNvPr name="Freeform 14" id="14"/>
            <p:cNvSpPr/>
            <p:nvPr/>
          </p:nvSpPr>
          <p:spPr>
            <a:xfrm flipH="false" flipV="false" rot="0">
              <a:off x="0" y="0"/>
              <a:ext cx="17178599" cy="7356600"/>
            </a:xfrm>
            <a:custGeom>
              <a:avLst/>
              <a:gdLst/>
              <a:ahLst/>
              <a:cxnLst/>
              <a:rect r="r" b="b" t="t" l="l"/>
              <a:pathLst>
                <a:path h="7356600" w="17178599">
                  <a:moveTo>
                    <a:pt x="0" y="0"/>
                  </a:moveTo>
                  <a:lnTo>
                    <a:pt x="17178599" y="0"/>
                  </a:lnTo>
                  <a:lnTo>
                    <a:pt x="17178599" y="7356600"/>
                  </a:lnTo>
                  <a:lnTo>
                    <a:pt x="0" y="7356600"/>
                  </a:lnTo>
                  <a:close/>
                </a:path>
              </a:pathLst>
            </a:custGeom>
            <a:blipFill>
              <a:blip r:embed="rId2">
                <a:alphaModFix amt="0"/>
              </a:blip>
              <a:stretch>
                <a:fillRect l="-4944" t="0" r="-4945" b="0"/>
              </a:stretch>
            </a:blipFill>
          </p:spPr>
        </p:sp>
        <p:sp>
          <p:nvSpPr>
            <p:cNvPr name="TextBox 15" id="15"/>
            <p:cNvSpPr txBox="true"/>
            <p:nvPr/>
          </p:nvSpPr>
          <p:spPr>
            <a:xfrm>
              <a:off x="0" y="-28575"/>
              <a:ext cx="17178604" cy="7385177"/>
            </a:xfrm>
            <a:prstGeom prst="rect">
              <a:avLst/>
            </a:prstGeom>
          </p:spPr>
          <p:txBody>
            <a:bodyPr anchor="ctr" rtlCol="false" tIns="0" lIns="0" bIns="0" rIns="0"/>
            <a:lstStyle/>
            <a:p>
              <a:pPr algn="just">
                <a:lnSpc>
                  <a:spcPts val="3659"/>
                </a:lnSpc>
              </a:pPr>
              <a:r>
                <a:rPr lang="en-US" sz="2850">
                  <a:solidFill>
                    <a:srgbClr val="3D3D3D"/>
                  </a:solidFill>
                  <a:latin typeface="Cambria"/>
                  <a:ea typeface="Cambria"/>
                  <a:cs typeface="Cambria"/>
                  <a:sym typeface="Cambria"/>
                </a:rPr>
                <a:t>La culminación de este proyecto evidencia la efectividad de una Arquitectura Orientada a Servicios (SOA) al integrar un servidor SOAP desarrollado en Java y alojado en Payara Server con cuatro clientes (consola, escritorio, web y móvil Android) que consumen el mismo contrato WSDL. La seguridad se resolvió con tokens de vigencia limitada, validados en cada operación, y la respuesta estructurada con códigos de error permitió que todos los clientes traten los fallos de forma uniforme, aplicando el patrón MVC en cada uno de ellos.</a:t>
              </a:r>
            </a:p>
          </p:txBody>
        </p:sp>
      </p:grpSp>
      <p:grpSp>
        <p:nvGrpSpPr>
          <p:cNvPr name="Group 16" id="16"/>
          <p:cNvGrpSpPr/>
          <p:nvPr/>
        </p:nvGrpSpPr>
        <p:grpSpPr>
          <a:xfrm rot="0">
            <a:off x="14058881" y="-16669"/>
            <a:ext cx="4245788" cy="10320338"/>
            <a:chOff x="0" y="0"/>
            <a:chExt cx="5661050" cy="13760450"/>
          </a:xfrm>
        </p:grpSpPr>
        <p:sp>
          <p:nvSpPr>
            <p:cNvPr name="Freeform 17" id="17"/>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8" id="18"/>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p:txBody>
        </p:sp>
      </p:gr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RECOMENDACIONES</a:t>
              </a:r>
            </a:p>
          </p:txBody>
        </p:sp>
      </p:grpSp>
      <p:grpSp>
        <p:nvGrpSpPr>
          <p:cNvPr name="Group 13" id="13"/>
          <p:cNvGrpSpPr/>
          <p:nvPr/>
        </p:nvGrpSpPr>
        <p:grpSpPr>
          <a:xfrm rot="0">
            <a:off x="871804" y="3037989"/>
            <a:ext cx="12751203" cy="6436804"/>
            <a:chOff x="0" y="0"/>
            <a:chExt cx="17001604" cy="8582406"/>
          </a:xfrm>
        </p:grpSpPr>
        <p:sp>
          <p:nvSpPr>
            <p:cNvPr name="Freeform 14" id="14"/>
            <p:cNvSpPr/>
            <p:nvPr/>
          </p:nvSpPr>
          <p:spPr>
            <a:xfrm flipH="false" flipV="false" rot="0">
              <a:off x="0" y="0"/>
              <a:ext cx="17001599" cy="8582400"/>
            </a:xfrm>
            <a:custGeom>
              <a:avLst/>
              <a:gdLst/>
              <a:ahLst/>
              <a:cxnLst/>
              <a:rect r="r" b="b" t="t" l="l"/>
              <a:pathLst>
                <a:path h="8582400" w="17001599">
                  <a:moveTo>
                    <a:pt x="0" y="0"/>
                  </a:moveTo>
                  <a:lnTo>
                    <a:pt x="17001599" y="0"/>
                  </a:lnTo>
                  <a:lnTo>
                    <a:pt x="17001599" y="8582400"/>
                  </a:lnTo>
                  <a:lnTo>
                    <a:pt x="0" y="8582400"/>
                  </a:lnTo>
                  <a:close/>
                </a:path>
              </a:pathLst>
            </a:custGeom>
            <a:blipFill>
              <a:blip r:embed="rId2">
                <a:alphaModFix amt="0"/>
              </a:blip>
              <a:stretch>
                <a:fillRect l="-14767" t="0" r="-14767" b="0"/>
              </a:stretch>
            </a:blipFill>
          </p:spPr>
        </p:sp>
        <p:sp>
          <p:nvSpPr>
            <p:cNvPr name="TextBox 15" id="15"/>
            <p:cNvSpPr txBox="true"/>
            <p:nvPr/>
          </p:nvSpPr>
          <p:spPr>
            <a:xfrm>
              <a:off x="0" y="-28575"/>
              <a:ext cx="17001604" cy="8610981"/>
            </a:xfrm>
            <a:prstGeom prst="rect">
              <a:avLst/>
            </a:prstGeom>
          </p:spPr>
          <p:txBody>
            <a:bodyPr anchor="ctr" rtlCol="false" tIns="0" lIns="0" bIns="0" rIns="0"/>
            <a:lstStyle/>
            <a:p>
              <a:pPr algn="just">
                <a:lnSpc>
                  <a:spcPts val="3659"/>
                </a:lnSpc>
              </a:pPr>
              <a:r>
                <a:rPr lang="en-US" sz="2850">
                  <a:solidFill>
                    <a:srgbClr val="3D3D3D"/>
                  </a:solidFill>
                  <a:latin typeface="Cambria"/>
                  <a:ea typeface="Cambria"/>
                  <a:cs typeface="Cambria"/>
                  <a:sym typeface="Cambria"/>
                </a:rPr>
                <a:t>Integrar una base de datos (BDD) formal para reemplazar el manejo de credenciales en memoria y permitir el almacenamiento histórico de las conversiones de manera persistente y escalable.</a:t>
              </a:r>
            </a:p>
            <a:p>
              <a:pPr algn="just">
                <a:lnSpc>
                  <a:spcPts val="3659"/>
                </a:lnSpc>
              </a:pPr>
            </a:p>
            <a:p>
              <a:pPr algn="just">
                <a:lnSpc>
                  <a:spcPts val="3659"/>
                </a:lnSpc>
              </a:pPr>
              <a:r>
                <a:rPr lang="en-US" sz="2850">
                  <a:solidFill>
                    <a:srgbClr val="3D3D3D"/>
                  </a:solidFill>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a:t>
              </a:r>
            </a:p>
            <a:p>
              <a:pPr algn="just">
                <a:lnSpc>
                  <a:spcPts val="3659"/>
                </a:lnSpc>
              </a:pPr>
              <a:r>
                <a:rPr lang="en-US" sz="2850">
                  <a:solidFill>
                    <a:srgbClr val="3D3D3D"/>
                  </a:solidFill>
                  <a:latin typeface="Cambria"/>
                  <a:ea typeface="Cambria"/>
                  <a:cs typeface="Cambria"/>
                  <a:sym typeface="Cambria"/>
                </a:rPr>
                <a:t> </a:t>
              </a:r>
            </a:p>
            <a:p>
              <a:pPr algn="just">
                <a:lnSpc>
                  <a:spcPts val="3659"/>
                </a:lnSpc>
              </a:pPr>
              <a:r>
                <a:rPr lang="en-US" sz="2850">
                  <a:solidFill>
                    <a:srgbClr val="3D3D3D"/>
                  </a:solidFill>
                  <a:latin typeface="Cambria"/>
                  <a:ea typeface="Cambria"/>
                  <a:cs typeface="Cambria"/>
                  <a:sym typeface="Cambria"/>
                </a:rPr>
                <a:t>Agregar nuevas categorías (volumen, tiempo y área) implementando la interfaz Conversor, e incorporar pruebas y análisis estático automatizados para asegurar que las nuevas funcionalidades no rompan la compatibilidad con el contrato WSDL expuesto.</a:t>
              </a:r>
            </a:p>
          </p:txBody>
        </p:sp>
      </p:grpSp>
      <p:grpSp>
        <p:nvGrpSpPr>
          <p:cNvPr name="Group 16" id="16"/>
          <p:cNvGrpSpPr/>
          <p:nvPr/>
        </p:nvGrpSpPr>
        <p:grpSpPr>
          <a:xfrm rot="0">
            <a:off x="14058881" y="-16669"/>
            <a:ext cx="4245788" cy="10320338"/>
            <a:chOff x="0" y="0"/>
            <a:chExt cx="5661050" cy="13760450"/>
          </a:xfrm>
        </p:grpSpPr>
        <p:sp>
          <p:nvSpPr>
            <p:cNvPr name="Freeform 17" id="17"/>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sp>
        <p:sp>
          <p:nvSpPr>
            <p:cNvPr name="TextBox 18" id="18"/>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SOAP</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RECOMENDACIONES</a:t>
              </a:r>
            </a:p>
            <a:p>
              <a:pPr algn="l" marL="325755" indent="-162878" lvl="1">
                <a:lnSpc>
                  <a:spcPts val="21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DAHZOI_Z0lU</dc:identifier>
  <dcterms:modified xsi:type="dcterms:W3CDTF">2011-08-01T06:04:30Z</dcterms:modified>
  <cp:revision>1</cp:revision>
  <dc:title>INTEGRANTES: MIRANDA ALISON MORÁN LENIN VIVANCO GABRIEL</dc:title>
</cp:coreProperties>
</file>