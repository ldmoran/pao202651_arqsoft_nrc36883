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3"/>
  </p:notesMasterIdLst>
  <p:sldIdLst>
    <p:sldId id="256" r:id="rId2"/>
    <p:sldId id="257" r:id="rId3"/>
    <p:sldId id="258" r:id="rId4"/>
    <p:sldId id="330" r:id="rId5"/>
    <p:sldId id="331" r:id="rId6"/>
    <p:sldId id="332" r:id="rId7"/>
    <p:sldId id="333" r:id="rId8"/>
    <p:sldId id="334" r:id="rId9"/>
    <p:sldId id="335" r:id="rId10"/>
    <p:sldId id="336"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381" r:id="rId56"/>
    <p:sldId id="382" r:id="rId57"/>
    <p:sldId id="383" r:id="rId58"/>
    <p:sldId id="384" r:id="rId59"/>
    <p:sldId id="385" r:id="rId60"/>
    <p:sldId id="386" r:id="rId61"/>
    <p:sldId id="387" r:id="rId62"/>
    <p:sldId id="388" r:id="rId63"/>
    <p:sldId id="389" r:id="rId64"/>
    <p:sldId id="390" r:id="rId65"/>
    <p:sldId id="391" r:id="rId66"/>
    <p:sldId id="392" r:id="rId67"/>
    <p:sldId id="393" r:id="rId68"/>
    <p:sldId id="394" r:id="rId69"/>
    <p:sldId id="395" r:id="rId70"/>
    <p:sldId id="396" r:id="rId71"/>
    <p:sldId id="397" r:id="rId72"/>
    <p:sldId id="398" r:id="rId73"/>
    <p:sldId id="399" r:id="rId74"/>
    <p:sldId id="400" r:id="rId75"/>
    <p:sldId id="401" r:id="rId76"/>
    <p:sldId id="402" r:id="rId77"/>
    <p:sldId id="403" r:id="rId78"/>
    <p:sldId id="404" r:id="rId79"/>
    <p:sldId id="405" r:id="rId80"/>
    <p:sldId id="328" r:id="rId81"/>
    <p:sldId id="329" r:id="rId82"/>
  </p:sldIdLst>
  <p:sldSz cx="12192000" cy="6858000"/>
  <p:notesSz cx="6858000" cy="9144000"/>
  <p:embeddedFontLst>
    <p:embeddedFont>
      <p:font typeface="Calibri" panose="020F0502020204030204" pitchFamily="34" charset="0"/>
      <p:regular r:id="rId84"/>
      <p:bold r:id="rId85"/>
      <p:italic r:id="rId86"/>
      <p:boldItalic r:id="rId87"/>
    </p:embeddedFont>
    <p:embeddedFont>
      <p:font typeface="Cambria" panose="02040503050406030204" pitchFamily="18" charset="0"/>
      <p:regular r:id="rId88"/>
      <p:bold r:id="rId89"/>
      <p:italic r:id="rId90"/>
      <p:boldItalic r:id="rId91"/>
    </p:embeddedFont>
    <p:embeddedFont>
      <p:font typeface="Gill Sans" panose="020B0604020202020204" charset="0"/>
      <p:regular r:id="rId92"/>
      <p:bold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SOAP JAVA</a:t>
            </a:r>
            <a:endParaRPr/>
          </a:p>
        </p:txBody>
      </p:sp>
      <p:sp>
        <p:nvSpPr>
          <p:cNvPr id="97" name="Google Shape;97;p13"/>
          <p:cNvSpPr txBox="1">
            <a:spLocks noGrp="1"/>
          </p:cNvSpPr>
          <p:nvPr>
            <p:ph type="subTitle" idx="1"/>
          </p:nvPr>
        </p:nvSpPr>
        <p:spPr>
          <a:xfrm>
            <a:off x="599226" y="4572000"/>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a:solidFill>
                <a:schemeClr val="lt1"/>
              </a:solidFill>
            </a:endParaRPr>
          </a:p>
          <a:p>
            <a:pPr marL="0" lvl="0" indent="0" algn="l" rtl="0">
              <a:lnSpc>
                <a:spcPct val="100000"/>
              </a:lnSpc>
              <a:spcBef>
                <a:spcPts val="920"/>
              </a:spcBef>
              <a:spcAft>
                <a:spcPts val="0"/>
              </a:spcAft>
              <a:buSzPts val="1472"/>
              <a:buNone/>
            </a:pPr>
            <a:r>
              <a:rPr lang="es-ES" b="1">
                <a:solidFill>
                  <a:schemeClr val="lt1"/>
                </a:solidFill>
              </a:rPr>
              <a:t>INTEGRANTES:</a:t>
            </a:r>
            <a:r>
              <a:rPr lang="es-ES">
                <a:solidFill>
                  <a:schemeClr val="lt1"/>
                </a:solidFill>
              </a:rPr>
              <a:t> 	MIRANDA ALISON					MORÁN LENIN			         	VIVANCO GABRIEL</a:t>
            </a:r>
            <a:endParaRPr>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FECHA:  </a:t>
            </a:r>
            <a:r>
              <a:rPr lang="es-ES" sz="1600" b="1">
                <a:solidFill>
                  <a:srgbClr val="FFFFFF"/>
                </a:solidFill>
                <a:latin typeface="Gill Sans"/>
                <a:ea typeface="Gill Sans"/>
                <a:cs typeface="Gill Sans"/>
                <a:sym typeface="Gill Sans"/>
              </a:rPr>
              <a:t>10/10/2026</a:t>
            </a:r>
            <a:endParaRPr sz="1600" b="0" i="0" u="none" strike="noStrike" cap="none">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ING: </a:t>
            </a:r>
            <a:r>
              <a:rPr lang="es-ES" sz="1600" b="0" i="0" u="none" strike="noStrike" cap="none">
                <a:solidFill>
                  <a:srgbClr val="FFFFFF"/>
                </a:solidFill>
                <a:latin typeface="Gill Sans"/>
                <a:ea typeface="Gill Sans"/>
                <a:cs typeface="Gill Sans"/>
                <a:sym typeface="Gill Sans"/>
              </a:rPr>
              <a:t>CAMPAÑA MAURICIO</a:t>
            </a:r>
            <a:endParaRPr sz="1600" b="1" i="0" u="none" strike="noStrike" cap="non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SOAP EN JAVA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a:latin typeface="Cambria"/>
                <a:ea typeface="Cambria"/>
                <a:cs typeface="Cambria"/>
                <a:sym typeface="Cambria"/>
              </a:rPr>
              <a:t>1</a:t>
            </a:r>
            <a:r>
              <a:rPr lang="es-ES" sz="1800" b="1">
                <a:latin typeface="Cambria"/>
                <a:ea typeface="Cambria"/>
                <a:cs typeface="Cambria"/>
                <a:sym typeface="Cambria"/>
              </a:rPr>
              <a:t>.1	OBJETIVO</a:t>
            </a:r>
            <a:endParaRPr b="1"/>
          </a:p>
          <a:p>
            <a:pPr marL="342900" marR="0" lvl="0" indent="-237744"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SOAP mediante JAVA para realizar conversiones de unidades de longitud, masa y temperatura, consumido por clientes de consola, escritorio, web y móvil.</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SOAP</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MÓVIL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149047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1.2.1 	Servidor Payara</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NetBeans, en la sección de Servicios se crea un servidor, específicamente Payara.</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3547872"/>
            <a:ext cx="5120640" cy="3127248"/>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Servicios &gt; Servers &gt; Add Server &gt; Payara Server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81381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de Payara 6 (6.2025.11), se aceptan los términos de condiciones y se selecciona un directorio donde instalar el servidor.</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2871216"/>
            <a:ext cx="5120640" cy="3803904"/>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Add Server Instance: ubicación de instalación y versión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149047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Para terminar la configuración del servidor se configura un nombre de dominio, un host (en nuestro caso, localhost) y los puertos (8080 HTTP y 4848 administración). Payara 6 requiere JDK 21, por lo que se agrega esa plataforma en NetBeans.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3547872"/>
            <a:ext cx="5120640" cy="3127248"/>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Add Server Instance: dominio, host y puertos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149047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1.2.2 	Creación del Proyecto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Java with Maven, tipo Web Application.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3547872"/>
            <a:ext cx="5120640" cy="3127248"/>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New Project &gt; Java with Maven &gt; Web Application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149047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aplica el nombre del proyecto como ‘WS_ConUni_Java_GR07’, y se configura el grupo como ‘ec.edu.monster’.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nuestro Servidor Payara creado y Jakarta EE 10 como conjunto de desarrollo de aplicaciones Java.</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3547872"/>
            <a:ext cx="5120640" cy="3127248"/>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New Web Application: nombre, grupo, servidor y versión de Jakarta 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625" b="1">
                <a:latin typeface="Cambria"/>
                <a:ea typeface="Cambria"/>
                <a:cs typeface="Cambria"/>
                <a:sym typeface="Cambria"/>
              </a:rPr>
              <a:t>ESTRUCTURA</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Aplicando capas de servicio (SOA) junto a otras capas se configuran los paquetes principales: controladores (servicios web y manejadores), modelos, seguridad y servicios. El patrón MVC se aplica en los clientes.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ree_servidor.png"/>
          <p:cNvPicPr>
            <a:picLocks noChangeAspect="1"/>
          </p:cNvPicPr>
          <p:nvPr/>
        </p:nvPicPr>
        <p:blipFill>
          <a:blip r:embed="rId2"/>
          <a:stretch>
            <a:fillRect/>
          </a:stretch>
        </p:blipFill>
        <p:spPr>
          <a:xfrm>
            <a:off x="3931920" y="2935681"/>
            <a:ext cx="5212080" cy="24496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216712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1.2.3 	Creación del WebService</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Dentro del paquete controladores.ws se crea un Web Service por cada función: WSLogin, WSCatalogo, WSLongitud, WSMasa y WSTemperatura.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Cada uno fija el espacio de nombres http://WebServices.monster.edu.ec/ para que el contrato WSDL no dependa de los paquetes.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4224527"/>
            <a:ext cx="5120640" cy="2450592"/>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New &gt; Web Service: nombre y paquete controladores.ws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WSLogin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Servicio de inicio de sesión (CU-01). Solo recibe el pedido y lo pasa al manejador.</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4434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ec.edu.monster.controladores.ws;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@WebService(serviceName = "WSLogin", targetNamespace = "http://WebServices.monster.edu.ec/")</a:t>
            </a:r>
          </a:p>
          <a:p>
            <a:pPr algn="l">
              <a:lnSpc>
                <a:spcPct val="100000"/>
              </a:lnSpc>
              <a:spcBef>
                <a:spcPts val="0"/>
              </a:spcBef>
              <a:spcAft>
                <a:spcPts val="0"/>
              </a:spcAft>
            </a:pPr>
            <a:r>
              <a:rPr sz="1000">
                <a:solidFill>
                  <a:srgbClr val="4F81BD"/>
                </a:solidFill>
                <a:latin typeface="Calibri"/>
              </a:rPr>
              <a:t>public class WSLogin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ManejadorLogin manejador = new ManejadorLogin();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@WebMethod(operationName = "login")</a:t>
            </a:r>
          </a:p>
          <a:p>
            <a:pPr algn="l">
              <a:lnSpc>
                <a:spcPct val="100000"/>
              </a:lnSpc>
              <a:spcBef>
                <a:spcPts val="0"/>
              </a:spcBef>
              <a:spcAft>
                <a:spcPts val="0"/>
              </a:spcAft>
            </a:pPr>
            <a:r>
              <a:rPr sz="1000">
                <a:solidFill>
                  <a:srgbClr val="4F81BD"/>
                </a:solidFill>
                <a:latin typeface="Calibri"/>
              </a:rPr>
              <a:t>    public RespuestaServicio login(</a:t>
            </a:r>
          </a:p>
          <a:p>
            <a:pPr algn="l">
              <a:lnSpc>
                <a:spcPct val="100000"/>
              </a:lnSpc>
              <a:spcBef>
                <a:spcPts val="0"/>
              </a:spcBef>
              <a:spcAft>
                <a:spcPts val="0"/>
              </a:spcAft>
            </a:pPr>
            <a:r>
              <a:rPr sz="1000">
                <a:solidFill>
                  <a:srgbClr val="4F81BD"/>
                </a:solidFill>
                <a:latin typeface="Calibri"/>
              </a:rPr>
              <a:t>            @WebParam(name = "usuario") String usuario,</a:t>
            </a:r>
          </a:p>
          <a:p>
            <a:pPr algn="l">
              <a:lnSpc>
                <a:spcPct val="100000"/>
              </a:lnSpc>
              <a:spcBef>
                <a:spcPts val="0"/>
              </a:spcBef>
              <a:spcAft>
                <a:spcPts val="0"/>
              </a:spcAft>
            </a:pPr>
            <a:r>
              <a:rPr sz="1000">
                <a:solidFill>
                  <a:srgbClr val="4F81BD"/>
                </a:solidFill>
                <a:latin typeface="Calibri"/>
              </a:rPr>
              <a:t>            @WebParam(name = "clave") String clave) {</a:t>
            </a:r>
          </a:p>
          <a:p>
            <a:pPr algn="l">
              <a:lnSpc>
                <a:spcPct val="100000"/>
              </a:lnSpc>
              <a:spcBef>
                <a:spcPts val="0"/>
              </a:spcBef>
              <a:spcAft>
                <a:spcPts val="0"/>
              </a:spcAft>
            </a:pPr>
            <a:r>
              <a:rPr sz="1000">
                <a:solidFill>
                  <a:srgbClr val="4F81BD"/>
                </a:solidFill>
                <a:latin typeface="Calibri"/>
              </a:rPr>
              <a:t>        return manejador.login(usuario, clave);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WSCatalogo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Servicio del catálogo (CU-02 y CU-03): categorías y unidades de cada categoría.</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2181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ec.edu.monster.controladores.ws;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@WebService(serviceName = "WSCatalogo", targetNamespace = "http://WebServices.monster.edu.ec/")</a:t>
            </a:r>
          </a:p>
          <a:p>
            <a:pPr algn="l">
              <a:lnSpc>
                <a:spcPct val="100000"/>
              </a:lnSpc>
              <a:spcBef>
                <a:spcPts val="0"/>
              </a:spcBef>
              <a:spcAft>
                <a:spcPts val="0"/>
              </a:spcAft>
            </a:pPr>
            <a:r>
              <a:rPr sz="1000">
                <a:solidFill>
                  <a:srgbClr val="4F81BD"/>
                </a:solidFill>
                <a:latin typeface="Calibri"/>
              </a:rPr>
              <a:t>public class WSCatalogo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ManejadorCatalogo manejador = new ManejadorCatalogo();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@WebMethod(operationName = "obtenerCategorias")</a:t>
            </a:r>
          </a:p>
          <a:p>
            <a:pPr algn="l">
              <a:lnSpc>
                <a:spcPct val="100000"/>
              </a:lnSpc>
              <a:spcBef>
                <a:spcPts val="0"/>
              </a:spcBef>
              <a:spcAft>
                <a:spcPts val="0"/>
              </a:spcAft>
            </a:pPr>
            <a:r>
              <a:rPr sz="1000">
                <a:solidFill>
                  <a:srgbClr val="4F81BD"/>
                </a:solidFill>
                <a:latin typeface="Calibri"/>
              </a:rPr>
              <a:t>    public RespuestaServicio obtenerCategorias(@WebParam(name = "token") String token) {</a:t>
            </a:r>
          </a:p>
          <a:p>
            <a:pPr algn="l">
              <a:lnSpc>
                <a:spcPct val="100000"/>
              </a:lnSpc>
              <a:spcBef>
                <a:spcPts val="0"/>
              </a:spcBef>
              <a:spcAft>
                <a:spcPts val="0"/>
              </a:spcAft>
            </a:pPr>
            <a:r>
              <a:rPr sz="1000">
                <a:solidFill>
                  <a:srgbClr val="4F81BD"/>
                </a:solidFill>
                <a:latin typeface="Calibri"/>
              </a:rPr>
              <a:t>        return manejador.obtenerCategorias(token);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@WebMethod(operationName = "obtenerUnidades")</a:t>
            </a:r>
          </a:p>
          <a:p>
            <a:pPr algn="l">
              <a:lnSpc>
                <a:spcPct val="100000"/>
              </a:lnSpc>
              <a:spcBef>
                <a:spcPts val="0"/>
              </a:spcBef>
              <a:spcAft>
                <a:spcPts val="0"/>
              </a:spcAft>
            </a:pPr>
            <a:r>
              <a:rPr sz="1000">
                <a:solidFill>
                  <a:srgbClr val="4F81BD"/>
                </a:solidFill>
                <a:latin typeface="Calibri"/>
              </a:rPr>
              <a:t>    public RespuestaServicio obtenerUnidades(</a:t>
            </a:r>
          </a:p>
          <a:p>
            <a:pPr algn="l">
              <a:lnSpc>
                <a:spcPct val="100000"/>
              </a:lnSpc>
              <a:spcBef>
                <a:spcPts val="0"/>
              </a:spcBef>
              <a:spcAft>
                <a:spcPts val="0"/>
              </a:spcAft>
            </a:pPr>
            <a:r>
              <a:rPr sz="1000">
                <a:solidFill>
                  <a:srgbClr val="4F81BD"/>
                </a:solidFill>
                <a:latin typeface="Calibri"/>
              </a:rPr>
              <a:t>            @WebParam(name = "token") String token,</a:t>
            </a:r>
          </a:p>
          <a:p>
            <a:pPr algn="l">
              <a:lnSpc>
                <a:spcPct val="100000"/>
              </a:lnSpc>
              <a:spcBef>
                <a:spcPts val="0"/>
              </a:spcBef>
              <a:spcAft>
                <a:spcPts val="0"/>
              </a:spcAft>
            </a:pPr>
            <a:r>
              <a:rPr sz="1000">
                <a:solidFill>
                  <a:srgbClr val="4F81BD"/>
                </a:solidFill>
                <a:latin typeface="Calibri"/>
              </a:rPr>
              <a:t>            @WebParam(name = "categoria") String categoria) {</a:t>
            </a:r>
          </a:p>
          <a:p>
            <a:pPr algn="l">
              <a:lnSpc>
                <a:spcPct val="100000"/>
              </a:lnSpc>
              <a:spcBef>
                <a:spcPts val="0"/>
              </a:spcBef>
              <a:spcAft>
                <a:spcPts val="0"/>
              </a:spcAft>
            </a:pPr>
            <a:r>
              <a:rPr sz="1000">
                <a:solidFill>
                  <a:srgbClr val="4F81BD"/>
                </a:solidFill>
                <a:latin typeface="Calibri"/>
              </a:rPr>
              <a:t>        return manejador.obtenerUnidades(token,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WSMasa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Servicio de conversión de masa (CU-04). WSLongitud y WSTemperatura tienen la misma forma.</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75335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ec.edu.monster.controladores.ws;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@WebService(serviceName = "WSMasa", targetNamespace = "http://WebServices.monster.edu.ec/")</a:t>
            </a:r>
          </a:p>
          <a:p>
            <a:pPr algn="l">
              <a:lnSpc>
                <a:spcPct val="100000"/>
              </a:lnSpc>
              <a:spcBef>
                <a:spcPts val="0"/>
              </a:spcBef>
              <a:spcAft>
                <a:spcPts val="0"/>
              </a:spcAft>
            </a:pPr>
            <a:r>
              <a:rPr sz="1000">
                <a:solidFill>
                  <a:srgbClr val="4F81BD"/>
                </a:solidFill>
                <a:latin typeface="Calibri"/>
              </a:rPr>
              <a:t>public class WSMasa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ManejadorConversion manejador = new ManejadorConversion();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@WebMethod(operationName = "convertirMasa")</a:t>
            </a:r>
          </a:p>
          <a:p>
            <a:pPr algn="l">
              <a:lnSpc>
                <a:spcPct val="100000"/>
              </a:lnSpc>
              <a:spcBef>
                <a:spcPts val="0"/>
              </a:spcBef>
              <a:spcAft>
                <a:spcPts val="0"/>
              </a:spcAft>
            </a:pPr>
            <a:r>
              <a:rPr sz="1000">
                <a:solidFill>
                  <a:srgbClr val="4F81BD"/>
                </a:solidFill>
                <a:latin typeface="Calibri"/>
              </a:rPr>
              <a:t>    public RespuestaServicio convertirMasa(</a:t>
            </a:r>
          </a:p>
          <a:p>
            <a:pPr algn="l">
              <a:lnSpc>
                <a:spcPct val="100000"/>
              </a:lnSpc>
              <a:spcBef>
                <a:spcPts val="0"/>
              </a:spcBef>
              <a:spcAft>
                <a:spcPts val="0"/>
              </a:spcAft>
            </a:pPr>
            <a:r>
              <a:rPr sz="1000">
                <a:solidFill>
                  <a:srgbClr val="4F81BD"/>
                </a:solidFill>
                <a:latin typeface="Calibri"/>
              </a:rPr>
              <a:t>            @WebParam(name = "valor") double valor,</a:t>
            </a:r>
          </a:p>
          <a:p>
            <a:pPr algn="l">
              <a:lnSpc>
                <a:spcPct val="100000"/>
              </a:lnSpc>
              <a:spcBef>
                <a:spcPts val="0"/>
              </a:spcBef>
              <a:spcAft>
                <a:spcPts val="0"/>
              </a:spcAft>
            </a:pPr>
            <a:r>
              <a:rPr sz="1000">
                <a:solidFill>
                  <a:srgbClr val="4F81BD"/>
                </a:solidFill>
                <a:latin typeface="Calibri"/>
              </a:rPr>
              <a:t>            @WebParam(name = "unidadOrigen") String unidadOrigen,</a:t>
            </a:r>
          </a:p>
          <a:p>
            <a:pPr algn="l">
              <a:lnSpc>
                <a:spcPct val="100000"/>
              </a:lnSpc>
              <a:spcBef>
                <a:spcPts val="0"/>
              </a:spcBef>
              <a:spcAft>
                <a:spcPts val="0"/>
              </a:spcAft>
            </a:pPr>
            <a:r>
              <a:rPr sz="1000">
                <a:solidFill>
                  <a:srgbClr val="4F81BD"/>
                </a:solidFill>
                <a:latin typeface="Calibri"/>
              </a:rPr>
              <a:t>            @WebParam(name = "unidadDestino") String unidadDestino,</a:t>
            </a:r>
          </a:p>
          <a:p>
            <a:pPr algn="l">
              <a:lnSpc>
                <a:spcPct val="100000"/>
              </a:lnSpc>
              <a:spcBef>
                <a:spcPts val="0"/>
              </a:spcBef>
              <a:spcAft>
                <a:spcPts val="0"/>
              </a:spcAft>
            </a:pPr>
            <a:r>
              <a:rPr sz="1000">
                <a:solidFill>
                  <a:srgbClr val="4F81BD"/>
                </a:solidFill>
                <a:latin typeface="Calibri"/>
              </a:rPr>
              <a:t>            @WebParam(name = "token") String token) {</a:t>
            </a:r>
          </a:p>
          <a:p>
            <a:pPr algn="l">
              <a:lnSpc>
                <a:spcPct val="100000"/>
              </a:lnSpc>
              <a:spcBef>
                <a:spcPts val="0"/>
              </a:spcBef>
              <a:spcAft>
                <a:spcPts val="0"/>
              </a:spcAft>
            </a:pPr>
            <a:r>
              <a:rPr sz="1000">
                <a:solidFill>
                  <a:srgbClr val="4F81BD"/>
                </a:solidFill>
                <a:latin typeface="Calibri"/>
              </a:rPr>
              <a:t>        return manejador.convertir("Masa", valor, unidadOrigen, unidadDestino,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250545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1.2.4 	Autenticación</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Las clases de la capa seguridad validan las credenciales y administran los tokens: ServicioAutenticacion (usuario monster, clave monster9 en memoria) y GestorTokens (UUID con vigencia de 30 minutos).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Los manejadores (controladores.manejadoresws) orquestan el login, el catálogo y las conversiones validando siempre el token primero.</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4562855"/>
            <a:ext cx="5120640" cy="2112264"/>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New &gt; Java Class en el paquete seguridad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ServicioAutenticacion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Autentica contra las credenciales de la aplicación y entrega el token.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37311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ec.edu.monster.seguridad;</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final class ServicioAutenticacion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String USUARIO = "monster";</a:t>
            </a:r>
          </a:p>
          <a:p>
            <a:pPr algn="l">
              <a:lnSpc>
                <a:spcPct val="100000"/>
              </a:lnSpc>
              <a:spcBef>
                <a:spcPts val="0"/>
              </a:spcBef>
              <a:spcAft>
                <a:spcPts val="0"/>
              </a:spcAft>
            </a:pPr>
            <a:r>
              <a:rPr sz="1000">
                <a:solidFill>
                  <a:srgbClr val="4F81BD"/>
                </a:solidFill>
                <a:latin typeface="Calibri"/>
              </a:rPr>
              <a:t>    private static final String CLAVE = "monster9";</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ServicioAutenticacion()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autenticar(String usuario, String clave) {</a:t>
            </a:r>
          </a:p>
          <a:p>
            <a:pPr algn="l">
              <a:lnSpc>
                <a:spcPct val="100000"/>
              </a:lnSpc>
              <a:spcBef>
                <a:spcPts val="0"/>
              </a:spcBef>
              <a:spcAft>
                <a:spcPts val="0"/>
              </a:spcAft>
            </a:pPr>
            <a:r>
              <a:rPr sz="1000">
                <a:solidFill>
                  <a:srgbClr val="4F81BD"/>
                </a:solidFill>
                <a:latin typeface="Calibri"/>
              </a:rPr>
              <a:t>        if (usuario == null || usuario.isBlank() || clave == null || clave.isBlank()) {</a:t>
            </a:r>
          </a:p>
          <a:p>
            <a:pPr algn="l">
              <a:lnSpc>
                <a:spcPct val="100000"/>
              </a:lnSpc>
              <a:spcBef>
                <a:spcPts val="0"/>
              </a:spcBef>
              <a:spcAft>
                <a:spcPts val="0"/>
              </a:spcAft>
            </a:pPr>
            <a:r>
              <a:rPr sz="1000">
                <a:solidFill>
                  <a:srgbClr val="4F81BD"/>
                </a:solidFill>
                <a:latin typeface="Calibri"/>
              </a:rPr>
              <a:t>            return RespuestaMapeador.error(CodigoResultado.DATOS_INCONSISTENTES, "Usuario y clave son obligatorios");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if (USUARIO.equals(usuario.trim()) &amp;&amp; CLAVE.equals(clave)) {</a:t>
            </a:r>
          </a:p>
          <a:p>
            <a:pPr algn="l">
              <a:lnSpc>
                <a:spcPct val="100000"/>
              </a:lnSpc>
              <a:spcBef>
                <a:spcPts val="0"/>
              </a:spcBef>
              <a:spcAft>
                <a:spcPts val="0"/>
              </a:spcAft>
            </a:pPr>
            <a:r>
              <a:rPr sz="1000">
                <a:solidFill>
                  <a:srgbClr val="4F81BD"/>
                </a:solidFill>
                <a:latin typeface="Calibri"/>
              </a:rPr>
              <a:t>            return RespuestaMapeador.exitoLogin(GestorTokens.generarToken());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RespuestaMapeador.error(CodigoResultado.CREDENCIALES_INCORRECTAS, "Usuario o clave incorrectos");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GestorTokens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Tokens activos en memoria: generar, validar y detectar la expiración (AUTH-001 / AUTH-002).</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9928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ec.edu.monster.seguridad;</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final class GestorTokens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Map&lt;String, Long&gt; ACTIVOS = new ConcurrentHashMap&lt;&gt;();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GestorTokens()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long vigenciaMs() {</a:t>
            </a:r>
          </a:p>
          <a:p>
            <a:pPr algn="l">
              <a:lnSpc>
                <a:spcPct val="100000"/>
              </a:lnSpc>
              <a:spcBef>
                <a:spcPts val="0"/>
              </a:spcBef>
              <a:spcAft>
                <a:spcPts val="0"/>
              </a:spcAft>
            </a:pPr>
            <a:r>
              <a:rPr sz="1000">
                <a:solidFill>
                  <a:srgbClr val="4F81BD"/>
                </a:solidFill>
                <a:latin typeface="Calibri"/>
              </a:rPr>
              <a:t>        String valor = System.getProperty("conuni.token.minutos", "30");</a:t>
            </a:r>
          </a:p>
          <a:p>
            <a:pPr algn="l">
              <a:lnSpc>
                <a:spcPct val="100000"/>
              </a:lnSpc>
              <a:spcBef>
                <a:spcPts val="0"/>
              </a:spcBef>
              <a:spcAft>
                <a:spcPts val="0"/>
              </a:spcAft>
            </a:pPr>
            <a:r>
              <a:rPr sz="1000">
                <a:solidFill>
                  <a:srgbClr val="4F81BD"/>
                </a:solidFill>
                <a:latin typeface="Calibri"/>
              </a:rPr>
              <a:t>        try {</a:t>
            </a:r>
          </a:p>
          <a:p>
            <a:pPr algn="l">
              <a:lnSpc>
                <a:spcPct val="100000"/>
              </a:lnSpc>
              <a:spcBef>
                <a:spcPts val="0"/>
              </a:spcBef>
              <a:spcAft>
                <a:spcPts val="0"/>
              </a:spcAft>
            </a:pPr>
            <a:r>
              <a:rPr sz="1000">
                <a:solidFill>
                  <a:srgbClr val="4F81BD"/>
                </a:solidFill>
                <a:latin typeface="Calibri"/>
              </a:rPr>
              <a:t>            return (long) (Double.parseDouble(valor) * 60_000L);</a:t>
            </a:r>
          </a:p>
          <a:p>
            <a:pPr algn="l">
              <a:lnSpc>
                <a:spcPct val="100000"/>
              </a:lnSpc>
              <a:spcBef>
                <a:spcPts val="0"/>
              </a:spcBef>
              <a:spcAft>
                <a:spcPts val="0"/>
              </a:spcAft>
            </a:pPr>
            <a:r>
              <a:rPr sz="1000">
                <a:solidFill>
                  <a:srgbClr val="4F81BD"/>
                </a:solidFill>
                <a:latin typeface="Calibri"/>
              </a:rPr>
              <a:t>        } catch (NumberFormatException e) {</a:t>
            </a:r>
          </a:p>
          <a:p>
            <a:pPr algn="l">
              <a:lnSpc>
                <a:spcPct val="100000"/>
              </a:lnSpc>
              <a:spcBef>
                <a:spcPts val="0"/>
              </a:spcBef>
              <a:spcAft>
                <a:spcPts val="0"/>
              </a:spcAft>
            </a:pPr>
            <a:r>
              <a:rPr sz="1000">
                <a:solidFill>
                  <a:srgbClr val="4F81BD"/>
                </a:solidFill>
                <a:latin typeface="Calibri"/>
              </a:rPr>
              <a:t>            return 30L * 60_000L;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generarToken() {</a:t>
            </a:r>
          </a:p>
          <a:p>
            <a:pPr algn="l">
              <a:lnSpc>
                <a:spcPct val="100000"/>
              </a:lnSpc>
              <a:spcBef>
                <a:spcPts val="0"/>
              </a:spcBef>
              <a:spcAft>
                <a:spcPts val="0"/>
              </a:spcAft>
            </a:pPr>
            <a:r>
              <a:rPr sz="1000">
                <a:solidFill>
                  <a:srgbClr val="4F81BD"/>
                </a:solidFill>
                <a:latin typeface="Calibri"/>
              </a:rPr>
              <a:t>        String token = UUID.randomUUID().toString();</a:t>
            </a:r>
          </a:p>
          <a:p>
            <a:pPr algn="l">
              <a:lnSpc>
                <a:spcPct val="100000"/>
              </a:lnSpc>
              <a:spcBef>
                <a:spcPts val="0"/>
              </a:spcBef>
              <a:spcAft>
                <a:spcPts val="0"/>
              </a:spcAft>
            </a:pPr>
            <a:r>
              <a:rPr sz="1000">
                <a:solidFill>
                  <a:srgbClr val="4F81BD"/>
                </a:solidFill>
                <a:latin typeface="Calibri"/>
              </a:rPr>
              <a:t>        ACTIVOS.put(token, System.currentTimeMillis() + vigenciaMs());</a:t>
            </a:r>
          </a:p>
          <a:p>
            <a:pPr algn="l">
              <a:lnSpc>
                <a:spcPct val="100000"/>
              </a:lnSpc>
              <a:spcBef>
                <a:spcPts val="0"/>
              </a:spcBef>
              <a:spcAft>
                <a:spcPts val="0"/>
              </a:spcAft>
            </a:pPr>
            <a:r>
              <a:rPr sz="1000">
                <a:solidFill>
                  <a:srgbClr val="4F81BD"/>
                </a:solidFill>
                <a:latin typeface="Calibri"/>
              </a:rPr>
              <a:t>        return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GestorTokens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Tokens activos en memoria: generar, validar y detectar la expiración (AUTH-001 / AUTH-002).</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30275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static CodigoResultado validar(String token) {</a:t>
            </a:r>
          </a:p>
          <a:p>
            <a:pPr algn="l">
              <a:lnSpc>
                <a:spcPct val="100000"/>
              </a:lnSpc>
              <a:spcBef>
                <a:spcPts val="0"/>
              </a:spcBef>
              <a:spcAft>
                <a:spcPts val="0"/>
              </a:spcAft>
            </a:pPr>
            <a:r>
              <a:rPr sz="1000">
                <a:solidFill>
                  <a:srgbClr val="4F81BD"/>
                </a:solidFill>
                <a:latin typeface="Calibri"/>
              </a:rPr>
              <a:t>        if (token == null || token.isBlank()) {</a:t>
            </a:r>
          </a:p>
          <a:p>
            <a:pPr algn="l">
              <a:lnSpc>
                <a:spcPct val="100000"/>
              </a:lnSpc>
              <a:spcBef>
                <a:spcPts val="0"/>
              </a:spcBef>
              <a:spcAft>
                <a:spcPts val="0"/>
              </a:spcAft>
            </a:pPr>
            <a:r>
              <a:rPr sz="1000">
                <a:solidFill>
                  <a:srgbClr val="4F81BD"/>
                </a:solidFill>
                <a:latin typeface="Calibri"/>
              </a:rPr>
              <a:t>            return CodigoResultado.TOKEN_INVALIDO;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Long expira = ACTIVOS.get(token.trim());</a:t>
            </a:r>
          </a:p>
          <a:p>
            <a:pPr algn="l">
              <a:lnSpc>
                <a:spcPct val="100000"/>
              </a:lnSpc>
              <a:spcBef>
                <a:spcPts val="0"/>
              </a:spcBef>
              <a:spcAft>
                <a:spcPts val="0"/>
              </a:spcAft>
            </a:pPr>
            <a:r>
              <a:rPr sz="1000">
                <a:solidFill>
                  <a:srgbClr val="4F81BD"/>
                </a:solidFill>
                <a:latin typeface="Calibri"/>
              </a:rPr>
              <a:t>        if (expira == null) {</a:t>
            </a:r>
          </a:p>
          <a:p>
            <a:pPr algn="l">
              <a:lnSpc>
                <a:spcPct val="100000"/>
              </a:lnSpc>
              <a:spcBef>
                <a:spcPts val="0"/>
              </a:spcBef>
              <a:spcAft>
                <a:spcPts val="0"/>
              </a:spcAft>
            </a:pPr>
            <a:r>
              <a:rPr sz="1000">
                <a:solidFill>
                  <a:srgbClr val="4F81BD"/>
                </a:solidFill>
                <a:latin typeface="Calibri"/>
              </a:rPr>
              <a:t>            return CodigoResultado.TOKEN_INVALIDO;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if (System.currentTimeMillis() &gt; expira) {</a:t>
            </a:r>
          </a:p>
          <a:p>
            <a:pPr algn="l">
              <a:lnSpc>
                <a:spcPct val="100000"/>
              </a:lnSpc>
              <a:spcBef>
                <a:spcPts val="0"/>
              </a:spcBef>
              <a:spcAft>
                <a:spcPts val="0"/>
              </a:spcAft>
            </a:pPr>
            <a:r>
              <a:rPr sz="1000">
                <a:solidFill>
                  <a:srgbClr val="4F81BD"/>
                </a:solidFill>
                <a:latin typeface="Calibri"/>
              </a:rPr>
              <a:t>            ACTIVOS.remove(token.trim());</a:t>
            </a:r>
          </a:p>
          <a:p>
            <a:pPr algn="l">
              <a:lnSpc>
                <a:spcPct val="100000"/>
              </a:lnSpc>
              <a:spcBef>
                <a:spcPts val="0"/>
              </a:spcBef>
              <a:spcAft>
                <a:spcPts val="0"/>
              </a:spcAft>
            </a:pPr>
            <a:r>
              <a:rPr sz="1000">
                <a:solidFill>
                  <a:srgbClr val="4F81BD"/>
                </a:solidFill>
                <a:latin typeface="Calibri"/>
              </a:rPr>
              <a:t>            return CodigoResultado.SESION_EXPIRADA;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verificar(String token) {</a:t>
            </a:r>
          </a:p>
          <a:p>
            <a:pPr algn="l">
              <a:lnSpc>
                <a:spcPct val="100000"/>
              </a:lnSpc>
              <a:spcBef>
                <a:spcPts val="0"/>
              </a:spcBef>
              <a:spcAft>
                <a:spcPts val="0"/>
              </a:spcAft>
            </a:pPr>
            <a:r>
              <a:rPr sz="1000">
                <a:solidFill>
                  <a:srgbClr val="4F81BD"/>
                </a:solidFill>
                <a:latin typeface="Calibri"/>
              </a:rPr>
              <a:t>        CodigoResultado codigo = validar(token);</a:t>
            </a:r>
          </a:p>
          <a:p>
            <a:pPr algn="l">
              <a:lnSpc>
                <a:spcPct val="100000"/>
              </a:lnSpc>
              <a:spcBef>
                <a:spcPts val="0"/>
              </a:spcBef>
              <a:spcAft>
                <a:spcPts val="0"/>
              </a:spcAft>
            </a:pPr>
            <a:r>
              <a:rPr sz="1000">
                <a:solidFill>
                  <a:srgbClr val="4F81BD"/>
                </a:solidFill>
                <a:latin typeface="Calibri"/>
              </a:rPr>
              <a:t>        if (codigo == null) {</a:t>
            </a:r>
          </a:p>
          <a:p>
            <a:pPr algn="l">
              <a:lnSpc>
                <a:spcPct val="100000"/>
              </a:lnSpc>
              <a:spcBef>
                <a:spcPts val="0"/>
              </a:spcBef>
              <a:spcAft>
                <a:spcPts val="0"/>
              </a:spcAft>
            </a:pPr>
            <a:r>
              <a:rPr sz="1000">
                <a:solidFill>
                  <a:srgbClr val="4F81BD"/>
                </a:solidFill>
                <a:latin typeface="Calibri"/>
              </a:rPr>
              <a:t>            return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if (codigo == CodigoResultado.SESION_EXPIRADA) {</a:t>
            </a:r>
          </a:p>
          <a:p>
            <a:pPr algn="l">
              <a:lnSpc>
                <a:spcPct val="100000"/>
              </a:lnSpc>
              <a:spcBef>
                <a:spcPts val="0"/>
              </a:spcBef>
              <a:spcAft>
                <a:spcPts val="0"/>
              </a:spcAft>
            </a:pPr>
            <a:r>
              <a:rPr sz="1000">
                <a:solidFill>
                  <a:srgbClr val="4F81BD"/>
                </a:solidFill>
                <a:latin typeface="Calibri"/>
              </a:rPr>
              <a:t>            return RespuestaMapeador.error(codigo, "Sesión expirada");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RespuestaMapeador.error(codigo, "Token inválido");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ManejadorLogin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 del login: arma la respuesta estructurada.</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1335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ec.edu.monster.controladores.manejadoresws;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ManejadorLogin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login(String usuario, String clave) {</a:t>
            </a:r>
          </a:p>
          <a:p>
            <a:pPr algn="l">
              <a:lnSpc>
                <a:spcPct val="100000"/>
              </a:lnSpc>
              <a:spcBef>
                <a:spcPts val="0"/>
              </a:spcBef>
              <a:spcAft>
                <a:spcPts val="0"/>
              </a:spcAft>
            </a:pPr>
            <a:r>
              <a:rPr sz="1000">
                <a:solidFill>
                  <a:srgbClr val="4F81BD"/>
                </a:solidFill>
                <a:latin typeface="Calibri"/>
              </a:rPr>
              <a:t>        try {</a:t>
            </a:r>
          </a:p>
          <a:p>
            <a:pPr algn="l">
              <a:lnSpc>
                <a:spcPct val="100000"/>
              </a:lnSpc>
              <a:spcBef>
                <a:spcPts val="0"/>
              </a:spcBef>
              <a:spcAft>
                <a:spcPts val="0"/>
              </a:spcAft>
            </a:pPr>
            <a:r>
              <a:rPr sz="1000">
                <a:solidFill>
                  <a:srgbClr val="4F81BD"/>
                </a:solidFill>
                <a:latin typeface="Calibri"/>
              </a:rPr>
              <a:t>            return ServicioAutenticacion.autenticar(usuario, clave);</a:t>
            </a:r>
          </a:p>
          <a:p>
            <a:pPr algn="l">
              <a:lnSpc>
                <a:spcPct val="100000"/>
              </a:lnSpc>
              <a:spcBef>
                <a:spcPts val="0"/>
              </a:spcBef>
              <a:spcAft>
                <a:spcPts val="0"/>
              </a:spcAft>
            </a:pPr>
            <a:r>
              <a:rPr sz="1000">
                <a:solidFill>
                  <a:srgbClr val="4F81BD"/>
                </a:solidFill>
                <a:latin typeface="Calibri"/>
              </a:rPr>
              <a:t>        } catch (RuntimeException e) {</a:t>
            </a:r>
          </a:p>
          <a:p>
            <a:pPr algn="l">
              <a:lnSpc>
                <a:spcPct val="100000"/>
              </a:lnSpc>
              <a:spcBef>
                <a:spcPts val="0"/>
              </a:spcBef>
              <a:spcAft>
                <a:spcPts val="0"/>
              </a:spcAft>
            </a:pPr>
            <a:r>
              <a:rPr sz="1000">
                <a:solidFill>
                  <a:srgbClr val="4F81BD"/>
                </a:solidFill>
                <a:latin typeface="Calibri"/>
              </a:rPr>
              <a:t>            return RespuestaMapeador.error(CodigoResultado.ERROR_SERVIDOR, "Error interno del servicio");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ManejadorConversion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 de conversiones: valida token, categoría y unidades, y llama al conversor.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ec.edu.monster.controladores.manejadoresws;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ManejadorConversion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convertir(String categoria, double valor,</a:t>
            </a:r>
          </a:p>
          <a:p>
            <a:pPr algn="l">
              <a:lnSpc>
                <a:spcPct val="100000"/>
              </a:lnSpc>
              <a:spcBef>
                <a:spcPts val="0"/>
              </a:spcBef>
              <a:spcAft>
                <a:spcPts val="0"/>
              </a:spcAft>
            </a:pPr>
            <a:r>
              <a:rPr sz="1000">
                <a:solidFill>
                  <a:srgbClr val="4F81BD"/>
                </a:solidFill>
                <a:latin typeface="Calibri"/>
              </a:rPr>
              <a:t>            String unidadOrigen, String unidadDestino, String token) {</a:t>
            </a:r>
          </a:p>
          <a:p>
            <a:pPr algn="l">
              <a:lnSpc>
                <a:spcPct val="100000"/>
              </a:lnSpc>
              <a:spcBef>
                <a:spcPts val="0"/>
              </a:spcBef>
              <a:spcAft>
                <a:spcPts val="0"/>
              </a:spcAft>
            </a:pPr>
            <a:r>
              <a:rPr sz="1000">
                <a:solidFill>
                  <a:srgbClr val="4F81BD"/>
                </a:solidFill>
                <a:latin typeface="Calibri"/>
              </a:rPr>
              <a:t>        try {</a:t>
            </a:r>
          </a:p>
          <a:p>
            <a:pPr algn="l">
              <a:lnSpc>
                <a:spcPct val="100000"/>
              </a:lnSpc>
              <a:spcBef>
                <a:spcPts val="0"/>
              </a:spcBef>
              <a:spcAft>
                <a:spcPts val="0"/>
              </a:spcAft>
            </a:pPr>
            <a:r>
              <a:rPr sz="1000">
                <a:solidFill>
                  <a:srgbClr val="4F81BD"/>
                </a:solidFill>
                <a:latin typeface="Calibri"/>
              </a:rPr>
              <a:t>            RespuestaServicio errorToken = GestorTokens.verificar(token);</a:t>
            </a:r>
          </a:p>
          <a:p>
            <a:pPr algn="l">
              <a:lnSpc>
                <a:spcPct val="100000"/>
              </a:lnSpc>
              <a:spcBef>
                <a:spcPts val="0"/>
              </a:spcBef>
              <a:spcAft>
                <a:spcPts val="0"/>
              </a:spcAft>
            </a:pPr>
            <a:r>
              <a:rPr sz="1000">
                <a:solidFill>
                  <a:srgbClr val="4F81BD"/>
                </a:solidFill>
                <a:latin typeface="Calibri"/>
              </a:rPr>
              <a:t>            if (errorToken != null) {</a:t>
            </a:r>
          </a:p>
          <a:p>
            <a:pPr algn="l">
              <a:lnSpc>
                <a:spcPct val="100000"/>
              </a:lnSpc>
              <a:spcBef>
                <a:spcPts val="0"/>
              </a:spcBef>
              <a:spcAft>
                <a:spcPts val="0"/>
              </a:spcAft>
            </a:pPr>
            <a:r>
              <a:rPr sz="1000">
                <a:solidFill>
                  <a:srgbClr val="4F81BD"/>
                </a:solidFill>
                <a:latin typeface="Calibri"/>
              </a:rPr>
              <a:t>                return errorToken;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Optional&lt;Conversor&gt; cat = CatalogoUnidades.buscarCategoria(categoria);</a:t>
            </a:r>
          </a:p>
          <a:p>
            <a:pPr algn="l">
              <a:lnSpc>
                <a:spcPct val="100000"/>
              </a:lnSpc>
              <a:spcBef>
                <a:spcPts val="0"/>
              </a:spcBef>
              <a:spcAft>
                <a:spcPts val="0"/>
              </a:spcAft>
            </a:pPr>
            <a:r>
              <a:rPr sz="1000">
                <a:solidFill>
                  <a:srgbClr val="4F81BD"/>
                </a:solidFill>
                <a:latin typeface="Calibri"/>
              </a:rPr>
              <a:t>            if (cat.isEmpty()) {</a:t>
            </a:r>
          </a:p>
          <a:p>
            <a:pPr algn="l">
              <a:lnSpc>
                <a:spcPct val="100000"/>
              </a:lnSpc>
              <a:spcBef>
                <a:spcPts val="0"/>
              </a:spcBef>
              <a:spcAft>
                <a:spcPts val="0"/>
              </a:spcAft>
            </a:pPr>
            <a:r>
              <a:rPr sz="1000">
                <a:solidFill>
                  <a:srgbClr val="4F81BD"/>
                </a:solidFill>
                <a:latin typeface="Calibri"/>
              </a:rPr>
              <a:t>                return RespuestaMapeador.error(CodigoResultado.DATOS_INCONSISTENTES, "Categoría no soportada");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if (Double.isNaN(valor) || Double.isInfinite(valor)) {</a:t>
            </a:r>
          </a:p>
          <a:p>
            <a:pPr algn="l">
              <a:lnSpc>
                <a:spcPct val="100000"/>
              </a:lnSpc>
              <a:spcBef>
                <a:spcPts val="0"/>
              </a:spcBef>
              <a:spcAft>
                <a:spcPts val="0"/>
              </a:spcAft>
            </a:pPr>
            <a:r>
              <a:rPr sz="1000">
                <a:solidFill>
                  <a:srgbClr val="4F81BD"/>
                </a:solidFill>
                <a:latin typeface="Calibri"/>
              </a:rPr>
              <a:t>                return RespuestaMapeador.error(CodigoResultado.DATOS_INCONSISTENTES, "El valor debe ser numérico");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if (unidadOrigen == null || unidadOrigen.isBlank() || unidadDestino == null || unidadDestino.isBlank()) {</a:t>
            </a:r>
          </a:p>
          <a:p>
            <a:pPr algn="l">
              <a:lnSpc>
                <a:spcPct val="100000"/>
              </a:lnSpc>
              <a:spcBef>
                <a:spcPts val="0"/>
              </a:spcBef>
              <a:spcAft>
                <a:spcPts val="0"/>
              </a:spcAft>
            </a:pPr>
            <a:r>
              <a:rPr sz="1000">
                <a:solidFill>
                  <a:srgbClr val="4F81BD"/>
                </a:solidFill>
                <a:latin typeface="Calibri"/>
              </a:rPr>
              <a:t>                return RespuestaMapeador.error(CodigoResultado.DATOS_INCONSISTENTES,</a:t>
            </a:r>
          </a:p>
          <a:p>
            <a:pPr algn="l">
              <a:lnSpc>
                <a:spcPct val="100000"/>
              </a:lnSpc>
              <a:spcBef>
                <a:spcPts val="0"/>
              </a:spcBef>
              <a:spcAft>
                <a:spcPts val="0"/>
              </a:spcAft>
            </a:pPr>
            <a:r>
              <a:rPr sz="1000">
                <a:solidFill>
                  <a:srgbClr val="4F81BD"/>
                </a:solidFill>
                <a:latin typeface="Calibri"/>
              </a:rPr>
              <a:t>                        "Las unidades de origen y destino son obligatorias");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origen = Conversor.normalizar(unidadOrigen);</a:t>
            </a:r>
          </a:p>
          <a:p>
            <a:pPr algn="l">
              <a:lnSpc>
                <a:spcPct val="100000"/>
              </a:lnSpc>
              <a:spcBef>
                <a:spcPts val="0"/>
              </a:spcBef>
              <a:spcAft>
                <a:spcPts val="0"/>
              </a:spcAft>
            </a:pPr>
            <a:r>
              <a:rPr sz="1000">
                <a:solidFill>
                  <a:srgbClr val="4F81BD"/>
                </a:solidFill>
                <a:latin typeface="Calibri"/>
              </a:rPr>
              <a:t>            String destino = Conversor.normalizar(unidadDestino);</a:t>
            </a:r>
          </a:p>
          <a:p>
            <a:pPr algn="l">
              <a:lnSpc>
                <a:spcPct val="100000"/>
              </a:lnSpc>
              <a:spcBef>
                <a:spcPts val="0"/>
              </a:spcBef>
              <a:spcAft>
                <a:spcPts val="0"/>
              </a:spcAft>
            </a:pPr>
            <a:r>
              <a:rPr sz="1000">
                <a:solidFill>
                  <a:srgbClr val="4F81BD"/>
                </a:solidFill>
                <a:latin typeface="Calibri"/>
              </a:rPr>
              <a:t>            Optional&lt;Conversor&gt; catOrigen = CatalogoUnidades.categoriaDeUnidad(origen);</a:t>
            </a:r>
          </a:p>
          <a:p>
            <a:pPr algn="l">
              <a:lnSpc>
                <a:spcPct val="100000"/>
              </a:lnSpc>
              <a:spcBef>
                <a:spcPts val="0"/>
              </a:spcBef>
              <a:spcAft>
                <a:spcPts val="0"/>
              </a:spcAft>
            </a:pPr>
            <a:r>
              <a:rPr sz="1000">
                <a:solidFill>
                  <a:srgbClr val="4F81BD"/>
                </a:solidFill>
                <a:latin typeface="Calibri"/>
              </a:rPr>
              <a:t>            if (catOrigen.isEmpty()) {</a:t>
            </a:r>
          </a:p>
          <a:p>
            <a:pPr algn="l">
              <a:lnSpc>
                <a:spcPct val="100000"/>
              </a:lnSpc>
              <a:spcBef>
                <a:spcPts val="0"/>
              </a:spcBef>
              <a:spcAft>
                <a:spcPts val="0"/>
              </a:spcAft>
            </a:pPr>
            <a:r>
              <a:rPr sz="1000">
                <a:solidFill>
                  <a:srgbClr val="4F81BD"/>
                </a:solidFill>
                <a:latin typeface="Calibri"/>
              </a:rPr>
              <a:t>                return RespuestaMapeador.error(CodigoResultado.UNIDAD_NO_SOPORTADA, "Unidad de origen no soportada");</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ManejadorConversion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Manejador de conversiones: valida token, categoría y unidades, y llama al conversor.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8379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Optional&lt;Conversor&gt; catDestino = CatalogoUnidades.categoriaDeUnidad(destino);</a:t>
            </a:r>
          </a:p>
          <a:p>
            <a:pPr algn="l">
              <a:lnSpc>
                <a:spcPct val="100000"/>
              </a:lnSpc>
              <a:spcBef>
                <a:spcPts val="0"/>
              </a:spcBef>
              <a:spcAft>
                <a:spcPts val="0"/>
              </a:spcAft>
            </a:pPr>
            <a:r>
              <a:rPr sz="1000">
                <a:solidFill>
                  <a:srgbClr val="4F81BD"/>
                </a:solidFill>
                <a:latin typeface="Calibri"/>
              </a:rPr>
              <a:t>            if (catDestino.isEmpty()) {</a:t>
            </a:r>
          </a:p>
          <a:p>
            <a:pPr algn="l">
              <a:lnSpc>
                <a:spcPct val="100000"/>
              </a:lnSpc>
              <a:spcBef>
                <a:spcPts val="0"/>
              </a:spcBef>
              <a:spcAft>
                <a:spcPts val="0"/>
              </a:spcAft>
            </a:pPr>
            <a:r>
              <a:rPr sz="1000">
                <a:solidFill>
                  <a:srgbClr val="4F81BD"/>
                </a:solidFill>
                <a:latin typeface="Calibri"/>
              </a:rPr>
              <a:t>                return RespuestaMapeador.error(CodigoResultado.UNIDAD_NO_SOPORTADA, "Unidad de destino no soportada");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Conversor conversor = cat.get();</a:t>
            </a:r>
          </a:p>
          <a:p>
            <a:pPr algn="l">
              <a:lnSpc>
                <a:spcPct val="100000"/>
              </a:lnSpc>
              <a:spcBef>
                <a:spcPts val="0"/>
              </a:spcBef>
              <a:spcAft>
                <a:spcPts val="0"/>
              </a:spcAft>
            </a:pPr>
            <a:r>
              <a:rPr sz="1000">
                <a:solidFill>
                  <a:srgbClr val="4F81BD"/>
                </a:solidFill>
                <a:latin typeface="Calibri"/>
              </a:rPr>
              <a:t>            if (catOrigen.get() != conversor || catDestino.get() != conversor) {</a:t>
            </a:r>
          </a:p>
          <a:p>
            <a:pPr algn="l">
              <a:lnSpc>
                <a:spcPct val="100000"/>
              </a:lnSpc>
              <a:spcBef>
                <a:spcPts val="0"/>
              </a:spcBef>
              <a:spcAft>
                <a:spcPts val="0"/>
              </a:spcAft>
            </a:pPr>
            <a:r>
              <a:rPr sz="1000">
                <a:solidFill>
                  <a:srgbClr val="4F81BD"/>
                </a:solidFill>
                <a:latin typeface="Calibri"/>
              </a:rPr>
              <a:t>                return RespuestaMapeador.error(CodigoResultado.DATOS_INCONSISTENTES,</a:t>
            </a:r>
          </a:p>
          <a:p>
            <a:pPr algn="l">
              <a:lnSpc>
                <a:spcPct val="100000"/>
              </a:lnSpc>
              <a:spcBef>
                <a:spcPts val="0"/>
              </a:spcBef>
              <a:spcAft>
                <a:spcPts val="0"/>
              </a:spcAft>
            </a:pPr>
            <a:r>
              <a:rPr sz="1000">
                <a:solidFill>
                  <a:srgbClr val="4F81BD"/>
                </a:solidFill>
                <a:latin typeface="Calibri"/>
              </a:rPr>
              <a:t>                        "Las unidades no pertenecen a la categoría " + conversor.categoria());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double resultado = redondear(conversor.convertir(valor, origen, destino));</a:t>
            </a:r>
          </a:p>
          <a:p>
            <a:pPr algn="l">
              <a:lnSpc>
                <a:spcPct val="100000"/>
              </a:lnSpc>
              <a:spcBef>
                <a:spcPts val="0"/>
              </a:spcBef>
              <a:spcAft>
                <a:spcPts val="0"/>
              </a:spcAft>
            </a:pPr>
            <a:r>
              <a:rPr sz="1000">
                <a:solidFill>
                  <a:srgbClr val="4F81BD"/>
                </a:solidFill>
                <a:latin typeface="Calibri"/>
              </a:rPr>
              <a:t>            return RespuestaMapeador.exitoConversion(resultado, origen, destino);</a:t>
            </a:r>
          </a:p>
          <a:p>
            <a:pPr algn="l">
              <a:lnSpc>
                <a:spcPct val="100000"/>
              </a:lnSpc>
              <a:spcBef>
                <a:spcPts val="0"/>
              </a:spcBef>
              <a:spcAft>
                <a:spcPts val="0"/>
              </a:spcAft>
            </a:pPr>
            <a:r>
              <a:rPr sz="1000">
                <a:solidFill>
                  <a:srgbClr val="4F81BD"/>
                </a:solidFill>
                <a:latin typeface="Calibri"/>
              </a:rPr>
              <a:t>        } catch (RuntimeException e) {</a:t>
            </a:r>
          </a:p>
          <a:p>
            <a:pPr algn="l">
              <a:lnSpc>
                <a:spcPct val="100000"/>
              </a:lnSpc>
              <a:spcBef>
                <a:spcPts val="0"/>
              </a:spcBef>
              <a:spcAft>
                <a:spcPts val="0"/>
              </a:spcAft>
            </a:pPr>
            <a:r>
              <a:rPr sz="1000">
                <a:solidFill>
                  <a:srgbClr val="4F81BD"/>
                </a:solidFill>
                <a:latin typeface="Calibri"/>
              </a:rPr>
              <a:t>            return RespuestaMapeador.error(CodigoResultado.ERROR_SERVIDOR, "Error interno del servicio");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static double redondear(double v) {</a:t>
            </a:r>
          </a:p>
          <a:p>
            <a:pPr algn="l">
              <a:lnSpc>
                <a:spcPct val="100000"/>
              </a:lnSpc>
              <a:spcBef>
                <a:spcPts val="0"/>
              </a:spcBef>
              <a:spcAft>
                <a:spcPts val="0"/>
              </a:spcAft>
            </a:pPr>
            <a:r>
              <a:rPr sz="1000">
                <a:solidFill>
                  <a:srgbClr val="4F81BD"/>
                </a:solidFill>
                <a:latin typeface="Calibri"/>
              </a:rPr>
              <a:t>        if (v == 0.0) {</a:t>
            </a:r>
          </a:p>
          <a:p>
            <a:pPr algn="l">
              <a:lnSpc>
                <a:spcPct val="100000"/>
              </a:lnSpc>
              <a:spcBef>
                <a:spcPts val="0"/>
              </a:spcBef>
              <a:spcAft>
                <a:spcPts val="0"/>
              </a:spcAft>
            </a:pPr>
            <a:r>
              <a:rPr sz="1000">
                <a:solidFill>
                  <a:srgbClr val="4F81BD"/>
                </a:solidFill>
                <a:latin typeface="Calibri"/>
              </a:rPr>
              <a:t>            return 0.0;</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new BigDecimal(v).round(new MathContext(12)).doubleValue();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CodigoResultado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Códigos de resultado de todas las operaciones.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683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ec.edu.monster.modelos.utilidades.enums;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enum CodigoResultado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OK_200("OK-200"),</a:t>
            </a:r>
          </a:p>
          <a:p>
            <a:pPr algn="l">
              <a:lnSpc>
                <a:spcPct val="100000"/>
              </a:lnSpc>
              <a:spcBef>
                <a:spcPts val="0"/>
              </a:spcBef>
              <a:spcAft>
                <a:spcPts val="0"/>
              </a:spcAft>
            </a:pPr>
            <a:r>
              <a:rPr sz="1000">
                <a:solidFill>
                  <a:srgbClr val="4F81BD"/>
                </a:solidFill>
                <a:latin typeface="Calibri"/>
              </a:rPr>
              <a:t>    TOKEN_INVALIDO("AUTH-001"),</a:t>
            </a:r>
          </a:p>
          <a:p>
            <a:pPr algn="l">
              <a:lnSpc>
                <a:spcPct val="100000"/>
              </a:lnSpc>
              <a:spcBef>
                <a:spcPts val="0"/>
              </a:spcBef>
              <a:spcAft>
                <a:spcPts val="0"/>
              </a:spcAft>
            </a:pPr>
            <a:r>
              <a:rPr sz="1000">
                <a:solidFill>
                  <a:srgbClr val="4F81BD"/>
                </a:solidFill>
                <a:latin typeface="Calibri"/>
              </a:rPr>
              <a:t>    SESION_EXPIRADA("AUTH-002"),</a:t>
            </a:r>
          </a:p>
          <a:p>
            <a:pPr algn="l">
              <a:lnSpc>
                <a:spcPct val="100000"/>
              </a:lnSpc>
              <a:spcBef>
                <a:spcPts val="0"/>
              </a:spcBef>
              <a:spcAft>
                <a:spcPts val="0"/>
              </a:spcAft>
            </a:pPr>
            <a:r>
              <a:rPr sz="1000">
                <a:solidFill>
                  <a:srgbClr val="4F81BD"/>
                </a:solidFill>
                <a:latin typeface="Calibri"/>
              </a:rPr>
              <a:t>    CREDENCIALES_INCORRECTAS("AUTH-003"),</a:t>
            </a:r>
          </a:p>
          <a:p>
            <a:pPr algn="l">
              <a:lnSpc>
                <a:spcPct val="100000"/>
              </a:lnSpc>
              <a:spcBef>
                <a:spcPts val="0"/>
              </a:spcBef>
              <a:spcAft>
                <a:spcPts val="0"/>
              </a:spcAft>
            </a:pPr>
            <a:r>
              <a:rPr sz="1000">
                <a:solidFill>
                  <a:srgbClr val="4F81BD"/>
                </a:solidFill>
                <a:latin typeface="Calibri"/>
              </a:rPr>
              <a:t>    UNIDAD_NO_SOPORTADA("UNIT-001"),</a:t>
            </a:r>
          </a:p>
          <a:p>
            <a:pPr algn="l">
              <a:lnSpc>
                <a:spcPct val="100000"/>
              </a:lnSpc>
              <a:spcBef>
                <a:spcPts val="0"/>
              </a:spcBef>
              <a:spcAft>
                <a:spcPts val="0"/>
              </a:spcAft>
            </a:pPr>
            <a:r>
              <a:rPr sz="1000">
                <a:solidFill>
                  <a:srgbClr val="4F81BD"/>
                </a:solidFill>
                <a:latin typeface="Calibri"/>
              </a:rPr>
              <a:t>    DATOS_INCONSISTENTES("DATA-001"),</a:t>
            </a:r>
          </a:p>
          <a:p>
            <a:pPr algn="l">
              <a:lnSpc>
                <a:spcPct val="100000"/>
              </a:lnSpc>
              <a:spcBef>
                <a:spcPts val="0"/>
              </a:spcBef>
              <a:spcAft>
                <a:spcPts val="0"/>
              </a:spcAft>
            </a:pPr>
            <a:r>
              <a:rPr sz="1000">
                <a:solidFill>
                  <a:srgbClr val="4F81BD"/>
                </a:solidFill>
                <a:latin typeface="Calibri"/>
              </a:rPr>
              <a:t>    ERROR_SERVIDOR("SRV-500");</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String codigo;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CodigoResultado(String codigo) {</a:t>
            </a:r>
          </a:p>
          <a:p>
            <a:pPr algn="l">
              <a:lnSpc>
                <a:spcPct val="100000"/>
              </a:lnSpc>
              <a:spcBef>
                <a:spcPts val="0"/>
              </a:spcBef>
              <a:spcAft>
                <a:spcPts val="0"/>
              </a:spcAft>
            </a:pPr>
            <a:r>
              <a:rPr sz="1000">
                <a:solidFill>
                  <a:srgbClr val="4F81BD"/>
                </a:solidFill>
                <a:latin typeface="Calibri"/>
              </a:rPr>
              <a:t>        this.codigo = codigo;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String getCodigo() {</a:t>
            </a:r>
          </a:p>
          <a:p>
            <a:pPr algn="l">
              <a:lnSpc>
                <a:spcPct val="100000"/>
              </a:lnSpc>
              <a:spcBef>
                <a:spcPts val="0"/>
              </a:spcBef>
              <a:spcAft>
                <a:spcPts val="0"/>
              </a:spcAft>
            </a:pPr>
            <a:r>
              <a:rPr sz="1000">
                <a:solidFill>
                  <a:srgbClr val="4F81BD"/>
                </a:solidFill>
                <a:latin typeface="Calibri"/>
              </a:rPr>
              <a:t>        return codigo;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RespuestaMapeador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Único lugar donde se arma la respuesta (éxito, login, lista, conversión y error).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4576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ec.edu.monster.modelos.utilidades.mapeadores;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final class RespuestaMapeador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RespuestaMapeador()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exito(String mensaje) {</a:t>
            </a:r>
          </a:p>
          <a:p>
            <a:pPr algn="l">
              <a:lnSpc>
                <a:spcPct val="100000"/>
              </a:lnSpc>
              <a:spcBef>
                <a:spcPts val="0"/>
              </a:spcBef>
              <a:spcAft>
                <a:spcPts val="0"/>
              </a:spcAft>
            </a:pPr>
            <a:r>
              <a:rPr sz="1000">
                <a:solidFill>
                  <a:srgbClr val="4F81BD"/>
                </a:solidFill>
                <a:latin typeface="Calibri"/>
              </a:rPr>
              <a:t>        RespuestaServicio r = new RespuestaServicio();</a:t>
            </a:r>
          </a:p>
          <a:p>
            <a:pPr algn="l">
              <a:lnSpc>
                <a:spcPct val="100000"/>
              </a:lnSpc>
              <a:spcBef>
                <a:spcPts val="0"/>
              </a:spcBef>
              <a:spcAft>
                <a:spcPts val="0"/>
              </a:spcAft>
            </a:pPr>
            <a:r>
              <a:rPr sz="1000">
                <a:solidFill>
                  <a:srgbClr val="4F81BD"/>
                </a:solidFill>
                <a:latin typeface="Calibri"/>
              </a:rPr>
              <a:t>        r.setEstado(EstadoRespuesta.OK.getTexto());</a:t>
            </a:r>
          </a:p>
          <a:p>
            <a:pPr algn="l">
              <a:lnSpc>
                <a:spcPct val="100000"/>
              </a:lnSpc>
              <a:spcBef>
                <a:spcPts val="0"/>
              </a:spcBef>
              <a:spcAft>
                <a:spcPts val="0"/>
              </a:spcAft>
            </a:pPr>
            <a:r>
              <a:rPr sz="1000">
                <a:solidFill>
                  <a:srgbClr val="4F81BD"/>
                </a:solidFill>
                <a:latin typeface="Calibri"/>
              </a:rPr>
              <a:t>        r.setCodigo(CodigoResultado.OK_200.getCodigo());</a:t>
            </a:r>
          </a:p>
          <a:p>
            <a:pPr algn="l">
              <a:lnSpc>
                <a:spcPct val="100000"/>
              </a:lnSpc>
              <a:spcBef>
                <a:spcPts val="0"/>
              </a:spcBef>
              <a:spcAft>
                <a:spcPts val="0"/>
              </a:spcAft>
            </a:pPr>
            <a:r>
              <a:rPr sz="1000">
                <a:solidFill>
                  <a:srgbClr val="4F81BD"/>
                </a:solidFill>
                <a:latin typeface="Calibri"/>
              </a:rPr>
              <a:t>        r.setMensaje(mensaje);</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exitoLogin(String token) {</a:t>
            </a:r>
          </a:p>
          <a:p>
            <a:pPr algn="l">
              <a:lnSpc>
                <a:spcPct val="100000"/>
              </a:lnSpc>
              <a:spcBef>
                <a:spcPts val="0"/>
              </a:spcBef>
              <a:spcAft>
                <a:spcPts val="0"/>
              </a:spcAft>
            </a:pPr>
            <a:r>
              <a:rPr sz="1000">
                <a:solidFill>
                  <a:srgbClr val="4F81BD"/>
                </a:solidFill>
                <a:latin typeface="Calibri"/>
              </a:rPr>
              <a:t>        RespuestaServicio r = exito("Autenticación exitosa");</a:t>
            </a:r>
          </a:p>
          <a:p>
            <a:pPr algn="l">
              <a:lnSpc>
                <a:spcPct val="100000"/>
              </a:lnSpc>
              <a:spcBef>
                <a:spcPts val="0"/>
              </a:spcBef>
              <a:spcAft>
                <a:spcPts val="0"/>
              </a:spcAft>
            </a:pPr>
            <a:r>
              <a:rPr sz="1000">
                <a:solidFill>
                  <a:srgbClr val="4F81BD"/>
                </a:solidFill>
                <a:latin typeface="Calibri"/>
              </a:rPr>
              <a:t>        r.setToken(token);</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exitoLista(List&lt;String&gt; datos) {</a:t>
            </a:r>
          </a:p>
          <a:p>
            <a:pPr algn="l">
              <a:lnSpc>
                <a:spcPct val="100000"/>
              </a:lnSpc>
              <a:spcBef>
                <a:spcPts val="0"/>
              </a:spcBef>
              <a:spcAft>
                <a:spcPts val="0"/>
              </a:spcAft>
            </a:pPr>
            <a:r>
              <a:rPr sz="1000">
                <a:solidFill>
                  <a:srgbClr val="4F81BD"/>
                </a:solidFill>
                <a:latin typeface="Calibri"/>
              </a:rPr>
              <a:t>        RespuestaServicio r = exito("Consulta realizada correctamente");</a:t>
            </a:r>
          </a:p>
          <a:p>
            <a:pPr algn="l">
              <a:lnSpc>
                <a:spcPct val="100000"/>
              </a:lnSpc>
              <a:spcBef>
                <a:spcPts val="0"/>
              </a:spcBef>
              <a:spcAft>
                <a:spcPts val="0"/>
              </a:spcAft>
            </a:pPr>
            <a:r>
              <a:rPr sz="1000">
                <a:solidFill>
                  <a:srgbClr val="4F81BD"/>
                </a:solidFill>
                <a:latin typeface="Calibri"/>
              </a:rPr>
              <a:t>        r.setDatos(datos);</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RespuestaMapeador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Único lugar donde se arma la respuesta (éxito, login, lista, conversión y error).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75335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static RespuestaServicio exitoConversion(double resultado, String unidadOrigen, String unidadDestino) {</a:t>
            </a:r>
          </a:p>
          <a:p>
            <a:pPr algn="l">
              <a:lnSpc>
                <a:spcPct val="100000"/>
              </a:lnSpc>
              <a:spcBef>
                <a:spcPts val="0"/>
              </a:spcBef>
              <a:spcAft>
                <a:spcPts val="0"/>
              </a:spcAft>
            </a:pPr>
            <a:r>
              <a:rPr sz="1000">
                <a:solidFill>
                  <a:srgbClr val="4F81BD"/>
                </a:solidFill>
                <a:latin typeface="Calibri"/>
              </a:rPr>
              <a:t>        RespuestaServicio r = exito("Conversión realizada correctamente");</a:t>
            </a:r>
          </a:p>
          <a:p>
            <a:pPr algn="l">
              <a:lnSpc>
                <a:spcPct val="100000"/>
              </a:lnSpc>
              <a:spcBef>
                <a:spcPts val="0"/>
              </a:spcBef>
              <a:spcAft>
                <a:spcPts val="0"/>
              </a:spcAft>
            </a:pPr>
            <a:r>
              <a:rPr sz="1000">
                <a:solidFill>
                  <a:srgbClr val="4F81BD"/>
                </a:solidFill>
                <a:latin typeface="Calibri"/>
              </a:rPr>
              <a:t>        r.setResultado(resultado);</a:t>
            </a:r>
          </a:p>
          <a:p>
            <a:pPr algn="l">
              <a:lnSpc>
                <a:spcPct val="100000"/>
              </a:lnSpc>
              <a:spcBef>
                <a:spcPts val="0"/>
              </a:spcBef>
              <a:spcAft>
                <a:spcPts val="0"/>
              </a:spcAft>
            </a:pPr>
            <a:r>
              <a:rPr sz="1000">
                <a:solidFill>
                  <a:srgbClr val="4F81BD"/>
                </a:solidFill>
                <a:latin typeface="Calibri"/>
              </a:rPr>
              <a:t>        r.setUnidadOrigen(unidadOrigen);</a:t>
            </a:r>
          </a:p>
          <a:p>
            <a:pPr algn="l">
              <a:lnSpc>
                <a:spcPct val="100000"/>
              </a:lnSpc>
              <a:spcBef>
                <a:spcPts val="0"/>
              </a:spcBef>
              <a:spcAft>
                <a:spcPts val="0"/>
              </a:spcAft>
            </a:pPr>
            <a:r>
              <a:rPr sz="1000">
                <a:solidFill>
                  <a:srgbClr val="4F81BD"/>
                </a:solidFill>
                <a:latin typeface="Calibri"/>
              </a:rPr>
              <a:t>        r.setUnidadDestino(unidadDestino);</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RespuestaServicio error(CodigoResultado codigo, String mensaje) {</a:t>
            </a:r>
          </a:p>
          <a:p>
            <a:pPr algn="l">
              <a:lnSpc>
                <a:spcPct val="100000"/>
              </a:lnSpc>
              <a:spcBef>
                <a:spcPts val="0"/>
              </a:spcBef>
              <a:spcAft>
                <a:spcPts val="0"/>
              </a:spcAft>
            </a:pPr>
            <a:r>
              <a:rPr sz="1000">
                <a:solidFill>
                  <a:srgbClr val="4F81BD"/>
                </a:solidFill>
                <a:latin typeface="Calibri"/>
              </a:rPr>
              <a:t>        RespuestaServicio r = new RespuestaServicio();</a:t>
            </a:r>
          </a:p>
          <a:p>
            <a:pPr algn="l">
              <a:lnSpc>
                <a:spcPct val="100000"/>
              </a:lnSpc>
              <a:spcBef>
                <a:spcPts val="0"/>
              </a:spcBef>
              <a:spcAft>
                <a:spcPts val="0"/>
              </a:spcAft>
            </a:pPr>
            <a:r>
              <a:rPr sz="1000">
                <a:solidFill>
                  <a:srgbClr val="4F81BD"/>
                </a:solidFill>
                <a:latin typeface="Calibri"/>
              </a:rPr>
              <a:t>        r.setEstado(EstadoRespuesta.ERROR.getTexto());</a:t>
            </a:r>
          </a:p>
          <a:p>
            <a:pPr algn="l">
              <a:lnSpc>
                <a:spcPct val="100000"/>
              </a:lnSpc>
              <a:spcBef>
                <a:spcPts val="0"/>
              </a:spcBef>
              <a:spcAft>
                <a:spcPts val="0"/>
              </a:spcAft>
            </a:pPr>
            <a:r>
              <a:rPr sz="1000">
                <a:solidFill>
                  <a:srgbClr val="4F81BD"/>
                </a:solidFill>
                <a:latin typeface="Calibri"/>
              </a:rPr>
              <a:t>        r.setCodigo(codigo.getCodigo());</a:t>
            </a:r>
          </a:p>
          <a:p>
            <a:pPr algn="l">
              <a:lnSpc>
                <a:spcPct val="100000"/>
              </a:lnSpc>
              <a:spcBef>
                <a:spcPts val="0"/>
              </a:spcBef>
              <a:spcAft>
                <a:spcPts val="0"/>
              </a:spcAft>
            </a:pPr>
            <a:r>
              <a:rPr sz="1000">
                <a:solidFill>
                  <a:srgbClr val="4F81BD"/>
                </a:solidFill>
                <a:latin typeface="Calibri"/>
              </a:rPr>
              <a:t>        r.setMensaje(mensaje);</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216712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1.2.5 	Lógica</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Ahora se procede a completar el resto de la lógica, donde los conversores exponen la lógica (utilizando factores de conversión y fórmulas) aplicando una interfaz Conversor, con el fin de que el catálogo pueda registrar cualquier categoría sin limitarse a una en concreto.</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4224527"/>
            <a:ext cx="5120640" cy="2450592"/>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Paquete servicios: interfaz Conversor y conversores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Interfaz que implementa cada categoría de conversión.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0632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ec.edu.monster.servicios;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interface Conversor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List&lt;String&gt; unidades();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double convertir(double valor, String origen, String destino);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static String normalizar(String texto) {</a:t>
            </a:r>
          </a:p>
          <a:p>
            <a:pPr algn="l">
              <a:lnSpc>
                <a:spcPct val="100000"/>
              </a:lnSpc>
              <a:spcBef>
                <a:spcPts val="0"/>
              </a:spcBef>
              <a:spcAft>
                <a:spcPts val="0"/>
              </a:spcAft>
            </a:pPr>
            <a:r>
              <a:rPr sz="1000">
                <a:solidFill>
                  <a:srgbClr val="4F81BD"/>
                </a:solidFill>
                <a:latin typeface="Calibri"/>
              </a:rPr>
              <a:t>        if (texto == null) {</a:t>
            </a:r>
          </a:p>
          <a:p>
            <a:pPr algn="l">
              <a:lnSpc>
                <a:spcPct val="100000"/>
              </a:lnSpc>
              <a:spcBef>
                <a:spcPts val="0"/>
              </a:spcBef>
              <a:spcAft>
                <a:spcPts val="0"/>
              </a:spcAft>
            </a:pPr>
            <a:r>
              <a:rPr sz="1000">
                <a:solidFill>
                  <a:srgbClr val="4F81BD"/>
                </a:solidFill>
                <a:latin typeface="Calibri"/>
              </a:rPr>
              <a:t>            return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s = Normalizer.normalize(texto.trim(), Normalizer.Form.NFD);</a:t>
            </a:r>
          </a:p>
          <a:p>
            <a:pPr algn="l">
              <a:lnSpc>
                <a:spcPct val="100000"/>
              </a:lnSpc>
              <a:spcBef>
                <a:spcPts val="0"/>
              </a:spcBef>
              <a:spcAft>
                <a:spcPts val="0"/>
              </a:spcAft>
            </a:pPr>
            <a:r>
              <a:rPr sz="1000">
                <a:solidFill>
                  <a:srgbClr val="4F81BD"/>
                </a:solidFill>
                <a:latin typeface="Calibri"/>
              </a:rPr>
              <a:t>        return s.replaceAll("\\p{M}", "").toLowerCase(Locale.ROOT);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ConversorLongitud</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 de longitud: factores respecto al metro.</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ec.edu.monster.servicios;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ConversorLongitud implements Conversor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Map&lt;String, Double&gt; METROS = new LinkedHashMap&lt;&gt;();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static {</a:t>
            </a:r>
          </a:p>
          <a:p>
            <a:pPr algn="l">
              <a:lnSpc>
                <a:spcPct val="100000"/>
              </a:lnSpc>
              <a:spcBef>
                <a:spcPts val="0"/>
              </a:spcBef>
              <a:spcAft>
                <a:spcPts val="0"/>
              </a:spcAft>
            </a:pPr>
            <a:r>
              <a:rPr sz="1000">
                <a:solidFill>
                  <a:srgbClr val="4F81BD"/>
                </a:solidFill>
                <a:latin typeface="Calibri"/>
              </a:rPr>
              <a:t>        METROS.put("centimetros", 0.01);</a:t>
            </a:r>
          </a:p>
          <a:p>
            <a:pPr algn="l">
              <a:lnSpc>
                <a:spcPct val="100000"/>
              </a:lnSpc>
              <a:spcBef>
                <a:spcPts val="0"/>
              </a:spcBef>
              <a:spcAft>
                <a:spcPts val="0"/>
              </a:spcAft>
            </a:pPr>
            <a:r>
              <a:rPr sz="1000">
                <a:solidFill>
                  <a:srgbClr val="4F81BD"/>
                </a:solidFill>
                <a:latin typeface="Calibri"/>
              </a:rPr>
              <a:t>        METROS.put("metros", 1.0);</a:t>
            </a:r>
          </a:p>
          <a:p>
            <a:pPr algn="l">
              <a:lnSpc>
                <a:spcPct val="100000"/>
              </a:lnSpc>
              <a:spcBef>
                <a:spcPts val="0"/>
              </a:spcBef>
              <a:spcAft>
                <a:spcPts val="0"/>
              </a:spcAft>
            </a:pPr>
            <a:r>
              <a:rPr sz="1000">
                <a:solidFill>
                  <a:srgbClr val="4F81BD"/>
                </a:solidFill>
                <a:latin typeface="Calibri"/>
              </a:rPr>
              <a:t>        METROS.put("pies", 0.3048);</a:t>
            </a:r>
          </a:p>
          <a:p>
            <a:pPr algn="l">
              <a:lnSpc>
                <a:spcPct val="100000"/>
              </a:lnSpc>
              <a:spcBef>
                <a:spcPts val="0"/>
              </a:spcBef>
              <a:spcAft>
                <a:spcPts val="0"/>
              </a:spcAft>
            </a:pPr>
            <a:r>
              <a:rPr sz="1000">
                <a:solidFill>
                  <a:srgbClr val="4F81BD"/>
                </a:solidFill>
                <a:latin typeface="Calibri"/>
              </a:rPr>
              <a:t>        METROS.put("yardas", 0.9144);</a:t>
            </a:r>
          </a:p>
          <a:p>
            <a:pPr algn="l">
              <a:lnSpc>
                <a:spcPct val="100000"/>
              </a:lnSpc>
              <a:spcBef>
                <a:spcPts val="0"/>
              </a:spcBef>
              <a:spcAft>
                <a:spcPts val="0"/>
              </a:spcAft>
            </a:pPr>
            <a:r>
              <a:rPr sz="1000">
                <a:solidFill>
                  <a:srgbClr val="4F81BD"/>
                </a:solidFill>
                <a:latin typeface="Calibri"/>
              </a:rPr>
              <a:t>        METROS.put("millas", 1609.344);</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String categoria() {</a:t>
            </a:r>
          </a:p>
          <a:p>
            <a:pPr algn="l">
              <a:lnSpc>
                <a:spcPct val="100000"/>
              </a:lnSpc>
              <a:spcBef>
                <a:spcPts val="0"/>
              </a:spcBef>
              <a:spcAft>
                <a:spcPts val="0"/>
              </a:spcAft>
            </a:pPr>
            <a:r>
              <a:rPr sz="1000">
                <a:solidFill>
                  <a:srgbClr val="4F81BD"/>
                </a:solidFill>
                <a:latin typeface="Calibri"/>
              </a:rPr>
              <a:t>        return "Longitud";</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List&lt;String&gt; unidades() {</a:t>
            </a:r>
          </a:p>
          <a:p>
            <a:pPr algn="l">
              <a:lnSpc>
                <a:spcPct val="100000"/>
              </a:lnSpc>
              <a:spcBef>
                <a:spcPts val="0"/>
              </a:spcBef>
              <a:spcAft>
                <a:spcPts val="0"/>
              </a:spcAft>
            </a:pPr>
            <a:r>
              <a:rPr sz="1000">
                <a:solidFill>
                  <a:srgbClr val="4F81BD"/>
                </a:solidFill>
                <a:latin typeface="Calibri"/>
              </a:rPr>
              <a:t>        return List.copyOf(METROS.keySet());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double convertir(double valor, String origen, String destino) {</a:t>
            </a:r>
          </a:p>
          <a:p>
            <a:pPr algn="l">
              <a:lnSpc>
                <a:spcPct val="100000"/>
              </a:lnSpc>
              <a:spcBef>
                <a:spcPts val="0"/>
              </a:spcBef>
              <a:spcAft>
                <a:spcPts val="0"/>
              </a:spcAft>
            </a:pPr>
            <a:r>
              <a:rPr sz="1000">
                <a:solidFill>
                  <a:srgbClr val="4F81BD"/>
                </a:solidFill>
                <a:latin typeface="Calibri"/>
              </a:rPr>
              <a:t>        return valor * METROS.get(origen) / METROS.get(destino);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ConversorMasa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 de masa: factores respecto al kilogramo.</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ec.edu.monster.servicios;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ConversorMasa implements Conversor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Map&lt;String, Double&gt; KILOS = new LinkedHashMap&lt;&gt;();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static {</a:t>
            </a:r>
          </a:p>
          <a:p>
            <a:pPr algn="l">
              <a:lnSpc>
                <a:spcPct val="100000"/>
              </a:lnSpc>
              <a:spcBef>
                <a:spcPts val="0"/>
              </a:spcBef>
              <a:spcAft>
                <a:spcPts val="0"/>
              </a:spcAft>
            </a:pPr>
            <a:r>
              <a:rPr sz="1000">
                <a:solidFill>
                  <a:srgbClr val="4F81BD"/>
                </a:solidFill>
                <a:latin typeface="Calibri"/>
              </a:rPr>
              <a:t>        KILOS.put("gramos", 0.001);</a:t>
            </a:r>
          </a:p>
          <a:p>
            <a:pPr algn="l">
              <a:lnSpc>
                <a:spcPct val="100000"/>
              </a:lnSpc>
              <a:spcBef>
                <a:spcPts val="0"/>
              </a:spcBef>
              <a:spcAft>
                <a:spcPts val="0"/>
              </a:spcAft>
            </a:pPr>
            <a:r>
              <a:rPr sz="1000">
                <a:solidFill>
                  <a:srgbClr val="4F81BD"/>
                </a:solidFill>
                <a:latin typeface="Calibri"/>
              </a:rPr>
              <a:t>        KILOS.put("kilogramos", 1.0);</a:t>
            </a:r>
          </a:p>
          <a:p>
            <a:pPr algn="l">
              <a:lnSpc>
                <a:spcPct val="100000"/>
              </a:lnSpc>
              <a:spcBef>
                <a:spcPts val="0"/>
              </a:spcBef>
              <a:spcAft>
                <a:spcPts val="0"/>
              </a:spcAft>
            </a:pPr>
            <a:r>
              <a:rPr sz="1000">
                <a:solidFill>
                  <a:srgbClr val="4F81BD"/>
                </a:solidFill>
                <a:latin typeface="Calibri"/>
              </a:rPr>
              <a:t>        KILOS.put("onzas", 0.028349523125);</a:t>
            </a:r>
          </a:p>
          <a:p>
            <a:pPr algn="l">
              <a:lnSpc>
                <a:spcPct val="100000"/>
              </a:lnSpc>
              <a:spcBef>
                <a:spcPts val="0"/>
              </a:spcBef>
              <a:spcAft>
                <a:spcPts val="0"/>
              </a:spcAft>
            </a:pPr>
            <a:r>
              <a:rPr sz="1000">
                <a:solidFill>
                  <a:srgbClr val="4F81BD"/>
                </a:solidFill>
                <a:latin typeface="Calibri"/>
              </a:rPr>
              <a:t>        KILOS.put("libras", 0.45359237);</a:t>
            </a:r>
          </a:p>
          <a:p>
            <a:pPr algn="l">
              <a:lnSpc>
                <a:spcPct val="100000"/>
              </a:lnSpc>
              <a:spcBef>
                <a:spcPts val="0"/>
              </a:spcBef>
              <a:spcAft>
                <a:spcPts val="0"/>
              </a:spcAft>
            </a:pPr>
            <a:r>
              <a:rPr sz="1000">
                <a:solidFill>
                  <a:srgbClr val="4F81BD"/>
                </a:solidFill>
                <a:latin typeface="Calibri"/>
              </a:rPr>
              <a:t>        KILOS.put("quintales", 45.359237);</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String categoria() {</a:t>
            </a:r>
          </a:p>
          <a:p>
            <a:pPr algn="l">
              <a:lnSpc>
                <a:spcPct val="100000"/>
              </a:lnSpc>
              <a:spcBef>
                <a:spcPts val="0"/>
              </a:spcBef>
              <a:spcAft>
                <a:spcPts val="0"/>
              </a:spcAft>
            </a:pPr>
            <a:r>
              <a:rPr sz="1000">
                <a:solidFill>
                  <a:srgbClr val="4F81BD"/>
                </a:solidFill>
                <a:latin typeface="Calibri"/>
              </a:rPr>
              <a:t>        return "Masa";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List&lt;String&gt; unidades() {</a:t>
            </a:r>
          </a:p>
          <a:p>
            <a:pPr algn="l">
              <a:lnSpc>
                <a:spcPct val="100000"/>
              </a:lnSpc>
              <a:spcBef>
                <a:spcPts val="0"/>
              </a:spcBef>
              <a:spcAft>
                <a:spcPts val="0"/>
              </a:spcAft>
            </a:pPr>
            <a:r>
              <a:rPr sz="1000">
                <a:solidFill>
                  <a:srgbClr val="4F81BD"/>
                </a:solidFill>
                <a:latin typeface="Calibri"/>
              </a:rPr>
              <a:t>        return List.copyOf(KILOS.keySet());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double convertir(double valor, String origen, String destino) {</a:t>
            </a:r>
          </a:p>
          <a:p>
            <a:pPr algn="l">
              <a:lnSpc>
                <a:spcPct val="100000"/>
              </a:lnSpc>
              <a:spcBef>
                <a:spcPts val="0"/>
              </a:spcBef>
              <a:spcAft>
                <a:spcPts val="0"/>
              </a:spcAft>
            </a:pPr>
            <a:r>
              <a:rPr sz="1000">
                <a:solidFill>
                  <a:srgbClr val="4F81BD"/>
                </a:solidFill>
                <a:latin typeface="Calibri"/>
              </a:rPr>
              <a:t>        return valor * KILOS.get(origen) / KILOS.get(destino);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ConversorTemperatura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 de temperatura: fórmulas entre Celsius, Fahrenheit, Kelvin, Newton y Réaumur.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8379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ec.edu.monster.servicios;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ConversorTemperatura implements Conversor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List&lt;String&gt; UNIDADES =</a:t>
            </a:r>
          </a:p>
          <a:p>
            <a:pPr algn="l">
              <a:lnSpc>
                <a:spcPct val="100000"/>
              </a:lnSpc>
              <a:spcBef>
                <a:spcPts val="0"/>
              </a:spcBef>
              <a:spcAft>
                <a:spcPts val="0"/>
              </a:spcAft>
            </a:pPr>
            <a:r>
              <a:rPr sz="1000">
                <a:solidFill>
                  <a:srgbClr val="4F81BD"/>
                </a:solidFill>
                <a:latin typeface="Calibri"/>
              </a:rPr>
              <a:t>            List.of("celsius", "fahrenheit", "kelvin", "newton", "reaumur");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String categoria() {</a:t>
            </a:r>
          </a:p>
          <a:p>
            <a:pPr algn="l">
              <a:lnSpc>
                <a:spcPct val="100000"/>
              </a:lnSpc>
              <a:spcBef>
                <a:spcPts val="0"/>
              </a:spcBef>
              <a:spcAft>
                <a:spcPts val="0"/>
              </a:spcAft>
            </a:pPr>
            <a:r>
              <a:rPr sz="1000">
                <a:solidFill>
                  <a:srgbClr val="4F81BD"/>
                </a:solidFill>
                <a:latin typeface="Calibri"/>
              </a:rPr>
              <a:t>        return "Temperatura";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List&lt;String&gt; unidades() {</a:t>
            </a:r>
          </a:p>
          <a:p>
            <a:pPr algn="l">
              <a:lnSpc>
                <a:spcPct val="100000"/>
              </a:lnSpc>
              <a:spcBef>
                <a:spcPts val="0"/>
              </a:spcBef>
              <a:spcAft>
                <a:spcPts val="0"/>
              </a:spcAft>
            </a:pPr>
            <a:r>
              <a:rPr sz="1000">
                <a:solidFill>
                  <a:srgbClr val="4F81BD"/>
                </a:solidFill>
                <a:latin typeface="Calibri"/>
              </a:rPr>
              <a:t>        return UNIDADES;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public double convertir(double valor, String origen, String destino) {</a:t>
            </a:r>
          </a:p>
          <a:p>
            <a:pPr algn="l">
              <a:lnSpc>
                <a:spcPct val="100000"/>
              </a:lnSpc>
              <a:spcBef>
                <a:spcPts val="0"/>
              </a:spcBef>
              <a:spcAft>
                <a:spcPts val="0"/>
              </a:spcAft>
            </a:pPr>
            <a:r>
              <a:rPr sz="1000">
                <a:solidFill>
                  <a:srgbClr val="4F81BD"/>
                </a:solidFill>
                <a:latin typeface="Calibri"/>
              </a:rPr>
              <a:t>        double celsius = aCelsius(valor, origen);</a:t>
            </a:r>
          </a:p>
          <a:p>
            <a:pPr algn="l">
              <a:lnSpc>
                <a:spcPct val="100000"/>
              </a:lnSpc>
              <a:spcBef>
                <a:spcPts val="0"/>
              </a:spcBef>
              <a:spcAft>
                <a:spcPts val="0"/>
              </a:spcAft>
            </a:pPr>
            <a:r>
              <a:rPr sz="1000">
                <a:solidFill>
                  <a:srgbClr val="4F81BD"/>
                </a:solidFill>
                <a:latin typeface="Calibri"/>
              </a:rPr>
              <a:t>        return desdeCelsius(celsius, destino);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ConversorTemperatura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Conversor de temperatura: fórmulas entre Celsius, Fahrenheit, Kelvin, Newton y Réaumur.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37311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private static double aCelsius(double v, String escala) {</a:t>
            </a:r>
          </a:p>
          <a:p>
            <a:pPr algn="l">
              <a:lnSpc>
                <a:spcPct val="100000"/>
              </a:lnSpc>
              <a:spcBef>
                <a:spcPts val="0"/>
              </a:spcBef>
              <a:spcAft>
                <a:spcPts val="0"/>
              </a:spcAft>
            </a:pPr>
            <a:r>
              <a:rPr sz="1000">
                <a:solidFill>
                  <a:srgbClr val="4F81BD"/>
                </a:solidFill>
                <a:latin typeface="Calibri"/>
              </a:rPr>
              <a:t>        return switch (escala) {</a:t>
            </a:r>
          </a:p>
          <a:p>
            <a:pPr algn="l">
              <a:lnSpc>
                <a:spcPct val="100000"/>
              </a:lnSpc>
              <a:spcBef>
                <a:spcPts val="0"/>
              </a:spcBef>
              <a:spcAft>
                <a:spcPts val="0"/>
              </a:spcAft>
            </a:pPr>
            <a:r>
              <a:rPr sz="1000">
                <a:solidFill>
                  <a:srgbClr val="4F81BD"/>
                </a:solidFill>
                <a:latin typeface="Calibri"/>
              </a:rPr>
              <a:t>            case "fahrenheit" -&gt; (v - 32.0) * 5.0 / 9.0;</a:t>
            </a:r>
          </a:p>
          <a:p>
            <a:pPr algn="l">
              <a:lnSpc>
                <a:spcPct val="100000"/>
              </a:lnSpc>
              <a:spcBef>
                <a:spcPts val="0"/>
              </a:spcBef>
              <a:spcAft>
                <a:spcPts val="0"/>
              </a:spcAft>
            </a:pPr>
            <a:r>
              <a:rPr sz="1000">
                <a:solidFill>
                  <a:srgbClr val="4F81BD"/>
                </a:solidFill>
                <a:latin typeface="Calibri"/>
              </a:rPr>
              <a:t>            case "kelvin" -&gt; v - 273.15;</a:t>
            </a:r>
          </a:p>
          <a:p>
            <a:pPr algn="l">
              <a:lnSpc>
                <a:spcPct val="100000"/>
              </a:lnSpc>
              <a:spcBef>
                <a:spcPts val="0"/>
              </a:spcBef>
              <a:spcAft>
                <a:spcPts val="0"/>
              </a:spcAft>
            </a:pPr>
            <a:r>
              <a:rPr sz="1000">
                <a:solidFill>
                  <a:srgbClr val="4F81BD"/>
                </a:solidFill>
                <a:latin typeface="Calibri"/>
              </a:rPr>
              <a:t>            case "newton" -&gt; v * 100.0 / 33.0;</a:t>
            </a:r>
          </a:p>
          <a:p>
            <a:pPr algn="l">
              <a:lnSpc>
                <a:spcPct val="100000"/>
              </a:lnSpc>
              <a:spcBef>
                <a:spcPts val="0"/>
              </a:spcBef>
              <a:spcAft>
                <a:spcPts val="0"/>
              </a:spcAft>
            </a:pPr>
            <a:r>
              <a:rPr sz="1000">
                <a:solidFill>
                  <a:srgbClr val="4F81BD"/>
                </a:solidFill>
                <a:latin typeface="Calibri"/>
              </a:rPr>
              <a:t>            case "reaumur" -&gt; v * 5.0 / 4.0;</a:t>
            </a:r>
          </a:p>
          <a:p>
            <a:pPr algn="l">
              <a:lnSpc>
                <a:spcPct val="100000"/>
              </a:lnSpc>
              <a:spcBef>
                <a:spcPts val="0"/>
              </a:spcBef>
              <a:spcAft>
                <a:spcPts val="0"/>
              </a:spcAft>
            </a:pPr>
            <a:r>
              <a:rPr sz="1000">
                <a:solidFill>
                  <a:srgbClr val="4F81BD"/>
                </a:solidFill>
                <a:latin typeface="Calibri"/>
              </a:rPr>
              <a:t>            default -&gt; v; // celsius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double desdeCelsius(double c, String escala) {</a:t>
            </a:r>
          </a:p>
          <a:p>
            <a:pPr algn="l">
              <a:lnSpc>
                <a:spcPct val="100000"/>
              </a:lnSpc>
              <a:spcBef>
                <a:spcPts val="0"/>
              </a:spcBef>
              <a:spcAft>
                <a:spcPts val="0"/>
              </a:spcAft>
            </a:pPr>
            <a:r>
              <a:rPr sz="1000">
                <a:solidFill>
                  <a:srgbClr val="4F81BD"/>
                </a:solidFill>
                <a:latin typeface="Calibri"/>
              </a:rPr>
              <a:t>        return switch (escala) {</a:t>
            </a:r>
          </a:p>
          <a:p>
            <a:pPr algn="l">
              <a:lnSpc>
                <a:spcPct val="100000"/>
              </a:lnSpc>
              <a:spcBef>
                <a:spcPts val="0"/>
              </a:spcBef>
              <a:spcAft>
                <a:spcPts val="0"/>
              </a:spcAft>
            </a:pPr>
            <a:r>
              <a:rPr sz="1000">
                <a:solidFill>
                  <a:srgbClr val="4F81BD"/>
                </a:solidFill>
                <a:latin typeface="Calibri"/>
              </a:rPr>
              <a:t>            case "fahrenheit" -&gt; c * 9.0 / 5.0 + 32.0;</a:t>
            </a:r>
          </a:p>
          <a:p>
            <a:pPr algn="l">
              <a:lnSpc>
                <a:spcPct val="100000"/>
              </a:lnSpc>
              <a:spcBef>
                <a:spcPts val="0"/>
              </a:spcBef>
              <a:spcAft>
                <a:spcPts val="0"/>
              </a:spcAft>
            </a:pPr>
            <a:r>
              <a:rPr sz="1000">
                <a:solidFill>
                  <a:srgbClr val="4F81BD"/>
                </a:solidFill>
                <a:latin typeface="Calibri"/>
              </a:rPr>
              <a:t>            case "kelvin" -&gt; c + 273.15;</a:t>
            </a:r>
          </a:p>
          <a:p>
            <a:pPr algn="l">
              <a:lnSpc>
                <a:spcPct val="100000"/>
              </a:lnSpc>
              <a:spcBef>
                <a:spcPts val="0"/>
              </a:spcBef>
              <a:spcAft>
                <a:spcPts val="0"/>
              </a:spcAft>
            </a:pPr>
            <a:r>
              <a:rPr sz="1000">
                <a:solidFill>
                  <a:srgbClr val="4F81BD"/>
                </a:solidFill>
                <a:latin typeface="Calibri"/>
              </a:rPr>
              <a:t>            case "newton" -&gt; c * 33.0 / 100.0;</a:t>
            </a:r>
          </a:p>
          <a:p>
            <a:pPr algn="l">
              <a:lnSpc>
                <a:spcPct val="100000"/>
              </a:lnSpc>
              <a:spcBef>
                <a:spcPts val="0"/>
              </a:spcBef>
              <a:spcAft>
                <a:spcPts val="0"/>
              </a:spcAft>
            </a:pPr>
            <a:r>
              <a:rPr sz="1000">
                <a:solidFill>
                  <a:srgbClr val="4F81BD"/>
                </a:solidFill>
                <a:latin typeface="Calibri"/>
              </a:rPr>
              <a:t>            case "reaumur" -&gt; c * 4.0 / 5.0;</a:t>
            </a:r>
          </a:p>
          <a:p>
            <a:pPr algn="l">
              <a:lnSpc>
                <a:spcPct val="100000"/>
              </a:lnSpc>
              <a:spcBef>
                <a:spcPts val="0"/>
              </a:spcBef>
              <a:spcAft>
                <a:spcPts val="0"/>
              </a:spcAft>
            </a:pPr>
            <a:r>
              <a:rPr sz="1000">
                <a:solidFill>
                  <a:srgbClr val="4F81BD"/>
                </a:solidFill>
                <a:latin typeface="Calibri"/>
              </a:rPr>
              <a:t>            default -&gt; c; // celsius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CatalogoUnidades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Catálogo: registra los conversores y busca categorías y unidades.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4576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ec.edu.monster.servicios;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final class CatalogoUnidades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List&lt;Conversor&gt; CONVERSORES = new CopyOnWriteArrayList&lt;&gt;();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static {</a:t>
            </a:r>
          </a:p>
          <a:p>
            <a:pPr algn="l">
              <a:lnSpc>
                <a:spcPct val="100000"/>
              </a:lnSpc>
              <a:spcBef>
                <a:spcPts val="0"/>
              </a:spcBef>
              <a:spcAft>
                <a:spcPts val="0"/>
              </a:spcAft>
            </a:pPr>
            <a:r>
              <a:rPr sz="1000">
                <a:solidFill>
                  <a:srgbClr val="4F81BD"/>
                </a:solidFill>
                <a:latin typeface="Calibri"/>
              </a:rPr>
              <a:t>        registrar(new ConversorLongitud());</a:t>
            </a:r>
          </a:p>
          <a:p>
            <a:pPr algn="l">
              <a:lnSpc>
                <a:spcPct val="100000"/>
              </a:lnSpc>
              <a:spcBef>
                <a:spcPts val="0"/>
              </a:spcBef>
              <a:spcAft>
                <a:spcPts val="0"/>
              </a:spcAft>
            </a:pPr>
            <a:r>
              <a:rPr sz="1000">
                <a:solidFill>
                  <a:srgbClr val="4F81BD"/>
                </a:solidFill>
                <a:latin typeface="Calibri"/>
              </a:rPr>
              <a:t>        registrar(new ConversorMasa());</a:t>
            </a:r>
          </a:p>
          <a:p>
            <a:pPr algn="l">
              <a:lnSpc>
                <a:spcPct val="100000"/>
              </a:lnSpc>
              <a:spcBef>
                <a:spcPts val="0"/>
              </a:spcBef>
              <a:spcAft>
                <a:spcPts val="0"/>
              </a:spcAft>
            </a:pPr>
            <a:r>
              <a:rPr sz="1000">
                <a:solidFill>
                  <a:srgbClr val="4F81BD"/>
                </a:solidFill>
                <a:latin typeface="Calibri"/>
              </a:rPr>
              <a:t>        registrar(new ConversorTemperatura());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CatalogoUnidades()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void registrar(Conversor conversor) {</a:t>
            </a:r>
          </a:p>
          <a:p>
            <a:pPr algn="l">
              <a:lnSpc>
                <a:spcPct val="100000"/>
              </a:lnSpc>
              <a:spcBef>
                <a:spcPts val="0"/>
              </a:spcBef>
              <a:spcAft>
                <a:spcPts val="0"/>
              </a:spcAft>
            </a:pPr>
            <a:r>
              <a:rPr sz="1000">
                <a:solidFill>
                  <a:srgbClr val="4F81BD"/>
                </a:solidFill>
                <a:latin typeface="Calibri"/>
              </a:rPr>
              <a:t>        CONVERSORES.add(conversor);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List&lt;String&gt; categorias() {</a:t>
            </a:r>
          </a:p>
          <a:p>
            <a:pPr algn="l">
              <a:lnSpc>
                <a:spcPct val="100000"/>
              </a:lnSpc>
              <a:spcBef>
                <a:spcPts val="0"/>
              </a:spcBef>
              <a:spcAft>
                <a:spcPts val="0"/>
              </a:spcAft>
            </a:pPr>
            <a:r>
              <a:rPr sz="1000">
                <a:solidFill>
                  <a:srgbClr val="4F81BD"/>
                </a:solidFill>
                <a:latin typeface="Calibri"/>
              </a:rPr>
              <a:t>        List&lt;String&gt; r = new ArrayList&lt;&gt;();</a:t>
            </a:r>
          </a:p>
          <a:p>
            <a:pPr algn="l">
              <a:lnSpc>
                <a:spcPct val="100000"/>
              </a:lnSpc>
              <a:spcBef>
                <a:spcPts val="0"/>
              </a:spcBef>
              <a:spcAft>
                <a:spcPts val="0"/>
              </a:spcAft>
            </a:pPr>
            <a:r>
              <a:rPr sz="1000">
                <a:solidFill>
                  <a:srgbClr val="4F81BD"/>
                </a:solidFill>
                <a:latin typeface="Calibri"/>
              </a:rPr>
              <a:t>        for (Conversor c : CONVERSORES) {</a:t>
            </a:r>
          </a:p>
          <a:p>
            <a:pPr algn="l">
              <a:lnSpc>
                <a:spcPct val="100000"/>
              </a:lnSpc>
              <a:spcBef>
                <a:spcPts val="0"/>
              </a:spcBef>
              <a:spcAft>
                <a:spcPts val="0"/>
              </a:spcAft>
            </a:pPr>
            <a:r>
              <a:rPr sz="1000">
                <a:solidFill>
                  <a:srgbClr val="4F81BD"/>
                </a:solidFill>
                <a:latin typeface="Calibri"/>
              </a:rPr>
              <a:t>            r.add(c.categoria());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CatalogoUnidades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Catálogo: registra los conversores y busca categorías y unidades.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683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static Optional&lt;Conversor&gt; buscarCategoria(String nombre) {</a:t>
            </a:r>
          </a:p>
          <a:p>
            <a:pPr algn="l">
              <a:lnSpc>
                <a:spcPct val="100000"/>
              </a:lnSpc>
              <a:spcBef>
                <a:spcPts val="0"/>
              </a:spcBef>
              <a:spcAft>
                <a:spcPts val="0"/>
              </a:spcAft>
            </a:pPr>
            <a:r>
              <a:rPr sz="1000">
                <a:solidFill>
                  <a:srgbClr val="4F81BD"/>
                </a:solidFill>
                <a:latin typeface="Calibri"/>
              </a:rPr>
              <a:t>        String n = Conversor.normalizar(nombre);</a:t>
            </a:r>
          </a:p>
          <a:p>
            <a:pPr algn="l">
              <a:lnSpc>
                <a:spcPct val="100000"/>
              </a:lnSpc>
              <a:spcBef>
                <a:spcPts val="0"/>
              </a:spcBef>
              <a:spcAft>
                <a:spcPts val="0"/>
              </a:spcAft>
            </a:pPr>
            <a:r>
              <a:rPr sz="1000">
                <a:solidFill>
                  <a:srgbClr val="4F81BD"/>
                </a:solidFill>
                <a:latin typeface="Calibri"/>
              </a:rPr>
              <a:t>        if (n == null || n.isEmpty()) {</a:t>
            </a:r>
          </a:p>
          <a:p>
            <a:pPr algn="l">
              <a:lnSpc>
                <a:spcPct val="100000"/>
              </a:lnSpc>
              <a:spcBef>
                <a:spcPts val="0"/>
              </a:spcBef>
              <a:spcAft>
                <a:spcPts val="0"/>
              </a:spcAft>
            </a:pPr>
            <a:r>
              <a:rPr sz="1000">
                <a:solidFill>
                  <a:srgbClr val="4F81BD"/>
                </a:solidFill>
                <a:latin typeface="Calibri"/>
              </a:rPr>
              <a:t>            return Optional.empty();</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for (Conversor c : CONVERSORES) {</a:t>
            </a:r>
          </a:p>
          <a:p>
            <a:pPr algn="l">
              <a:lnSpc>
                <a:spcPct val="100000"/>
              </a:lnSpc>
              <a:spcBef>
                <a:spcPts val="0"/>
              </a:spcBef>
              <a:spcAft>
                <a:spcPts val="0"/>
              </a:spcAft>
            </a:pPr>
            <a:r>
              <a:rPr sz="1000">
                <a:solidFill>
                  <a:srgbClr val="4F81BD"/>
                </a:solidFill>
                <a:latin typeface="Calibri"/>
              </a:rPr>
              <a:t>            if (Conversor.normalizar(c.categoria()).equals(n)) {</a:t>
            </a:r>
          </a:p>
          <a:p>
            <a:pPr algn="l">
              <a:lnSpc>
                <a:spcPct val="100000"/>
              </a:lnSpc>
              <a:spcBef>
                <a:spcPts val="0"/>
              </a:spcBef>
              <a:spcAft>
                <a:spcPts val="0"/>
              </a:spcAft>
            </a:pPr>
            <a:r>
              <a:rPr sz="1000">
                <a:solidFill>
                  <a:srgbClr val="4F81BD"/>
                </a:solidFill>
                <a:latin typeface="Calibri"/>
              </a:rPr>
              <a:t>                return Optional.of(c);</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Optional.empty();</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Optional&lt;Conversor&gt; categoriaDeUnidad(String unidadNormalizada) {</a:t>
            </a:r>
          </a:p>
          <a:p>
            <a:pPr algn="l">
              <a:lnSpc>
                <a:spcPct val="100000"/>
              </a:lnSpc>
              <a:spcBef>
                <a:spcPts val="0"/>
              </a:spcBef>
              <a:spcAft>
                <a:spcPts val="0"/>
              </a:spcAft>
            </a:pPr>
            <a:r>
              <a:rPr sz="1000">
                <a:solidFill>
                  <a:srgbClr val="4F81BD"/>
                </a:solidFill>
                <a:latin typeface="Calibri"/>
              </a:rPr>
              <a:t>        for (Conversor c : CONVERSORES) {</a:t>
            </a:r>
          </a:p>
          <a:p>
            <a:pPr algn="l">
              <a:lnSpc>
                <a:spcPct val="100000"/>
              </a:lnSpc>
              <a:spcBef>
                <a:spcPts val="0"/>
              </a:spcBef>
              <a:spcAft>
                <a:spcPts val="0"/>
              </a:spcAft>
            </a:pPr>
            <a:r>
              <a:rPr sz="1000">
                <a:solidFill>
                  <a:srgbClr val="4F81BD"/>
                </a:solidFill>
                <a:latin typeface="Calibri"/>
              </a:rPr>
              <a:t>            if (c.unidades().contains(unidadNormalizada)) {</a:t>
            </a:r>
          </a:p>
          <a:p>
            <a:pPr algn="l">
              <a:lnSpc>
                <a:spcPct val="100000"/>
              </a:lnSpc>
              <a:spcBef>
                <a:spcPts val="0"/>
              </a:spcBef>
              <a:spcAft>
                <a:spcPts val="0"/>
              </a:spcAft>
            </a:pPr>
            <a:r>
              <a:rPr sz="1000">
                <a:solidFill>
                  <a:srgbClr val="4F81BD"/>
                </a:solidFill>
                <a:latin typeface="Calibri"/>
              </a:rPr>
              <a:t>                return Optional.of(c);</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Optional.empty();</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2167127"/>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1.2.6 	Ejecución en Servidor</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ejecuta el programa corriendo en nuestro servidor Payara y se comprueba que el contrato WSDL esté correcto en la ruta (Payara corre por defecto en 8080): http://localhost:8080/WS_ConUni_Java_GR07/WSLogin?wsdl. El proyecto incluye 21 pruebas automáticas y se probó además con SoapUI.</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4224527"/>
            <a:ext cx="5120640" cy="2450592"/>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Navegador o SoapUI mostrando el WSDL de WSLogin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5216" y="1965960"/>
            <a:ext cx="8586216" cy="2505456"/>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1.3 	CREACIÓN DEL PROYECTO CLIENTE CONSOLA</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Para el cliente consola se usó NetBeans en el cual se debe crear un nuevo proyecto para ello se seleccionó el gestor de proyectos Java with Maven, el tipo de aplicativo que se usa es Java Application.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asigna un nombre al proyecto (ClienteConsola), se da una ubicación y se configura el group id con el que se quiere nombrar.</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2011680" y="4562855"/>
            <a:ext cx="5120640" cy="2112264"/>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New Project &gt; Java with Maven &gt; Java Application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Una vez que se creó el proyecto se debe generar los diferentes paquetes, donde se colocarán los archivos con código fuente: modelo, controlador y vista (patrón MVC).</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ree_consola.png"/>
          <p:cNvPicPr>
            <a:picLocks noChangeAspect="1"/>
          </p:cNvPicPr>
          <p:nvPr/>
        </p:nvPicPr>
        <p:blipFill>
          <a:blip r:embed="rId2"/>
          <a:stretch>
            <a:fillRect/>
          </a:stretch>
        </p:blipFill>
        <p:spPr>
          <a:xfrm>
            <a:off x="4060325" y="1920240"/>
            <a:ext cx="4863829" cy="4572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SoapClient (modelo)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A continuación se detallarán las clases principales con su código fuente.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9928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static String urlConfigurada() {</a:t>
            </a:r>
          </a:p>
          <a:p>
            <a:pPr algn="l">
              <a:lnSpc>
                <a:spcPct val="100000"/>
              </a:lnSpc>
              <a:spcBef>
                <a:spcPts val="0"/>
              </a:spcBef>
              <a:spcAft>
                <a:spcPts val="0"/>
              </a:spcAft>
            </a:pPr>
            <a:r>
              <a:rPr sz="1000">
                <a:solidFill>
                  <a:srgbClr val="4F81BD"/>
                </a:solidFill>
                <a:latin typeface="Calibri"/>
              </a:rPr>
              <a:t>        String p = System.getProperty("conuni.url");</a:t>
            </a:r>
          </a:p>
          <a:p>
            <a:pPr algn="l">
              <a:lnSpc>
                <a:spcPct val="100000"/>
              </a:lnSpc>
              <a:spcBef>
                <a:spcPts val="0"/>
              </a:spcBef>
              <a:spcAft>
                <a:spcPts val="0"/>
              </a:spcAft>
            </a:pPr>
            <a:r>
              <a:rPr sz="1000">
                <a:solidFill>
                  <a:srgbClr val="4F81BD"/>
                </a:solidFill>
                <a:latin typeface="Calibri"/>
              </a:rPr>
              <a:t>        if (p == null || p.isBlank()) {</a:t>
            </a:r>
          </a:p>
          <a:p>
            <a:pPr algn="l">
              <a:lnSpc>
                <a:spcPct val="100000"/>
              </a:lnSpc>
              <a:spcBef>
                <a:spcPts val="0"/>
              </a:spcBef>
              <a:spcAft>
                <a:spcPts val="0"/>
              </a:spcAft>
            </a:pPr>
            <a:r>
              <a:rPr sz="1000">
                <a:solidFill>
                  <a:srgbClr val="4F81BD"/>
                </a:solidFill>
                <a:latin typeface="Calibri"/>
              </a:rPr>
              <a:t>            p = System.getenv("CONUNI_URL");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(p == null || p.isBlank()) ? URL_POR_DEFECTO : p;</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String getBaseUrl() {</a:t>
            </a:r>
          </a:p>
          <a:p>
            <a:pPr algn="l">
              <a:lnSpc>
                <a:spcPct val="100000"/>
              </a:lnSpc>
              <a:spcBef>
                <a:spcPts val="0"/>
              </a:spcBef>
              <a:spcAft>
                <a:spcPts val="0"/>
              </a:spcAft>
            </a:pPr>
            <a:r>
              <a:rPr sz="1000">
                <a:solidFill>
                  <a:srgbClr val="4F81BD"/>
                </a:solidFill>
                <a:latin typeface="Calibri"/>
              </a:rPr>
              <a:t>        return baseUrl;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login(String usuario, String clave) {</a:t>
            </a:r>
          </a:p>
          <a:p>
            <a:pPr algn="l">
              <a:lnSpc>
                <a:spcPct val="100000"/>
              </a:lnSpc>
              <a:spcBef>
                <a:spcPts val="0"/>
              </a:spcBef>
              <a:spcAft>
                <a:spcPts val="0"/>
              </a:spcAft>
            </a:pPr>
            <a:r>
              <a:rPr sz="1000">
                <a:solidFill>
                  <a:srgbClr val="4F81BD"/>
                </a:solidFill>
                <a:latin typeface="Calibri"/>
              </a:rPr>
              <a:t>        return llamar("WSLogin", "login", "usuario", usuario, "clave", clave);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obtenerCategorias(String token) {</a:t>
            </a:r>
          </a:p>
          <a:p>
            <a:pPr algn="l">
              <a:lnSpc>
                <a:spcPct val="100000"/>
              </a:lnSpc>
              <a:spcBef>
                <a:spcPts val="0"/>
              </a:spcBef>
              <a:spcAft>
                <a:spcPts val="0"/>
              </a:spcAft>
            </a:pPr>
            <a:r>
              <a:rPr sz="1000">
                <a:solidFill>
                  <a:srgbClr val="4F81BD"/>
                </a:solidFill>
                <a:latin typeface="Calibri"/>
              </a:rPr>
              <a:t>        return llamar("WSCatalogo", "obtenerCategorias", "token",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obtenerUnidades(String token, String categoria) {</a:t>
            </a:r>
          </a:p>
          <a:p>
            <a:pPr algn="l">
              <a:lnSpc>
                <a:spcPct val="100000"/>
              </a:lnSpc>
              <a:spcBef>
                <a:spcPts val="0"/>
              </a:spcBef>
              <a:spcAft>
                <a:spcPts val="0"/>
              </a:spcAft>
            </a:pPr>
            <a:r>
              <a:rPr sz="1000">
                <a:solidFill>
                  <a:srgbClr val="4F81BD"/>
                </a:solidFill>
                <a:latin typeface="Calibri"/>
              </a:rPr>
              <a:t>        return llamar("WSCatalogo", "obtenerUnidades", "token", token, "categoria",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SoapClient (modelo)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A continuación se detallarán las clases principales con su código fuente.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37311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RespuestaServicio convertir(String categoria, double valor, String origen, String destino, String token) {</a:t>
            </a:r>
          </a:p>
          <a:p>
            <a:pPr algn="l">
              <a:lnSpc>
                <a:spcPct val="100000"/>
              </a:lnSpc>
              <a:spcBef>
                <a:spcPts val="0"/>
              </a:spcBef>
              <a:spcAft>
                <a:spcPts val="0"/>
              </a:spcAft>
            </a:pPr>
            <a:r>
              <a:rPr sz="1000">
                <a:solidFill>
                  <a:srgbClr val="4F81BD"/>
                </a:solidFill>
                <a:latin typeface="Calibri"/>
              </a:rPr>
              <a:t>        String c = categoria == null ? "" : categoria.trim();</a:t>
            </a:r>
          </a:p>
          <a:p>
            <a:pPr algn="l">
              <a:lnSpc>
                <a:spcPct val="100000"/>
              </a:lnSpc>
              <a:spcBef>
                <a:spcPts val="0"/>
              </a:spcBef>
              <a:spcAft>
                <a:spcPts val="0"/>
              </a:spcAft>
            </a:pPr>
            <a:r>
              <a:rPr sz="1000">
                <a:solidFill>
                  <a:srgbClr val="4F81BD"/>
                </a:solidFill>
                <a:latin typeface="Calibri"/>
              </a:rPr>
              <a:t>        String servicio;</a:t>
            </a:r>
          </a:p>
          <a:p>
            <a:pPr algn="l">
              <a:lnSpc>
                <a:spcPct val="100000"/>
              </a:lnSpc>
              <a:spcBef>
                <a:spcPts val="0"/>
              </a:spcBef>
              <a:spcAft>
                <a:spcPts val="0"/>
              </a:spcAft>
            </a:pPr>
            <a:r>
              <a:rPr sz="1000">
                <a:solidFill>
                  <a:srgbClr val="4F81BD"/>
                </a:solidFill>
                <a:latin typeface="Calibri"/>
              </a:rPr>
              <a:t>        String operacion;</a:t>
            </a:r>
          </a:p>
          <a:p>
            <a:pPr algn="l">
              <a:lnSpc>
                <a:spcPct val="100000"/>
              </a:lnSpc>
              <a:spcBef>
                <a:spcPts val="0"/>
              </a:spcBef>
              <a:spcAft>
                <a:spcPts val="0"/>
              </a:spcAft>
            </a:pPr>
            <a:r>
              <a:rPr sz="1000">
                <a:solidFill>
                  <a:srgbClr val="4F81BD"/>
                </a:solidFill>
                <a:latin typeface="Calibri"/>
              </a:rPr>
              <a:t>        if (c.equalsIgnoreCase("Longitud")) {</a:t>
            </a:r>
          </a:p>
          <a:p>
            <a:pPr algn="l">
              <a:lnSpc>
                <a:spcPct val="100000"/>
              </a:lnSpc>
              <a:spcBef>
                <a:spcPts val="0"/>
              </a:spcBef>
              <a:spcAft>
                <a:spcPts val="0"/>
              </a:spcAft>
            </a:pPr>
            <a:r>
              <a:rPr sz="1000">
                <a:solidFill>
                  <a:srgbClr val="4F81BD"/>
                </a:solidFill>
                <a:latin typeface="Calibri"/>
              </a:rPr>
              <a:t>            servicio = "WSLongitud";</a:t>
            </a:r>
          </a:p>
          <a:p>
            <a:pPr algn="l">
              <a:lnSpc>
                <a:spcPct val="100000"/>
              </a:lnSpc>
              <a:spcBef>
                <a:spcPts val="0"/>
              </a:spcBef>
              <a:spcAft>
                <a:spcPts val="0"/>
              </a:spcAft>
            </a:pPr>
            <a:r>
              <a:rPr sz="1000">
                <a:solidFill>
                  <a:srgbClr val="4F81BD"/>
                </a:solidFill>
                <a:latin typeface="Calibri"/>
              </a:rPr>
              <a:t>            operacion = "convertirLongitud";</a:t>
            </a:r>
          </a:p>
          <a:p>
            <a:pPr algn="l">
              <a:lnSpc>
                <a:spcPct val="100000"/>
              </a:lnSpc>
              <a:spcBef>
                <a:spcPts val="0"/>
              </a:spcBef>
              <a:spcAft>
                <a:spcPts val="0"/>
              </a:spcAft>
            </a:pPr>
            <a:r>
              <a:rPr sz="1000">
                <a:solidFill>
                  <a:srgbClr val="4F81BD"/>
                </a:solidFill>
                <a:latin typeface="Calibri"/>
              </a:rPr>
              <a:t>        } else if (c.equalsIgnoreCase("Masa")) {</a:t>
            </a:r>
          </a:p>
          <a:p>
            <a:pPr algn="l">
              <a:lnSpc>
                <a:spcPct val="100000"/>
              </a:lnSpc>
              <a:spcBef>
                <a:spcPts val="0"/>
              </a:spcBef>
              <a:spcAft>
                <a:spcPts val="0"/>
              </a:spcAft>
            </a:pPr>
            <a:r>
              <a:rPr sz="1000">
                <a:solidFill>
                  <a:srgbClr val="4F81BD"/>
                </a:solidFill>
                <a:latin typeface="Calibri"/>
              </a:rPr>
              <a:t>            servicio = "WSMasa";</a:t>
            </a:r>
          </a:p>
          <a:p>
            <a:pPr algn="l">
              <a:lnSpc>
                <a:spcPct val="100000"/>
              </a:lnSpc>
              <a:spcBef>
                <a:spcPts val="0"/>
              </a:spcBef>
              <a:spcAft>
                <a:spcPts val="0"/>
              </a:spcAft>
            </a:pPr>
            <a:r>
              <a:rPr sz="1000">
                <a:solidFill>
                  <a:srgbClr val="4F81BD"/>
                </a:solidFill>
                <a:latin typeface="Calibri"/>
              </a:rPr>
              <a:t>            operacion = "convertirMasa";</a:t>
            </a:r>
          </a:p>
          <a:p>
            <a:pPr algn="l">
              <a:lnSpc>
                <a:spcPct val="100000"/>
              </a:lnSpc>
              <a:spcBef>
                <a:spcPts val="0"/>
              </a:spcBef>
              <a:spcAft>
                <a:spcPts val="0"/>
              </a:spcAft>
            </a:pPr>
            <a:r>
              <a:rPr sz="1000">
                <a:solidFill>
                  <a:srgbClr val="4F81BD"/>
                </a:solidFill>
                <a:latin typeface="Calibri"/>
              </a:rPr>
              <a:t>        } else if (c.equalsIgnoreCase("Temperatura")) {</a:t>
            </a:r>
          </a:p>
          <a:p>
            <a:pPr algn="l">
              <a:lnSpc>
                <a:spcPct val="100000"/>
              </a:lnSpc>
              <a:spcBef>
                <a:spcPts val="0"/>
              </a:spcBef>
              <a:spcAft>
                <a:spcPts val="0"/>
              </a:spcAft>
            </a:pPr>
            <a:r>
              <a:rPr sz="1000">
                <a:solidFill>
                  <a:srgbClr val="4F81BD"/>
                </a:solidFill>
                <a:latin typeface="Calibri"/>
              </a:rPr>
              <a:t>            servicio = "WSTemperatura";</a:t>
            </a:r>
          </a:p>
          <a:p>
            <a:pPr algn="l">
              <a:lnSpc>
                <a:spcPct val="100000"/>
              </a:lnSpc>
              <a:spcBef>
                <a:spcPts val="0"/>
              </a:spcBef>
              <a:spcAft>
                <a:spcPts val="0"/>
              </a:spcAft>
            </a:pPr>
            <a:r>
              <a:rPr sz="1000">
                <a:solidFill>
                  <a:srgbClr val="4F81BD"/>
                </a:solidFill>
                <a:latin typeface="Calibri"/>
              </a:rPr>
              <a:t>            operacion = "convertirTemperatura";</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return RespuestaServicio.errorLocal("DATA-001", "Categoría no soportada");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llamar(servicio, operacion, "valor", Double.toString(valor), "unidadOrigen", origen,</a:t>
            </a:r>
          </a:p>
          <a:p>
            <a:pPr algn="l">
              <a:lnSpc>
                <a:spcPct val="100000"/>
              </a:lnSpc>
              <a:spcBef>
                <a:spcPts val="0"/>
              </a:spcBef>
              <a:spcAft>
                <a:spcPts val="0"/>
              </a:spcAft>
            </a:pPr>
            <a:r>
              <a:rPr sz="1000">
                <a:solidFill>
                  <a:srgbClr val="4F81BD"/>
                </a:solidFill>
                <a:latin typeface="Calibri"/>
              </a:rPr>
              <a:t>                "unidadDestino", destino, "token",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SoapClient (modelo)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A continuación se detallarán las clases principales con su código fuente.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30275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private RespuestaServicio llamar(String servicio, String operacion, String... parametros) {</a:t>
            </a:r>
          </a:p>
          <a:p>
            <a:pPr algn="l">
              <a:lnSpc>
                <a:spcPct val="100000"/>
              </a:lnSpc>
              <a:spcBef>
                <a:spcPts val="0"/>
              </a:spcBef>
              <a:spcAft>
                <a:spcPts val="0"/>
              </a:spcAft>
            </a:pPr>
            <a:r>
              <a:rPr sz="1000">
                <a:solidFill>
                  <a:srgbClr val="4F81BD"/>
                </a:solidFill>
                <a:latin typeface="Calibri"/>
              </a:rPr>
              <a:t>        StringBuilder cuerpo = new StringBuilder();</a:t>
            </a:r>
          </a:p>
          <a:p>
            <a:pPr algn="l">
              <a:lnSpc>
                <a:spcPct val="100000"/>
              </a:lnSpc>
              <a:spcBef>
                <a:spcPts val="0"/>
              </a:spcBef>
              <a:spcAft>
                <a:spcPts val="0"/>
              </a:spcAft>
            </a:pPr>
            <a:r>
              <a:rPr sz="1000">
                <a:solidFill>
                  <a:srgbClr val="4F81BD"/>
                </a:solidFill>
                <a:latin typeface="Calibri"/>
              </a:rPr>
              <a:t>        for (int i = 0; i + 1 &lt; parametros.length; i += 2) {</a:t>
            </a:r>
          </a:p>
          <a:p>
            <a:pPr algn="l">
              <a:lnSpc>
                <a:spcPct val="100000"/>
              </a:lnSpc>
              <a:spcBef>
                <a:spcPts val="0"/>
              </a:spcBef>
              <a:spcAft>
                <a:spcPts val="0"/>
              </a:spcAft>
            </a:pPr>
            <a:r>
              <a:rPr sz="1000">
                <a:solidFill>
                  <a:srgbClr val="4F81BD"/>
                </a:solidFill>
                <a:latin typeface="Calibri"/>
              </a:rPr>
              <a:t>            cuerpo.append('&lt;').append(parametros[i]).append('&gt;')</a:t>
            </a:r>
          </a:p>
          <a:p>
            <a:pPr algn="l">
              <a:lnSpc>
                <a:spcPct val="100000"/>
              </a:lnSpc>
              <a:spcBef>
                <a:spcPts val="0"/>
              </a:spcBef>
              <a:spcAft>
                <a:spcPts val="0"/>
              </a:spcAft>
            </a:pPr>
            <a:r>
              <a:rPr sz="1000">
                <a:solidFill>
                  <a:srgbClr val="4F81BD"/>
                </a:solidFill>
                <a:latin typeface="Calibri"/>
              </a:rPr>
              <a:t>                    .append(escapar(parametros[i + 1]))</a:t>
            </a:r>
          </a:p>
          <a:p>
            <a:pPr algn="l">
              <a:lnSpc>
                <a:spcPct val="100000"/>
              </a:lnSpc>
              <a:spcBef>
                <a:spcPts val="0"/>
              </a:spcBef>
              <a:spcAft>
                <a:spcPts val="0"/>
              </a:spcAft>
            </a:pPr>
            <a:r>
              <a:rPr sz="1000">
                <a:solidFill>
                  <a:srgbClr val="4F81BD"/>
                </a:solidFill>
                <a:latin typeface="Calibri"/>
              </a:rPr>
              <a:t>                    .append("&lt;/").append(parametros[i]).append('&gt;');</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envelope = "&lt;soapenv:Envelope xmlns:soapenv=\"http://schemas.xmlsoap.org/soap/envelope/\" xmlns:ws=\"" + NS + "\"&gt;"</a:t>
            </a:r>
          </a:p>
          <a:p>
            <a:pPr algn="l">
              <a:lnSpc>
                <a:spcPct val="100000"/>
              </a:lnSpc>
              <a:spcBef>
                <a:spcPts val="0"/>
              </a:spcBef>
              <a:spcAft>
                <a:spcPts val="0"/>
              </a:spcAft>
            </a:pPr>
            <a:r>
              <a:rPr sz="1000">
                <a:solidFill>
                  <a:srgbClr val="4F81BD"/>
                </a:solidFill>
                <a:latin typeface="Calibri"/>
              </a:rPr>
              <a:t>                + "&lt;soapenv:Header/&gt;&lt;soapenv:Body&gt;&lt;ws:" + operacion + "&gt;" + cuerpo + "&lt;/ws:" + operacion + "&gt;"</a:t>
            </a:r>
          </a:p>
          <a:p>
            <a:pPr algn="l">
              <a:lnSpc>
                <a:spcPct val="100000"/>
              </a:lnSpc>
              <a:spcBef>
                <a:spcPts val="0"/>
              </a:spcBef>
              <a:spcAft>
                <a:spcPts val="0"/>
              </a:spcAft>
            </a:pPr>
            <a:r>
              <a:rPr sz="1000">
                <a:solidFill>
                  <a:srgbClr val="4F81BD"/>
                </a:solidFill>
                <a:latin typeface="Calibri"/>
              </a:rPr>
              <a:t>                + "&lt;/soapenv:Body&gt;&lt;/soapenv:Envelope&gt;";</a:t>
            </a:r>
          </a:p>
          <a:p>
            <a:pPr algn="l">
              <a:lnSpc>
                <a:spcPct val="100000"/>
              </a:lnSpc>
              <a:spcBef>
                <a:spcPts val="0"/>
              </a:spcBef>
              <a:spcAft>
                <a:spcPts val="0"/>
              </a:spcAft>
            </a:pPr>
            <a:r>
              <a:rPr sz="1000">
                <a:solidFill>
                  <a:srgbClr val="4F81BD"/>
                </a:solidFill>
                <a:latin typeface="Calibri"/>
              </a:rPr>
              <a:t>        HttpRequest req = HttpRequest.newBuilder(URI.create(baseUrl + servicio))</a:t>
            </a:r>
          </a:p>
          <a:p>
            <a:pPr algn="l">
              <a:lnSpc>
                <a:spcPct val="100000"/>
              </a:lnSpc>
              <a:spcBef>
                <a:spcPts val="0"/>
              </a:spcBef>
              <a:spcAft>
                <a:spcPts val="0"/>
              </a:spcAft>
            </a:pPr>
            <a:r>
              <a:rPr sz="1000">
                <a:solidFill>
                  <a:srgbClr val="4F81BD"/>
                </a:solidFill>
                <a:latin typeface="Calibri"/>
              </a:rPr>
              <a:t>                .timeout(Duration.ofSeconds(15))</a:t>
            </a:r>
          </a:p>
          <a:p>
            <a:pPr algn="l">
              <a:lnSpc>
                <a:spcPct val="100000"/>
              </a:lnSpc>
              <a:spcBef>
                <a:spcPts val="0"/>
              </a:spcBef>
              <a:spcAft>
                <a:spcPts val="0"/>
              </a:spcAft>
            </a:pPr>
            <a:r>
              <a:rPr sz="1000">
                <a:solidFill>
                  <a:srgbClr val="4F81BD"/>
                </a:solidFill>
                <a:latin typeface="Calibri"/>
              </a:rPr>
              <a:t>                .header("Content-Type", "text/xml; charset=utf-8")</a:t>
            </a:r>
          </a:p>
          <a:p>
            <a:pPr algn="l">
              <a:lnSpc>
                <a:spcPct val="100000"/>
              </a:lnSpc>
              <a:spcBef>
                <a:spcPts val="0"/>
              </a:spcBef>
              <a:spcAft>
                <a:spcPts val="0"/>
              </a:spcAft>
            </a:pPr>
            <a:r>
              <a:rPr sz="1000">
                <a:solidFill>
                  <a:srgbClr val="4F81BD"/>
                </a:solidFill>
                <a:latin typeface="Calibri"/>
              </a:rPr>
              <a:t>                .POST(HttpRequest.BodyPublishers.ofString(envelope, StandardCharsets.UTF_8)).build();</a:t>
            </a:r>
          </a:p>
          <a:p>
            <a:pPr algn="l">
              <a:lnSpc>
                <a:spcPct val="100000"/>
              </a:lnSpc>
              <a:spcBef>
                <a:spcPts val="0"/>
              </a:spcBef>
              <a:spcAft>
                <a:spcPts val="0"/>
              </a:spcAft>
            </a:pPr>
            <a:r>
              <a:rPr sz="1000">
                <a:solidFill>
                  <a:srgbClr val="4F81BD"/>
                </a:solidFill>
                <a:latin typeface="Calibri"/>
              </a:rPr>
              <a:t>        try {</a:t>
            </a:r>
          </a:p>
          <a:p>
            <a:pPr algn="l">
              <a:lnSpc>
                <a:spcPct val="100000"/>
              </a:lnSpc>
              <a:spcBef>
                <a:spcPts val="0"/>
              </a:spcBef>
              <a:spcAft>
                <a:spcPts val="0"/>
              </a:spcAft>
            </a:pPr>
            <a:r>
              <a:rPr sz="1000">
                <a:solidFill>
                  <a:srgbClr val="4F81BD"/>
                </a:solidFill>
                <a:latin typeface="Calibri"/>
              </a:rPr>
              <a:t>            HttpResponse&lt;byte[]&gt; resp = http.send(req, HttpResponse.BodyHandlers.ofByteArray());</a:t>
            </a:r>
          </a:p>
          <a:p>
            <a:pPr algn="l">
              <a:lnSpc>
                <a:spcPct val="100000"/>
              </a:lnSpc>
              <a:spcBef>
                <a:spcPts val="0"/>
              </a:spcBef>
              <a:spcAft>
                <a:spcPts val="0"/>
              </a:spcAft>
            </a:pPr>
            <a:r>
              <a:rPr sz="1000">
                <a:solidFill>
                  <a:srgbClr val="4F81BD"/>
                </a:solidFill>
                <a:latin typeface="Calibri"/>
              </a:rPr>
              <a:t>            return interpretar(resp.body(), resp.statusCode());</a:t>
            </a:r>
          </a:p>
          <a:p>
            <a:pPr algn="l">
              <a:lnSpc>
                <a:spcPct val="100000"/>
              </a:lnSpc>
              <a:spcBef>
                <a:spcPts val="0"/>
              </a:spcBef>
              <a:spcAft>
                <a:spcPts val="0"/>
              </a:spcAft>
            </a:pPr>
            <a:r>
              <a:rPr sz="1000">
                <a:solidFill>
                  <a:srgbClr val="4F81BD"/>
                </a:solidFill>
                <a:latin typeface="Calibri"/>
              </a:rPr>
              <a:t>        } catch (IOException e) {</a:t>
            </a:r>
          </a:p>
          <a:p>
            <a:pPr algn="l">
              <a:lnSpc>
                <a:spcPct val="100000"/>
              </a:lnSpc>
              <a:spcBef>
                <a:spcPts val="0"/>
              </a:spcBef>
              <a:spcAft>
                <a:spcPts val="0"/>
              </a:spcAft>
            </a:pPr>
            <a:r>
              <a:rPr sz="1000">
                <a:solidFill>
                  <a:srgbClr val="4F81BD"/>
                </a:solidFill>
                <a:latin typeface="Calibri"/>
              </a:rPr>
              <a:t>            return RespuestaServicio.errorLocal(RespuestaServicio.COD_RED,</a:t>
            </a:r>
          </a:p>
          <a:p>
            <a:pPr algn="l">
              <a:lnSpc>
                <a:spcPct val="100000"/>
              </a:lnSpc>
              <a:spcBef>
                <a:spcPts val="0"/>
              </a:spcBef>
              <a:spcAft>
                <a:spcPts val="0"/>
              </a:spcAft>
            </a:pPr>
            <a:r>
              <a:rPr sz="1000">
                <a:solidFill>
                  <a:srgbClr val="4F81BD"/>
                </a:solidFill>
                <a:latin typeface="Calibri"/>
              </a:rPr>
              <a:t>                    "No se pudo conectar con el servidor (" + baseUrl + "). Verifique que esté en ejecución.");</a:t>
            </a:r>
          </a:p>
          <a:p>
            <a:pPr algn="l">
              <a:lnSpc>
                <a:spcPct val="100000"/>
              </a:lnSpc>
              <a:spcBef>
                <a:spcPts val="0"/>
              </a:spcBef>
              <a:spcAft>
                <a:spcPts val="0"/>
              </a:spcAft>
            </a:pPr>
            <a:r>
              <a:rPr sz="1000">
                <a:solidFill>
                  <a:srgbClr val="4F81BD"/>
                </a:solidFill>
                <a:latin typeface="Calibri"/>
              </a:rPr>
              <a:t>        } catch (InterruptedException e) {</a:t>
            </a:r>
          </a:p>
          <a:p>
            <a:pPr algn="l">
              <a:lnSpc>
                <a:spcPct val="100000"/>
              </a:lnSpc>
              <a:spcBef>
                <a:spcPts val="0"/>
              </a:spcBef>
              <a:spcAft>
                <a:spcPts val="0"/>
              </a:spcAft>
            </a:pPr>
            <a:r>
              <a:rPr sz="1000">
                <a:solidFill>
                  <a:srgbClr val="4F81BD"/>
                </a:solidFill>
                <a:latin typeface="Calibri"/>
              </a:rPr>
              <a:t>            Thread.currentThread().interrupt();</a:t>
            </a:r>
          </a:p>
          <a:p>
            <a:pPr algn="l">
              <a:lnSpc>
                <a:spcPct val="100000"/>
              </a:lnSpc>
              <a:spcBef>
                <a:spcPts val="0"/>
              </a:spcBef>
              <a:spcAft>
                <a:spcPts val="0"/>
              </a:spcAft>
            </a:pPr>
            <a:r>
              <a:rPr sz="1000">
                <a:solidFill>
                  <a:srgbClr val="4F81BD"/>
                </a:solidFill>
                <a:latin typeface="Calibri"/>
              </a:rPr>
              <a:t>            return RespuestaServicio.errorLocal(RespuestaServicio.COD_RED, "Operación interrumpida");</a:t>
            </a:r>
          </a:p>
          <a:p>
            <a:pPr algn="l">
              <a:lnSpc>
                <a:spcPct val="100000"/>
              </a:lnSpc>
              <a:spcBef>
                <a:spcPts val="0"/>
              </a:spcBef>
              <a:spcAft>
                <a:spcPts val="0"/>
              </a:spcAft>
            </a:pPr>
            <a:r>
              <a:rPr sz="1000">
                <a:solidFill>
                  <a:srgbClr val="4F81BD"/>
                </a:solidFill>
                <a:latin typeface="Calibri"/>
              </a:rPr>
              <a:t>        } catch (RuntimeException e) {</a:t>
            </a:r>
          </a:p>
          <a:p>
            <a:pPr algn="l">
              <a:lnSpc>
                <a:spcPct val="100000"/>
              </a:lnSpc>
              <a:spcBef>
                <a:spcPts val="0"/>
              </a:spcBef>
              <a:spcAft>
                <a:spcPts val="0"/>
              </a:spcAft>
            </a:pPr>
            <a:r>
              <a:rPr sz="1000">
                <a:solidFill>
                  <a:srgbClr val="4F81BD"/>
                </a:solidFill>
                <a:latin typeface="Calibri"/>
              </a:rPr>
              <a:t>            return RespuestaServicio.errorLocal("SRV-500", "Respuesta inesperada del servidor");</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Sesion (modelo)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Modelo de la sesión: guarda el token.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683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ec.edu.monster.clienteconsola.modelo;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Sesion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String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synchronized void iniciar(String token) {</a:t>
            </a:r>
          </a:p>
          <a:p>
            <a:pPr algn="l">
              <a:lnSpc>
                <a:spcPct val="100000"/>
              </a:lnSpc>
              <a:spcBef>
                <a:spcPts val="0"/>
              </a:spcBef>
              <a:spcAft>
                <a:spcPts val="0"/>
              </a:spcAft>
            </a:pPr>
            <a:r>
              <a:rPr sz="1000">
                <a:solidFill>
                  <a:srgbClr val="4F81BD"/>
                </a:solidFill>
                <a:latin typeface="Calibri"/>
              </a:rPr>
              <a:t>        this.token =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synchronized void cerrar() {</a:t>
            </a:r>
          </a:p>
          <a:p>
            <a:pPr algn="l">
              <a:lnSpc>
                <a:spcPct val="100000"/>
              </a:lnSpc>
              <a:spcBef>
                <a:spcPts val="0"/>
              </a:spcBef>
              <a:spcAft>
                <a:spcPts val="0"/>
              </a:spcAft>
            </a:pPr>
            <a:r>
              <a:rPr sz="1000">
                <a:solidFill>
                  <a:srgbClr val="4F81BD"/>
                </a:solidFill>
                <a:latin typeface="Calibri"/>
              </a:rPr>
              <a:t>        this.token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synchronized boolean activa() {</a:t>
            </a:r>
          </a:p>
          <a:p>
            <a:pPr algn="l">
              <a:lnSpc>
                <a:spcPct val="100000"/>
              </a:lnSpc>
              <a:spcBef>
                <a:spcPts val="0"/>
              </a:spcBef>
              <a:spcAft>
                <a:spcPts val="0"/>
              </a:spcAft>
            </a:pPr>
            <a:r>
              <a:rPr sz="1000">
                <a:solidFill>
                  <a:srgbClr val="4F81BD"/>
                </a:solidFill>
                <a:latin typeface="Calibri"/>
              </a:rPr>
              <a:t>        return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synchronized String getToken() {</a:t>
            </a:r>
          </a:p>
          <a:p>
            <a:pPr algn="l">
              <a:lnSpc>
                <a:spcPct val="100000"/>
              </a:lnSpc>
              <a:spcBef>
                <a:spcPts val="0"/>
              </a:spcBef>
              <a:spcAft>
                <a:spcPts val="0"/>
              </a:spcAft>
            </a:pPr>
            <a:r>
              <a:rPr sz="1000">
                <a:solidFill>
                  <a:srgbClr val="4F81BD"/>
                </a:solidFill>
                <a:latin typeface="Calibri"/>
              </a:rPr>
              <a:t>        return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ControladorSesion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 la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37311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ControladorSesion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SoapClient cliente;</a:t>
            </a:r>
          </a:p>
          <a:p>
            <a:pPr algn="l">
              <a:lnSpc>
                <a:spcPct val="100000"/>
              </a:lnSpc>
              <a:spcBef>
                <a:spcPts val="0"/>
              </a:spcBef>
              <a:spcAft>
                <a:spcPts val="0"/>
              </a:spcAft>
            </a:pPr>
            <a:r>
              <a:rPr sz="1000">
                <a:solidFill>
                  <a:srgbClr val="4F81BD"/>
                </a:solidFill>
                <a:latin typeface="Calibri"/>
              </a:rPr>
              <a:t>    private final Sesion 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ControladorSesion(SoapClient cliente, Sesion sesion) {</a:t>
            </a:r>
          </a:p>
          <a:p>
            <a:pPr algn="l">
              <a:lnSpc>
                <a:spcPct val="100000"/>
              </a:lnSpc>
              <a:spcBef>
                <a:spcPts val="0"/>
              </a:spcBef>
              <a:spcAft>
                <a:spcPts val="0"/>
              </a:spcAft>
            </a:pPr>
            <a:r>
              <a:rPr sz="1000">
                <a:solidFill>
                  <a:srgbClr val="4F81BD"/>
                </a:solidFill>
                <a:latin typeface="Calibri"/>
              </a:rPr>
              <a:t>        this.cliente = cliente;</a:t>
            </a:r>
          </a:p>
          <a:p>
            <a:pPr algn="l">
              <a:lnSpc>
                <a:spcPct val="100000"/>
              </a:lnSpc>
              <a:spcBef>
                <a:spcPts val="0"/>
              </a:spcBef>
              <a:spcAft>
                <a:spcPts val="0"/>
              </a:spcAft>
            </a:pPr>
            <a:r>
              <a:rPr sz="1000">
                <a:solidFill>
                  <a:srgbClr val="4F81BD"/>
                </a:solidFill>
                <a:latin typeface="Calibri"/>
              </a:rPr>
              <a:t>        this.sesion = 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String getUrl() {</a:t>
            </a:r>
          </a:p>
          <a:p>
            <a:pPr algn="l">
              <a:lnSpc>
                <a:spcPct val="100000"/>
              </a:lnSpc>
              <a:spcBef>
                <a:spcPts val="0"/>
              </a:spcBef>
              <a:spcAft>
                <a:spcPts val="0"/>
              </a:spcAft>
            </a:pPr>
            <a:r>
              <a:rPr sz="1000">
                <a:solidFill>
                  <a:srgbClr val="4F81BD"/>
                </a:solidFill>
                <a:latin typeface="Calibri"/>
              </a:rPr>
              <a:t>        return cliente.getBaseUrl();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boolean haySesion() {</a:t>
            </a:r>
          </a:p>
          <a:p>
            <a:pPr algn="l">
              <a:lnSpc>
                <a:spcPct val="100000"/>
              </a:lnSpc>
              <a:spcBef>
                <a:spcPts val="0"/>
              </a:spcBef>
              <a:spcAft>
                <a:spcPts val="0"/>
              </a:spcAft>
            </a:pPr>
            <a:r>
              <a:rPr sz="1000">
                <a:solidFill>
                  <a:srgbClr val="4F81BD"/>
                </a:solidFill>
                <a:latin typeface="Calibri"/>
              </a:rPr>
              <a:t>        return sesion.activa();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ControladorSesion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 la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4434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RespuestaServicio iniciarSesion(String usuario, String clave) {</a:t>
            </a:r>
          </a:p>
          <a:p>
            <a:pPr algn="l">
              <a:lnSpc>
                <a:spcPct val="100000"/>
              </a:lnSpc>
              <a:spcBef>
                <a:spcPts val="0"/>
              </a:spcBef>
              <a:spcAft>
                <a:spcPts val="0"/>
              </a:spcAft>
            </a:pPr>
            <a:r>
              <a:rPr sz="1000">
                <a:solidFill>
                  <a:srgbClr val="4F81BD"/>
                </a:solidFill>
                <a:latin typeface="Calibri"/>
              </a:rPr>
              <a:t>        RespuestaServicio r = cliente.login(usuario, clave);</a:t>
            </a:r>
          </a:p>
          <a:p>
            <a:pPr algn="l">
              <a:lnSpc>
                <a:spcPct val="100000"/>
              </a:lnSpc>
              <a:spcBef>
                <a:spcPts val="0"/>
              </a:spcBef>
              <a:spcAft>
                <a:spcPts val="0"/>
              </a:spcAft>
            </a:pPr>
            <a:r>
              <a:rPr sz="1000">
                <a:solidFill>
                  <a:srgbClr val="4F81BD"/>
                </a:solidFill>
                <a:latin typeface="Calibri"/>
              </a:rPr>
              <a:t>        if (r.esExitosa() &amp;&amp; r.getToken() != null) {</a:t>
            </a:r>
          </a:p>
          <a:p>
            <a:pPr algn="l">
              <a:lnSpc>
                <a:spcPct val="100000"/>
              </a:lnSpc>
              <a:spcBef>
                <a:spcPts val="0"/>
              </a:spcBef>
              <a:spcAft>
                <a:spcPts val="0"/>
              </a:spcAft>
            </a:pPr>
            <a:r>
              <a:rPr sz="1000">
                <a:solidFill>
                  <a:srgbClr val="4F81BD"/>
                </a:solidFill>
                <a:latin typeface="Calibri"/>
              </a:rPr>
              <a:t>            sesion.iniciar(r.getToken());</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sesion.cerrar();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cerrarSesion() {</a:t>
            </a:r>
          </a:p>
          <a:p>
            <a:pPr algn="l">
              <a:lnSpc>
                <a:spcPct val="100000"/>
              </a:lnSpc>
              <a:spcBef>
                <a:spcPts val="0"/>
              </a:spcBef>
              <a:spcAft>
                <a:spcPts val="0"/>
              </a:spcAft>
            </a:pPr>
            <a:r>
              <a:rPr sz="1000">
                <a:solidFill>
                  <a:srgbClr val="4F81BD"/>
                </a:solidFill>
                <a:latin typeface="Calibri"/>
              </a:rPr>
              <a:t>        sesion.cerrar();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del catálogo y las 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9928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ControladorConversiones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SoapClient cliente;</a:t>
            </a:r>
          </a:p>
          <a:p>
            <a:pPr algn="l">
              <a:lnSpc>
                <a:spcPct val="100000"/>
              </a:lnSpc>
              <a:spcBef>
                <a:spcPts val="0"/>
              </a:spcBef>
              <a:spcAft>
                <a:spcPts val="0"/>
              </a:spcAft>
            </a:pPr>
            <a:r>
              <a:rPr sz="1000">
                <a:solidFill>
                  <a:srgbClr val="4F81BD"/>
                </a:solidFill>
                <a:latin typeface="Calibri"/>
              </a:rPr>
              <a:t>    private final Sesion 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ControladorConversiones(SoapClient cliente, Sesion sesion) {</a:t>
            </a:r>
          </a:p>
          <a:p>
            <a:pPr algn="l">
              <a:lnSpc>
                <a:spcPct val="100000"/>
              </a:lnSpc>
              <a:spcBef>
                <a:spcPts val="0"/>
              </a:spcBef>
              <a:spcAft>
                <a:spcPts val="0"/>
              </a:spcAft>
            </a:pPr>
            <a:r>
              <a:rPr sz="1000">
                <a:solidFill>
                  <a:srgbClr val="4F81BD"/>
                </a:solidFill>
                <a:latin typeface="Calibri"/>
              </a:rPr>
              <a:t>        this.cliente = cliente;</a:t>
            </a:r>
          </a:p>
          <a:p>
            <a:pPr algn="l">
              <a:lnSpc>
                <a:spcPct val="100000"/>
              </a:lnSpc>
              <a:spcBef>
                <a:spcPts val="0"/>
              </a:spcBef>
              <a:spcAft>
                <a:spcPts val="0"/>
              </a:spcAft>
            </a:pPr>
            <a:r>
              <a:rPr sz="1000">
                <a:solidFill>
                  <a:srgbClr val="4F81BD"/>
                </a:solidFill>
                <a:latin typeface="Calibri"/>
              </a:rPr>
              <a:t>        this.sesion = 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categorias() {</a:t>
            </a:r>
          </a:p>
          <a:p>
            <a:pPr algn="l">
              <a:lnSpc>
                <a:spcPct val="100000"/>
              </a:lnSpc>
              <a:spcBef>
                <a:spcPts val="0"/>
              </a:spcBef>
              <a:spcAft>
                <a:spcPts val="0"/>
              </a:spcAft>
            </a:pPr>
            <a:r>
              <a:rPr sz="1000">
                <a:solidFill>
                  <a:srgbClr val="4F81BD"/>
                </a:solidFill>
                <a:latin typeface="Calibri"/>
              </a:rPr>
              <a:t>        return revisar(cliente.obtenerCategorias(sesion.getToken()));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unidades(String categoria) {</a:t>
            </a:r>
          </a:p>
          <a:p>
            <a:pPr algn="l">
              <a:lnSpc>
                <a:spcPct val="100000"/>
              </a:lnSpc>
              <a:spcBef>
                <a:spcPts val="0"/>
              </a:spcBef>
              <a:spcAft>
                <a:spcPts val="0"/>
              </a:spcAft>
            </a:pPr>
            <a:r>
              <a:rPr sz="1000">
                <a:solidFill>
                  <a:srgbClr val="4F81BD"/>
                </a:solidFill>
                <a:latin typeface="Calibri"/>
              </a:rPr>
              <a:t>        return revisar(cliente.obtenerUnidades(sesion.getToken(),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convertir(String categoria, double valor, String origen, String destino) {</a:t>
            </a:r>
          </a:p>
          <a:p>
            <a:pPr algn="l">
              <a:lnSpc>
                <a:spcPct val="100000"/>
              </a:lnSpc>
              <a:spcBef>
                <a:spcPts val="0"/>
              </a:spcBef>
              <a:spcAft>
                <a:spcPts val="0"/>
              </a:spcAft>
            </a:pPr>
            <a:r>
              <a:rPr sz="1000">
                <a:solidFill>
                  <a:srgbClr val="4F81BD"/>
                </a:solidFill>
                <a:latin typeface="Calibri"/>
              </a:rPr>
              <a:t>        return revisar(cliente.convertir(categoria, valor, origen, destino, sesion.getToken()));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del catálogo y las 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1335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private RespuestaServicio revisar(RespuestaServicio r) {</a:t>
            </a:r>
          </a:p>
          <a:p>
            <a:pPr algn="l">
              <a:lnSpc>
                <a:spcPct val="100000"/>
              </a:lnSpc>
              <a:spcBef>
                <a:spcPts val="0"/>
              </a:spcBef>
              <a:spcAft>
                <a:spcPts val="0"/>
              </a:spcAft>
            </a:pPr>
            <a:r>
              <a:rPr sz="1000">
                <a:solidFill>
                  <a:srgbClr val="4F81BD"/>
                </a:solidFill>
                <a:latin typeface="Calibri"/>
              </a:rPr>
              <a:t>        if (r.requiereNuevoLogin()) {</a:t>
            </a:r>
          </a:p>
          <a:p>
            <a:pPr algn="l">
              <a:lnSpc>
                <a:spcPct val="100000"/>
              </a:lnSpc>
              <a:spcBef>
                <a:spcPts val="0"/>
              </a:spcBef>
              <a:spcAft>
                <a:spcPts val="0"/>
              </a:spcAft>
            </a:pPr>
            <a:r>
              <a:rPr sz="1000">
                <a:solidFill>
                  <a:srgbClr val="4F81BD"/>
                </a:solidFill>
                <a:latin typeface="Calibri"/>
              </a:rPr>
              <a:t>            sesion.cerrar();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formatear(double valor) {</a:t>
            </a:r>
          </a:p>
          <a:p>
            <a:pPr algn="l">
              <a:lnSpc>
                <a:spcPct val="100000"/>
              </a:lnSpc>
              <a:spcBef>
                <a:spcPts val="0"/>
              </a:spcBef>
              <a:spcAft>
                <a:spcPts val="0"/>
              </a:spcAft>
            </a:pPr>
            <a:r>
              <a:rPr sz="1000">
                <a:solidFill>
                  <a:srgbClr val="4F81BD"/>
                </a:solidFill>
                <a:latin typeface="Calibri"/>
              </a:rPr>
              <a:t>        BigDecimal b = BigDecimal.valueOf(valor).setScale(10, RoundingMode.HALF_UP).stripTrailingZeros();</a:t>
            </a:r>
          </a:p>
          <a:p>
            <a:pPr algn="l">
              <a:lnSpc>
                <a:spcPct val="100000"/>
              </a:lnSpc>
              <a:spcBef>
                <a:spcPts val="0"/>
              </a:spcBef>
              <a:spcAft>
                <a:spcPts val="0"/>
              </a:spcAft>
            </a:pPr>
            <a:r>
              <a:rPr sz="1000">
                <a:solidFill>
                  <a:srgbClr val="4F81BD"/>
                </a:solidFill>
                <a:latin typeface="Calibri"/>
              </a:rPr>
              <a:t>        return b.scale() &lt; 0 ? b.setScale(0).toPlainString() : b.toPlainString();</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VistaSesion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del inicio y cierre de sesión.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VistaSesion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ControladorSesion controlador;</a:t>
            </a:r>
          </a:p>
          <a:p>
            <a:pPr algn="l">
              <a:lnSpc>
                <a:spcPct val="100000"/>
              </a:lnSpc>
              <a:spcBef>
                <a:spcPts val="0"/>
              </a:spcBef>
              <a:spcAft>
                <a:spcPts val="0"/>
              </a:spcAft>
            </a:pPr>
            <a:r>
              <a:rPr sz="1000">
                <a:solidFill>
                  <a:srgbClr val="4F81BD"/>
                </a:solidFill>
                <a:latin typeface="Calibri"/>
              </a:rPr>
              <a:t>    private final ConsolaIO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VistaSesion(ControladorSesion controlador, ConsolaIO io) {</a:t>
            </a:r>
          </a:p>
          <a:p>
            <a:pPr algn="l">
              <a:lnSpc>
                <a:spcPct val="100000"/>
              </a:lnSpc>
              <a:spcBef>
                <a:spcPts val="0"/>
              </a:spcBef>
              <a:spcAft>
                <a:spcPts val="0"/>
              </a:spcAft>
            </a:pPr>
            <a:r>
              <a:rPr sz="1000">
                <a:solidFill>
                  <a:srgbClr val="4F81BD"/>
                </a:solidFill>
                <a:latin typeface="Calibri"/>
              </a:rPr>
              <a:t>        this.controlador = controlador;</a:t>
            </a:r>
          </a:p>
          <a:p>
            <a:pPr algn="l">
              <a:lnSpc>
                <a:spcPct val="100000"/>
              </a:lnSpc>
              <a:spcBef>
                <a:spcPts val="0"/>
              </a:spcBef>
              <a:spcAft>
                <a:spcPts val="0"/>
              </a:spcAft>
            </a:pPr>
            <a:r>
              <a:rPr sz="1000">
                <a:solidFill>
                  <a:srgbClr val="4F81BD"/>
                </a:solidFill>
                <a:latin typeface="Calibri"/>
              </a:rPr>
              <a:t>        this.io =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iniciarSesion() {</a:t>
            </a:r>
          </a:p>
          <a:p>
            <a:pPr algn="l">
              <a:lnSpc>
                <a:spcPct val="100000"/>
              </a:lnSpc>
              <a:spcBef>
                <a:spcPts val="0"/>
              </a:spcBef>
              <a:spcAft>
                <a:spcPts val="0"/>
              </a:spcAft>
            </a:pPr>
            <a:r>
              <a:rPr sz="1000">
                <a:solidFill>
                  <a:srgbClr val="4F81BD"/>
                </a:solidFill>
                <a:latin typeface="Calibri"/>
              </a:rPr>
              <a:t>        io.seccion("Iniciar sesión");</a:t>
            </a:r>
          </a:p>
          <a:p>
            <a:pPr algn="l">
              <a:lnSpc>
                <a:spcPct val="100000"/>
              </a:lnSpc>
              <a:spcBef>
                <a:spcPts val="0"/>
              </a:spcBef>
              <a:spcAft>
                <a:spcPts val="0"/>
              </a:spcAft>
            </a:pPr>
            <a:r>
              <a:rPr sz="1000">
                <a:solidFill>
                  <a:srgbClr val="4F81BD"/>
                </a:solidFill>
                <a:latin typeface="Calibri"/>
              </a:rPr>
              <a:t>        if (controlador.haySesion()) {</a:t>
            </a:r>
          </a:p>
          <a:p>
            <a:pPr algn="l">
              <a:lnSpc>
                <a:spcPct val="100000"/>
              </a:lnSpc>
              <a:spcBef>
                <a:spcPts val="0"/>
              </a:spcBef>
              <a:spcAft>
                <a:spcPts val="0"/>
              </a:spcAft>
            </a:pPr>
            <a:r>
              <a:rPr sz="1000">
                <a:solidFill>
                  <a:srgbClr val="4F81BD"/>
                </a:solidFill>
                <a:latin typeface="Calibri"/>
              </a:rPr>
              <a:t>            io.linea("  Ya hay una sesión activa.");</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usuario = io.leer("Usuario: ");</a:t>
            </a:r>
          </a:p>
          <a:p>
            <a:pPr algn="l">
              <a:lnSpc>
                <a:spcPct val="100000"/>
              </a:lnSpc>
              <a:spcBef>
                <a:spcPts val="0"/>
              </a:spcBef>
              <a:spcAft>
                <a:spcPts val="0"/>
              </a:spcAft>
            </a:pPr>
            <a:r>
              <a:rPr sz="1000">
                <a:solidFill>
                  <a:srgbClr val="4F81BD"/>
                </a:solidFill>
                <a:latin typeface="Calibri"/>
              </a:rPr>
              <a:t>        String clave = io.leer("Clave: ");</a:t>
            </a:r>
          </a:p>
          <a:p>
            <a:pPr algn="l">
              <a:lnSpc>
                <a:spcPct val="100000"/>
              </a:lnSpc>
              <a:spcBef>
                <a:spcPts val="0"/>
              </a:spcBef>
              <a:spcAft>
                <a:spcPts val="0"/>
              </a:spcAft>
            </a:pPr>
            <a:r>
              <a:rPr sz="1000">
                <a:solidFill>
                  <a:srgbClr val="4F81BD"/>
                </a:solidFill>
                <a:latin typeface="Calibri"/>
              </a:rPr>
              <a:t>        if (usuario == null || clave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RespuestaServicio r = controlador.iniciarSesion(usuario, clave);</a:t>
            </a:r>
          </a:p>
          <a:p>
            <a:pPr algn="l">
              <a:lnSpc>
                <a:spcPct val="100000"/>
              </a:lnSpc>
              <a:spcBef>
                <a:spcPts val="0"/>
              </a:spcBef>
              <a:spcAft>
                <a:spcPts val="0"/>
              </a:spcAft>
            </a:pPr>
            <a:r>
              <a:rPr sz="1000">
                <a:solidFill>
                  <a:srgbClr val="4F81BD"/>
                </a:solidFill>
                <a:latin typeface="Calibri"/>
              </a:rPr>
              <a:t>        if (r.esExitosa()) {</a:t>
            </a:r>
          </a:p>
          <a:p>
            <a:pPr algn="l">
              <a:lnSpc>
                <a:spcPct val="100000"/>
              </a:lnSpc>
              <a:spcBef>
                <a:spcPts val="0"/>
              </a:spcBef>
              <a:spcAft>
                <a:spcPts val="0"/>
              </a:spcAft>
            </a:pPr>
            <a:r>
              <a:rPr sz="1000">
                <a:solidFill>
                  <a:srgbClr val="4F81BD"/>
                </a:solidFill>
                <a:latin typeface="Calibri"/>
              </a:rPr>
              <a:t>            io.ok(r.getMensaje());</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io.error(r);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VistaSesion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del inicio y cierre de sesión.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151384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cerrarSesion() {</a:t>
            </a:r>
          </a:p>
          <a:p>
            <a:pPr algn="l">
              <a:lnSpc>
                <a:spcPct val="100000"/>
              </a:lnSpc>
              <a:spcBef>
                <a:spcPts val="0"/>
              </a:spcBef>
              <a:spcAft>
                <a:spcPts val="0"/>
              </a:spcAft>
            </a:pPr>
            <a:r>
              <a:rPr sz="1000">
                <a:solidFill>
                  <a:srgbClr val="4F81BD"/>
                </a:solidFill>
                <a:latin typeface="Calibri"/>
              </a:rPr>
              <a:t>        controlador.cerrarSesion();</a:t>
            </a:r>
          </a:p>
          <a:p>
            <a:pPr algn="l">
              <a:lnSpc>
                <a:spcPct val="100000"/>
              </a:lnSpc>
              <a:spcBef>
                <a:spcPts val="0"/>
              </a:spcBef>
              <a:spcAft>
                <a:spcPts val="0"/>
              </a:spcAft>
            </a:pPr>
            <a:r>
              <a:rPr sz="1000">
                <a:solidFill>
                  <a:srgbClr val="4F81BD"/>
                </a:solidFill>
                <a:latin typeface="Calibri"/>
              </a:rPr>
              <a:t>        io.ok("Sesión cerrada.");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VistaConversion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del catálogo y de la conversión.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VistaConversion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ControladorConversiones controlador;</a:t>
            </a:r>
          </a:p>
          <a:p>
            <a:pPr algn="l">
              <a:lnSpc>
                <a:spcPct val="100000"/>
              </a:lnSpc>
              <a:spcBef>
                <a:spcPts val="0"/>
              </a:spcBef>
              <a:spcAft>
                <a:spcPts val="0"/>
              </a:spcAft>
            </a:pPr>
            <a:r>
              <a:rPr sz="1000">
                <a:solidFill>
                  <a:srgbClr val="4F81BD"/>
                </a:solidFill>
                <a:latin typeface="Calibri"/>
              </a:rPr>
              <a:t>    private final ConsolaIO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VistaConversion(ControladorConversiones controlador, ConsolaIO io) {</a:t>
            </a:r>
          </a:p>
          <a:p>
            <a:pPr algn="l">
              <a:lnSpc>
                <a:spcPct val="100000"/>
              </a:lnSpc>
              <a:spcBef>
                <a:spcPts val="0"/>
              </a:spcBef>
              <a:spcAft>
                <a:spcPts val="0"/>
              </a:spcAft>
            </a:pPr>
            <a:r>
              <a:rPr sz="1000">
                <a:solidFill>
                  <a:srgbClr val="4F81BD"/>
                </a:solidFill>
                <a:latin typeface="Calibri"/>
              </a:rPr>
              <a:t>        this.controlador = controlador;</a:t>
            </a:r>
          </a:p>
          <a:p>
            <a:pPr algn="l">
              <a:lnSpc>
                <a:spcPct val="100000"/>
              </a:lnSpc>
              <a:spcBef>
                <a:spcPts val="0"/>
              </a:spcBef>
              <a:spcAft>
                <a:spcPts val="0"/>
              </a:spcAft>
            </a:pPr>
            <a:r>
              <a:rPr sz="1000">
                <a:solidFill>
                  <a:srgbClr val="4F81BD"/>
                </a:solidFill>
                <a:latin typeface="Calibri"/>
              </a:rPr>
              <a:t>        this.io =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verCatalogo() {</a:t>
            </a:r>
          </a:p>
          <a:p>
            <a:pPr algn="l">
              <a:lnSpc>
                <a:spcPct val="100000"/>
              </a:lnSpc>
              <a:spcBef>
                <a:spcPts val="0"/>
              </a:spcBef>
              <a:spcAft>
                <a:spcPts val="0"/>
              </a:spcAft>
            </a:pPr>
            <a:r>
              <a:rPr sz="1000">
                <a:solidFill>
                  <a:srgbClr val="4F81BD"/>
                </a:solidFill>
                <a:latin typeface="Calibri"/>
              </a:rPr>
              <a:t>        RespuestaServicio cats = controlador.categorias();</a:t>
            </a:r>
          </a:p>
          <a:p>
            <a:pPr algn="l">
              <a:lnSpc>
                <a:spcPct val="100000"/>
              </a:lnSpc>
              <a:spcBef>
                <a:spcPts val="0"/>
              </a:spcBef>
              <a:spcAft>
                <a:spcPts val="0"/>
              </a:spcAft>
            </a:pPr>
            <a:r>
              <a:rPr sz="1000">
                <a:solidFill>
                  <a:srgbClr val="4F81BD"/>
                </a:solidFill>
                <a:latin typeface="Calibri"/>
              </a:rPr>
              <a:t>        if (!cats.esExitosa()) {</a:t>
            </a:r>
          </a:p>
          <a:p>
            <a:pPr algn="l">
              <a:lnSpc>
                <a:spcPct val="100000"/>
              </a:lnSpc>
              <a:spcBef>
                <a:spcPts val="0"/>
              </a:spcBef>
              <a:spcAft>
                <a:spcPts val="0"/>
              </a:spcAft>
            </a:pPr>
            <a:r>
              <a:rPr sz="1000">
                <a:solidFill>
                  <a:srgbClr val="4F81BD"/>
                </a:solidFill>
                <a:latin typeface="Calibri"/>
              </a:rPr>
              <a:t>            io.error(cats);</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io.seccion("Catálogo de unidades");</a:t>
            </a:r>
          </a:p>
          <a:p>
            <a:pPr algn="l">
              <a:lnSpc>
                <a:spcPct val="100000"/>
              </a:lnSpc>
              <a:spcBef>
                <a:spcPts val="0"/>
              </a:spcBef>
              <a:spcAft>
                <a:spcPts val="0"/>
              </a:spcAft>
            </a:pPr>
            <a:r>
              <a:rPr sz="1000">
                <a:solidFill>
                  <a:srgbClr val="4F81BD"/>
                </a:solidFill>
                <a:latin typeface="Calibri"/>
              </a:rPr>
              <a:t>        for (String c : cats.getDatos()) {</a:t>
            </a:r>
          </a:p>
          <a:p>
            <a:pPr algn="l">
              <a:lnSpc>
                <a:spcPct val="100000"/>
              </a:lnSpc>
              <a:spcBef>
                <a:spcPts val="0"/>
              </a:spcBef>
              <a:spcAft>
                <a:spcPts val="0"/>
              </a:spcAft>
            </a:pPr>
            <a:r>
              <a:rPr sz="1000">
                <a:solidFill>
                  <a:srgbClr val="4F81BD"/>
                </a:solidFill>
                <a:latin typeface="Calibri"/>
              </a:rPr>
              <a:t>            RespuestaServicio u = controlador.unidades(c);</a:t>
            </a:r>
          </a:p>
          <a:p>
            <a:pPr algn="l">
              <a:lnSpc>
                <a:spcPct val="100000"/>
              </a:lnSpc>
              <a:spcBef>
                <a:spcPts val="0"/>
              </a:spcBef>
              <a:spcAft>
                <a:spcPts val="0"/>
              </a:spcAft>
            </a:pPr>
            <a:r>
              <a:rPr sz="1000">
                <a:solidFill>
                  <a:srgbClr val="4F81BD"/>
                </a:solidFill>
                <a:latin typeface="Calibri"/>
              </a:rPr>
              <a:t>            if (!u.esExitosa()) {</a:t>
            </a:r>
          </a:p>
          <a:p>
            <a:pPr algn="l">
              <a:lnSpc>
                <a:spcPct val="100000"/>
              </a:lnSpc>
              <a:spcBef>
                <a:spcPts val="0"/>
              </a:spcBef>
              <a:spcAft>
                <a:spcPts val="0"/>
              </a:spcAft>
            </a:pPr>
            <a:r>
              <a:rPr sz="1000">
                <a:solidFill>
                  <a:srgbClr val="4F81BD"/>
                </a:solidFill>
                <a:latin typeface="Calibri"/>
              </a:rPr>
              <a:t>                io.error(u);</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io.linea("  " + c + ": " + String.join(", ", u.getDatos()));</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VistaConversion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del catálogo y de la conversión.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convertir() {</a:t>
            </a:r>
          </a:p>
          <a:p>
            <a:pPr algn="l">
              <a:lnSpc>
                <a:spcPct val="100000"/>
              </a:lnSpc>
              <a:spcBef>
                <a:spcPts val="0"/>
              </a:spcBef>
              <a:spcAft>
                <a:spcPts val="0"/>
              </a:spcAft>
            </a:pPr>
            <a:r>
              <a:rPr sz="1000">
                <a:solidFill>
                  <a:srgbClr val="4F81BD"/>
                </a:solidFill>
                <a:latin typeface="Calibri"/>
              </a:rPr>
              <a:t>        RespuestaServicio cats = controlador.categorias();</a:t>
            </a:r>
          </a:p>
          <a:p>
            <a:pPr algn="l">
              <a:lnSpc>
                <a:spcPct val="100000"/>
              </a:lnSpc>
              <a:spcBef>
                <a:spcPts val="0"/>
              </a:spcBef>
              <a:spcAft>
                <a:spcPts val="0"/>
              </a:spcAft>
            </a:pPr>
            <a:r>
              <a:rPr sz="1000">
                <a:solidFill>
                  <a:srgbClr val="4F81BD"/>
                </a:solidFill>
                <a:latin typeface="Calibri"/>
              </a:rPr>
              <a:t>        if (!cats.esExitosa()) {</a:t>
            </a:r>
          </a:p>
          <a:p>
            <a:pPr algn="l">
              <a:lnSpc>
                <a:spcPct val="100000"/>
              </a:lnSpc>
              <a:spcBef>
                <a:spcPts val="0"/>
              </a:spcBef>
              <a:spcAft>
                <a:spcPts val="0"/>
              </a:spcAft>
            </a:pPr>
            <a:r>
              <a:rPr sz="1000">
                <a:solidFill>
                  <a:srgbClr val="4F81BD"/>
                </a:solidFill>
                <a:latin typeface="Calibri"/>
              </a:rPr>
              <a:t>            io.error(cats);</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categoria = io.elegir("Categoría", cats.getDatos());</a:t>
            </a:r>
          </a:p>
          <a:p>
            <a:pPr algn="l">
              <a:lnSpc>
                <a:spcPct val="100000"/>
              </a:lnSpc>
              <a:spcBef>
                <a:spcPts val="0"/>
              </a:spcBef>
              <a:spcAft>
                <a:spcPts val="0"/>
              </a:spcAft>
            </a:pPr>
            <a:r>
              <a:rPr sz="1000">
                <a:solidFill>
                  <a:srgbClr val="4F81BD"/>
                </a:solidFill>
                <a:latin typeface="Calibri"/>
              </a:rPr>
              <a:t>        if (categoria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RespuestaServicio un = controlador.unidades(categoria);</a:t>
            </a:r>
          </a:p>
          <a:p>
            <a:pPr algn="l">
              <a:lnSpc>
                <a:spcPct val="100000"/>
              </a:lnSpc>
              <a:spcBef>
                <a:spcPts val="0"/>
              </a:spcBef>
              <a:spcAft>
                <a:spcPts val="0"/>
              </a:spcAft>
            </a:pPr>
            <a:r>
              <a:rPr sz="1000">
                <a:solidFill>
                  <a:srgbClr val="4F81BD"/>
                </a:solidFill>
                <a:latin typeface="Calibri"/>
              </a:rPr>
              <a:t>        if (!un.esExitosa()) {</a:t>
            </a:r>
          </a:p>
          <a:p>
            <a:pPr algn="l">
              <a:lnSpc>
                <a:spcPct val="100000"/>
              </a:lnSpc>
              <a:spcBef>
                <a:spcPts val="0"/>
              </a:spcBef>
              <a:spcAft>
                <a:spcPts val="0"/>
              </a:spcAft>
            </a:pPr>
            <a:r>
              <a:rPr sz="1000">
                <a:solidFill>
                  <a:srgbClr val="4F81BD"/>
                </a:solidFill>
                <a:latin typeface="Calibri"/>
              </a:rPr>
              <a:t>            io.error(un);</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origen = io.elegir("Unidad de origen", un.getDatos());</a:t>
            </a:r>
          </a:p>
          <a:p>
            <a:pPr algn="l">
              <a:lnSpc>
                <a:spcPct val="100000"/>
              </a:lnSpc>
              <a:spcBef>
                <a:spcPts val="0"/>
              </a:spcBef>
              <a:spcAft>
                <a:spcPts val="0"/>
              </a:spcAft>
            </a:pPr>
            <a:r>
              <a:rPr sz="1000">
                <a:solidFill>
                  <a:srgbClr val="4F81BD"/>
                </a:solidFill>
                <a:latin typeface="Calibri"/>
              </a:rPr>
              <a:t>        if (origen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String destino = io.elegir("Unidad de destino", un.getDatos());</a:t>
            </a:r>
          </a:p>
          <a:p>
            <a:pPr algn="l">
              <a:lnSpc>
                <a:spcPct val="100000"/>
              </a:lnSpc>
              <a:spcBef>
                <a:spcPts val="0"/>
              </a:spcBef>
              <a:spcAft>
                <a:spcPts val="0"/>
              </a:spcAft>
            </a:pPr>
            <a:r>
              <a:rPr sz="1000">
                <a:solidFill>
                  <a:srgbClr val="4F81BD"/>
                </a:solidFill>
                <a:latin typeface="Calibri"/>
              </a:rPr>
              <a:t>        if (destino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Double valor = io.leerNumero("Valor a convertir: ");</a:t>
            </a:r>
          </a:p>
          <a:p>
            <a:pPr algn="l">
              <a:lnSpc>
                <a:spcPct val="100000"/>
              </a:lnSpc>
              <a:spcBef>
                <a:spcPts val="0"/>
              </a:spcBef>
              <a:spcAft>
                <a:spcPts val="0"/>
              </a:spcAft>
            </a:pPr>
            <a:r>
              <a:rPr sz="1000">
                <a:solidFill>
                  <a:srgbClr val="4F81BD"/>
                </a:solidFill>
                <a:latin typeface="Calibri"/>
              </a:rPr>
              <a:t>        if (valor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VistaConversion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del catálogo y de la conversión.</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2885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RespuestaServicio r = controlador.convertir(categoria, valor, origen, destino);</a:t>
            </a:r>
          </a:p>
          <a:p>
            <a:pPr algn="l">
              <a:lnSpc>
                <a:spcPct val="100000"/>
              </a:lnSpc>
              <a:spcBef>
                <a:spcPts val="0"/>
              </a:spcBef>
              <a:spcAft>
                <a:spcPts val="0"/>
              </a:spcAft>
            </a:pPr>
            <a:r>
              <a:rPr sz="1000">
                <a:solidFill>
                  <a:srgbClr val="4F81BD"/>
                </a:solidFill>
                <a:latin typeface="Calibri"/>
              </a:rPr>
              <a:t>        if (r.esExitosa() &amp;&amp; r.getResultado() != null) {</a:t>
            </a:r>
          </a:p>
          <a:p>
            <a:pPr algn="l">
              <a:lnSpc>
                <a:spcPct val="100000"/>
              </a:lnSpc>
              <a:spcBef>
                <a:spcPts val="0"/>
              </a:spcBef>
              <a:spcAft>
                <a:spcPts val="0"/>
              </a:spcAft>
            </a:pPr>
            <a:r>
              <a:rPr sz="1000">
                <a:solidFill>
                  <a:srgbClr val="4F81BD"/>
                </a:solidFill>
                <a:latin typeface="Calibri"/>
              </a:rPr>
              <a:t>            io.linea();</a:t>
            </a:r>
          </a:p>
          <a:p>
            <a:pPr algn="l">
              <a:lnSpc>
                <a:spcPct val="100000"/>
              </a:lnSpc>
              <a:spcBef>
                <a:spcPts val="0"/>
              </a:spcBef>
              <a:spcAft>
                <a:spcPts val="0"/>
              </a:spcAft>
            </a:pPr>
            <a:r>
              <a:rPr sz="1000">
                <a:solidFill>
                  <a:srgbClr val="4F81BD"/>
                </a:solidFill>
                <a:latin typeface="Calibri"/>
              </a:rPr>
              <a:t>            io.marco("RESULTADO",</a:t>
            </a:r>
          </a:p>
          <a:p>
            <a:pPr algn="l">
              <a:lnSpc>
                <a:spcPct val="100000"/>
              </a:lnSpc>
              <a:spcBef>
                <a:spcPts val="0"/>
              </a:spcBef>
              <a:spcAft>
                <a:spcPts val="0"/>
              </a:spcAft>
            </a:pPr>
            <a:r>
              <a:rPr sz="1000">
                <a:solidFill>
                  <a:srgbClr val="4F81BD"/>
                </a:solidFill>
                <a:latin typeface="Calibri"/>
              </a:rPr>
              <a:t>                    ControladorConversiones.formatear(valor) + " " + r.getUnidadOrigen(),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ControladorConversiones.formatear(r.getResultado()) + " " + r.getUnidadDestino());</a:t>
            </a:r>
          </a:p>
          <a:p>
            <a:pPr algn="l">
              <a:lnSpc>
                <a:spcPct val="100000"/>
              </a:lnSpc>
              <a:spcBef>
                <a:spcPts val="0"/>
              </a:spcBef>
              <a:spcAft>
                <a:spcPts val="0"/>
              </a:spcAft>
            </a:pPr>
            <a:r>
              <a:rPr sz="1000">
                <a:solidFill>
                  <a:srgbClr val="4F81BD"/>
                </a:solidFill>
                <a:latin typeface="Calibri"/>
              </a:rPr>
              <a:t>            io.linea("  " + r.getMensaje());</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io.error(r);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InterfazConsola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Menú principal que reparte el trabajo a las vistas.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InterfazConsola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ControladorSesion sesion;</a:t>
            </a:r>
          </a:p>
          <a:p>
            <a:pPr algn="l">
              <a:lnSpc>
                <a:spcPct val="100000"/>
              </a:lnSpc>
              <a:spcBef>
                <a:spcPts val="0"/>
              </a:spcBef>
              <a:spcAft>
                <a:spcPts val="0"/>
              </a:spcAft>
            </a:pPr>
            <a:r>
              <a:rPr sz="1000">
                <a:solidFill>
                  <a:srgbClr val="4F81BD"/>
                </a:solidFill>
                <a:latin typeface="Calibri"/>
              </a:rPr>
              <a:t>    private final VistaSesion vistaSesion;</a:t>
            </a:r>
          </a:p>
          <a:p>
            <a:pPr algn="l">
              <a:lnSpc>
                <a:spcPct val="100000"/>
              </a:lnSpc>
              <a:spcBef>
                <a:spcPts val="0"/>
              </a:spcBef>
              <a:spcAft>
                <a:spcPts val="0"/>
              </a:spcAft>
            </a:pPr>
            <a:r>
              <a:rPr sz="1000">
                <a:solidFill>
                  <a:srgbClr val="4F81BD"/>
                </a:solidFill>
                <a:latin typeface="Calibri"/>
              </a:rPr>
              <a:t>    private final VistaConversion vistaConversion;</a:t>
            </a:r>
          </a:p>
          <a:p>
            <a:pPr algn="l">
              <a:lnSpc>
                <a:spcPct val="100000"/>
              </a:lnSpc>
              <a:spcBef>
                <a:spcPts val="0"/>
              </a:spcBef>
              <a:spcAft>
                <a:spcPts val="0"/>
              </a:spcAft>
            </a:pPr>
            <a:r>
              <a:rPr sz="1000">
                <a:solidFill>
                  <a:srgbClr val="4F81BD"/>
                </a:solidFill>
                <a:latin typeface="Calibri"/>
              </a:rPr>
              <a:t>    private final ConsolaIO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InterfazConsola(ControladorSesion sesion, VistaSesion vistaSesion, VistaConversion vistaConversion, ConsolaIO io) {</a:t>
            </a:r>
          </a:p>
          <a:p>
            <a:pPr algn="l">
              <a:lnSpc>
                <a:spcPct val="100000"/>
              </a:lnSpc>
              <a:spcBef>
                <a:spcPts val="0"/>
              </a:spcBef>
              <a:spcAft>
                <a:spcPts val="0"/>
              </a:spcAft>
            </a:pPr>
            <a:r>
              <a:rPr sz="1000">
                <a:solidFill>
                  <a:srgbClr val="4F81BD"/>
                </a:solidFill>
                <a:latin typeface="Calibri"/>
              </a:rPr>
              <a:t>        this.sesion = sesion;</a:t>
            </a:r>
          </a:p>
          <a:p>
            <a:pPr algn="l">
              <a:lnSpc>
                <a:spcPct val="100000"/>
              </a:lnSpc>
              <a:spcBef>
                <a:spcPts val="0"/>
              </a:spcBef>
              <a:spcAft>
                <a:spcPts val="0"/>
              </a:spcAft>
            </a:pPr>
            <a:r>
              <a:rPr sz="1000">
                <a:solidFill>
                  <a:srgbClr val="4F81BD"/>
                </a:solidFill>
                <a:latin typeface="Calibri"/>
              </a:rPr>
              <a:t>        this.vistaSesion = vistaSesion;</a:t>
            </a:r>
          </a:p>
          <a:p>
            <a:pPr algn="l">
              <a:lnSpc>
                <a:spcPct val="100000"/>
              </a:lnSpc>
              <a:spcBef>
                <a:spcPts val="0"/>
              </a:spcBef>
              <a:spcAft>
                <a:spcPts val="0"/>
              </a:spcAft>
            </a:pPr>
            <a:r>
              <a:rPr sz="1000">
                <a:solidFill>
                  <a:srgbClr val="4F81BD"/>
                </a:solidFill>
                <a:latin typeface="Calibri"/>
              </a:rPr>
              <a:t>        this.vistaConversion = vistaConversion;</a:t>
            </a:r>
          </a:p>
          <a:p>
            <a:pPr algn="l">
              <a:lnSpc>
                <a:spcPct val="100000"/>
              </a:lnSpc>
              <a:spcBef>
                <a:spcPts val="0"/>
              </a:spcBef>
              <a:spcAft>
                <a:spcPts val="0"/>
              </a:spcAft>
            </a:pPr>
            <a:r>
              <a:rPr sz="1000">
                <a:solidFill>
                  <a:srgbClr val="4F81BD"/>
                </a:solidFill>
                <a:latin typeface="Calibri"/>
              </a:rPr>
              <a:t>        this.io = io;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ejecutar() {</a:t>
            </a:r>
          </a:p>
          <a:p>
            <a:pPr algn="l">
              <a:lnSpc>
                <a:spcPct val="100000"/>
              </a:lnSpc>
              <a:spcBef>
                <a:spcPts val="0"/>
              </a:spcBef>
              <a:spcAft>
                <a:spcPts val="0"/>
              </a:spcAft>
            </a:pPr>
            <a:r>
              <a:rPr sz="1000">
                <a:solidFill>
                  <a:srgbClr val="4F81BD"/>
                </a:solidFill>
                <a:latin typeface="Calibri"/>
              </a:rPr>
              <a:t>        io.linea();</a:t>
            </a:r>
          </a:p>
          <a:p>
            <a:pPr algn="l">
              <a:lnSpc>
                <a:spcPct val="100000"/>
              </a:lnSpc>
              <a:spcBef>
                <a:spcPts val="0"/>
              </a:spcBef>
              <a:spcAft>
                <a:spcPts val="0"/>
              </a:spcAft>
            </a:pPr>
            <a:r>
              <a:rPr sz="1000">
                <a:solidFill>
                  <a:srgbClr val="4F81BD"/>
                </a:solidFill>
                <a:latin typeface="Calibri"/>
              </a:rPr>
              <a:t>        io.marco("CONVERSIÓN DE UNIDADES MONSTER", "Cliente de consola", "Servidor: " + sesion.getUrl());</a:t>
            </a:r>
          </a:p>
          <a:p>
            <a:pPr algn="l">
              <a:lnSpc>
                <a:spcPct val="100000"/>
              </a:lnSpc>
              <a:spcBef>
                <a:spcPts val="0"/>
              </a:spcBef>
              <a:spcAft>
                <a:spcPts val="0"/>
              </a:spcAft>
            </a:pPr>
            <a:r>
              <a:rPr sz="1000">
                <a:solidFill>
                  <a:srgbClr val="4F81BD"/>
                </a:solidFill>
                <a:latin typeface="Calibri"/>
              </a:rPr>
              <a:t>        boolean seguir = true;</a:t>
            </a:r>
          </a:p>
          <a:p>
            <a:pPr algn="l">
              <a:lnSpc>
                <a:spcPct val="100000"/>
              </a:lnSpc>
              <a:spcBef>
                <a:spcPts val="0"/>
              </a:spcBef>
              <a:spcAft>
                <a:spcPts val="0"/>
              </a:spcAft>
            </a:pPr>
            <a:r>
              <a:rPr sz="1000">
                <a:solidFill>
                  <a:srgbClr val="4F81BD"/>
                </a:solidFill>
                <a:latin typeface="Calibri"/>
              </a:rPr>
              <a:t>        while (seguir) {</a:t>
            </a:r>
          </a:p>
          <a:p>
            <a:pPr algn="l">
              <a:lnSpc>
                <a:spcPct val="100000"/>
              </a:lnSpc>
              <a:spcBef>
                <a:spcPts val="0"/>
              </a:spcBef>
              <a:spcAft>
                <a:spcPts val="0"/>
              </a:spcAft>
            </a:pPr>
            <a:r>
              <a:rPr sz="1000">
                <a:solidFill>
                  <a:srgbClr val="4F81BD"/>
                </a:solidFill>
                <a:latin typeface="Calibri"/>
              </a:rPr>
              <a:t>            mostrarMenu();</a:t>
            </a:r>
          </a:p>
          <a:p>
            <a:pPr algn="l">
              <a:lnSpc>
                <a:spcPct val="100000"/>
              </a:lnSpc>
              <a:spcBef>
                <a:spcPts val="0"/>
              </a:spcBef>
              <a:spcAft>
                <a:spcPts val="0"/>
              </a:spcAft>
            </a:pPr>
            <a:r>
              <a:rPr sz="1000">
                <a:solidFill>
                  <a:srgbClr val="4F81BD"/>
                </a:solidFill>
                <a:latin typeface="Calibri"/>
              </a:rPr>
              <a:t>            String op = io.leer("Opción: ");</a:t>
            </a:r>
          </a:p>
          <a:p>
            <a:pPr algn="l">
              <a:lnSpc>
                <a:spcPct val="100000"/>
              </a:lnSpc>
              <a:spcBef>
                <a:spcPts val="0"/>
              </a:spcBef>
              <a:spcAft>
                <a:spcPts val="0"/>
              </a:spcAft>
            </a:pPr>
            <a:r>
              <a:rPr sz="1000">
                <a:solidFill>
                  <a:srgbClr val="4F81BD"/>
                </a:solidFill>
                <a:latin typeface="Calibri"/>
              </a:rPr>
              <a:t>            if (op == null) {</a:t>
            </a:r>
          </a:p>
          <a:p>
            <a:pPr algn="l">
              <a:lnSpc>
                <a:spcPct val="100000"/>
              </a:lnSpc>
              <a:spcBef>
                <a:spcPts val="0"/>
              </a:spcBef>
              <a:spcAft>
                <a:spcPts val="0"/>
              </a:spcAft>
            </a:pPr>
            <a:r>
              <a:rPr sz="1000">
                <a:solidFill>
                  <a:srgbClr val="4F81BD"/>
                </a:solidFill>
                <a:latin typeface="Calibri"/>
              </a:rPr>
              <a:t>                break; // fin de la entrada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switch (op.trim()) {</a:t>
            </a:r>
          </a:p>
          <a:p>
            <a:pPr algn="l">
              <a:lnSpc>
                <a:spcPct val="100000"/>
              </a:lnSpc>
              <a:spcBef>
                <a:spcPts val="0"/>
              </a:spcBef>
              <a:spcAft>
                <a:spcPts val="0"/>
              </a:spcAft>
            </a:pPr>
            <a:r>
              <a:rPr sz="1000">
                <a:solidFill>
                  <a:srgbClr val="4F81BD"/>
                </a:solidFill>
                <a:latin typeface="Calibri"/>
              </a:rPr>
              <a:t>                case "1" -&gt; vistaSesion.iniciarSesion();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InterfazConsola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Menú principal que reparte el trabajo a las vistas.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case "2" -&gt; {</a:t>
            </a:r>
          </a:p>
          <a:p>
            <a:pPr algn="l">
              <a:lnSpc>
                <a:spcPct val="100000"/>
              </a:lnSpc>
              <a:spcBef>
                <a:spcPts val="0"/>
              </a:spcBef>
              <a:spcAft>
                <a:spcPts val="0"/>
              </a:spcAft>
            </a:pPr>
            <a:r>
              <a:rPr sz="1000">
                <a:solidFill>
                  <a:srgbClr val="4F81BD"/>
                </a:solidFill>
                <a:latin typeface="Calibri"/>
              </a:rPr>
              <a:t>                    if (exigirSesion()) {</a:t>
            </a:r>
          </a:p>
          <a:p>
            <a:pPr algn="l">
              <a:lnSpc>
                <a:spcPct val="100000"/>
              </a:lnSpc>
              <a:spcBef>
                <a:spcPts val="0"/>
              </a:spcBef>
              <a:spcAft>
                <a:spcPts val="0"/>
              </a:spcAft>
            </a:pPr>
            <a:r>
              <a:rPr sz="1000">
                <a:solidFill>
                  <a:srgbClr val="4F81BD"/>
                </a:solidFill>
                <a:latin typeface="Calibri"/>
              </a:rPr>
              <a:t>                        vistaConversion.verCatalogo();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case "3" -&gt; {</a:t>
            </a:r>
          </a:p>
          <a:p>
            <a:pPr algn="l">
              <a:lnSpc>
                <a:spcPct val="100000"/>
              </a:lnSpc>
              <a:spcBef>
                <a:spcPts val="0"/>
              </a:spcBef>
              <a:spcAft>
                <a:spcPts val="0"/>
              </a:spcAft>
            </a:pPr>
            <a:r>
              <a:rPr sz="1000">
                <a:solidFill>
                  <a:srgbClr val="4F81BD"/>
                </a:solidFill>
                <a:latin typeface="Calibri"/>
              </a:rPr>
              <a:t>                    if (exigirSesion()) {</a:t>
            </a:r>
          </a:p>
          <a:p>
            <a:pPr algn="l">
              <a:lnSpc>
                <a:spcPct val="100000"/>
              </a:lnSpc>
              <a:spcBef>
                <a:spcPts val="0"/>
              </a:spcBef>
              <a:spcAft>
                <a:spcPts val="0"/>
              </a:spcAft>
            </a:pPr>
            <a:r>
              <a:rPr sz="1000">
                <a:solidFill>
                  <a:srgbClr val="4F81BD"/>
                </a:solidFill>
                <a:latin typeface="Calibri"/>
              </a:rPr>
              <a:t>                        vistaConversion.convertir();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case "4" -&gt; vistaSesion.cerrarSesion();</a:t>
            </a:r>
          </a:p>
          <a:p>
            <a:pPr algn="l">
              <a:lnSpc>
                <a:spcPct val="100000"/>
              </a:lnSpc>
              <a:spcBef>
                <a:spcPts val="0"/>
              </a:spcBef>
              <a:spcAft>
                <a:spcPts val="0"/>
              </a:spcAft>
            </a:pPr>
            <a:r>
              <a:rPr sz="1000">
                <a:solidFill>
                  <a:srgbClr val="4F81BD"/>
                </a:solidFill>
                <a:latin typeface="Calibri"/>
              </a:rPr>
              <a:t>                case "0" -&gt; seguir = false;</a:t>
            </a:r>
          </a:p>
          <a:p>
            <a:pPr algn="l">
              <a:lnSpc>
                <a:spcPct val="100000"/>
              </a:lnSpc>
              <a:spcBef>
                <a:spcPts val="0"/>
              </a:spcBef>
              <a:spcAft>
                <a:spcPts val="0"/>
              </a:spcAft>
            </a:pPr>
            <a:r>
              <a:rPr sz="1000">
                <a:solidFill>
                  <a:srgbClr val="4F81BD"/>
                </a:solidFill>
                <a:latin typeface="Calibri"/>
              </a:rPr>
              <a:t>                default -&gt; io.linea("  Opción no válida.");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io.linea("Hasta luego.");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void mostrarMenu() {</a:t>
            </a:r>
          </a:p>
          <a:p>
            <a:pPr algn="l">
              <a:lnSpc>
                <a:spcPct val="100000"/>
              </a:lnSpc>
              <a:spcBef>
                <a:spcPts val="0"/>
              </a:spcBef>
              <a:spcAft>
                <a:spcPts val="0"/>
              </a:spcAft>
            </a:pPr>
            <a:r>
              <a:rPr sz="1000">
                <a:solidFill>
                  <a:srgbClr val="4F81BD"/>
                </a:solidFill>
                <a:latin typeface="Calibri"/>
              </a:rPr>
              <a:t>        io.seccion("Menú  |  Sesión: " + (sesion.haySesion() ? "ACTIVA" : "no iniciada"));</a:t>
            </a:r>
          </a:p>
          <a:p>
            <a:pPr algn="l">
              <a:lnSpc>
                <a:spcPct val="100000"/>
              </a:lnSpc>
              <a:spcBef>
                <a:spcPts val="0"/>
              </a:spcBef>
              <a:spcAft>
                <a:spcPts val="0"/>
              </a:spcAft>
            </a:pPr>
            <a:r>
              <a:rPr sz="1000">
                <a:solidFill>
                  <a:srgbClr val="4F81BD"/>
                </a:solidFill>
                <a:latin typeface="Calibri"/>
              </a:rPr>
              <a:t>        if (!sesion.haySesion()) {</a:t>
            </a:r>
          </a:p>
          <a:p>
            <a:pPr algn="l">
              <a:lnSpc>
                <a:spcPct val="100000"/>
              </a:lnSpc>
              <a:spcBef>
                <a:spcPts val="0"/>
              </a:spcBef>
              <a:spcAft>
                <a:spcPts val="0"/>
              </a:spcAft>
            </a:pPr>
            <a:r>
              <a:rPr sz="1000">
                <a:solidFill>
                  <a:srgbClr val="4F81BD"/>
                </a:solidFill>
                <a:latin typeface="Calibri"/>
              </a:rPr>
              <a:t>            io.linea("  1. Iniciar sesión");</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io.linea("  2. Ver catálogo (categorías y unidades)");</a:t>
            </a:r>
          </a:p>
          <a:p>
            <a:pPr algn="l">
              <a:lnSpc>
                <a:spcPct val="100000"/>
              </a:lnSpc>
              <a:spcBef>
                <a:spcPts val="0"/>
              </a:spcBef>
              <a:spcAft>
                <a:spcPts val="0"/>
              </a:spcAft>
            </a:pPr>
            <a:r>
              <a:rPr sz="1000">
                <a:solidFill>
                  <a:srgbClr val="4F81BD"/>
                </a:solidFill>
                <a:latin typeface="Calibri"/>
              </a:rPr>
              <a:t>            io.linea("  3. Convertir");</a:t>
            </a:r>
          </a:p>
          <a:p>
            <a:pPr algn="l">
              <a:lnSpc>
                <a:spcPct val="100000"/>
              </a:lnSpc>
              <a:spcBef>
                <a:spcPts val="0"/>
              </a:spcBef>
              <a:spcAft>
                <a:spcPts val="0"/>
              </a:spcAft>
            </a:pPr>
            <a:r>
              <a:rPr sz="1000">
                <a:solidFill>
                  <a:srgbClr val="4F81BD"/>
                </a:solidFill>
                <a:latin typeface="Calibri"/>
              </a:rPr>
              <a:t>            io.linea("  4. Cerrar sesión");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io.linea("  0. Salir");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InterfazConsola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Menú principal que reparte el trabajo a las vistas.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182371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boolean exigirSesion() {</a:t>
            </a:r>
          </a:p>
          <a:p>
            <a:pPr algn="l">
              <a:lnSpc>
                <a:spcPct val="100000"/>
              </a:lnSpc>
              <a:spcBef>
                <a:spcPts val="0"/>
              </a:spcBef>
              <a:spcAft>
                <a:spcPts val="0"/>
              </a:spcAft>
            </a:pPr>
            <a:r>
              <a:rPr sz="1000">
                <a:solidFill>
                  <a:srgbClr val="4F81BD"/>
                </a:solidFill>
                <a:latin typeface="Calibri"/>
              </a:rPr>
              <a:t>        if (!sesion.haySesion()) {</a:t>
            </a:r>
          </a:p>
          <a:p>
            <a:pPr algn="l">
              <a:lnSpc>
                <a:spcPct val="100000"/>
              </a:lnSpc>
              <a:spcBef>
                <a:spcPts val="0"/>
              </a:spcBef>
              <a:spcAft>
                <a:spcPts val="0"/>
              </a:spcAft>
            </a:pPr>
            <a:r>
              <a:rPr sz="1000">
                <a:solidFill>
                  <a:srgbClr val="4F81BD"/>
                </a:solidFill>
                <a:latin typeface="Calibri"/>
              </a:rPr>
              <a:t>            io.linea("  Debe iniciar sesión primero.");</a:t>
            </a:r>
          </a:p>
          <a:p>
            <a:pPr algn="l">
              <a:lnSpc>
                <a:spcPct val="100000"/>
              </a:lnSpc>
              <a:spcBef>
                <a:spcPts val="0"/>
              </a:spcBef>
              <a:spcAft>
                <a:spcPts val="0"/>
              </a:spcAft>
            </a:pPr>
            <a:r>
              <a:rPr sz="1000">
                <a:solidFill>
                  <a:srgbClr val="4F81BD"/>
                </a:solidFill>
                <a:latin typeface="Calibri"/>
              </a:rPr>
              <a:t>            return false;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true;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ClienteConsola</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Clase principal: arma las piezas del MVC.</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2181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ec.edu.monster.clienteconsola;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ClienteConsola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void main(String[] args) {</a:t>
            </a:r>
          </a:p>
          <a:p>
            <a:pPr algn="l">
              <a:lnSpc>
                <a:spcPct val="100000"/>
              </a:lnSpc>
              <a:spcBef>
                <a:spcPts val="0"/>
              </a:spcBef>
              <a:spcAft>
                <a:spcPts val="0"/>
              </a:spcAft>
            </a:pPr>
            <a:r>
              <a:rPr sz="1000">
                <a:solidFill>
                  <a:srgbClr val="4F81BD"/>
                </a:solidFill>
                <a:latin typeface="Calibri"/>
              </a:rPr>
              <a:t>        PrintStream salida = new PrintStream(System.out, true, StandardCharsets.UTF_8);</a:t>
            </a:r>
          </a:p>
          <a:p>
            <a:pPr algn="l">
              <a:lnSpc>
                <a:spcPct val="100000"/>
              </a:lnSpc>
              <a:spcBef>
                <a:spcPts val="0"/>
              </a:spcBef>
              <a:spcAft>
                <a:spcPts val="0"/>
              </a:spcAft>
            </a:pPr>
            <a:r>
              <a:rPr sz="1000">
                <a:solidFill>
                  <a:srgbClr val="4F81BD"/>
                </a:solidFill>
                <a:latin typeface="Calibri"/>
              </a:rPr>
              <a:t>        Scanner entrada = new Scanner(System.in, StandardCharsets.UTF_8);</a:t>
            </a:r>
          </a:p>
          <a:p>
            <a:pPr algn="l">
              <a:lnSpc>
                <a:spcPct val="100000"/>
              </a:lnSpc>
              <a:spcBef>
                <a:spcPts val="0"/>
              </a:spcBef>
              <a:spcAft>
                <a:spcPts val="0"/>
              </a:spcAft>
            </a:pPr>
            <a:r>
              <a:rPr sz="1000">
                <a:solidFill>
                  <a:srgbClr val="4F81BD"/>
                </a:solidFill>
                <a:latin typeface="Calibri"/>
              </a:rPr>
              <a:t>        String url = args.length &gt; 0 ? args[0] : SoapClient.urlConfigurada();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SoapClient cliente = new SoapClient(url);</a:t>
            </a:r>
          </a:p>
          <a:p>
            <a:pPr algn="l">
              <a:lnSpc>
                <a:spcPct val="100000"/>
              </a:lnSpc>
              <a:spcBef>
                <a:spcPts val="0"/>
              </a:spcBef>
              <a:spcAft>
                <a:spcPts val="0"/>
              </a:spcAft>
            </a:pPr>
            <a:r>
              <a:rPr sz="1000">
                <a:solidFill>
                  <a:srgbClr val="4F81BD"/>
                </a:solidFill>
                <a:latin typeface="Calibri"/>
              </a:rPr>
              <a:t>        Sesion sesion = new Sesion();</a:t>
            </a:r>
          </a:p>
          <a:p>
            <a:pPr algn="l">
              <a:lnSpc>
                <a:spcPct val="100000"/>
              </a:lnSpc>
              <a:spcBef>
                <a:spcPts val="0"/>
              </a:spcBef>
              <a:spcAft>
                <a:spcPts val="0"/>
              </a:spcAft>
            </a:pPr>
            <a:r>
              <a:rPr sz="1000">
                <a:solidFill>
                  <a:srgbClr val="4F81BD"/>
                </a:solidFill>
                <a:latin typeface="Calibri"/>
              </a:rPr>
              <a:t>        ControladorSesion controladorSesion = new ControladorSesion(cliente, sesion);</a:t>
            </a:r>
          </a:p>
          <a:p>
            <a:pPr algn="l">
              <a:lnSpc>
                <a:spcPct val="100000"/>
              </a:lnSpc>
              <a:spcBef>
                <a:spcPts val="0"/>
              </a:spcBef>
              <a:spcAft>
                <a:spcPts val="0"/>
              </a:spcAft>
            </a:pPr>
            <a:r>
              <a:rPr sz="1000">
                <a:solidFill>
                  <a:srgbClr val="4F81BD"/>
                </a:solidFill>
                <a:latin typeface="Calibri"/>
              </a:rPr>
              <a:t>        ControladorConversiones controladorConversiones = new ControladorConversiones(cliente, 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ConsolaIO io = new ConsolaIO(entrada, salida);</a:t>
            </a:r>
          </a:p>
          <a:p>
            <a:pPr algn="l">
              <a:lnSpc>
                <a:spcPct val="100000"/>
              </a:lnSpc>
              <a:spcBef>
                <a:spcPts val="0"/>
              </a:spcBef>
              <a:spcAft>
                <a:spcPts val="0"/>
              </a:spcAft>
            </a:pPr>
            <a:r>
              <a:rPr sz="1000">
                <a:solidFill>
                  <a:srgbClr val="4F81BD"/>
                </a:solidFill>
                <a:latin typeface="Calibri"/>
              </a:rPr>
              <a:t>        new InterfazConsola(controladorSesion, new VistaSesion(controladorSesion, io),</a:t>
            </a:r>
          </a:p>
          <a:p>
            <a:pPr algn="l">
              <a:lnSpc>
                <a:spcPct val="100000"/>
              </a:lnSpc>
              <a:spcBef>
                <a:spcPts val="0"/>
              </a:spcBef>
              <a:spcAft>
                <a:spcPts val="0"/>
              </a:spcAft>
            </a:pPr>
            <a:r>
              <a:rPr sz="1000">
                <a:solidFill>
                  <a:srgbClr val="4F81BD"/>
                </a:solidFill>
                <a:latin typeface="Calibri"/>
              </a:rPr>
              <a:t>                new VistaConversion(controladorConversiones, io), io).ejecutar();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Se puede verificar que el cliente funciona de forma correcta, se levanta y tiene comunicación con el servidor (inicio de sesión).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erm_login.png"/>
          <p:cNvPicPr>
            <a:picLocks noChangeAspect="1"/>
          </p:cNvPicPr>
          <p:nvPr/>
        </p:nvPicPr>
        <p:blipFill>
          <a:blip r:embed="rId2"/>
          <a:stretch>
            <a:fillRect/>
          </a:stretch>
        </p:blipFill>
        <p:spPr>
          <a:xfrm>
            <a:off x="3931920" y="2571750"/>
            <a:ext cx="5212080" cy="25374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Conversión de ejemplo: 1 milla a metros.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erm_conversion.png"/>
          <p:cNvPicPr>
            <a:picLocks noChangeAspect="1"/>
          </p:cNvPicPr>
          <p:nvPr/>
        </p:nvPicPr>
        <p:blipFill>
          <a:blip r:embed="rId2"/>
          <a:stretch>
            <a:fillRect/>
          </a:stretch>
        </p:blipFill>
        <p:spPr>
          <a:xfrm>
            <a:off x="3931920" y="2212848"/>
            <a:ext cx="5212080" cy="389534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625" b="1">
                <a:latin typeface="Cambria"/>
                <a:ea typeface="Cambria"/>
                <a:cs typeface="Cambria"/>
                <a:sym typeface="Cambria"/>
              </a:rPr>
              <a:t>1.4 	CREACIÓN DEL PROYECTO – CLIENTE ESCRITORIO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Para el cliente de escritorio se creó un proyecto Java with Maven (Java Application) con la librería gráfica Swing, sin dependencias externas.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Paquetes: modelo (SoapClient, RespuestaServicio), controlador (ControladorConversiones) y vista (LoginFrame, ConversionFrame y Estilo).</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ree_escritorio.png"/>
          <p:cNvPicPr>
            <a:picLocks noChangeAspect="1"/>
          </p:cNvPicPr>
          <p:nvPr/>
        </p:nvPicPr>
        <p:blipFill>
          <a:blip r:embed="rId2"/>
          <a:stretch>
            <a:fillRect/>
          </a:stretch>
        </p:blipFill>
        <p:spPr>
          <a:xfrm>
            <a:off x="4023360" y="1927555"/>
            <a:ext cx="5120640" cy="437448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 SOAP.</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4576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ec.edu.monster.clienteescritorio.controlador;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ControladorConversiones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SoapClient cliente;</a:t>
            </a:r>
          </a:p>
          <a:p>
            <a:pPr algn="l">
              <a:lnSpc>
                <a:spcPct val="100000"/>
              </a:lnSpc>
              <a:spcBef>
                <a:spcPts val="0"/>
              </a:spcBef>
              <a:spcAft>
                <a:spcPts val="0"/>
              </a:spcAft>
            </a:pPr>
            <a:r>
              <a:rPr sz="1000">
                <a:solidFill>
                  <a:srgbClr val="4F81BD"/>
                </a:solidFill>
                <a:latin typeface="Calibri"/>
              </a:rPr>
              <a:t>    private String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ControladorConversiones(SoapClient cliente) {</a:t>
            </a:r>
          </a:p>
          <a:p>
            <a:pPr algn="l">
              <a:lnSpc>
                <a:spcPct val="100000"/>
              </a:lnSpc>
              <a:spcBef>
                <a:spcPts val="0"/>
              </a:spcBef>
              <a:spcAft>
                <a:spcPts val="0"/>
              </a:spcAft>
            </a:pPr>
            <a:r>
              <a:rPr sz="1000">
                <a:solidFill>
                  <a:srgbClr val="4F81BD"/>
                </a:solidFill>
                <a:latin typeface="Calibri"/>
              </a:rPr>
              <a:t>        this.cliente = cliente;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urlPorDefecto() {</a:t>
            </a:r>
          </a:p>
          <a:p>
            <a:pPr algn="l">
              <a:lnSpc>
                <a:spcPct val="100000"/>
              </a:lnSpc>
              <a:spcBef>
                <a:spcPts val="0"/>
              </a:spcBef>
              <a:spcAft>
                <a:spcPts val="0"/>
              </a:spcAft>
            </a:pPr>
            <a:r>
              <a:rPr sz="1000">
                <a:solidFill>
                  <a:srgbClr val="4F81BD"/>
                </a:solidFill>
                <a:latin typeface="Calibri"/>
              </a:rPr>
              <a:t>        return SoapClient.urlConfigurada();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ControladorConversiones conectar(String url) {</a:t>
            </a:r>
          </a:p>
          <a:p>
            <a:pPr algn="l">
              <a:lnSpc>
                <a:spcPct val="100000"/>
              </a:lnSpc>
              <a:spcBef>
                <a:spcPts val="0"/>
              </a:spcBef>
              <a:spcAft>
                <a:spcPts val="0"/>
              </a:spcAft>
            </a:pPr>
            <a:r>
              <a:rPr sz="1000">
                <a:solidFill>
                  <a:srgbClr val="4F81BD"/>
                </a:solidFill>
                <a:latin typeface="Calibri"/>
              </a:rPr>
              <a:t>        return new ControladorConversiones(new SoapClient(url));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String getUrl() {</a:t>
            </a:r>
          </a:p>
          <a:p>
            <a:pPr algn="l">
              <a:lnSpc>
                <a:spcPct val="100000"/>
              </a:lnSpc>
              <a:spcBef>
                <a:spcPts val="0"/>
              </a:spcBef>
              <a:spcAft>
                <a:spcPts val="0"/>
              </a:spcAft>
            </a:pPr>
            <a:r>
              <a:rPr sz="1000">
                <a:solidFill>
                  <a:srgbClr val="4F81BD"/>
                </a:solidFill>
                <a:latin typeface="Calibri"/>
              </a:rPr>
              <a:t>        return cliente.getBaseUrl();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boolean haySesion() {</a:t>
            </a:r>
          </a:p>
          <a:p>
            <a:pPr algn="l">
              <a:lnSpc>
                <a:spcPct val="100000"/>
              </a:lnSpc>
              <a:spcBef>
                <a:spcPts val="0"/>
              </a:spcBef>
              <a:spcAft>
                <a:spcPts val="0"/>
              </a:spcAft>
            </a:pPr>
            <a:r>
              <a:rPr sz="1000">
                <a:solidFill>
                  <a:srgbClr val="4F81BD"/>
                </a:solidFill>
                <a:latin typeface="Calibri"/>
              </a:rPr>
              <a:t>        return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 SOAP.</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683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RespuestaServicio iniciarSesion(String usuario, String clave) {</a:t>
            </a:r>
          </a:p>
          <a:p>
            <a:pPr algn="l">
              <a:lnSpc>
                <a:spcPct val="100000"/>
              </a:lnSpc>
              <a:spcBef>
                <a:spcPts val="0"/>
              </a:spcBef>
              <a:spcAft>
                <a:spcPts val="0"/>
              </a:spcAft>
            </a:pPr>
            <a:r>
              <a:rPr sz="1000">
                <a:solidFill>
                  <a:srgbClr val="4F81BD"/>
                </a:solidFill>
                <a:latin typeface="Calibri"/>
              </a:rPr>
              <a:t>        RespuestaServicio r = cliente.login(usuario, clave);</a:t>
            </a:r>
          </a:p>
          <a:p>
            <a:pPr algn="l">
              <a:lnSpc>
                <a:spcPct val="100000"/>
              </a:lnSpc>
              <a:spcBef>
                <a:spcPts val="0"/>
              </a:spcBef>
              <a:spcAft>
                <a:spcPts val="0"/>
              </a:spcAft>
            </a:pPr>
            <a:r>
              <a:rPr sz="1000">
                <a:solidFill>
                  <a:srgbClr val="4F81BD"/>
                </a:solidFill>
                <a:latin typeface="Calibri"/>
              </a:rPr>
              <a:t>        token = (r.esExitosa() &amp;&amp; r.getToken() != null) ? r.getToken() : null;</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cerrarSesion() {</a:t>
            </a:r>
          </a:p>
          <a:p>
            <a:pPr algn="l">
              <a:lnSpc>
                <a:spcPct val="100000"/>
              </a:lnSpc>
              <a:spcBef>
                <a:spcPts val="0"/>
              </a:spcBef>
              <a:spcAft>
                <a:spcPts val="0"/>
              </a:spcAft>
            </a:pPr>
            <a:r>
              <a:rPr sz="1000">
                <a:solidFill>
                  <a:srgbClr val="4F81BD"/>
                </a:solidFill>
                <a:latin typeface="Calibri"/>
              </a:rPr>
              <a:t>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categorias() {</a:t>
            </a:r>
          </a:p>
          <a:p>
            <a:pPr algn="l">
              <a:lnSpc>
                <a:spcPct val="100000"/>
              </a:lnSpc>
              <a:spcBef>
                <a:spcPts val="0"/>
              </a:spcBef>
              <a:spcAft>
                <a:spcPts val="0"/>
              </a:spcAft>
            </a:pPr>
            <a:r>
              <a:rPr sz="1000">
                <a:solidFill>
                  <a:srgbClr val="4F81BD"/>
                </a:solidFill>
                <a:latin typeface="Calibri"/>
              </a:rPr>
              <a:t>        return revisar(cliente.obtenerCategorias(token));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unidades(String categoria) {</a:t>
            </a:r>
          </a:p>
          <a:p>
            <a:pPr algn="l">
              <a:lnSpc>
                <a:spcPct val="100000"/>
              </a:lnSpc>
              <a:spcBef>
                <a:spcPts val="0"/>
              </a:spcBef>
              <a:spcAft>
                <a:spcPts val="0"/>
              </a:spcAft>
            </a:pPr>
            <a:r>
              <a:rPr sz="1000">
                <a:solidFill>
                  <a:srgbClr val="4F81BD"/>
                </a:solidFill>
                <a:latin typeface="Calibri"/>
              </a:rPr>
              <a:t>        return revisar(cliente.obtenerUnidades(token,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convertir(String categoria, double valor, String origen, String destino) {</a:t>
            </a:r>
          </a:p>
          <a:p>
            <a:pPr algn="l">
              <a:lnSpc>
                <a:spcPct val="100000"/>
              </a:lnSpc>
              <a:spcBef>
                <a:spcPts val="0"/>
              </a:spcBef>
              <a:spcAft>
                <a:spcPts val="0"/>
              </a:spcAft>
            </a:pPr>
            <a:r>
              <a:rPr sz="1000">
                <a:solidFill>
                  <a:srgbClr val="4F81BD"/>
                </a:solidFill>
                <a:latin typeface="Calibri"/>
              </a:rPr>
              <a:t>        return revisar(cliente.convertir(categoria, valor, origen, destino,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 SOAP.</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1335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private RespuestaServicio revisar(RespuestaServicio r) {</a:t>
            </a:r>
          </a:p>
          <a:p>
            <a:pPr algn="l">
              <a:lnSpc>
                <a:spcPct val="100000"/>
              </a:lnSpc>
              <a:spcBef>
                <a:spcPts val="0"/>
              </a:spcBef>
              <a:spcAft>
                <a:spcPts val="0"/>
              </a:spcAft>
            </a:pPr>
            <a:r>
              <a:rPr sz="1000">
                <a:solidFill>
                  <a:srgbClr val="4F81BD"/>
                </a:solidFill>
                <a:latin typeface="Calibri"/>
              </a:rPr>
              <a:t>        if (r.requiereNuevoLogin()) {</a:t>
            </a:r>
          </a:p>
          <a:p>
            <a:pPr algn="l">
              <a:lnSpc>
                <a:spcPct val="100000"/>
              </a:lnSpc>
              <a:spcBef>
                <a:spcPts val="0"/>
              </a:spcBef>
              <a:spcAft>
                <a:spcPts val="0"/>
              </a:spcAft>
            </a:pPr>
            <a:r>
              <a:rPr sz="1000">
                <a:solidFill>
                  <a:srgbClr val="4F81BD"/>
                </a:solidFill>
                <a:latin typeface="Calibri"/>
              </a:rPr>
              <a:t>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formatear(double valor) {</a:t>
            </a:r>
          </a:p>
          <a:p>
            <a:pPr algn="l">
              <a:lnSpc>
                <a:spcPct val="100000"/>
              </a:lnSpc>
              <a:spcBef>
                <a:spcPts val="0"/>
              </a:spcBef>
              <a:spcAft>
                <a:spcPts val="0"/>
              </a:spcAft>
            </a:pPr>
            <a:r>
              <a:rPr sz="1000">
                <a:solidFill>
                  <a:srgbClr val="4F81BD"/>
                </a:solidFill>
                <a:latin typeface="Calibri"/>
              </a:rPr>
              <a:t>        BigDecimal b = BigDecimal.valueOf(valor).setScale(10, RoundingMode.HALF_UP).stripTrailingZeros();</a:t>
            </a:r>
          </a:p>
          <a:p>
            <a:pPr algn="l">
              <a:lnSpc>
                <a:spcPct val="100000"/>
              </a:lnSpc>
              <a:spcBef>
                <a:spcPts val="0"/>
              </a:spcBef>
              <a:spcAft>
                <a:spcPts val="0"/>
              </a:spcAft>
            </a:pPr>
            <a:r>
              <a:rPr sz="1000">
                <a:solidFill>
                  <a:srgbClr val="4F81BD"/>
                </a:solidFill>
                <a:latin typeface="Calibri"/>
              </a:rPr>
              <a:t>        return b.scale() &lt; 0 ? b.setScale(0).toPlainString() : b.toPlainString();</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inicio de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2181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ec.edu.monster.clienteescritorio.vista;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LoginFrame extends JFrame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JTextField txtUsuario = new JTextField(26);</a:t>
            </a:r>
          </a:p>
          <a:p>
            <a:pPr algn="l">
              <a:lnSpc>
                <a:spcPct val="100000"/>
              </a:lnSpc>
              <a:spcBef>
                <a:spcPts val="0"/>
              </a:spcBef>
              <a:spcAft>
                <a:spcPts val="0"/>
              </a:spcAft>
            </a:pPr>
            <a:r>
              <a:rPr sz="1000">
                <a:solidFill>
                  <a:srgbClr val="4F81BD"/>
                </a:solidFill>
                <a:latin typeface="Calibri"/>
              </a:rPr>
              <a:t>    private final JPasswordField txtClave = new JPasswordField(26);</a:t>
            </a:r>
          </a:p>
          <a:p>
            <a:pPr algn="l">
              <a:lnSpc>
                <a:spcPct val="100000"/>
              </a:lnSpc>
              <a:spcBef>
                <a:spcPts val="0"/>
              </a:spcBef>
              <a:spcAft>
                <a:spcPts val="0"/>
              </a:spcAft>
            </a:pPr>
            <a:r>
              <a:rPr sz="1000">
                <a:solidFill>
                  <a:srgbClr val="4F81BD"/>
                </a:solidFill>
                <a:latin typeface="Calibri"/>
              </a:rPr>
              <a:t>    private final JTextField txtServidor = new JTextField(ControladorConversiones.urlPorDefecto(), 26);</a:t>
            </a:r>
          </a:p>
          <a:p>
            <a:pPr algn="l">
              <a:lnSpc>
                <a:spcPct val="100000"/>
              </a:lnSpc>
              <a:spcBef>
                <a:spcPts val="0"/>
              </a:spcBef>
              <a:spcAft>
                <a:spcPts val="0"/>
              </a:spcAft>
            </a:pPr>
            <a:r>
              <a:rPr sz="1000">
                <a:solidFill>
                  <a:srgbClr val="4F81BD"/>
                </a:solidFill>
                <a:latin typeface="Calibri"/>
              </a:rPr>
              <a:t>    private final JLabel lblEstado = new JLabel(" ", SwingConstants.CENTER);</a:t>
            </a:r>
          </a:p>
          <a:p>
            <a:pPr algn="l">
              <a:lnSpc>
                <a:spcPct val="100000"/>
              </a:lnSpc>
              <a:spcBef>
                <a:spcPts val="0"/>
              </a:spcBef>
              <a:spcAft>
                <a:spcPts val="0"/>
              </a:spcAft>
            </a:pPr>
            <a:r>
              <a:rPr sz="1000">
                <a:solidFill>
                  <a:srgbClr val="4F81BD"/>
                </a:solidFill>
                <a:latin typeface="Calibri"/>
              </a:rPr>
              <a:t>    private final javax.swing.JButton btnIngresar = Estilo.boton("Iniciar sesión");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LoginFrame() {</a:t>
            </a:r>
          </a:p>
          <a:p>
            <a:pPr algn="l">
              <a:lnSpc>
                <a:spcPct val="100000"/>
              </a:lnSpc>
              <a:spcBef>
                <a:spcPts val="0"/>
              </a:spcBef>
              <a:spcAft>
                <a:spcPts val="0"/>
              </a:spcAft>
            </a:pPr>
            <a:r>
              <a:rPr sz="1000">
                <a:solidFill>
                  <a:srgbClr val="4F81BD"/>
                </a:solidFill>
                <a:latin typeface="Calibri"/>
              </a:rPr>
              <a:t>        super("Conversión de Unidades Monster - Iniciar sesión");</a:t>
            </a:r>
          </a:p>
          <a:p>
            <a:pPr algn="l">
              <a:lnSpc>
                <a:spcPct val="100000"/>
              </a:lnSpc>
              <a:spcBef>
                <a:spcPts val="0"/>
              </a:spcBef>
              <a:spcAft>
                <a:spcPts val="0"/>
              </a:spcAft>
            </a:pPr>
            <a:r>
              <a:rPr sz="1000">
                <a:solidFill>
                  <a:srgbClr val="4F81BD"/>
                </a:solidFill>
                <a:latin typeface="Calibri"/>
              </a:rPr>
              <a:t>        setDefaultCloseOperation(WindowConstants.EXIT_ON_CLOSE);</a:t>
            </a:r>
          </a:p>
          <a:p>
            <a:pPr algn="l">
              <a:lnSpc>
                <a:spcPct val="100000"/>
              </a:lnSpc>
              <a:spcBef>
                <a:spcPts val="0"/>
              </a:spcBef>
              <a:spcAft>
                <a:spcPts val="0"/>
              </a:spcAft>
            </a:pPr>
            <a:r>
              <a:rPr sz="1000">
                <a:solidFill>
                  <a:srgbClr val="4F81BD"/>
                </a:solidFill>
                <a:latin typeface="Calibri"/>
              </a:rPr>
              <a:t>        JPanel fondo = new JPanel(new BorderLayout());</a:t>
            </a:r>
          </a:p>
          <a:p>
            <a:pPr algn="l">
              <a:lnSpc>
                <a:spcPct val="100000"/>
              </a:lnSpc>
              <a:spcBef>
                <a:spcPts val="0"/>
              </a:spcBef>
              <a:spcAft>
                <a:spcPts val="0"/>
              </a:spcAft>
            </a:pPr>
            <a:r>
              <a:rPr sz="1000">
                <a:solidFill>
                  <a:srgbClr val="4F81BD"/>
                </a:solidFill>
                <a:latin typeface="Calibri"/>
              </a:rPr>
              <a:t>        fondo.setBackground(Estilo.FONDO);</a:t>
            </a:r>
          </a:p>
          <a:p>
            <a:pPr algn="l">
              <a:lnSpc>
                <a:spcPct val="100000"/>
              </a:lnSpc>
              <a:spcBef>
                <a:spcPts val="0"/>
              </a:spcBef>
              <a:spcAft>
                <a:spcPts val="0"/>
              </a:spcAft>
            </a:pPr>
            <a:r>
              <a:rPr sz="1000">
                <a:solidFill>
                  <a:srgbClr val="4F81BD"/>
                </a:solidFill>
                <a:latin typeface="Calibri"/>
              </a:rPr>
              <a:t>        fondo.setBorder(new EmptyBorder(16, 20, 16, 20));</a:t>
            </a:r>
          </a:p>
          <a:p>
            <a:pPr algn="l">
              <a:lnSpc>
                <a:spcPct val="100000"/>
              </a:lnSpc>
              <a:spcBef>
                <a:spcPts val="0"/>
              </a:spcBef>
              <a:spcAft>
                <a:spcPts val="0"/>
              </a:spcAft>
            </a:pPr>
            <a:r>
              <a:rPr sz="1000">
                <a:solidFill>
                  <a:srgbClr val="4F81BD"/>
                </a:solidFill>
                <a:latin typeface="Calibri"/>
              </a:rPr>
              <a:t>        JPanel raiz = Estilo.tarjeta(new BorderLayout(0, 10));</a:t>
            </a:r>
          </a:p>
          <a:p>
            <a:pPr algn="l">
              <a:lnSpc>
                <a:spcPct val="100000"/>
              </a:lnSpc>
              <a:spcBef>
                <a:spcPts val="0"/>
              </a:spcBef>
              <a:spcAft>
                <a:spcPts val="0"/>
              </a:spcAft>
            </a:pPr>
            <a:r>
              <a:rPr sz="1000">
                <a:solidFill>
                  <a:srgbClr val="4F81BD"/>
                </a:solidFill>
                <a:latin typeface="Calibri"/>
              </a:rPr>
              <a:t>        fondo.add(raiz, BorderLayout.CENTER);</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inicio de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8379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JPanel cabecera = new JPanel(new BorderLayout(0, 6));</a:t>
            </a:r>
          </a:p>
          <a:p>
            <a:pPr algn="l">
              <a:lnSpc>
                <a:spcPct val="100000"/>
              </a:lnSpc>
              <a:spcBef>
                <a:spcPts val="0"/>
              </a:spcBef>
              <a:spcAft>
                <a:spcPts val="0"/>
              </a:spcAft>
            </a:pPr>
            <a:r>
              <a:rPr sz="1000">
                <a:solidFill>
                  <a:srgbClr val="4F81BD"/>
                </a:solidFill>
                <a:latin typeface="Calibri"/>
              </a:rPr>
              <a:t>        cabecera.setOpaque(false);</a:t>
            </a:r>
          </a:p>
          <a:p>
            <a:pPr algn="l">
              <a:lnSpc>
                <a:spcPct val="100000"/>
              </a:lnSpc>
              <a:spcBef>
                <a:spcPts val="0"/>
              </a:spcBef>
              <a:spcAft>
                <a:spcPts val="0"/>
              </a:spcAft>
            </a:pPr>
            <a:r>
              <a:rPr sz="1000">
                <a:solidFill>
                  <a:srgbClr val="4F81BD"/>
                </a:solidFill>
                <a:latin typeface="Calibri"/>
              </a:rPr>
              <a:t>        ImageIcon icono = Estilo.banner(400);</a:t>
            </a:r>
          </a:p>
          <a:p>
            <a:pPr algn="l">
              <a:lnSpc>
                <a:spcPct val="100000"/>
              </a:lnSpc>
              <a:spcBef>
                <a:spcPts val="0"/>
              </a:spcBef>
              <a:spcAft>
                <a:spcPts val="0"/>
              </a:spcAft>
            </a:pPr>
            <a:r>
              <a:rPr sz="1000">
                <a:solidFill>
                  <a:srgbClr val="4F81BD"/>
                </a:solidFill>
                <a:latin typeface="Calibri"/>
              </a:rPr>
              <a:t>        if (icono != null) {</a:t>
            </a:r>
          </a:p>
          <a:p>
            <a:pPr algn="l">
              <a:lnSpc>
                <a:spcPct val="100000"/>
              </a:lnSpc>
              <a:spcBef>
                <a:spcPts val="0"/>
              </a:spcBef>
              <a:spcAft>
                <a:spcPts val="0"/>
              </a:spcAft>
            </a:pPr>
            <a:r>
              <a:rPr sz="1000">
                <a:solidFill>
                  <a:srgbClr val="4F81BD"/>
                </a:solidFill>
                <a:latin typeface="Calibri"/>
              </a:rPr>
              <a:t>            cabecera.add(new JLabel(icono), BorderLayout.NORTH);</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JPanel titulos = new JPanel(new BorderLayout(0, 2));</a:t>
            </a:r>
          </a:p>
          <a:p>
            <a:pPr algn="l">
              <a:lnSpc>
                <a:spcPct val="100000"/>
              </a:lnSpc>
              <a:spcBef>
                <a:spcPts val="0"/>
              </a:spcBef>
              <a:spcAft>
                <a:spcPts val="0"/>
              </a:spcAft>
            </a:pPr>
            <a:r>
              <a:rPr sz="1000">
                <a:solidFill>
                  <a:srgbClr val="4F81BD"/>
                </a:solidFill>
                <a:latin typeface="Calibri"/>
              </a:rPr>
              <a:t>        titulos.setOpaque(false);</a:t>
            </a:r>
          </a:p>
          <a:p>
            <a:pPr algn="l">
              <a:lnSpc>
                <a:spcPct val="100000"/>
              </a:lnSpc>
              <a:spcBef>
                <a:spcPts val="0"/>
              </a:spcBef>
              <a:spcAft>
                <a:spcPts val="0"/>
              </a:spcAft>
            </a:pPr>
            <a:r>
              <a:rPr sz="1000">
                <a:solidFill>
                  <a:srgbClr val="4F81BD"/>
                </a:solidFill>
                <a:latin typeface="Calibri"/>
              </a:rPr>
              <a:t>        titulos.add(Estilo.titulo("Conversión de Unidades Monster"), BorderLayout.NORTH);</a:t>
            </a:r>
          </a:p>
          <a:p>
            <a:pPr algn="l">
              <a:lnSpc>
                <a:spcPct val="100000"/>
              </a:lnSpc>
              <a:spcBef>
                <a:spcPts val="0"/>
              </a:spcBef>
              <a:spcAft>
                <a:spcPts val="0"/>
              </a:spcAft>
            </a:pPr>
            <a:r>
              <a:rPr sz="1000">
                <a:solidFill>
                  <a:srgbClr val="4F81BD"/>
                </a:solidFill>
                <a:latin typeface="Calibri"/>
              </a:rPr>
              <a:t>        titulos.add(Estilo.subtitulo("Longitud · Masa · Temperatura"), BorderLayout.CENTER);</a:t>
            </a:r>
          </a:p>
          <a:p>
            <a:pPr algn="l">
              <a:lnSpc>
                <a:spcPct val="100000"/>
              </a:lnSpc>
              <a:spcBef>
                <a:spcPts val="0"/>
              </a:spcBef>
              <a:spcAft>
                <a:spcPts val="0"/>
              </a:spcAft>
            </a:pPr>
            <a:r>
              <a:rPr sz="1000">
                <a:solidFill>
                  <a:srgbClr val="4F81BD"/>
                </a:solidFill>
                <a:latin typeface="Calibri"/>
              </a:rPr>
              <a:t>        cabecera.add(titulos, BorderLayout.CENTER);</a:t>
            </a:r>
          </a:p>
          <a:p>
            <a:pPr algn="l">
              <a:lnSpc>
                <a:spcPct val="100000"/>
              </a:lnSpc>
              <a:spcBef>
                <a:spcPts val="0"/>
              </a:spcBef>
              <a:spcAft>
                <a:spcPts val="0"/>
              </a:spcAft>
            </a:pPr>
            <a:r>
              <a:rPr sz="1000">
                <a:solidFill>
                  <a:srgbClr val="4F81BD"/>
                </a:solidFill>
                <a:latin typeface="Calibri"/>
              </a:rPr>
              <a:t>        raiz.add(cabecera, BorderLayout.NORTH);</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JPanel form = new JPanel(new GridBagLayout());</a:t>
            </a:r>
          </a:p>
          <a:p>
            <a:pPr algn="l">
              <a:lnSpc>
                <a:spcPct val="100000"/>
              </a:lnSpc>
              <a:spcBef>
                <a:spcPts val="0"/>
              </a:spcBef>
              <a:spcAft>
                <a:spcPts val="0"/>
              </a:spcAft>
            </a:pPr>
            <a:r>
              <a:rPr sz="1000">
                <a:solidFill>
                  <a:srgbClr val="4F81BD"/>
                </a:solidFill>
                <a:latin typeface="Calibri"/>
              </a:rPr>
              <a:t>        form.setOpaque(false);</a:t>
            </a:r>
          </a:p>
          <a:p>
            <a:pPr algn="l">
              <a:lnSpc>
                <a:spcPct val="100000"/>
              </a:lnSpc>
              <a:spcBef>
                <a:spcPts val="0"/>
              </a:spcBef>
              <a:spcAft>
                <a:spcPts val="0"/>
              </a:spcAft>
            </a:pPr>
            <a:r>
              <a:rPr sz="1000">
                <a:solidFill>
                  <a:srgbClr val="4F81BD"/>
                </a:solidFill>
                <a:latin typeface="Calibri"/>
              </a:rPr>
              <a:t>        GridBagConstraints c = new GridBagConstraints();</a:t>
            </a:r>
          </a:p>
          <a:p>
            <a:pPr algn="l">
              <a:lnSpc>
                <a:spcPct val="100000"/>
              </a:lnSpc>
              <a:spcBef>
                <a:spcPts val="0"/>
              </a:spcBef>
              <a:spcAft>
                <a:spcPts val="0"/>
              </a:spcAft>
            </a:pPr>
            <a:r>
              <a:rPr sz="1000">
                <a:solidFill>
                  <a:srgbClr val="4F81BD"/>
                </a:solidFill>
                <a:latin typeface="Calibri"/>
              </a:rPr>
              <a:t>        c.insets = new Insets(5, 4, 5, 4);</a:t>
            </a:r>
          </a:p>
          <a:p>
            <a:pPr algn="l">
              <a:lnSpc>
                <a:spcPct val="100000"/>
              </a:lnSpc>
              <a:spcBef>
                <a:spcPts val="0"/>
              </a:spcBef>
              <a:spcAft>
                <a:spcPts val="0"/>
              </a:spcAft>
            </a:pPr>
            <a:r>
              <a:rPr sz="1000">
                <a:solidFill>
                  <a:srgbClr val="4F81BD"/>
                </a:solidFill>
                <a:latin typeface="Calibri"/>
              </a:rPr>
              <a:t>        c.anchor = GridBagConstraints.WEST;</a:t>
            </a:r>
          </a:p>
          <a:p>
            <a:pPr algn="l">
              <a:lnSpc>
                <a:spcPct val="100000"/>
              </a:lnSpc>
              <a:spcBef>
                <a:spcPts val="0"/>
              </a:spcBef>
              <a:spcAft>
                <a:spcPts val="0"/>
              </a:spcAft>
            </a:pPr>
            <a:r>
              <a:rPr sz="1000">
                <a:solidFill>
                  <a:srgbClr val="4F81BD"/>
                </a:solidFill>
                <a:latin typeface="Calibri"/>
              </a:rPr>
              <a:t>        agregar(form, c, 0, "Usuario", txtUsuario);</a:t>
            </a:r>
          </a:p>
          <a:p>
            <a:pPr algn="l">
              <a:lnSpc>
                <a:spcPct val="100000"/>
              </a:lnSpc>
              <a:spcBef>
                <a:spcPts val="0"/>
              </a:spcBef>
              <a:spcAft>
                <a:spcPts val="0"/>
              </a:spcAft>
            </a:pPr>
            <a:r>
              <a:rPr sz="1000">
                <a:solidFill>
                  <a:srgbClr val="4F81BD"/>
                </a:solidFill>
                <a:latin typeface="Calibri"/>
              </a:rPr>
              <a:t>        agregar(form, c, 1, "Clave", txtClave);</a:t>
            </a:r>
          </a:p>
          <a:p>
            <a:pPr algn="l">
              <a:lnSpc>
                <a:spcPct val="100000"/>
              </a:lnSpc>
              <a:spcBef>
                <a:spcPts val="0"/>
              </a:spcBef>
              <a:spcAft>
                <a:spcPts val="0"/>
              </a:spcAft>
            </a:pPr>
            <a:r>
              <a:rPr sz="1000">
                <a:solidFill>
                  <a:srgbClr val="4F81BD"/>
                </a:solidFill>
                <a:latin typeface="Calibri"/>
              </a:rPr>
              <a:t>        agregar(form, c, 2, "Servidor", txtServidor);</a:t>
            </a:r>
          </a:p>
          <a:p>
            <a:pPr algn="l">
              <a:lnSpc>
                <a:spcPct val="100000"/>
              </a:lnSpc>
              <a:spcBef>
                <a:spcPts val="0"/>
              </a:spcBef>
              <a:spcAft>
                <a:spcPts val="0"/>
              </a:spcAft>
            </a:pPr>
            <a:r>
              <a:rPr sz="1000">
                <a:solidFill>
                  <a:srgbClr val="4F81BD"/>
                </a:solidFill>
                <a:latin typeface="Calibri"/>
              </a:rPr>
              <a:t>        raiz.add(form, BorderLayout.CENTER);</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inicio de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4434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JPanel sur = new JPanel(new BorderLayout(0, 6));</a:t>
            </a:r>
          </a:p>
          <a:p>
            <a:pPr algn="l">
              <a:lnSpc>
                <a:spcPct val="100000"/>
              </a:lnSpc>
              <a:spcBef>
                <a:spcPts val="0"/>
              </a:spcBef>
              <a:spcAft>
                <a:spcPts val="0"/>
              </a:spcAft>
            </a:pPr>
            <a:r>
              <a:rPr sz="1000">
                <a:solidFill>
                  <a:srgbClr val="4F81BD"/>
                </a:solidFill>
                <a:latin typeface="Calibri"/>
              </a:rPr>
              <a:t>        sur.setOpaque(false);</a:t>
            </a:r>
          </a:p>
          <a:p>
            <a:pPr algn="l">
              <a:lnSpc>
                <a:spcPct val="100000"/>
              </a:lnSpc>
              <a:spcBef>
                <a:spcPts val="0"/>
              </a:spcBef>
              <a:spcAft>
                <a:spcPts val="0"/>
              </a:spcAft>
            </a:pPr>
            <a:r>
              <a:rPr sz="1000">
                <a:solidFill>
                  <a:srgbClr val="4F81BD"/>
                </a:solidFill>
                <a:latin typeface="Calibri"/>
              </a:rPr>
              <a:t>        JPanel boton = new JPanel();</a:t>
            </a:r>
          </a:p>
          <a:p>
            <a:pPr algn="l">
              <a:lnSpc>
                <a:spcPct val="100000"/>
              </a:lnSpc>
              <a:spcBef>
                <a:spcPts val="0"/>
              </a:spcBef>
              <a:spcAft>
                <a:spcPts val="0"/>
              </a:spcAft>
            </a:pPr>
            <a:r>
              <a:rPr sz="1000">
                <a:solidFill>
                  <a:srgbClr val="4F81BD"/>
                </a:solidFill>
                <a:latin typeface="Calibri"/>
              </a:rPr>
              <a:t>        boton.setOpaque(false);</a:t>
            </a:r>
          </a:p>
          <a:p>
            <a:pPr algn="l">
              <a:lnSpc>
                <a:spcPct val="100000"/>
              </a:lnSpc>
              <a:spcBef>
                <a:spcPts val="0"/>
              </a:spcBef>
              <a:spcAft>
                <a:spcPts val="0"/>
              </a:spcAft>
            </a:pPr>
            <a:r>
              <a:rPr sz="1000">
                <a:solidFill>
                  <a:srgbClr val="4F81BD"/>
                </a:solidFill>
                <a:latin typeface="Calibri"/>
              </a:rPr>
              <a:t>        boton.add(btnIngresar);</a:t>
            </a:r>
          </a:p>
          <a:p>
            <a:pPr algn="l">
              <a:lnSpc>
                <a:spcPct val="100000"/>
              </a:lnSpc>
              <a:spcBef>
                <a:spcPts val="0"/>
              </a:spcBef>
              <a:spcAft>
                <a:spcPts val="0"/>
              </a:spcAft>
            </a:pPr>
            <a:r>
              <a:rPr sz="1000">
                <a:solidFill>
                  <a:srgbClr val="4F81BD"/>
                </a:solidFill>
                <a:latin typeface="Calibri"/>
              </a:rPr>
              <a:t>        sur.add(boton, BorderLayout.NORTH);</a:t>
            </a:r>
          </a:p>
          <a:p>
            <a:pPr algn="l">
              <a:lnSpc>
                <a:spcPct val="100000"/>
              </a:lnSpc>
              <a:spcBef>
                <a:spcPts val="0"/>
              </a:spcBef>
              <a:spcAft>
                <a:spcPts val="0"/>
              </a:spcAft>
            </a:pPr>
            <a:r>
              <a:rPr sz="1000">
                <a:solidFill>
                  <a:srgbClr val="4F81BD"/>
                </a:solidFill>
                <a:latin typeface="Calibri"/>
              </a:rPr>
              <a:t>        lblEstado.setFont(Estilo.fuente(Font.PLAIN, 13));</a:t>
            </a:r>
          </a:p>
          <a:p>
            <a:pPr algn="l">
              <a:lnSpc>
                <a:spcPct val="100000"/>
              </a:lnSpc>
              <a:spcBef>
                <a:spcPts val="0"/>
              </a:spcBef>
              <a:spcAft>
                <a:spcPts val="0"/>
              </a:spcAft>
            </a:pPr>
            <a:r>
              <a:rPr sz="1000">
                <a:solidFill>
                  <a:srgbClr val="4F81BD"/>
                </a:solidFill>
                <a:latin typeface="Calibri"/>
              </a:rPr>
              <a:t>        sur.add(lblEstado, BorderLayout.CENTER);</a:t>
            </a:r>
          </a:p>
          <a:p>
            <a:pPr algn="l">
              <a:lnSpc>
                <a:spcPct val="100000"/>
              </a:lnSpc>
              <a:spcBef>
                <a:spcPts val="0"/>
              </a:spcBef>
              <a:spcAft>
                <a:spcPts val="0"/>
              </a:spcAft>
            </a:pPr>
            <a:r>
              <a:rPr sz="1000">
                <a:solidFill>
                  <a:srgbClr val="4F81BD"/>
                </a:solidFill>
                <a:latin typeface="Calibri"/>
              </a:rPr>
              <a:t>        raiz.add(sur, BorderLayout.SOUTH);</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Estilo.estilizarCampo(txtUsuario);</a:t>
            </a:r>
          </a:p>
          <a:p>
            <a:pPr algn="l">
              <a:lnSpc>
                <a:spcPct val="100000"/>
              </a:lnSpc>
              <a:spcBef>
                <a:spcPts val="0"/>
              </a:spcBef>
              <a:spcAft>
                <a:spcPts val="0"/>
              </a:spcAft>
            </a:pPr>
            <a:r>
              <a:rPr sz="1000">
                <a:solidFill>
                  <a:srgbClr val="4F81BD"/>
                </a:solidFill>
                <a:latin typeface="Calibri"/>
              </a:rPr>
              <a:t>        Estilo.estilizarCampo(txtClave);</a:t>
            </a:r>
          </a:p>
          <a:p>
            <a:pPr algn="l">
              <a:lnSpc>
                <a:spcPct val="100000"/>
              </a:lnSpc>
              <a:spcBef>
                <a:spcPts val="0"/>
              </a:spcBef>
              <a:spcAft>
                <a:spcPts val="0"/>
              </a:spcAft>
            </a:pPr>
            <a:r>
              <a:rPr sz="1000">
                <a:solidFill>
                  <a:srgbClr val="4F81BD"/>
                </a:solidFill>
                <a:latin typeface="Calibri"/>
              </a:rPr>
              <a:t>        Estilo.estilizarCampo(txtServidor);</a:t>
            </a:r>
          </a:p>
          <a:p>
            <a:pPr algn="l">
              <a:lnSpc>
                <a:spcPct val="100000"/>
              </a:lnSpc>
              <a:spcBef>
                <a:spcPts val="0"/>
              </a:spcBef>
              <a:spcAft>
                <a:spcPts val="0"/>
              </a:spcAft>
            </a:pPr>
            <a:r>
              <a:rPr sz="1000">
                <a:solidFill>
                  <a:srgbClr val="4F81BD"/>
                </a:solidFill>
                <a:latin typeface="Calibri"/>
              </a:rPr>
              <a:t>        setContentPane(fondo);</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ConversionFrame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conversión (CU-02, CU-03 y CU-04).</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83793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ec.edu.monster.clienteescritorio.vista;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ConversionFrame extends JFrame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ControladorConversiones controlador;</a:t>
            </a:r>
          </a:p>
          <a:p>
            <a:pPr algn="l">
              <a:lnSpc>
                <a:spcPct val="100000"/>
              </a:lnSpc>
              <a:spcBef>
                <a:spcPts val="0"/>
              </a:spcBef>
              <a:spcAft>
                <a:spcPts val="0"/>
              </a:spcAft>
            </a:pPr>
            <a:r>
              <a:rPr sz="1000">
                <a:solidFill>
                  <a:srgbClr val="4F81BD"/>
                </a:solidFill>
                <a:latin typeface="Calibri"/>
              </a:rPr>
              <a:t>    private final JComboBox&lt;String&gt; cmbCategoria = new JComboBox&lt;&gt;();</a:t>
            </a:r>
          </a:p>
          <a:p>
            <a:pPr algn="l">
              <a:lnSpc>
                <a:spcPct val="100000"/>
              </a:lnSpc>
              <a:spcBef>
                <a:spcPts val="0"/>
              </a:spcBef>
              <a:spcAft>
                <a:spcPts val="0"/>
              </a:spcAft>
            </a:pPr>
            <a:r>
              <a:rPr sz="1000">
                <a:solidFill>
                  <a:srgbClr val="4F81BD"/>
                </a:solidFill>
                <a:latin typeface="Calibri"/>
              </a:rPr>
              <a:t>    private final JComboBox&lt;String&gt; cmbOrigen = new JComboBox&lt;&gt;();</a:t>
            </a:r>
          </a:p>
          <a:p>
            <a:pPr algn="l">
              <a:lnSpc>
                <a:spcPct val="100000"/>
              </a:lnSpc>
              <a:spcBef>
                <a:spcPts val="0"/>
              </a:spcBef>
              <a:spcAft>
                <a:spcPts val="0"/>
              </a:spcAft>
            </a:pPr>
            <a:r>
              <a:rPr sz="1000">
                <a:solidFill>
                  <a:srgbClr val="4F81BD"/>
                </a:solidFill>
                <a:latin typeface="Calibri"/>
              </a:rPr>
              <a:t>    private final JComboBox&lt;String&gt; cmbDestino = new JComboBox&lt;&gt;();</a:t>
            </a:r>
          </a:p>
          <a:p>
            <a:pPr algn="l">
              <a:lnSpc>
                <a:spcPct val="100000"/>
              </a:lnSpc>
              <a:spcBef>
                <a:spcPts val="0"/>
              </a:spcBef>
              <a:spcAft>
                <a:spcPts val="0"/>
              </a:spcAft>
            </a:pPr>
            <a:r>
              <a:rPr sz="1000">
                <a:solidFill>
                  <a:srgbClr val="4F81BD"/>
                </a:solidFill>
                <a:latin typeface="Calibri"/>
              </a:rPr>
              <a:t>    private final JTextField txtValor = new JTextField(14);</a:t>
            </a:r>
          </a:p>
          <a:p>
            <a:pPr algn="l">
              <a:lnSpc>
                <a:spcPct val="100000"/>
              </a:lnSpc>
              <a:spcBef>
                <a:spcPts val="0"/>
              </a:spcBef>
              <a:spcAft>
                <a:spcPts val="0"/>
              </a:spcAft>
            </a:pPr>
            <a:r>
              <a:rPr sz="1000">
                <a:solidFill>
                  <a:srgbClr val="4F81BD"/>
                </a:solidFill>
                <a:latin typeface="Calibri"/>
              </a:rPr>
              <a:t>    private final JLabel lblResultado = new JLabel("Resultado", SwingConstants.CENTER);</a:t>
            </a:r>
          </a:p>
          <a:p>
            <a:pPr algn="l">
              <a:lnSpc>
                <a:spcPct val="100000"/>
              </a:lnSpc>
              <a:spcBef>
                <a:spcPts val="0"/>
              </a:spcBef>
              <a:spcAft>
                <a:spcPts val="0"/>
              </a:spcAft>
            </a:pPr>
            <a:r>
              <a:rPr sz="1000">
                <a:solidFill>
                  <a:srgbClr val="4F81BD"/>
                </a:solidFill>
                <a:latin typeface="Calibri"/>
              </a:rPr>
              <a:t>    private final JLabel lblEstado = new JLabel(" ", SwingConstants.CENTER);</a:t>
            </a:r>
          </a:p>
          <a:p>
            <a:pPr algn="l">
              <a:lnSpc>
                <a:spcPct val="100000"/>
              </a:lnSpc>
              <a:spcBef>
                <a:spcPts val="0"/>
              </a:spcBef>
              <a:spcAft>
                <a:spcPts val="0"/>
              </a:spcAft>
            </a:pPr>
            <a:r>
              <a:rPr sz="1000">
                <a:solidFill>
                  <a:srgbClr val="4F81BD"/>
                </a:solidFill>
                <a:latin typeface="Calibri"/>
              </a:rPr>
              <a:t>    private final JButton btnConvertir = Estilo.boton("Convertir");</a:t>
            </a:r>
          </a:p>
          <a:p>
            <a:pPr algn="l">
              <a:lnSpc>
                <a:spcPct val="100000"/>
              </a:lnSpc>
              <a:spcBef>
                <a:spcPts val="0"/>
              </a:spcBef>
              <a:spcAft>
                <a:spcPts val="0"/>
              </a:spcAft>
            </a:pPr>
            <a:r>
              <a:rPr sz="1000">
                <a:solidFill>
                  <a:srgbClr val="4F81BD"/>
                </a:solidFill>
                <a:latin typeface="Calibri"/>
              </a:rPr>
              <a:t>    private final JButton btnIntercambiar = Estilo.boton("Intercambiar");</a:t>
            </a:r>
          </a:p>
          <a:p>
            <a:pPr algn="l">
              <a:lnSpc>
                <a:spcPct val="100000"/>
              </a:lnSpc>
              <a:spcBef>
                <a:spcPts val="0"/>
              </a:spcBef>
              <a:spcAft>
                <a:spcPts val="0"/>
              </a:spcAft>
            </a:pPr>
            <a:r>
              <a:rPr sz="1000">
                <a:solidFill>
                  <a:srgbClr val="4F81BD"/>
                </a:solidFill>
                <a:latin typeface="Calibri"/>
              </a:rPr>
              <a:t>    private boolean cargando;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ConversionFrame(ControladorConversiones controlador) {</a:t>
            </a:r>
          </a:p>
          <a:p>
            <a:pPr algn="l">
              <a:lnSpc>
                <a:spcPct val="100000"/>
              </a:lnSpc>
              <a:spcBef>
                <a:spcPts val="0"/>
              </a:spcBef>
              <a:spcAft>
                <a:spcPts val="0"/>
              </a:spcAft>
            </a:pPr>
            <a:r>
              <a:rPr sz="1000">
                <a:solidFill>
                  <a:srgbClr val="4F81BD"/>
                </a:solidFill>
                <a:latin typeface="Calibri"/>
              </a:rPr>
              <a:t>        super("Conversión de Unidades Monster");</a:t>
            </a:r>
          </a:p>
          <a:p>
            <a:pPr algn="l">
              <a:lnSpc>
                <a:spcPct val="100000"/>
              </a:lnSpc>
              <a:spcBef>
                <a:spcPts val="0"/>
              </a:spcBef>
              <a:spcAft>
                <a:spcPts val="0"/>
              </a:spcAft>
            </a:pPr>
            <a:r>
              <a:rPr sz="1000">
                <a:solidFill>
                  <a:srgbClr val="4F81BD"/>
                </a:solidFill>
                <a:latin typeface="Calibri"/>
              </a:rPr>
              <a:t>        this.controlador = controlador;</a:t>
            </a:r>
          </a:p>
          <a:p>
            <a:pPr algn="l">
              <a:lnSpc>
                <a:spcPct val="100000"/>
              </a:lnSpc>
              <a:spcBef>
                <a:spcPts val="0"/>
              </a:spcBef>
              <a:spcAft>
                <a:spcPts val="0"/>
              </a:spcAft>
            </a:pPr>
            <a:r>
              <a:rPr sz="1000">
                <a:solidFill>
                  <a:srgbClr val="4F81BD"/>
                </a:solidFill>
                <a:latin typeface="Calibri"/>
              </a:rPr>
              <a:t>        setDefaultCloseOperation(WindowConstants.EXIT_ON_CLOSE);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JPanel raiz = new JPanel(new BorderLayout());</a:t>
            </a:r>
          </a:p>
          <a:p>
            <a:pPr algn="l">
              <a:lnSpc>
                <a:spcPct val="100000"/>
              </a:lnSpc>
              <a:spcBef>
                <a:spcPts val="0"/>
              </a:spcBef>
              <a:spcAft>
                <a:spcPts val="0"/>
              </a:spcAft>
            </a:pPr>
            <a:r>
              <a:rPr sz="1000">
                <a:solidFill>
                  <a:srgbClr val="4F81BD"/>
                </a:solidFill>
                <a:latin typeface="Calibri"/>
              </a:rPr>
              <a:t>        raiz.setBackground(Estilo.FONDO);</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ConversionFrame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conversión (CU-02, CU-03 y CU-04).</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JPanel barra = Estilo.cabecera(new BorderLayout());</a:t>
            </a:r>
          </a:p>
          <a:p>
            <a:pPr algn="l">
              <a:lnSpc>
                <a:spcPct val="100000"/>
              </a:lnSpc>
              <a:spcBef>
                <a:spcPts val="0"/>
              </a:spcBef>
              <a:spcAft>
                <a:spcPts val="0"/>
              </a:spcAft>
            </a:pPr>
            <a:r>
              <a:rPr sz="1000">
                <a:solidFill>
                  <a:srgbClr val="4F81BD"/>
                </a:solidFill>
                <a:latin typeface="Calibri"/>
              </a:rPr>
              <a:t>        JLabel titulo = new JLabel("Conversión de Unidades Monster");</a:t>
            </a:r>
          </a:p>
          <a:p>
            <a:pPr algn="l">
              <a:lnSpc>
                <a:spcPct val="100000"/>
              </a:lnSpc>
              <a:spcBef>
                <a:spcPts val="0"/>
              </a:spcBef>
              <a:spcAft>
                <a:spcPts val="0"/>
              </a:spcAft>
            </a:pPr>
            <a:r>
              <a:rPr sz="1000">
                <a:solidFill>
                  <a:srgbClr val="4F81BD"/>
                </a:solidFill>
                <a:latin typeface="Calibri"/>
              </a:rPr>
              <a:t>        titulo.setFont(Estilo.fuente(Font.BOLD, 18));</a:t>
            </a:r>
          </a:p>
          <a:p>
            <a:pPr algn="l">
              <a:lnSpc>
                <a:spcPct val="100000"/>
              </a:lnSpc>
              <a:spcBef>
                <a:spcPts val="0"/>
              </a:spcBef>
              <a:spcAft>
                <a:spcPts val="0"/>
              </a:spcAft>
            </a:pPr>
            <a:r>
              <a:rPr sz="1000">
                <a:solidFill>
                  <a:srgbClr val="4F81BD"/>
                </a:solidFill>
                <a:latin typeface="Calibri"/>
              </a:rPr>
              <a:t>        titulo.setForeground(Color.WHITE);</a:t>
            </a:r>
          </a:p>
          <a:p>
            <a:pPr algn="l">
              <a:lnSpc>
                <a:spcPct val="100000"/>
              </a:lnSpc>
              <a:spcBef>
                <a:spcPts val="0"/>
              </a:spcBef>
              <a:spcAft>
                <a:spcPts val="0"/>
              </a:spcAft>
            </a:pPr>
            <a:r>
              <a:rPr sz="1000">
                <a:solidFill>
                  <a:srgbClr val="4F81BD"/>
                </a:solidFill>
                <a:latin typeface="Calibri"/>
              </a:rPr>
              <a:t>        barra.add(titulo, BorderLayout.WEST);</a:t>
            </a:r>
          </a:p>
          <a:p>
            <a:pPr algn="l">
              <a:lnSpc>
                <a:spcPct val="100000"/>
              </a:lnSpc>
              <a:spcBef>
                <a:spcPts val="0"/>
              </a:spcBef>
              <a:spcAft>
                <a:spcPts val="0"/>
              </a:spcAft>
            </a:pPr>
            <a:r>
              <a:rPr sz="1000">
                <a:solidFill>
                  <a:srgbClr val="4F81BD"/>
                </a:solidFill>
                <a:latin typeface="Calibri"/>
              </a:rPr>
              <a:t>        JButton btnCerrar = Estilo.boton("Cerrar sesión");</a:t>
            </a:r>
          </a:p>
          <a:p>
            <a:pPr algn="l">
              <a:lnSpc>
                <a:spcPct val="100000"/>
              </a:lnSpc>
              <a:spcBef>
                <a:spcPts val="0"/>
              </a:spcBef>
              <a:spcAft>
                <a:spcPts val="0"/>
              </a:spcAft>
            </a:pPr>
            <a:r>
              <a:rPr sz="1000">
                <a:solidFill>
                  <a:srgbClr val="4F81BD"/>
                </a:solidFill>
                <a:latin typeface="Calibri"/>
              </a:rPr>
              <a:t>        btnCerrar.setBackground(Estilo.AZUL_CLARO);</a:t>
            </a:r>
          </a:p>
          <a:p>
            <a:pPr algn="l">
              <a:lnSpc>
                <a:spcPct val="100000"/>
              </a:lnSpc>
              <a:spcBef>
                <a:spcPts val="0"/>
              </a:spcBef>
              <a:spcAft>
                <a:spcPts val="0"/>
              </a:spcAft>
            </a:pPr>
            <a:r>
              <a:rPr sz="1000">
                <a:solidFill>
                  <a:srgbClr val="4F81BD"/>
                </a:solidFill>
                <a:latin typeface="Calibri"/>
              </a:rPr>
              <a:t>        btnCerrar.setPreferredSize(new Dimension(140, 34));</a:t>
            </a:r>
          </a:p>
          <a:p>
            <a:pPr algn="l">
              <a:lnSpc>
                <a:spcPct val="100000"/>
              </a:lnSpc>
              <a:spcBef>
                <a:spcPts val="0"/>
              </a:spcBef>
              <a:spcAft>
                <a:spcPts val="0"/>
              </a:spcAft>
            </a:pPr>
            <a:r>
              <a:rPr sz="1000">
                <a:solidFill>
                  <a:srgbClr val="4F81BD"/>
                </a:solidFill>
                <a:latin typeface="Calibri"/>
              </a:rPr>
              <a:t>        barra.add(btnCerrar, BorderLayout.EAST);</a:t>
            </a:r>
          </a:p>
          <a:p>
            <a:pPr algn="l">
              <a:lnSpc>
                <a:spcPct val="100000"/>
              </a:lnSpc>
              <a:spcBef>
                <a:spcPts val="0"/>
              </a:spcBef>
              <a:spcAft>
                <a:spcPts val="0"/>
              </a:spcAft>
            </a:pPr>
            <a:r>
              <a:rPr sz="1000">
                <a:solidFill>
                  <a:srgbClr val="4F81BD"/>
                </a:solidFill>
                <a:latin typeface="Calibri"/>
              </a:rPr>
              <a:t>        raiz.add(barra, BorderLayout.NORTH);</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JPanel centro = new JPanel(new BorderLayout(0, 0));</a:t>
            </a:r>
          </a:p>
          <a:p>
            <a:pPr algn="l">
              <a:lnSpc>
                <a:spcPct val="100000"/>
              </a:lnSpc>
              <a:spcBef>
                <a:spcPts val="0"/>
              </a:spcBef>
              <a:spcAft>
                <a:spcPts val="0"/>
              </a:spcAft>
            </a:pPr>
            <a:r>
              <a:rPr sz="1000">
                <a:solidFill>
                  <a:srgbClr val="4F81BD"/>
                </a:solidFill>
                <a:latin typeface="Calibri"/>
              </a:rPr>
              <a:t>        centro.setOpaque(false);</a:t>
            </a:r>
          </a:p>
          <a:p>
            <a:pPr algn="l">
              <a:lnSpc>
                <a:spcPct val="100000"/>
              </a:lnSpc>
              <a:spcBef>
                <a:spcPts val="0"/>
              </a:spcBef>
              <a:spcAft>
                <a:spcPts val="0"/>
              </a:spcAft>
            </a:pPr>
            <a:r>
              <a:rPr sz="1000">
                <a:solidFill>
                  <a:srgbClr val="4F81BD"/>
                </a:solidFill>
                <a:latin typeface="Calibri"/>
              </a:rPr>
              <a:t>        centro.setBorder(new EmptyBorder(16, 18, 14, 18));</a:t>
            </a:r>
          </a:p>
          <a:p>
            <a:pPr algn="l">
              <a:lnSpc>
                <a:spcPct val="100000"/>
              </a:lnSpc>
              <a:spcBef>
                <a:spcPts val="0"/>
              </a:spcBef>
              <a:spcAft>
                <a:spcPts val="0"/>
              </a:spcAft>
            </a:pPr>
            <a:r>
              <a:rPr sz="1000">
                <a:solidFill>
                  <a:srgbClr val="4F81BD"/>
                </a:solidFill>
                <a:latin typeface="Calibri"/>
              </a:rPr>
              <a:t>        JPanel tarjeta = Estilo.tarjeta(new BorderLayout(0, 10));</a:t>
            </a:r>
          </a:p>
          <a:p>
            <a:pPr algn="l">
              <a:lnSpc>
                <a:spcPct val="100000"/>
              </a:lnSpc>
              <a:spcBef>
                <a:spcPts val="0"/>
              </a:spcBef>
              <a:spcAft>
                <a:spcPts val="0"/>
              </a:spcAft>
            </a:pPr>
            <a:r>
              <a:rPr sz="1000">
                <a:solidFill>
                  <a:srgbClr val="4F81BD"/>
                </a:solidFill>
                <a:latin typeface="Calibri"/>
              </a:rPr>
              <a:t>        centro.add(tarjeta, BorderLayout.CENTER);</a:t>
            </a:r>
          </a:p>
          <a:p>
            <a:pPr algn="l">
              <a:lnSpc>
                <a:spcPct val="100000"/>
              </a:lnSpc>
              <a:spcBef>
                <a:spcPts val="0"/>
              </a:spcBef>
              <a:spcAft>
                <a:spcPts val="0"/>
              </a:spcAft>
            </a:pPr>
            <a:r>
              <a:rPr sz="1000">
                <a:solidFill>
                  <a:srgbClr val="4F81BD"/>
                </a:solidFill>
                <a:latin typeface="Calibri"/>
              </a:rPr>
              <a:t>        JPanel form = new JPanel(new GridBagLayout());</a:t>
            </a:r>
          </a:p>
          <a:p>
            <a:pPr algn="l">
              <a:lnSpc>
                <a:spcPct val="100000"/>
              </a:lnSpc>
              <a:spcBef>
                <a:spcPts val="0"/>
              </a:spcBef>
              <a:spcAft>
                <a:spcPts val="0"/>
              </a:spcAft>
            </a:pPr>
            <a:r>
              <a:rPr sz="1000">
                <a:solidFill>
                  <a:srgbClr val="4F81BD"/>
                </a:solidFill>
                <a:latin typeface="Calibri"/>
              </a:rPr>
              <a:t>        form.setOpaque(false);</a:t>
            </a:r>
          </a:p>
          <a:p>
            <a:pPr algn="l">
              <a:lnSpc>
                <a:spcPct val="100000"/>
              </a:lnSpc>
              <a:spcBef>
                <a:spcPts val="0"/>
              </a:spcBef>
              <a:spcAft>
                <a:spcPts val="0"/>
              </a:spcAft>
            </a:pPr>
            <a:r>
              <a:rPr sz="1000">
                <a:solidFill>
                  <a:srgbClr val="4F81BD"/>
                </a:solidFill>
                <a:latin typeface="Calibri"/>
              </a:rPr>
              <a:t>        GridBagConstraints c = new GridBagConstraints();</a:t>
            </a:r>
          </a:p>
          <a:p>
            <a:pPr algn="l">
              <a:lnSpc>
                <a:spcPct val="100000"/>
              </a:lnSpc>
              <a:spcBef>
                <a:spcPts val="0"/>
              </a:spcBef>
              <a:spcAft>
                <a:spcPts val="0"/>
              </a:spcAft>
            </a:pPr>
            <a:r>
              <a:rPr sz="1000">
                <a:solidFill>
                  <a:srgbClr val="4F81BD"/>
                </a:solidFill>
                <a:latin typeface="Calibri"/>
              </a:rPr>
              <a:t>        c.insets = new Insets(6, 4, 6, 4);</a:t>
            </a:r>
          </a:p>
          <a:p>
            <a:pPr algn="l">
              <a:lnSpc>
                <a:spcPct val="100000"/>
              </a:lnSpc>
              <a:spcBef>
                <a:spcPts val="0"/>
              </a:spcBef>
              <a:spcAft>
                <a:spcPts val="0"/>
              </a:spcAft>
            </a:pPr>
            <a:r>
              <a:rPr sz="1000">
                <a:solidFill>
                  <a:srgbClr val="4F81BD"/>
                </a:solidFill>
                <a:latin typeface="Calibri"/>
              </a:rPr>
              <a:t>        c.anchor = GridBagConstraints.WEST;</a:t>
            </a:r>
          </a:p>
          <a:p>
            <a:pPr algn="l">
              <a:lnSpc>
                <a:spcPct val="100000"/>
              </a:lnSpc>
              <a:spcBef>
                <a:spcPts val="0"/>
              </a:spcBef>
              <a:spcAft>
                <a:spcPts val="0"/>
              </a:spcAft>
            </a:pPr>
            <a:r>
              <a:rPr sz="1000">
                <a:solidFill>
                  <a:srgbClr val="4F81BD"/>
                </a:solidFill>
                <a:latin typeface="Calibri"/>
              </a:rPr>
              <a:t>        c.fill = GridBagConstraints.HORIZONTAL;</a:t>
            </a:r>
          </a:p>
          <a:p>
            <a:pPr algn="l">
              <a:lnSpc>
                <a:spcPct val="100000"/>
              </a:lnSpc>
              <a:spcBef>
                <a:spcPts val="0"/>
              </a:spcBef>
              <a:spcAft>
                <a:spcPts val="0"/>
              </a:spcAft>
            </a:pPr>
            <a:r>
              <a:rPr sz="1000">
                <a:solidFill>
                  <a:srgbClr val="4F81BD"/>
                </a:solidFill>
                <a:latin typeface="Calibri"/>
              </a:rPr>
              <a:t>        for (JComboBox&lt;String&gt; cmb : List.of(cmbCategoria, cmbOrigen, cmbDestino)) {</a:t>
            </a:r>
          </a:p>
          <a:p>
            <a:pPr algn="l">
              <a:lnSpc>
                <a:spcPct val="100000"/>
              </a:lnSpc>
              <a:spcBef>
                <a:spcPts val="0"/>
              </a:spcBef>
              <a:spcAft>
                <a:spcPts val="0"/>
              </a:spcAft>
            </a:pPr>
            <a:r>
              <a:rPr sz="1000">
                <a:solidFill>
                  <a:srgbClr val="4F81BD"/>
                </a:solidFill>
                <a:latin typeface="Calibri"/>
              </a:rPr>
              <a:t>            Estilo.estilizarCombo(cmb);</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Estilo.estilizarCampo(txtValor);</a:t>
            </a:r>
          </a:p>
          <a:p>
            <a:pPr algn="l">
              <a:lnSpc>
                <a:spcPct val="100000"/>
              </a:lnSpc>
              <a:spcBef>
                <a:spcPts val="0"/>
              </a:spcBef>
              <a:spcAft>
                <a:spcPts val="0"/>
              </a:spcAft>
            </a:pPr>
            <a:r>
              <a:rPr sz="1000">
                <a:solidFill>
                  <a:srgbClr val="4F81BD"/>
                </a:solidFill>
                <a:latin typeface="Calibri"/>
              </a:rPr>
              <a:t>        fila(form, c, 0, "Categoría", cmbCategoria);</a:t>
            </a:r>
          </a:p>
          <a:p>
            <a:pPr algn="l">
              <a:lnSpc>
                <a:spcPct val="100000"/>
              </a:lnSpc>
              <a:spcBef>
                <a:spcPts val="0"/>
              </a:spcBef>
              <a:spcAft>
                <a:spcPts val="0"/>
              </a:spcAft>
            </a:pPr>
            <a:r>
              <a:rPr sz="1000">
                <a:solidFill>
                  <a:srgbClr val="4F81BD"/>
                </a:solidFill>
                <a:latin typeface="Calibri"/>
              </a:rPr>
              <a:t>        fila(form, c, 1, "De", cmbOrigen);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ConversionFrame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conversión (CU-02, CU-03 y CU-04).</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104902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c.gridx = 1;</a:t>
            </a:r>
          </a:p>
          <a:p>
            <a:pPr algn="l">
              <a:lnSpc>
                <a:spcPct val="100000"/>
              </a:lnSpc>
              <a:spcBef>
                <a:spcPts val="0"/>
              </a:spcBef>
              <a:spcAft>
                <a:spcPts val="0"/>
              </a:spcAft>
            </a:pPr>
            <a:r>
              <a:rPr sz="1000">
                <a:solidFill>
                  <a:srgbClr val="4F81BD"/>
                </a:solidFill>
                <a:latin typeface="Calibri"/>
              </a:rPr>
              <a:t>        c.gridy = 2;</a:t>
            </a:r>
          </a:p>
          <a:p>
            <a:pPr algn="l">
              <a:lnSpc>
                <a:spcPct val="100000"/>
              </a:lnSpc>
              <a:spcBef>
                <a:spcPts val="0"/>
              </a:spcBef>
              <a:spcAft>
                <a:spcPts val="0"/>
              </a:spcAft>
            </a:pPr>
            <a:r>
              <a:rPr sz="1000">
                <a:solidFill>
                  <a:srgbClr val="4F81BD"/>
                </a:solidFill>
                <a:latin typeface="Calibri"/>
              </a:rPr>
              <a:t>        c.fill = GridBagConstraints.NONE;</a:t>
            </a:r>
          </a:p>
          <a:p>
            <a:pPr algn="l">
              <a:lnSpc>
                <a:spcPct val="100000"/>
              </a:lnSpc>
              <a:spcBef>
                <a:spcPts val="0"/>
              </a:spcBef>
              <a:spcAft>
                <a:spcPts val="0"/>
              </a:spcAft>
            </a:pPr>
            <a:r>
              <a:rPr sz="1000">
                <a:solidFill>
                  <a:srgbClr val="4F81BD"/>
                </a:solidFill>
                <a:latin typeface="Calibri"/>
              </a:rPr>
              <a:t>        c.anchor = GridBagConstraints.CENTER;</a:t>
            </a:r>
          </a:p>
          <a:p>
            <a:pPr algn="l">
              <a:lnSpc>
                <a:spcPct val="100000"/>
              </a:lnSpc>
              <a:spcBef>
                <a:spcPts val="0"/>
              </a:spcBef>
              <a:spcAft>
                <a:spcPts val="0"/>
              </a:spcAft>
            </a:pPr>
            <a:r>
              <a:rPr sz="1000">
                <a:solidFill>
                  <a:srgbClr val="4F81BD"/>
                </a:solidFill>
                <a:latin typeface="Calibri"/>
              </a:rPr>
              <a:t>        btnIntercambiar.setPreferredSize(new Dimension(160, 34));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login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esc_login.png"/>
          <p:cNvPicPr>
            <a:picLocks noChangeAspect="1"/>
          </p:cNvPicPr>
          <p:nvPr/>
        </p:nvPicPr>
        <p:blipFill>
          <a:blip r:embed="rId2"/>
          <a:stretch>
            <a:fillRect/>
          </a:stretch>
        </p:blipFill>
        <p:spPr>
          <a:xfrm>
            <a:off x="4437640" y="1920240"/>
            <a:ext cx="4109198" cy="44805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Conversor</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esc_conversion.png"/>
          <p:cNvPicPr>
            <a:picLocks noChangeAspect="1"/>
          </p:cNvPicPr>
          <p:nvPr/>
        </p:nvPicPr>
        <p:blipFill>
          <a:blip r:embed="rId2"/>
          <a:stretch>
            <a:fillRect/>
          </a:stretch>
        </p:blipFill>
        <p:spPr>
          <a:xfrm>
            <a:off x="4471595" y="1920240"/>
            <a:ext cx="4041289" cy="448056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625" b="1">
                <a:latin typeface="Cambria"/>
                <a:ea typeface="Cambria"/>
                <a:cs typeface="Cambria"/>
                <a:sym typeface="Cambria"/>
              </a:rPr>
              <a:t>1.5 	CREACIÓN DEL PROYECTO – CLIENTE WEB</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Para el cliente web se creó una aplicación web (WAR) con servlets y páginas HTML/JS, que se despliega en Payara. El navegador nunca ve el token: queda en la sesión del servidor.</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Estructura MVC: modelo (SoapClient), controlador (servlets) y vista (HTML, CSS y JS).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ree_web.png"/>
          <p:cNvPicPr>
            <a:picLocks noChangeAspect="1"/>
          </p:cNvPicPr>
          <p:nvPr/>
        </p:nvPicPr>
        <p:blipFill>
          <a:blip r:embed="rId2"/>
          <a:stretch>
            <a:fillRect/>
          </a:stretch>
        </p:blipFill>
        <p:spPr>
          <a:xfrm>
            <a:off x="4137514" y="1920240"/>
            <a:ext cx="4892331" cy="438912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LoginServlet</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del inicio de sesión.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99287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ec.edu.monster.clienteweb.controlador;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@WebServlet("/api/login")</a:t>
            </a:r>
          </a:p>
          <a:p>
            <a:pPr algn="l">
              <a:lnSpc>
                <a:spcPct val="100000"/>
              </a:lnSpc>
              <a:spcBef>
                <a:spcPts val="0"/>
              </a:spcBef>
              <a:spcAft>
                <a:spcPts val="0"/>
              </a:spcAft>
            </a:pPr>
            <a:r>
              <a:rPr sz="1000">
                <a:solidFill>
                  <a:srgbClr val="4F81BD"/>
                </a:solidFill>
                <a:latin typeface="Calibri"/>
              </a:rPr>
              <a:t>public class LoginServlet extends HttpServlet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protected void doPost(HttpServletRequest req, HttpServletResponse resp) throws IOException {</a:t>
            </a:r>
          </a:p>
          <a:p>
            <a:pPr algn="l">
              <a:lnSpc>
                <a:spcPct val="100000"/>
              </a:lnSpc>
              <a:spcBef>
                <a:spcPts val="0"/>
              </a:spcBef>
              <a:spcAft>
                <a:spcPts val="0"/>
              </a:spcAft>
            </a:pPr>
            <a:r>
              <a:rPr sz="1000">
                <a:solidFill>
                  <a:srgbClr val="4F81BD"/>
                </a:solidFill>
                <a:latin typeface="Calibri"/>
              </a:rPr>
              <a:t>        req.setCharacterEncoding("UTF-8");</a:t>
            </a:r>
          </a:p>
          <a:p>
            <a:pPr algn="l">
              <a:lnSpc>
                <a:spcPct val="100000"/>
              </a:lnSpc>
              <a:spcBef>
                <a:spcPts val="0"/>
              </a:spcBef>
              <a:spcAft>
                <a:spcPts val="0"/>
              </a:spcAft>
            </a:pPr>
            <a:r>
              <a:rPr sz="1000">
                <a:solidFill>
                  <a:srgbClr val="4F81BD"/>
                </a:solidFill>
                <a:latin typeface="Calibri"/>
              </a:rPr>
              <a:t>        RespuestaServicio r = Servicios.cliente(getServletContext())</a:t>
            </a:r>
          </a:p>
          <a:p>
            <a:pPr algn="l">
              <a:lnSpc>
                <a:spcPct val="100000"/>
              </a:lnSpc>
              <a:spcBef>
                <a:spcPts val="0"/>
              </a:spcBef>
              <a:spcAft>
                <a:spcPts val="0"/>
              </a:spcAft>
            </a:pPr>
            <a:r>
              <a:rPr sz="1000">
                <a:solidFill>
                  <a:srgbClr val="4F81BD"/>
                </a:solidFill>
                <a:latin typeface="Calibri"/>
              </a:rPr>
              <a:t>                .login(req.getParameter("usuario"), req.getParameter("clave"));</a:t>
            </a:r>
          </a:p>
          <a:p>
            <a:pPr algn="l">
              <a:lnSpc>
                <a:spcPct val="100000"/>
              </a:lnSpc>
              <a:spcBef>
                <a:spcPts val="0"/>
              </a:spcBef>
              <a:spcAft>
                <a:spcPts val="0"/>
              </a:spcAft>
            </a:pPr>
            <a:r>
              <a:rPr sz="1000">
                <a:solidFill>
                  <a:srgbClr val="4F81BD"/>
                </a:solidFill>
                <a:latin typeface="Calibri"/>
              </a:rPr>
              <a:t>        if (r.esExitosa() &amp;&amp; r.getToken() != null) {</a:t>
            </a:r>
          </a:p>
          <a:p>
            <a:pPr algn="l">
              <a:lnSpc>
                <a:spcPct val="100000"/>
              </a:lnSpc>
              <a:spcBef>
                <a:spcPts val="0"/>
              </a:spcBef>
              <a:spcAft>
                <a:spcPts val="0"/>
              </a:spcAft>
            </a:pPr>
            <a:r>
              <a:rPr sz="1000">
                <a:solidFill>
                  <a:srgbClr val="4F81BD"/>
                </a:solidFill>
                <a:latin typeface="Calibri"/>
              </a:rPr>
              <a:t>            HttpSession anterior = req.getSession(false);</a:t>
            </a:r>
          </a:p>
          <a:p>
            <a:pPr algn="l">
              <a:lnSpc>
                <a:spcPct val="100000"/>
              </a:lnSpc>
              <a:spcBef>
                <a:spcPts val="0"/>
              </a:spcBef>
              <a:spcAft>
                <a:spcPts val="0"/>
              </a:spcAft>
            </a:pPr>
            <a:r>
              <a:rPr sz="1000">
                <a:solidFill>
                  <a:srgbClr val="4F81BD"/>
                </a:solidFill>
                <a:latin typeface="Calibri"/>
              </a:rPr>
              <a:t>            if (anterior != null) {</a:t>
            </a:r>
          </a:p>
          <a:p>
            <a:pPr algn="l">
              <a:lnSpc>
                <a:spcPct val="100000"/>
              </a:lnSpc>
              <a:spcBef>
                <a:spcPts val="0"/>
              </a:spcBef>
              <a:spcAft>
                <a:spcPts val="0"/>
              </a:spcAft>
            </a:pPr>
            <a:r>
              <a:rPr sz="1000">
                <a:solidFill>
                  <a:srgbClr val="4F81BD"/>
                </a:solidFill>
                <a:latin typeface="Calibri"/>
              </a:rPr>
              <a:t>                anterior.invalidate(); // nueva sesion en cada login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req.getSession(true).setAttribute(Servicios.ATRIBUTO_TOKEN, r.getToken());</a:t>
            </a:r>
          </a:p>
          <a:p>
            <a:pPr algn="l">
              <a:lnSpc>
                <a:spcPct val="100000"/>
              </a:lnSpc>
              <a:spcBef>
                <a:spcPts val="0"/>
              </a:spcBef>
              <a:spcAft>
                <a:spcPts val="0"/>
              </a:spcAft>
            </a:pPr>
            <a:r>
              <a:rPr sz="1000">
                <a:solidFill>
                  <a:srgbClr val="4F81BD"/>
                </a:solidFill>
                <a:latin typeface="Calibri"/>
              </a:rPr>
              <a:t>            Json.escribir(resp, HttpServletResponse.SC_OK, Json.de(r));</a:t>
            </a:r>
          </a:p>
          <a:p>
            <a:pPr algn="l">
              <a:lnSpc>
                <a:spcPct val="100000"/>
              </a:lnSpc>
              <a:spcBef>
                <a:spcPts val="0"/>
              </a:spcBef>
              <a:spcAft>
                <a:spcPts val="0"/>
              </a:spcAft>
            </a:pPr>
            <a:r>
              <a:rPr sz="1000">
                <a:solidFill>
                  <a:srgbClr val="4F81BD"/>
                </a:solidFill>
                <a:latin typeface="Calibri"/>
              </a:rPr>
              <a:t>        } else {</a:t>
            </a:r>
          </a:p>
          <a:p>
            <a:pPr algn="l">
              <a:lnSpc>
                <a:spcPct val="100000"/>
              </a:lnSpc>
              <a:spcBef>
                <a:spcPts val="0"/>
              </a:spcBef>
              <a:spcAft>
                <a:spcPts val="0"/>
              </a:spcAft>
            </a:pPr>
            <a:r>
              <a:rPr sz="1000">
                <a:solidFill>
                  <a:srgbClr val="4F81BD"/>
                </a:solidFill>
                <a:latin typeface="Calibri"/>
              </a:rPr>
              <a:t>            int http = RespuestaServicio.COD_RED.equals(r.getCodigo())</a:t>
            </a:r>
          </a:p>
          <a:p>
            <a:pPr algn="l">
              <a:lnSpc>
                <a:spcPct val="100000"/>
              </a:lnSpc>
              <a:spcBef>
                <a:spcPts val="0"/>
              </a:spcBef>
              <a:spcAft>
                <a:spcPts val="0"/>
              </a:spcAft>
            </a:pPr>
            <a:r>
              <a:rPr sz="1000">
                <a:solidFill>
                  <a:srgbClr val="4F81BD"/>
                </a:solidFill>
                <a:latin typeface="Calibri"/>
              </a:rPr>
              <a:t>                    ? HttpServletResponse.SC_BAD_GATEWAY : HttpServletResponse.SC_UNAUTHORIZED;</a:t>
            </a:r>
          </a:p>
          <a:p>
            <a:pPr algn="l">
              <a:lnSpc>
                <a:spcPct val="100000"/>
              </a:lnSpc>
              <a:spcBef>
                <a:spcPts val="0"/>
              </a:spcBef>
              <a:spcAft>
                <a:spcPts val="0"/>
              </a:spcAft>
            </a:pPr>
            <a:r>
              <a:rPr sz="1000">
                <a:solidFill>
                  <a:srgbClr val="4F81BD"/>
                </a:solidFill>
                <a:latin typeface="Calibri"/>
              </a:rPr>
              <a:t>            Json.escribir(resp, http, Json.de(r));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ConvertirServlet</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de la conversión.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ec.edu.monster.clienteweb.controlador;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@WebServlet("/api/convertir")</a:t>
            </a:r>
          </a:p>
          <a:p>
            <a:pPr algn="l">
              <a:lnSpc>
                <a:spcPct val="100000"/>
              </a:lnSpc>
              <a:spcBef>
                <a:spcPts val="0"/>
              </a:spcBef>
              <a:spcAft>
                <a:spcPts val="0"/>
              </a:spcAft>
            </a:pPr>
            <a:r>
              <a:rPr sz="1000">
                <a:solidFill>
                  <a:srgbClr val="4F81BD"/>
                </a:solidFill>
                <a:latin typeface="Calibri"/>
              </a:rPr>
              <a:t>public class ConvertirServlet extends HttpServlet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protected void doPost(HttpServletRequest req, HttpServletResponse resp) throws IOException {</a:t>
            </a:r>
          </a:p>
          <a:p>
            <a:pPr algn="l">
              <a:lnSpc>
                <a:spcPct val="100000"/>
              </a:lnSpc>
              <a:spcBef>
                <a:spcPts val="0"/>
              </a:spcBef>
              <a:spcAft>
                <a:spcPts val="0"/>
              </a:spcAft>
            </a:pPr>
            <a:r>
              <a:rPr sz="1000">
                <a:solidFill>
                  <a:srgbClr val="4F81BD"/>
                </a:solidFill>
                <a:latin typeface="Calibri"/>
              </a:rPr>
              <a:t>        req.setCharacterEncoding("UTF-8");</a:t>
            </a:r>
          </a:p>
          <a:p>
            <a:pPr algn="l">
              <a:lnSpc>
                <a:spcPct val="100000"/>
              </a:lnSpc>
              <a:spcBef>
                <a:spcPts val="0"/>
              </a:spcBef>
              <a:spcAft>
                <a:spcPts val="0"/>
              </a:spcAft>
            </a:pPr>
            <a:r>
              <a:rPr sz="1000">
                <a:solidFill>
                  <a:srgbClr val="4F81BD"/>
                </a:solidFill>
                <a:latin typeface="Calibri"/>
              </a:rPr>
              <a:t>        String token = Servicios.exigirSesion(req, resp);</a:t>
            </a:r>
          </a:p>
          <a:p>
            <a:pPr algn="l">
              <a:lnSpc>
                <a:spcPct val="100000"/>
              </a:lnSpc>
              <a:spcBef>
                <a:spcPts val="0"/>
              </a:spcBef>
              <a:spcAft>
                <a:spcPts val="0"/>
              </a:spcAft>
            </a:pPr>
            <a:r>
              <a:rPr sz="1000">
                <a:solidFill>
                  <a:srgbClr val="4F81BD"/>
                </a:solidFill>
                <a:latin typeface="Calibri"/>
              </a:rPr>
              <a:t>        if (token == null) {</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double valor;</a:t>
            </a:r>
          </a:p>
          <a:p>
            <a:pPr algn="l">
              <a:lnSpc>
                <a:spcPct val="100000"/>
              </a:lnSpc>
              <a:spcBef>
                <a:spcPts val="0"/>
              </a:spcBef>
              <a:spcAft>
                <a:spcPts val="0"/>
              </a:spcAft>
            </a:pPr>
            <a:r>
              <a:rPr sz="1000">
                <a:solidFill>
                  <a:srgbClr val="4F81BD"/>
                </a:solidFill>
                <a:latin typeface="Calibri"/>
              </a:rPr>
              <a:t>        try {</a:t>
            </a:r>
          </a:p>
          <a:p>
            <a:pPr algn="l">
              <a:lnSpc>
                <a:spcPct val="100000"/>
              </a:lnSpc>
              <a:spcBef>
                <a:spcPts val="0"/>
              </a:spcBef>
              <a:spcAft>
                <a:spcPts val="0"/>
              </a:spcAft>
            </a:pPr>
            <a:r>
              <a:rPr sz="1000">
                <a:solidFill>
                  <a:srgbClr val="4F81BD"/>
                </a:solidFill>
                <a:latin typeface="Calibri"/>
              </a:rPr>
              <a:t>            String v = req.getParameter("valor");</a:t>
            </a:r>
          </a:p>
          <a:p>
            <a:pPr algn="l">
              <a:lnSpc>
                <a:spcPct val="100000"/>
              </a:lnSpc>
              <a:spcBef>
                <a:spcPts val="0"/>
              </a:spcBef>
              <a:spcAft>
                <a:spcPts val="0"/>
              </a:spcAft>
            </a:pPr>
            <a:r>
              <a:rPr sz="1000">
                <a:solidFill>
                  <a:srgbClr val="4F81BD"/>
                </a:solidFill>
                <a:latin typeface="Calibri"/>
              </a:rPr>
              <a:t>            valor = Double.parseDouble(v == null ? "" : v.trim().replace(',', '.'));</a:t>
            </a:r>
          </a:p>
          <a:p>
            <a:pPr algn="l">
              <a:lnSpc>
                <a:spcPct val="100000"/>
              </a:lnSpc>
              <a:spcBef>
                <a:spcPts val="0"/>
              </a:spcBef>
              <a:spcAft>
                <a:spcPts val="0"/>
              </a:spcAft>
            </a:pPr>
            <a:r>
              <a:rPr sz="1000">
                <a:solidFill>
                  <a:srgbClr val="4F81BD"/>
                </a:solidFill>
                <a:latin typeface="Calibri"/>
              </a:rPr>
              <a:t>            if (Double.isNaN(valor) || Double.isInfinite(valor)) {</a:t>
            </a:r>
          </a:p>
          <a:p>
            <a:pPr algn="l">
              <a:lnSpc>
                <a:spcPct val="100000"/>
              </a:lnSpc>
              <a:spcBef>
                <a:spcPts val="0"/>
              </a:spcBef>
              <a:spcAft>
                <a:spcPts val="0"/>
              </a:spcAft>
            </a:pPr>
            <a:r>
              <a:rPr sz="1000">
                <a:solidFill>
                  <a:srgbClr val="4F81BD"/>
                </a:solidFill>
                <a:latin typeface="Calibri"/>
              </a:rPr>
              <a:t>                throw new NumberFormatException();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 catch (NumberFormatException e) {</a:t>
            </a:r>
          </a:p>
          <a:p>
            <a:pPr algn="l">
              <a:lnSpc>
                <a:spcPct val="100000"/>
              </a:lnSpc>
              <a:spcBef>
                <a:spcPts val="0"/>
              </a:spcBef>
              <a:spcAft>
                <a:spcPts val="0"/>
              </a:spcAft>
            </a:pPr>
            <a:r>
              <a:rPr sz="1000">
                <a:solidFill>
                  <a:srgbClr val="4F81BD"/>
                </a:solidFill>
                <a:latin typeface="Calibri"/>
              </a:rPr>
              <a:t>            Servicios.responder(req, resp, RespuestaServicio.errorLocal("DATA-001", "El valor debe ser numérico"));</a:t>
            </a:r>
          </a:p>
          <a:p>
            <a:pPr algn="l">
              <a:lnSpc>
                <a:spcPct val="100000"/>
              </a:lnSpc>
              <a:spcBef>
                <a:spcPts val="0"/>
              </a:spcBef>
              <a:spcAft>
                <a:spcPts val="0"/>
              </a:spcAft>
            </a:pPr>
            <a:r>
              <a:rPr sz="1000">
                <a:solidFill>
                  <a:srgbClr val="4F81BD"/>
                </a:solidFill>
                <a:latin typeface="Calibri"/>
              </a:rPr>
              <a:t>            return;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RespuestaServicio r = Servicios.cliente(getServletContext()).convertir(</a:t>
            </a:r>
          </a:p>
          <a:p>
            <a:pPr algn="l">
              <a:lnSpc>
                <a:spcPct val="100000"/>
              </a:lnSpc>
              <a:spcBef>
                <a:spcPts val="0"/>
              </a:spcBef>
              <a:spcAft>
                <a:spcPts val="0"/>
              </a:spcAft>
            </a:pPr>
            <a:r>
              <a:rPr sz="1000">
                <a:solidFill>
                  <a:srgbClr val="4F81BD"/>
                </a:solidFill>
                <a:latin typeface="Calibri"/>
              </a:rPr>
              <a:t>                req.getParameter("categoria"), valor, req.getParameter("origen"), req.getParameter("destino"), token);</a:t>
            </a:r>
          </a:p>
          <a:p>
            <a:pPr algn="l">
              <a:lnSpc>
                <a:spcPct val="100000"/>
              </a:lnSpc>
              <a:spcBef>
                <a:spcPts val="0"/>
              </a:spcBef>
              <a:spcAft>
                <a:spcPts val="0"/>
              </a:spcAft>
            </a:pPr>
            <a:r>
              <a:rPr sz="1000">
                <a:solidFill>
                  <a:srgbClr val="4F81BD"/>
                </a:solidFill>
                <a:latin typeface="Calibri"/>
              </a:rPr>
              <a:t>        Servicios.responder(req, resp,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login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 name="Picture 123">
            <a:extLst>
              <a:ext uri="{FF2B5EF4-FFF2-40B4-BE49-F238E27FC236}">
                <a16:creationId xmlns:a16="http://schemas.microsoft.com/office/drawing/2014/main" id="{A203216C-058A-4EE0-8BF7-6051B5322F7E}"/>
              </a:ext>
            </a:extLst>
          </p:cNvPr>
          <p:cNvPicPr>
            <a:picLocks noChangeAspect="1"/>
          </p:cNvPicPr>
          <p:nvPr/>
        </p:nvPicPr>
        <p:blipFill>
          <a:blip r:embed="rId2"/>
          <a:stretch>
            <a:fillRect/>
          </a:stretch>
        </p:blipFill>
        <p:spPr>
          <a:xfrm>
            <a:off x="4182109" y="2861706"/>
            <a:ext cx="4620260" cy="259762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Conversor</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conversor_demo.png"/>
          <p:cNvPicPr>
            <a:picLocks noChangeAspect="1"/>
          </p:cNvPicPr>
          <p:nvPr/>
        </p:nvPicPr>
        <p:blipFill>
          <a:blip r:embed="rId2"/>
          <a:stretch>
            <a:fillRect/>
          </a:stretch>
        </p:blipFill>
        <p:spPr>
          <a:xfrm>
            <a:off x="4756023" y="1920240"/>
            <a:ext cx="3472434" cy="448056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785"/>
              <a:buChar char="∙"/>
            </a:pPr>
            <a:r>
              <a:rPr lang="es-ES" sz="1625" b="1">
                <a:latin typeface="Cambria"/>
                <a:ea typeface="Cambria"/>
                <a:cs typeface="Cambria"/>
                <a:sym typeface="Cambria"/>
              </a:rPr>
              <a:t>1.6 	CREACIÓN DEL PROYECTO – CLIENTE MÓVIL</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Para el cliente móvil se creó un proyecto Android nativo (Java) en Android Studio con Gradle.</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Estructura MVC: modelo (SoapClient, RespuestaServicio), controlador (ControladorConversiones, SesionApp) y vista (LoginActivity, ConversionActivity y layouts XML).</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124" name="Picture 123" descr="tree_movil.png"/>
          <p:cNvPicPr>
            <a:picLocks noChangeAspect="1"/>
          </p:cNvPicPr>
          <p:nvPr/>
        </p:nvPicPr>
        <p:blipFill>
          <a:blip r:embed="rId2"/>
          <a:stretch>
            <a:fillRect/>
          </a:stretch>
        </p:blipFill>
        <p:spPr>
          <a:xfrm>
            <a:off x="4023360" y="2147011"/>
            <a:ext cx="5120640" cy="393557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4576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ec.edu.monster.clientemovil.controlador;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ControladorConversiones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final SoapClient cliente;</a:t>
            </a:r>
          </a:p>
          <a:p>
            <a:pPr algn="l">
              <a:lnSpc>
                <a:spcPct val="100000"/>
              </a:lnSpc>
              <a:spcBef>
                <a:spcPts val="0"/>
              </a:spcBef>
              <a:spcAft>
                <a:spcPts val="0"/>
              </a:spcAft>
            </a:pPr>
            <a:r>
              <a:rPr sz="1000">
                <a:solidFill>
                  <a:srgbClr val="4F81BD"/>
                </a:solidFill>
                <a:latin typeface="Calibri"/>
              </a:rPr>
              <a:t>    private String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ControladorConversiones(SoapClient cliente) {</a:t>
            </a:r>
          </a:p>
          <a:p>
            <a:pPr algn="l">
              <a:lnSpc>
                <a:spcPct val="100000"/>
              </a:lnSpc>
              <a:spcBef>
                <a:spcPts val="0"/>
              </a:spcBef>
              <a:spcAft>
                <a:spcPts val="0"/>
              </a:spcAft>
            </a:pPr>
            <a:r>
              <a:rPr sz="1000">
                <a:solidFill>
                  <a:srgbClr val="4F81BD"/>
                </a:solidFill>
                <a:latin typeface="Calibri"/>
              </a:rPr>
              <a:t>        this.cliente = cliente;</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urlPorDefecto() {</a:t>
            </a:r>
          </a:p>
          <a:p>
            <a:pPr algn="l">
              <a:lnSpc>
                <a:spcPct val="100000"/>
              </a:lnSpc>
              <a:spcBef>
                <a:spcPts val="0"/>
              </a:spcBef>
              <a:spcAft>
                <a:spcPts val="0"/>
              </a:spcAft>
            </a:pPr>
            <a:r>
              <a:rPr sz="1000">
                <a:solidFill>
                  <a:srgbClr val="4F81BD"/>
                </a:solidFill>
                <a:latin typeface="Calibri"/>
              </a:rPr>
              <a:t>        return SoapClient.URL_POR_DEFECTO;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ControladorConversiones conectar(String url) {</a:t>
            </a:r>
          </a:p>
          <a:p>
            <a:pPr algn="l">
              <a:lnSpc>
                <a:spcPct val="100000"/>
              </a:lnSpc>
              <a:spcBef>
                <a:spcPts val="0"/>
              </a:spcBef>
              <a:spcAft>
                <a:spcPts val="0"/>
              </a:spcAft>
            </a:pPr>
            <a:r>
              <a:rPr sz="1000">
                <a:solidFill>
                  <a:srgbClr val="4F81BD"/>
                </a:solidFill>
                <a:latin typeface="Calibri"/>
              </a:rPr>
              <a:t>        return new ControladorConversiones(new SoapClient(url));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String getUrl() {</a:t>
            </a:r>
          </a:p>
          <a:p>
            <a:pPr algn="l">
              <a:lnSpc>
                <a:spcPct val="100000"/>
              </a:lnSpc>
              <a:spcBef>
                <a:spcPts val="0"/>
              </a:spcBef>
              <a:spcAft>
                <a:spcPts val="0"/>
              </a:spcAft>
            </a:pPr>
            <a:r>
              <a:rPr sz="1000">
                <a:solidFill>
                  <a:srgbClr val="4F81BD"/>
                </a:solidFill>
                <a:latin typeface="Calibri"/>
              </a:rPr>
              <a:t>        return cliente.getBaseUrl();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boolean haySesion() {</a:t>
            </a:r>
          </a:p>
          <a:p>
            <a:pPr algn="l">
              <a:lnSpc>
                <a:spcPct val="100000"/>
              </a:lnSpc>
              <a:spcBef>
                <a:spcPts val="0"/>
              </a:spcBef>
              <a:spcAft>
                <a:spcPts val="0"/>
              </a:spcAft>
            </a:pPr>
            <a:r>
              <a:rPr sz="1000">
                <a:solidFill>
                  <a:srgbClr val="4F81BD"/>
                </a:solidFill>
                <a:latin typeface="Calibri"/>
              </a:rPr>
              <a:t>        return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3683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public RespuestaServicio iniciarSesion(String usuario, String clave) {</a:t>
            </a:r>
          </a:p>
          <a:p>
            <a:pPr algn="l">
              <a:lnSpc>
                <a:spcPct val="100000"/>
              </a:lnSpc>
              <a:spcBef>
                <a:spcPts val="0"/>
              </a:spcBef>
              <a:spcAft>
                <a:spcPts val="0"/>
              </a:spcAft>
            </a:pPr>
            <a:r>
              <a:rPr sz="1000">
                <a:solidFill>
                  <a:srgbClr val="4F81BD"/>
                </a:solidFill>
                <a:latin typeface="Calibri"/>
              </a:rPr>
              <a:t>        RespuestaServicio r = cliente.login(usuario, clave);</a:t>
            </a:r>
          </a:p>
          <a:p>
            <a:pPr algn="l">
              <a:lnSpc>
                <a:spcPct val="100000"/>
              </a:lnSpc>
              <a:spcBef>
                <a:spcPts val="0"/>
              </a:spcBef>
              <a:spcAft>
                <a:spcPts val="0"/>
              </a:spcAft>
            </a:pPr>
            <a:r>
              <a:rPr sz="1000">
                <a:solidFill>
                  <a:srgbClr val="4F81BD"/>
                </a:solidFill>
                <a:latin typeface="Calibri"/>
              </a:rPr>
              <a:t>        token = (r.esExitosa() &amp;&amp; r.getToken() != null) ? r.getToken() : null;</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void cerrarSesion() {</a:t>
            </a:r>
          </a:p>
          <a:p>
            <a:pPr algn="l">
              <a:lnSpc>
                <a:spcPct val="100000"/>
              </a:lnSpc>
              <a:spcBef>
                <a:spcPts val="0"/>
              </a:spcBef>
              <a:spcAft>
                <a:spcPts val="0"/>
              </a:spcAft>
            </a:pPr>
            <a:r>
              <a:rPr sz="1000">
                <a:solidFill>
                  <a:srgbClr val="4F81BD"/>
                </a:solidFill>
                <a:latin typeface="Calibri"/>
              </a:rPr>
              <a:t>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categorias() {</a:t>
            </a:r>
          </a:p>
          <a:p>
            <a:pPr algn="l">
              <a:lnSpc>
                <a:spcPct val="100000"/>
              </a:lnSpc>
              <a:spcBef>
                <a:spcPts val="0"/>
              </a:spcBef>
              <a:spcAft>
                <a:spcPts val="0"/>
              </a:spcAft>
            </a:pPr>
            <a:r>
              <a:rPr sz="1000">
                <a:solidFill>
                  <a:srgbClr val="4F81BD"/>
                </a:solidFill>
                <a:latin typeface="Calibri"/>
              </a:rPr>
              <a:t>        return revisar(cliente.obtenerCategorias(token));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unidades(String categoria) {</a:t>
            </a:r>
          </a:p>
          <a:p>
            <a:pPr algn="l">
              <a:lnSpc>
                <a:spcPct val="100000"/>
              </a:lnSpc>
              <a:spcBef>
                <a:spcPts val="0"/>
              </a:spcBef>
              <a:spcAft>
                <a:spcPts val="0"/>
              </a:spcAft>
            </a:pPr>
            <a:r>
              <a:rPr sz="1000">
                <a:solidFill>
                  <a:srgbClr val="4F81BD"/>
                </a:solidFill>
                <a:latin typeface="Calibri"/>
              </a:rPr>
              <a:t>        return revisar(cliente.obtenerUnidades(token, categoria));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RespuestaServicio convertir(String categoria, double valor, String origen, String destino) {</a:t>
            </a:r>
          </a:p>
          <a:p>
            <a:pPr algn="l">
              <a:lnSpc>
                <a:spcPct val="100000"/>
              </a:lnSpc>
              <a:spcBef>
                <a:spcPts val="0"/>
              </a:spcBef>
              <a:spcAft>
                <a:spcPts val="0"/>
              </a:spcAft>
            </a:pPr>
            <a:r>
              <a:rPr sz="1000">
                <a:solidFill>
                  <a:srgbClr val="4F81BD"/>
                </a:solidFill>
                <a:latin typeface="Calibri"/>
              </a:rPr>
              <a:t>        return revisar(cliente.convertir(categoria, valor, origen, destino, token));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ControladorConversiones</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Controlador: guarda el token y llama al servicio.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3 de 3.</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213359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    private RespuestaServicio revisar(RespuestaServicio r) {</a:t>
            </a:r>
          </a:p>
          <a:p>
            <a:pPr algn="l">
              <a:lnSpc>
                <a:spcPct val="100000"/>
              </a:lnSpc>
              <a:spcBef>
                <a:spcPts val="0"/>
              </a:spcBef>
              <a:spcAft>
                <a:spcPts val="0"/>
              </a:spcAft>
            </a:pPr>
            <a:r>
              <a:rPr sz="1000">
                <a:solidFill>
                  <a:srgbClr val="4F81BD"/>
                </a:solidFill>
                <a:latin typeface="Calibri"/>
              </a:rPr>
              <a:t>        if (r.requiereNuevoLogin()) {</a:t>
            </a:r>
          </a:p>
          <a:p>
            <a:pPr algn="l">
              <a:lnSpc>
                <a:spcPct val="100000"/>
              </a:lnSpc>
              <a:spcBef>
                <a:spcPts val="0"/>
              </a:spcBef>
              <a:spcAft>
                <a:spcPts val="0"/>
              </a:spcAft>
            </a:pPr>
            <a:r>
              <a:rPr sz="1000">
                <a:solidFill>
                  <a:srgbClr val="4F81BD"/>
                </a:solidFill>
                <a:latin typeface="Calibri"/>
              </a:rPr>
              <a:t>            token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return 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String formatear(double valor) {</a:t>
            </a:r>
          </a:p>
          <a:p>
            <a:pPr algn="l">
              <a:lnSpc>
                <a:spcPct val="100000"/>
              </a:lnSpc>
              <a:spcBef>
                <a:spcPts val="0"/>
              </a:spcBef>
              <a:spcAft>
                <a:spcPts val="0"/>
              </a:spcAft>
            </a:pPr>
            <a:r>
              <a:rPr sz="1000">
                <a:solidFill>
                  <a:srgbClr val="4F81BD"/>
                </a:solidFill>
                <a:latin typeface="Calibri"/>
              </a:rPr>
              <a:t>        BigDecimal b = BigDecimal.valueOf(valor).setScale(10, RoundingMode.HALF_UP).stripTrailingZeros();</a:t>
            </a:r>
          </a:p>
          <a:p>
            <a:pPr algn="l">
              <a:lnSpc>
                <a:spcPct val="100000"/>
              </a:lnSpc>
              <a:spcBef>
                <a:spcPts val="0"/>
              </a:spcBef>
              <a:spcAft>
                <a:spcPts val="0"/>
              </a:spcAft>
            </a:pPr>
            <a:r>
              <a:rPr sz="1000">
                <a:solidFill>
                  <a:srgbClr val="4F81BD"/>
                </a:solidFill>
                <a:latin typeface="Calibri"/>
              </a:rPr>
              <a:t>        return b.scale() &lt; 0 ? b.setScale(0).toPlainString() : b.toPlainString();</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SesionApp</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Guarda en memoria el controlador para compartirlo entre pantallas.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5720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ec.edu.monster.clientemovil.controlador;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final class SesionApp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ControladorConversiones 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SesionApp()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synchronized ControladorConversiones iniciar(String url) {</a:t>
            </a:r>
          </a:p>
          <a:p>
            <a:pPr algn="l">
              <a:lnSpc>
                <a:spcPct val="100000"/>
              </a:lnSpc>
              <a:spcBef>
                <a:spcPts val="0"/>
              </a:spcBef>
              <a:spcAft>
                <a:spcPts val="0"/>
              </a:spcAft>
            </a:pPr>
            <a:r>
              <a:rPr sz="1000">
                <a:solidFill>
                  <a:srgbClr val="4F81BD"/>
                </a:solidFill>
                <a:latin typeface="Calibri"/>
              </a:rPr>
              <a:t>        controlador = ControladorConversiones.conectar(url);</a:t>
            </a:r>
          </a:p>
          <a:p>
            <a:pPr algn="l">
              <a:lnSpc>
                <a:spcPct val="100000"/>
              </a:lnSpc>
              <a:spcBef>
                <a:spcPts val="0"/>
              </a:spcBef>
              <a:spcAft>
                <a:spcPts val="0"/>
              </a:spcAft>
            </a:pPr>
            <a:r>
              <a:rPr sz="1000">
                <a:solidFill>
                  <a:srgbClr val="4F81BD"/>
                </a:solidFill>
                <a:latin typeface="Calibri"/>
              </a:rPr>
              <a:t>        return 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synchronized ControladorConversiones actual() {</a:t>
            </a:r>
          </a:p>
          <a:p>
            <a:pPr algn="l">
              <a:lnSpc>
                <a:spcPct val="100000"/>
              </a:lnSpc>
              <a:spcBef>
                <a:spcPts val="0"/>
              </a:spcBef>
              <a:spcAft>
                <a:spcPts val="0"/>
              </a:spcAft>
            </a:pPr>
            <a:r>
              <a:rPr sz="1000">
                <a:solidFill>
                  <a:srgbClr val="4F81BD"/>
                </a:solidFill>
                <a:latin typeface="Calibri"/>
              </a:rPr>
              <a:t>        return controlador;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synchronized boolean haySesion() {</a:t>
            </a:r>
          </a:p>
          <a:p>
            <a:pPr algn="l">
              <a:lnSpc>
                <a:spcPct val="100000"/>
              </a:lnSpc>
              <a:spcBef>
                <a:spcPts val="0"/>
              </a:spcBef>
              <a:spcAft>
                <a:spcPts val="0"/>
              </a:spcAft>
            </a:pPr>
            <a:r>
              <a:rPr sz="1000">
                <a:solidFill>
                  <a:srgbClr val="4F81BD"/>
                </a:solidFill>
                <a:latin typeface="Calibri"/>
              </a:rPr>
              <a:t>        return controlador != null &amp;&amp; controlador.haySesion();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public static synchronized void cerrar() {</a:t>
            </a:r>
          </a:p>
          <a:p>
            <a:pPr algn="l">
              <a:lnSpc>
                <a:spcPct val="100000"/>
              </a:lnSpc>
              <a:spcBef>
                <a:spcPts val="0"/>
              </a:spcBef>
              <a:spcAft>
                <a:spcPts val="0"/>
              </a:spcAft>
            </a:pPr>
            <a:r>
              <a:rPr sz="1000">
                <a:solidFill>
                  <a:srgbClr val="4F81BD"/>
                </a:solidFill>
                <a:latin typeface="Calibri"/>
              </a:rPr>
              <a:t>        if (controlador != null) {</a:t>
            </a:r>
          </a:p>
          <a:p>
            <a:pPr algn="l">
              <a:lnSpc>
                <a:spcPct val="100000"/>
              </a:lnSpc>
              <a:spcBef>
                <a:spcPts val="0"/>
              </a:spcBef>
              <a:spcAft>
                <a:spcPts val="0"/>
              </a:spcAft>
            </a:pPr>
            <a:r>
              <a:rPr sz="1000">
                <a:solidFill>
                  <a:srgbClr val="4F81BD"/>
                </a:solidFill>
                <a:latin typeface="Calibri"/>
              </a:rPr>
              <a:t>            controlador.cerrarSesion();</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controlador = null;</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LoginActivity</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inicio de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1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302759"/>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1000">
                <a:solidFill>
                  <a:srgbClr val="4F81BD"/>
                </a:solidFill>
                <a:latin typeface="Calibri"/>
              </a:rPr>
              <a:t>package ec.edu.monster.clientemovil.vista;</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public class LoginActivity extends Activity {</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static final String PREFS = "conuni";</a:t>
            </a:r>
          </a:p>
          <a:p>
            <a:pPr algn="l">
              <a:lnSpc>
                <a:spcPct val="100000"/>
              </a:lnSpc>
              <a:spcBef>
                <a:spcPts val="0"/>
              </a:spcBef>
              <a:spcAft>
                <a:spcPts val="0"/>
              </a:spcAft>
            </a:pPr>
            <a:r>
              <a:rPr sz="1000">
                <a:solidFill>
                  <a:srgbClr val="4F81BD"/>
                </a:solidFill>
                <a:latin typeface="Calibri"/>
              </a:rPr>
              <a:t>    private static final String CLAVE_SERVIDOR = "servidor";</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private EditText txtServidor;</a:t>
            </a:r>
          </a:p>
          <a:p>
            <a:pPr algn="l">
              <a:lnSpc>
                <a:spcPct val="100000"/>
              </a:lnSpc>
              <a:spcBef>
                <a:spcPts val="0"/>
              </a:spcBef>
              <a:spcAft>
                <a:spcPts val="0"/>
              </a:spcAft>
            </a:pPr>
            <a:r>
              <a:rPr sz="1000">
                <a:solidFill>
                  <a:srgbClr val="4F81BD"/>
                </a:solidFill>
                <a:latin typeface="Calibri"/>
              </a:rPr>
              <a:t>    private EditText txtUsuario;</a:t>
            </a:r>
          </a:p>
          <a:p>
            <a:pPr algn="l">
              <a:lnSpc>
                <a:spcPct val="100000"/>
              </a:lnSpc>
              <a:spcBef>
                <a:spcPts val="0"/>
              </a:spcBef>
              <a:spcAft>
                <a:spcPts val="0"/>
              </a:spcAft>
            </a:pPr>
            <a:r>
              <a:rPr sz="1000">
                <a:solidFill>
                  <a:srgbClr val="4F81BD"/>
                </a:solidFill>
                <a:latin typeface="Calibri"/>
              </a:rPr>
              <a:t>    private EditText txtClave;</a:t>
            </a:r>
          </a:p>
          <a:p>
            <a:pPr algn="l">
              <a:lnSpc>
                <a:spcPct val="100000"/>
              </a:lnSpc>
              <a:spcBef>
                <a:spcPts val="0"/>
              </a:spcBef>
              <a:spcAft>
                <a:spcPts val="0"/>
              </a:spcAft>
            </a:pPr>
            <a:r>
              <a:rPr sz="1000">
                <a:solidFill>
                  <a:srgbClr val="4F81BD"/>
                </a:solidFill>
                <a:latin typeface="Calibri"/>
              </a:rPr>
              <a:t>    private Button btnIngresar;</a:t>
            </a:r>
          </a:p>
          <a:p>
            <a:pPr algn="l">
              <a:lnSpc>
                <a:spcPct val="100000"/>
              </a:lnSpc>
              <a:spcBef>
                <a:spcPts val="0"/>
              </a:spcBef>
              <a:spcAft>
                <a:spcPts val="0"/>
              </a:spcAft>
            </a:pPr>
            <a:r>
              <a:rPr sz="1000">
                <a:solidFill>
                  <a:srgbClr val="4F81BD"/>
                </a:solidFill>
                <a:latin typeface="Calibri"/>
              </a:rPr>
              <a:t>    private TextView lblEstado;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@Override</a:t>
            </a:r>
          </a:p>
          <a:p>
            <a:pPr algn="l">
              <a:lnSpc>
                <a:spcPct val="100000"/>
              </a:lnSpc>
              <a:spcBef>
                <a:spcPts val="0"/>
              </a:spcBef>
              <a:spcAft>
                <a:spcPts val="0"/>
              </a:spcAft>
            </a:pPr>
            <a:r>
              <a:rPr sz="1000">
                <a:solidFill>
                  <a:srgbClr val="4F81BD"/>
                </a:solidFill>
                <a:latin typeface="Calibri"/>
              </a:rPr>
              <a:t>    protected void onCreate(Bundle savedInstanceState) {</a:t>
            </a:r>
          </a:p>
          <a:p>
            <a:pPr algn="l">
              <a:lnSpc>
                <a:spcPct val="100000"/>
              </a:lnSpc>
              <a:spcBef>
                <a:spcPts val="0"/>
              </a:spcBef>
              <a:spcAft>
                <a:spcPts val="0"/>
              </a:spcAft>
            </a:pPr>
            <a:r>
              <a:rPr sz="1000">
                <a:solidFill>
                  <a:srgbClr val="4F81BD"/>
                </a:solidFill>
                <a:latin typeface="Calibri"/>
              </a:rPr>
              <a:t>        super.onCreate(savedInstanceState);</a:t>
            </a:r>
          </a:p>
          <a:p>
            <a:pPr algn="l">
              <a:lnSpc>
                <a:spcPct val="100000"/>
              </a:lnSpc>
              <a:spcBef>
                <a:spcPts val="0"/>
              </a:spcBef>
              <a:spcAft>
                <a:spcPts val="0"/>
              </a:spcAft>
            </a:pPr>
            <a:r>
              <a:rPr sz="1000">
                <a:solidFill>
                  <a:srgbClr val="4F81BD"/>
                </a:solidFill>
                <a:latin typeface="Calibri"/>
              </a:rPr>
              <a:t>        setContentView(R.layout.activity_login);</a:t>
            </a:r>
          </a:p>
          <a:p>
            <a:pPr algn="l">
              <a:lnSpc>
                <a:spcPct val="100000"/>
              </a:lnSpc>
              <a:spcBef>
                <a:spcPts val="0"/>
              </a:spcBef>
              <a:spcAft>
                <a:spcPts val="0"/>
              </a:spcAft>
            </a:pPr>
            <a:r>
              <a:rPr sz="1000">
                <a:solidFill>
                  <a:srgbClr val="4F81BD"/>
                </a:solidFill>
                <a:latin typeface="Calibri"/>
              </a:rPr>
              <a:t>        txtServidor = findViewById(R.id.txtServidor);</a:t>
            </a:r>
          </a:p>
          <a:p>
            <a:pPr algn="l">
              <a:lnSpc>
                <a:spcPct val="100000"/>
              </a:lnSpc>
              <a:spcBef>
                <a:spcPts val="0"/>
              </a:spcBef>
              <a:spcAft>
                <a:spcPts val="0"/>
              </a:spcAft>
            </a:pPr>
            <a:r>
              <a:rPr sz="1000">
                <a:solidFill>
                  <a:srgbClr val="4F81BD"/>
                </a:solidFill>
                <a:latin typeface="Calibri"/>
              </a:rPr>
              <a:t>        txtUsuario = findViewById(R.id.txtUsuario);</a:t>
            </a:r>
          </a:p>
          <a:p>
            <a:pPr algn="l">
              <a:lnSpc>
                <a:spcPct val="100000"/>
              </a:lnSpc>
              <a:spcBef>
                <a:spcPts val="0"/>
              </a:spcBef>
              <a:spcAft>
                <a:spcPts val="0"/>
              </a:spcAft>
            </a:pPr>
            <a:r>
              <a:rPr sz="1000">
                <a:solidFill>
                  <a:srgbClr val="4F81BD"/>
                </a:solidFill>
                <a:latin typeface="Calibri"/>
              </a:rPr>
              <a:t>        txtClave = findViewById(R.id.txtClave);</a:t>
            </a:r>
          </a:p>
          <a:p>
            <a:pPr algn="l">
              <a:lnSpc>
                <a:spcPct val="100000"/>
              </a:lnSpc>
              <a:spcBef>
                <a:spcPts val="0"/>
              </a:spcBef>
              <a:spcAft>
                <a:spcPts val="0"/>
              </a:spcAft>
            </a:pPr>
            <a:r>
              <a:rPr sz="1000">
                <a:solidFill>
                  <a:srgbClr val="4F81BD"/>
                </a:solidFill>
                <a:latin typeface="Calibri"/>
              </a:rPr>
              <a:t>        btnIngresar = findViewById(R.id.btnIngresar);</a:t>
            </a:r>
          </a:p>
          <a:p>
            <a:pPr algn="l">
              <a:lnSpc>
                <a:spcPct val="100000"/>
              </a:lnSpc>
              <a:spcBef>
                <a:spcPts val="0"/>
              </a:spcBef>
              <a:spcAft>
                <a:spcPts val="0"/>
              </a:spcAft>
            </a:pPr>
            <a:r>
              <a:rPr sz="1000">
                <a:solidFill>
                  <a:srgbClr val="4F81BD"/>
                </a:solidFill>
                <a:latin typeface="Calibri"/>
              </a:rPr>
              <a:t>        lblEstado = findViewById(R.id.lblEstado);</a:t>
            </a:r>
          </a:p>
          <a:p>
            <a:pPr algn="l">
              <a:lnSpc>
                <a:spcPct val="100000"/>
              </a:lnSpc>
              <a:spcBef>
                <a:spcPts val="0"/>
              </a:spcBef>
              <a:spcAft>
                <a:spcPts val="0"/>
              </a:spcAft>
            </a:pPr>
            <a:r>
              <a:rPr sz="1000">
                <a:solidFill>
                  <a:srgbClr val="4F81BD"/>
                </a:solidFill>
                <a:latin typeface="Calibri"/>
              </a:rPr>
              <a:t> </a:t>
            </a:r>
          </a:p>
          <a:p>
            <a:pPr algn="l">
              <a:lnSpc>
                <a:spcPct val="100000"/>
              </a:lnSpc>
              <a:spcBef>
                <a:spcPts val="0"/>
              </a:spcBef>
              <a:spcAft>
                <a:spcPts val="0"/>
              </a:spcAft>
            </a:pPr>
            <a:r>
              <a:rPr sz="1000">
                <a:solidFill>
                  <a:srgbClr val="4F81BD"/>
                </a:solidFill>
                <a:latin typeface="Calibri"/>
              </a:rPr>
              <a:t>        SharedPreferences prefs = getSharedPreferences(PREFS, Context.MODE_PRIVATE);</a:t>
            </a:r>
          </a:p>
          <a:p>
            <a:pPr algn="l">
              <a:lnSpc>
                <a:spcPct val="100000"/>
              </a:lnSpc>
              <a:spcBef>
                <a:spcPts val="0"/>
              </a:spcBef>
              <a:spcAft>
                <a:spcPts val="0"/>
              </a:spcAft>
            </a:pPr>
            <a:r>
              <a:rPr sz="1000">
                <a:solidFill>
                  <a:srgbClr val="4F81BD"/>
                </a:solidFill>
                <a:latin typeface="Calibri"/>
              </a:rPr>
              <a:t>        txtServidor.setText(prefs.getString(CLAVE_SERVIDOR, ControladorConversiones.urlPorDefecto()));</a:t>
            </a:r>
          </a:p>
          <a:p>
            <a:pPr algn="l">
              <a:lnSpc>
                <a:spcPct val="100000"/>
              </a:lnSpc>
              <a:spcBef>
                <a:spcPts val="0"/>
              </a:spcBef>
              <a:spcAft>
                <a:spcPts val="0"/>
              </a:spcAft>
            </a:pPr>
            <a:r>
              <a:rPr sz="1000">
                <a:solidFill>
                  <a:srgbClr val="4F81BD"/>
                </a:solidFill>
                <a:latin typeface="Calibri"/>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251460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LoginActivity</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Vista de inicio de sesión (CU-01).</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sz="1200">
                <a:latin typeface="Cambria"/>
                <a:ea typeface="Cambria"/>
                <a:cs typeface="Cambria"/>
                <a:sym typeface="Cambria"/>
              </a:rPr>
              <a:t>Fragmento 2 de 2.</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3108960" y="1874519"/>
            <a:ext cx="6126480" cy="4457700"/>
          </a:xfrm>
          <a:prstGeom prst="rect">
            <a:avLst/>
          </a:prstGeom>
          <a:solidFill>
            <a:srgbClr val="FFFFFF"/>
          </a:solidFill>
          <a:ln w="12700">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t"/>
          <a:lstStyle/>
          <a:p>
            <a:pPr algn="l">
              <a:lnSpc>
                <a:spcPct val="100000"/>
              </a:lnSpc>
              <a:spcBef>
                <a:spcPts val="0"/>
              </a:spcBef>
              <a:spcAft>
                <a:spcPts val="0"/>
              </a:spcAft>
            </a:pPr>
            <a:r>
              <a:rPr sz="900">
                <a:solidFill>
                  <a:srgbClr val="4F81BD"/>
                </a:solidFill>
                <a:latin typeface="Calibri"/>
              </a:rPr>
              <a:t>        btnIngresar.setOnClickListener(v -&gt; ingresar());</a:t>
            </a:r>
          </a:p>
          <a:p>
            <a:pPr algn="l">
              <a:lnSpc>
                <a:spcPct val="100000"/>
              </a:lnSpc>
              <a:spcBef>
                <a:spcPts val="0"/>
              </a:spcBef>
              <a:spcAft>
                <a:spcPts val="0"/>
              </a:spcAft>
            </a:pPr>
            <a:r>
              <a:rPr sz="900">
                <a:solidFill>
                  <a:srgbClr val="4F81BD"/>
                </a:solidFill>
                <a:latin typeface="Calibri"/>
              </a:rPr>
              <a:t>        txtClave.setOnEditorActionListener((v, accion, ev) -&gt; {</a:t>
            </a:r>
          </a:p>
          <a:p>
            <a:pPr algn="l">
              <a:lnSpc>
                <a:spcPct val="100000"/>
              </a:lnSpc>
              <a:spcBef>
                <a:spcPts val="0"/>
              </a:spcBef>
              <a:spcAft>
                <a:spcPts val="0"/>
              </a:spcAft>
            </a:pPr>
            <a:r>
              <a:rPr sz="900">
                <a:solidFill>
                  <a:srgbClr val="4F81BD"/>
                </a:solidFill>
                <a:latin typeface="Calibri"/>
              </a:rPr>
              <a:t>            if (accion == EditorInfo.IME_ACTION_DONE || accion == EditorInfo.IME_ACTION_GO) {</a:t>
            </a:r>
          </a:p>
          <a:p>
            <a:pPr algn="l">
              <a:lnSpc>
                <a:spcPct val="100000"/>
              </a:lnSpc>
              <a:spcBef>
                <a:spcPts val="0"/>
              </a:spcBef>
              <a:spcAft>
                <a:spcPts val="0"/>
              </a:spcAft>
            </a:pPr>
            <a:r>
              <a:rPr sz="900">
                <a:solidFill>
                  <a:srgbClr val="4F81BD"/>
                </a:solidFill>
                <a:latin typeface="Calibri"/>
              </a:rPr>
              <a:t>                ingresar();</a:t>
            </a:r>
          </a:p>
          <a:p>
            <a:pPr algn="l">
              <a:lnSpc>
                <a:spcPct val="100000"/>
              </a:lnSpc>
              <a:spcBef>
                <a:spcPts val="0"/>
              </a:spcBef>
              <a:spcAft>
                <a:spcPts val="0"/>
              </a:spcAft>
            </a:pPr>
            <a:r>
              <a:rPr sz="900">
                <a:solidFill>
                  <a:srgbClr val="4F81BD"/>
                </a:solidFill>
                <a:latin typeface="Calibri"/>
              </a:rPr>
              <a:t>                return true;</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return false;</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@Override</a:t>
            </a:r>
          </a:p>
          <a:p>
            <a:pPr algn="l">
              <a:lnSpc>
                <a:spcPct val="100000"/>
              </a:lnSpc>
              <a:spcBef>
                <a:spcPts val="0"/>
              </a:spcBef>
              <a:spcAft>
                <a:spcPts val="0"/>
              </a:spcAft>
            </a:pPr>
            <a:r>
              <a:rPr sz="900">
                <a:solidFill>
                  <a:srgbClr val="4F81BD"/>
                </a:solidFill>
                <a:latin typeface="Calibri"/>
              </a:rPr>
              <a:t>    protected void onStart() {</a:t>
            </a:r>
          </a:p>
          <a:p>
            <a:pPr algn="l">
              <a:lnSpc>
                <a:spcPct val="100000"/>
              </a:lnSpc>
              <a:spcBef>
                <a:spcPts val="0"/>
              </a:spcBef>
              <a:spcAft>
                <a:spcPts val="0"/>
              </a:spcAft>
            </a:pPr>
            <a:r>
              <a:rPr sz="900">
                <a:solidFill>
                  <a:srgbClr val="4F81BD"/>
                </a:solidFill>
                <a:latin typeface="Calibri"/>
              </a:rPr>
              <a:t>        super.onStart();</a:t>
            </a:r>
          </a:p>
          <a:p>
            <a:pPr algn="l">
              <a:lnSpc>
                <a:spcPct val="100000"/>
              </a:lnSpc>
              <a:spcBef>
                <a:spcPts val="0"/>
              </a:spcBef>
              <a:spcAft>
                <a:spcPts val="0"/>
              </a:spcAft>
            </a:pPr>
            <a:r>
              <a:rPr sz="900">
                <a:solidFill>
                  <a:srgbClr val="4F81BD"/>
                </a:solidFill>
                <a:latin typeface="Calibri"/>
              </a:rPr>
              <a:t>        if (SesionApp.haySesion()) {</a:t>
            </a:r>
          </a:p>
          <a:p>
            <a:pPr algn="l">
              <a:lnSpc>
                <a:spcPct val="100000"/>
              </a:lnSpc>
              <a:spcBef>
                <a:spcPts val="0"/>
              </a:spcBef>
              <a:spcAft>
                <a:spcPts val="0"/>
              </a:spcAft>
            </a:pPr>
            <a:r>
              <a:rPr sz="900">
                <a:solidFill>
                  <a:srgbClr val="4F81BD"/>
                </a:solidFill>
                <a:latin typeface="Calibri"/>
              </a:rPr>
              <a:t>            irAConversion();</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private void mostrar(String texto, int color) {</a:t>
            </a:r>
          </a:p>
          <a:p>
            <a:pPr algn="l">
              <a:lnSpc>
                <a:spcPct val="100000"/>
              </a:lnSpc>
              <a:spcBef>
                <a:spcPts val="0"/>
              </a:spcBef>
              <a:spcAft>
                <a:spcPts val="0"/>
              </a:spcAft>
            </a:pPr>
            <a:r>
              <a:rPr sz="900">
                <a:solidFill>
                  <a:srgbClr val="4F81BD"/>
                </a:solidFill>
                <a:latin typeface="Calibri"/>
              </a:rPr>
              <a:t>        lblEstado.setTextColor(color);</a:t>
            </a:r>
          </a:p>
          <a:p>
            <a:pPr algn="l">
              <a:lnSpc>
                <a:spcPct val="100000"/>
              </a:lnSpc>
              <a:spcBef>
                <a:spcPts val="0"/>
              </a:spcBef>
              <a:spcAft>
                <a:spcPts val="0"/>
              </a:spcAft>
            </a:pPr>
            <a:r>
              <a:rPr sz="900">
                <a:solidFill>
                  <a:srgbClr val="4F81BD"/>
                </a:solidFill>
                <a:latin typeface="Calibri"/>
              </a:rPr>
              <a:t>        lblEstado.setText(texto);</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a:t>
            </a:r>
          </a:p>
          <a:p>
            <a:pPr algn="l">
              <a:lnSpc>
                <a:spcPct val="100000"/>
              </a:lnSpc>
              <a:spcBef>
                <a:spcPts val="0"/>
              </a:spcBef>
              <a:spcAft>
                <a:spcPts val="0"/>
              </a:spcAft>
            </a:pPr>
            <a:r>
              <a:rPr sz="900">
                <a:solidFill>
                  <a:srgbClr val="4F81BD"/>
                </a:solidFill>
                <a:latin typeface="Calibri"/>
              </a:rPr>
              <a:t>    private void ingresar() {</a:t>
            </a:r>
          </a:p>
          <a:p>
            <a:pPr algn="l">
              <a:lnSpc>
                <a:spcPct val="100000"/>
              </a:lnSpc>
              <a:spcBef>
                <a:spcPts val="0"/>
              </a:spcBef>
              <a:spcAft>
                <a:spcPts val="0"/>
              </a:spcAft>
            </a:pPr>
            <a:r>
              <a:rPr sz="900">
                <a:solidFill>
                  <a:srgbClr val="4F81BD"/>
                </a:solidFill>
                <a:latin typeface="Calibri"/>
              </a:rPr>
              <a:t>        final String url = txtServidor.getText().toString();</a:t>
            </a:r>
          </a:p>
          <a:p>
            <a:pPr algn="l">
              <a:lnSpc>
                <a:spcPct val="100000"/>
              </a:lnSpc>
              <a:spcBef>
                <a:spcPts val="0"/>
              </a:spcBef>
              <a:spcAft>
                <a:spcPts val="0"/>
              </a:spcAft>
            </a:pPr>
            <a:r>
              <a:rPr sz="900">
                <a:solidFill>
                  <a:srgbClr val="4F81BD"/>
                </a:solidFill>
                <a:latin typeface="Calibri"/>
              </a:rPr>
              <a:t>        final String usuario = txtUsuario.getText().toString();</a:t>
            </a:r>
          </a:p>
          <a:p>
            <a:pPr algn="l">
              <a:lnSpc>
                <a:spcPct val="100000"/>
              </a:lnSpc>
              <a:spcBef>
                <a:spcPts val="0"/>
              </a:spcBef>
              <a:spcAft>
                <a:spcPts val="0"/>
              </a:spcAft>
            </a:pPr>
            <a:r>
              <a:rPr sz="900">
                <a:solidFill>
                  <a:srgbClr val="4F81BD"/>
                </a:solidFill>
                <a:latin typeface="Calibri"/>
              </a:rPr>
              <a:t>        final String clave = txtClave.getText().toString();</a:t>
            </a:r>
          </a:p>
          <a:p>
            <a:pPr algn="l">
              <a:lnSpc>
                <a:spcPct val="100000"/>
              </a:lnSpc>
              <a:spcBef>
                <a:spcPts val="0"/>
              </a:spcBef>
              <a:spcAft>
                <a:spcPts val="0"/>
              </a:spcAft>
            </a:pPr>
            <a:r>
              <a:rPr sz="900">
                <a:solidFill>
                  <a:srgbClr val="4F81BD"/>
                </a:solidFill>
                <a:latin typeface="Calibri"/>
              </a:rPr>
              <a:t>        btnIngresar.setEnabled(false);</a:t>
            </a:r>
          </a:p>
          <a:p>
            <a:pPr algn="l">
              <a:lnSpc>
                <a:spcPct val="100000"/>
              </a:lnSpc>
              <a:spcBef>
                <a:spcPts val="0"/>
              </a:spcBef>
              <a:spcAft>
                <a:spcPts val="0"/>
              </a:spcAft>
            </a:pPr>
            <a:r>
              <a:rPr sz="900">
                <a:solidFill>
                  <a:srgbClr val="4F81BD"/>
                </a:solidFill>
                <a:latin typeface="Calibri"/>
              </a:rPr>
              <a:t>        mostrar("Conectando...", getResources().getColor(R.color.azul, getTheme()));</a:t>
            </a:r>
          </a:p>
          <a:p>
            <a:pPr algn="l">
              <a:lnSpc>
                <a:spcPct val="100000"/>
              </a:lnSpc>
              <a:spcBef>
                <a:spcPts val="0"/>
              </a:spcBef>
              <a:spcAft>
                <a:spcPts val="0"/>
              </a:spcAft>
            </a:pPr>
            <a:r>
              <a:rPr sz="900">
                <a:solidFill>
                  <a:srgbClr val="4F81BD"/>
                </a:solidFill>
                <a:latin typeface="Calibri"/>
              </a:rPr>
              <a:t>        new Thread(() -&gt;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login</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4937760" y="2103120"/>
            <a:ext cx="3108960" cy="4114800"/>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Emulador o celular: pantalla de inicio de sesión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457200" y="1920240"/>
            <a:ext cx="3383280" cy="448056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7000"/>
              </a:lnSpc>
              <a:spcBef>
                <a:spcPts val="0"/>
              </a:spcBef>
              <a:spcAft>
                <a:spcPts val="0"/>
              </a:spcAft>
              <a:buSzPts val="1656"/>
              <a:buFont typeface="Noto Sans Symbols"/>
              <a:buChar char="∙"/>
            </a:pPr>
            <a:r>
              <a:rPr lang="es-ES" sz="1300">
                <a:latin typeface="Cambria"/>
                <a:ea typeface="Cambria"/>
                <a:cs typeface="Cambria"/>
                <a:sym typeface="Cambria"/>
              </a:rPr>
              <a:t>Vista Conversor de unidades</a:t>
            </a:r>
            <a:endParaRPr>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FF"/>
                </a:solidFill>
                <a:latin typeface="Gill Sans"/>
                <a:ea typeface="Gill Sans"/>
                <a:cs typeface="Gill Sans"/>
                <a:sym typeface="Gill Sans"/>
              </a:rPr>
              <a:t>CREACIÓN DEL SERVIDOR SOAP</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124" name="Rectangle 123"/>
          <p:cNvSpPr/>
          <p:nvPr/>
        </p:nvSpPr>
        <p:spPr>
          <a:xfrm>
            <a:off x="4937760" y="2103120"/>
            <a:ext cx="3108960" cy="4114800"/>
          </a:xfrm>
          <a:prstGeom prst="rect">
            <a:avLst/>
          </a:prstGeom>
          <a:solidFill>
            <a:srgbClr val="F2F6FC"/>
          </a:solidFill>
          <a:ln w="1587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F3864"/>
                </a:solidFill>
                <a:latin typeface="Calibri"/>
              </a:rPr>
              <a:t>[ Insertar captura ]</a:t>
            </a:r>
          </a:p>
          <a:p>
            <a:pPr algn="ctr"/>
            <a:r>
              <a:rPr sz="1200">
                <a:solidFill>
                  <a:srgbClr val="4F81BD"/>
                </a:solidFill>
                <a:latin typeface="Calibri"/>
              </a:rPr>
              <a:t>Emulador o celular: pantalla de conversión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un servidor SOAP desarrollado en Java y alojado en Payara Server con cuatro clientes (consola, escritorio, web y móvil Android) que consumen el mismo contrato WSDL. La seguridad se resolvió con tokens de vigencia limitada, validados en cada operación, y la respuesta estructurada con códigos de error permitió que todos los clientes traten los fallos de forma uniforme, aplicando el patrón MVC en cada uno de ellos.</a:t>
            </a:r>
            <a:endParaRPr sz="190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en memoria y permitir el almacenamiento histórico de las conversiones de manera persistente y escalable.</a:t>
            </a:r>
            <a:endParaRPr sz="1900">
              <a:latin typeface="Cambria"/>
              <a:ea typeface="Cambria"/>
              <a:cs typeface="Cambria"/>
              <a:sym typeface="Cambria"/>
            </a:endParaRPr>
          </a:p>
          <a:p>
            <a:pPr marL="0" lvl="0" indent="0" algn="just" rtl="0">
              <a:lnSpc>
                <a:spcPct val="107000"/>
              </a:lnSpc>
              <a:spcBef>
                <a:spcPts val="0"/>
              </a:spcBef>
              <a:spcAft>
                <a:spcPts val="0"/>
              </a:spcAft>
              <a:buNone/>
            </a:pP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Agregar nuevas categorías (divisas, volumen, tiempo y área) implementando la interfaz Conversor, e incorporar pruebas y análisis estático automatizados para asegurar que las nuevas funcionalidades no rompan la compatibilidad con el contrato WSDL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12502</Words>
  <Application>Microsoft Office PowerPoint</Application>
  <PresentationFormat>Panorámica</PresentationFormat>
  <Paragraphs>2253</Paragraphs>
  <Slides>81</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81</vt:i4>
      </vt:variant>
    </vt:vector>
  </HeadingPairs>
  <TitlesOfParts>
    <vt:vector size="87" baseType="lpstr">
      <vt:lpstr>Gill Sans</vt:lpstr>
      <vt:lpstr>Arial</vt:lpstr>
      <vt:lpstr>Noto Sans Symbols</vt:lpstr>
      <vt:lpstr>Calibri</vt:lpstr>
      <vt:lpstr>Cambria</vt:lpstr>
      <vt:lpstr>Dividendo</vt:lpstr>
      <vt:lpstr>MANUAL CONVERSIÓN UNIDADES SOAP JAVA</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CONVERSIÓN UNIDADES SOAP JAVA</dc:title>
  <cp:lastModifiedBy>LENIN DAVID MORAN PALOMO</cp:lastModifiedBy>
  <cp:revision>1</cp:revision>
  <dcterms:modified xsi:type="dcterms:W3CDTF">2026-10-14T22:38:01Z</dcterms:modified>
</cp:coreProperties>
</file>